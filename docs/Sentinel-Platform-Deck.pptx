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0020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300" kern="0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SENTINEL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502920" y="2542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operating picture for 80,000 cameras.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2971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CCTV integration and AI video analytics — running today against the real government camera grid.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4315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Gujarat Police Innovation Challenge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Cameras everywhere. No single picture.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getaway car crosses four jurisdictions in twenty minutes. Tracing it takes phone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011680"/>
            <a:ext cx="45720" cy="1463040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066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districts and commissionerates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0708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1" name="Shape 9"/>
          <p:cNvSpPr/>
          <p:nvPr/>
        </p:nvSpPr>
        <p:spPr>
          <a:xfrm>
            <a:off x="3307080" y="2011680"/>
            <a:ext cx="45720" cy="1463040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12" name="Text 10"/>
          <p:cNvSpPr/>
          <p:nvPr/>
        </p:nvSpPr>
        <p:spPr>
          <a:xfrm>
            <a:off x="354482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~80,000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4482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cameras, many vendors, no shared registry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11240" y="2011680"/>
            <a:ext cx="2529840" cy="14630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111240" y="2011680"/>
            <a:ext cx="45720" cy="14630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Text 14"/>
          <p:cNvSpPr/>
          <p:nvPr/>
        </p:nvSpPr>
        <p:spPr>
          <a:xfrm>
            <a:off x="6348984" y="2212848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48984" y="2779776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places an officer can ask one question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8587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cameras already exist. What is missing is the layer that makes them answer questions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WHAT WE BUILT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plate in. A route out.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registration number. Get every sighting, every camera, on a map — in seconds.</a:t>
            </a:r>
            <a:endParaRPr lang="en-US" sz="1300" dirty="0"/>
          </a:p>
        </p:txBody>
      </p:sp>
      <p:pic>
        <p:nvPicPr>
          <p:cNvPr id="6" name="Image 0" descr="/Users/parthpatel/Projects/personal/sentinel-hackathon/docs/images/05-find-a-vehi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938528"/>
            <a:ext cx="3977640" cy="2487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011680"/>
            <a:ext cx="3886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Onboards heterogeneous feeds into one registry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ANPR with watchlist correlation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Prioritised alerts with a plain-language reason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Timestamped cross-camera route, replayable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663440" y="44988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screenshot. Real government cameras. Not a mock-up.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ARCHITECTURE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1 + 2 + 3, selective 4.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integration models were on the table. We took the three that scale and used the fourth sparingly.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93392"/>
            <a:ext cx="45720" cy="512064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0848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69848" y="211226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Unified registry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63240" y="213055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Mandatory. One catalogue, one identity for every camera.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779776"/>
            <a:ext cx="45720" cy="512064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7121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69848" y="28986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Federated access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63240" y="29169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Departments keep their systems. We adapt to them, not the reverse.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66160"/>
            <a:ext cx="45720" cy="512064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36576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069848" y="368503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analytics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63240" y="37033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next to the camera. Meaning travels, video does not.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352544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4352544"/>
            <a:ext cx="45720" cy="512064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" y="444398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069848" y="4471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video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063240" y="448970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 demand, only for the cameras actually being watched.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THE REJECTED OPTION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we did not centralise the video.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all 80,000 cameras to one data centre is not a budget problem. It is a physics problem.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160 Gbps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066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sustained ingest, 24×7, from sites up to 1,000 km apart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0708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1" name="Shape 9"/>
          <p:cNvSpPr/>
          <p:nvPr/>
        </p:nvSpPr>
        <p:spPr>
          <a:xfrm>
            <a:off x="330708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2" name="Text 10"/>
          <p:cNvSpPr/>
          <p:nvPr/>
        </p:nvSpPr>
        <p:spPr>
          <a:xfrm>
            <a:off x="354482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12.1 PB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482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storage for a single week, before redundancy or DR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11240" y="1965960"/>
            <a:ext cx="2529840" cy="153619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111240" y="1965960"/>
            <a:ext cx="45720" cy="153619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6" name="Text 14"/>
          <p:cNvSpPr/>
          <p:nvPr/>
        </p:nvSpPr>
        <p:spPr>
          <a:xfrm>
            <a:off x="6348984" y="2157984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₹20+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48984" y="2724912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 at cloud object pricing, for storage alone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389534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put this number in the deck because a jury should see the option we rejected, and why.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planes, one contract.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camera becomes a CameraDescriptor. Every read becomes an Event. Nothing downstream cares about the vendor.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38528"/>
            <a:ext cx="45720" cy="192024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5895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· decode · ANPR · secondary analytics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95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beside the cameras. Sends ~1 KB events, not 2 Mbps streams.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0708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2" name="Shape 10"/>
          <p:cNvSpPr/>
          <p:nvPr/>
        </p:nvSpPr>
        <p:spPr>
          <a:xfrm>
            <a:off x="3307080" y="1938528"/>
            <a:ext cx="45720" cy="1920240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3" name="Text 11"/>
          <p:cNvSpPr/>
          <p:nvPr/>
        </p:nvSpPr>
        <p:spPr>
          <a:xfrm>
            <a:off x="356311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311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· correlation · alerts · evidence · audit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311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 + TimescaleDB. Row-level tenancy per department.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11240" y="1938528"/>
            <a:ext cx="2529840" cy="192024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7" name="Shape 15"/>
          <p:cNvSpPr/>
          <p:nvPr/>
        </p:nvSpPr>
        <p:spPr>
          <a:xfrm>
            <a:off x="6111240" y="1938528"/>
            <a:ext cx="45720" cy="1920240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18" name="Text 16"/>
          <p:cNvSpPr/>
          <p:nvPr/>
        </p:nvSpPr>
        <p:spPr>
          <a:xfrm>
            <a:off x="6367272" y="2103120"/>
            <a:ext cx="2054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SURFACE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67272" y="2414016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console · Admin portal · Field PWA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7272" y="3108960"/>
            <a:ext cx="20543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audiences, one design language, three languages.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" y="40690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stays local. Meaning travels.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INGEST &amp; FEDERATION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new department is a driver, not a release.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call discovered and onboarded the entire government grid. Zero failures, zero hard-coded camera IDs.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3931920" cy="199339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38528"/>
            <a:ext cx="45720" cy="1993392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57984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 / 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2724912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cameras onboarded from the live catalogue in a single call — 0 failed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3346704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/api/v1/cameras/discover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9160" y="201168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ONVIF + RTSP driver SDK, with a conformance suite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vendor shims: Hikvision, Dahua, Milestone, Genetec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re-read every run — the camera set can change</a:t>
            </a:r>
            <a:endParaRPr lang="en-US" sz="12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VAHAN / SARTHI / eGujCop / AFIS registry clients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ANPR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Detect, track, read, then vote.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plate is never trusted from one frame. Reads are held until several frames agree.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detect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0500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9" name="Text 7"/>
          <p:cNvSpPr/>
          <p:nvPr/>
        </p:nvSpPr>
        <p:spPr>
          <a:xfrm>
            <a:off x="190500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0708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11" name="Text 9"/>
          <p:cNvSpPr/>
          <p:nvPr/>
        </p:nvSpPr>
        <p:spPr>
          <a:xfrm>
            <a:off x="330708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detect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Rectify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1124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15" name="Text 13"/>
          <p:cNvSpPr/>
          <p:nvPr/>
        </p:nvSpPr>
        <p:spPr>
          <a:xfrm>
            <a:off x="611124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513320" y="1956816"/>
            <a:ext cx="1127760" cy="512064"/>
          </a:xfrm>
          <a:prstGeom prst="rect">
            <a:avLst/>
          </a:prstGeom>
          <a:solidFill>
            <a:srgbClr val="1E2737"/>
          </a:solidFill>
          <a:ln/>
        </p:spPr>
      </p:sp>
      <p:sp>
        <p:nvSpPr>
          <p:cNvPr id="17" name="Text 15"/>
          <p:cNvSpPr/>
          <p:nvPr/>
        </p:nvSpPr>
        <p:spPr>
          <a:xfrm>
            <a:off x="7513320" y="1956816"/>
            <a:ext cx="112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vote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761488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~14.7 fps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4066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chain, single-threaded, Apple Silicon M2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0708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23" name="Shape 21"/>
          <p:cNvSpPr/>
          <p:nvPr/>
        </p:nvSpPr>
        <p:spPr>
          <a:xfrm>
            <a:off x="3307080" y="2761488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24" name="Text 22"/>
          <p:cNvSpPr/>
          <p:nvPr/>
        </p:nvSpPr>
        <p:spPr>
          <a:xfrm>
            <a:off x="354482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4.0 frames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354482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voted per read on real traffic (max 20)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111240" y="2761488"/>
            <a:ext cx="252984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27" name="Shape 25"/>
          <p:cNvSpPr/>
          <p:nvPr/>
        </p:nvSpPr>
        <p:spPr>
          <a:xfrm>
            <a:off x="6111240" y="2761488"/>
            <a:ext cx="45720" cy="1207008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28" name="Text 26"/>
          <p:cNvSpPr/>
          <p:nvPr/>
        </p:nvSpPr>
        <p:spPr>
          <a:xfrm>
            <a:off x="6348984" y="2926080"/>
            <a:ext cx="207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accuracy %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6348984" y="3493008"/>
            <a:ext cx="207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— needs a hand-labelled holdout we do not have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41330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third box is the one worth reading.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·  WATCHLIST CORRELATION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camera read it wrong. We still caught it.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matching ladder, not a string compare. Rung two collapses the characters OCR habitually confuses.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8138160" cy="144475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38528"/>
            <a:ext cx="45720" cy="1444752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13969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  </a:t>
            </a:r>
            <a:pPr indent="0" marL="0">
              <a:buNone/>
            </a:pPr>
            <a:r>
              <a:rPr lang="en-US" sz="2200" b="1" dirty="0">
                <a:solidFill>
                  <a:srgbClr val="E8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GJ186705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6700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   </a:t>
            </a:r>
            <a:pPr indent="0" marL="0">
              <a:buNone/>
            </a:pPr>
            <a:r>
              <a:rPr lang="en-US" sz="2200" b="1" dirty="0">
                <a:solidFill>
                  <a:srgbClr val="F5B7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GJ1B67OS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60520" y="22311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8→B   0→O   5→S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194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 RAISED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match_rung: ambiguity_class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end to end on live government reads, not a unit test.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36210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alert carries the reason it fired, in words an operator can act on — never a bare score.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·  BEYOND PLATES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 on real traffic, not fixtures.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analytics ran against the live government grid for ten minutes across six cameras.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65960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2237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reads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0604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965960"/>
            <a:ext cx="45720" cy="1207008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12" name="Text 10"/>
          <p:cNvSpPr/>
          <p:nvPr/>
        </p:nvSpPr>
        <p:spPr>
          <a:xfrm>
            <a:off x="282549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2549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plates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4709160" y="1965960"/>
            <a:ext cx="45720" cy="1207008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492861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92861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events fired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1965960"/>
            <a:ext cx="1828800" cy="120700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9" name="Shape 17"/>
          <p:cNvSpPr/>
          <p:nvPr/>
        </p:nvSpPr>
        <p:spPr>
          <a:xfrm>
            <a:off x="6812280" y="1965960"/>
            <a:ext cx="45720" cy="1207008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20" name="Text 18"/>
          <p:cNvSpPr/>
          <p:nvPr/>
        </p:nvSpPr>
        <p:spPr>
          <a:xfrm>
            <a:off x="7031736" y="2139696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031736" y="2706624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flagged tampered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349300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 intrusion + 22 wrong-way events. The wrong-way detections are the meaningful ones: they need real vehicle tracks and a heading computed over time, which a synthetic fixture cannot produce.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1605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colour is an HSV heuristic. Coarse-make was not attempted.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·  RESILIENCE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broke it on purpose.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Chaos drills against the live stack — and anything that could not be tested honestly is recorded as skipped, never as a pass.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93392"/>
            <a:ext cx="45720" cy="512064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21122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 killed mid-analysis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81528" y="21214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95928" y="213055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Noticed in 33s. Recovered unattended 14s after the feed returned, reconnect counted.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779776"/>
            <a:ext cx="45720" cy="512064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13" name="Text 11"/>
          <p:cNvSpPr/>
          <p:nvPr/>
        </p:nvSpPr>
        <p:spPr>
          <a:xfrm>
            <a:off x="722376" y="28986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RTSP port blocked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81528" y="2907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95928" y="2916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capture layer fell back to HLS and decoded frames.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66160"/>
            <a:ext cx="45720" cy="512064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" y="36850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Loop-point scene cut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81528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95928" y="37033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fixture provably cannot produce a PTS discontinuity. Refused to claim a pass.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352544"/>
            <a:ext cx="8138160" cy="512064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4352544"/>
            <a:ext cx="45720" cy="512064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" y="447141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throttle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81528" y="4480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SKIPPED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95928" y="448970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root-level link shaping. Documented, not simulated.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· 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80,000-camera arithmetic.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analytics, district GPUs, and an edge that never ships raw video to the centre.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93392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93392"/>
            <a:ext cx="45720" cy="530352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130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A — continuous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87752" y="21442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Highways, borders, critical sites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34840" y="21442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ANPR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98064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798064"/>
            <a:ext cx="45720" cy="530352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9352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B — sampled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87752" y="294894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Arterial roads and junctions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9489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Duty-cycled inference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2920" y="3602736"/>
            <a:ext cx="5349240" cy="530352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602736"/>
            <a:ext cx="45720" cy="530352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37398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C — motion-gated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87752" y="37536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Low-traffic and interior cameras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34840" y="37536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Wakes on motion only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26480" y="1956816"/>
            <a:ext cx="2514600" cy="1737360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6480" y="1956816"/>
            <a:ext cx="45720" cy="173736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213969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₹80 cr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355080" y="270662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indicative capex, phased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355080" y="30906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software licences 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open-source stack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37083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arithmetic from a documented model, not a deployment we have run. Stated as such.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·  SECURITY &amp;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evidence, not just for demos.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below is running code with a test behind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075688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Faces blurred by default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94760" y="20025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edge, before storage. Revealing one needs an admin, a reason, and leaves a record.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642616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Department tenancy in the database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94760" y="25694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row-level security under a non-superuser role — not a WHERE clause we remember to add.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209544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Hash-chained audit log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94760" y="31363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Tamper-evident. We edited a row directly in Postgres and the verifier caught it immediately.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776472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694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mTLS from edge to core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94760" y="37033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certificates terminated at a gateway; no certificate, no ingest.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343400"/>
            <a:ext cx="155448" cy="155448"/>
          </a:xfrm>
          <a:prstGeom prst="ellipse">
            <a:avLst/>
          </a:prstGeom>
          <a:solidFill>
            <a:srgbClr val="6EE7A8"/>
          </a:solidFill>
          <a:ln/>
        </p:spPr>
      </p:sp>
      <p:sp>
        <p:nvSpPr>
          <p:cNvPr id="19" name="Text 17"/>
          <p:cNvSpPr/>
          <p:nvPr/>
        </p:nvSpPr>
        <p:spPr>
          <a:xfrm>
            <a:off x="795528" y="4261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Signed, expiring media URLs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94760" y="4270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video link works without a login for minutes, not forever.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B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·  WHAT IS REAL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works, and what we are not claiming.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02920" y="14447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reviewer should not have to reverse-engineer which parts are load-bearing.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931920" cy="221284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920240"/>
            <a:ext cx="45720" cy="2212848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 TODAY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58952" y="241401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Capture, reconnect and PTS timing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ANPR with real open-source models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search, alerts, evidence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 correlation, both rungs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Zones, tamper, vehicle colour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mTLS, RLS, audit chain, signed URLs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3931920" cy="2212848"/>
          </a:xfrm>
          <a:prstGeom prst="rect">
            <a:avLst/>
          </a:prstGeom>
          <a:solidFill>
            <a:srgbClr val="161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1920240"/>
            <a:ext cx="45720" cy="2212848"/>
          </a:xfrm>
          <a:prstGeom prst="rect">
            <a:avLst/>
          </a:prstGeom>
          <a:solidFill>
            <a:srgbClr val="F5B759"/>
          </a:solidFill>
          <a:ln/>
        </p:spPr>
      </p:sp>
      <p:sp>
        <p:nvSpPr>
          <p:cNvPr id="12" name="Text 10"/>
          <p:cNvSpPr/>
          <p:nvPr/>
        </p:nvSpPr>
        <p:spPr>
          <a:xfrm>
            <a:off x="4965192" y="2075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5B7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CLAIMED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65192" y="2414016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ANPR accuracy number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Coarse-make classification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recognition (excluded by choice)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registry credentials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cameras actually deployed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right-hand column is why you can trust the left.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51435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DF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for a pilot.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45720" cy="4572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50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 today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71800" y="23682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platform, against the real grid, on one laptop.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935224"/>
            <a:ext cx="45720" cy="4572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953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0" y="29718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access per department and a district to pilot in.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538728"/>
            <a:ext cx="45720" cy="457200"/>
          </a:xfrm>
          <a:prstGeom prst="rect">
            <a:avLst/>
          </a:prstGeom>
          <a:solidFill>
            <a:srgbClr val="6EE7A8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5570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E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First 90 days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71800" y="357530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district, Tier A cameras, measured against a baseline.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EB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 · Gujarat Police Innovation Challenge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Platform — Gujarat Police Innovation Challenge 2026</dc:title>
  <dc:subject>PptxGenJS Presentation</dc:subject>
  <dc:creator>Sentinel Platform</dc:creator>
  <cp:lastModifiedBy>Sentinel Platform</cp:lastModifiedBy>
  <cp:revision>1</cp:revision>
  <dcterms:created xsi:type="dcterms:W3CDTF">2026-09-26T16:58:47Z</dcterms:created>
  <dcterms:modified xsi:type="dcterms:W3CDTF">2026-09-26T16:58:47Z</dcterms:modified>
</cp:coreProperties>
</file>