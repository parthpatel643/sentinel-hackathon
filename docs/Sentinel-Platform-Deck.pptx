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00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300" kern="0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SENTINEL</a:t>
            </a:r>
            <a:endParaRPr lang="en-US" sz="5800" dirty="0"/>
          </a:p>
        </p:txBody>
      </p:sp>
      <p:sp>
        <p:nvSpPr>
          <p:cNvPr id="4" name="Text 2"/>
          <p:cNvSpPr/>
          <p:nvPr/>
        </p:nvSpPr>
        <p:spPr>
          <a:xfrm>
            <a:off x="502920" y="25420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operating picture for 80,000 cameras.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CCTV integration and AI video analytics — running today against the real government camera grid.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4315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Gujarat Police Innovation Challenge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Cameras everywhere. No single picture.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getaway car crosses four jurisdictions in twenty minutes. Tracing it takes phone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529840" cy="1463040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2011680"/>
            <a:ext cx="45720" cy="1463040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212848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0664" y="2779776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separate districts and commissionerates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07080" y="2011680"/>
            <a:ext cx="2529840" cy="1463040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07080" y="2011680"/>
            <a:ext cx="45720" cy="1463040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12" name="Text 10"/>
          <p:cNvSpPr/>
          <p:nvPr/>
        </p:nvSpPr>
        <p:spPr>
          <a:xfrm>
            <a:off x="3544824" y="2212848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~80,000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44824" y="2779776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cameras, many vendors, no shared registry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1240" y="2011680"/>
            <a:ext cx="2529840" cy="1463040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2011680"/>
            <a:ext cx="45720" cy="14630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6348984" y="2212848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348984" y="2779776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an officer can ask one question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8587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cameras already exist. What is missing is the layer that makes them answer questions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WHAT WE BUILT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plate in. A route out.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registration number. Get every sighting, every camera, on a map — in seconds.</a:t>
            </a:r>
            <a:endParaRPr lang="en-US" sz="1300" dirty="0"/>
          </a:p>
        </p:txBody>
      </p:sp>
      <p:pic>
        <p:nvPicPr>
          <p:cNvPr id="6" name="Image 0" descr="/Users/parthpatel/Projects/personal/sentinel-hackathon/docs/images/05-find-a-vehi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938528"/>
            <a:ext cx="3977640" cy="2487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011680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Onboards heterogeneous feeds into one registry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ANPR with watchlist correlation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Prioritised alerts with a plain-language reason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 cross-camera route, replayable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63440" y="44988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screenshot. Real government cameras. Not a mock-up.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ARCHITECTURE CHOICE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Hybrid 1 + 2 + 3, selective 4.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integration models were on the table. We took the three that scale and used the fourth sparingly.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93392"/>
            <a:ext cx="45720" cy="512064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08483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69848" y="211226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Unified registry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13055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Mandatory. One catalogue, one identity for every camera.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779776"/>
            <a:ext cx="45720" cy="512064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712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69848" y="2898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Federated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29169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Departments keep their systems. We adapt to them, not the reverse.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66160"/>
            <a:ext cx="45720" cy="512064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6576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69848" y="36850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 analytics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63240" y="37033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 next to the camera. Meaning travels, video does not.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352544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352544"/>
            <a:ext cx="45720" cy="512064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44398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69848" y="447141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Central video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63240" y="4489704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on demand, only for the cameras actually being watched.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THE REJECTED OPTION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did not centralise the video.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all 80,000 cameras to one data centre is not a budget problem. It is a physics problem.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2529840" cy="153619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65960"/>
            <a:ext cx="45720" cy="15361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8" name="Text 6"/>
          <p:cNvSpPr/>
          <p:nvPr/>
        </p:nvSpPr>
        <p:spPr>
          <a:xfrm>
            <a:off x="740664" y="2157984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160 Gbps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40664" y="272491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ingest, 24×7, from sites up to 1,000 km apart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07080" y="1965960"/>
            <a:ext cx="2529840" cy="153619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07080" y="1965960"/>
            <a:ext cx="45720" cy="15361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4824" y="2157984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12.1 PB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44824" y="272491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storage for a single week, before redundancy or DR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1240" y="1965960"/>
            <a:ext cx="2529840" cy="153619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1965960"/>
            <a:ext cx="45720" cy="1536192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6" name="Text 14"/>
          <p:cNvSpPr/>
          <p:nvPr/>
        </p:nvSpPr>
        <p:spPr>
          <a:xfrm>
            <a:off x="6348984" y="2157984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₹20+ cr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48984" y="2724912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at cloud object pricing, for storage alone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89534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put this number in the deck because a jury should see the option we rejected, and why.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planes, one contract.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camera becomes a CameraDescriptor. Every read becomes an Event. Nothing downstream cares about the vendor.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2529840" cy="1920240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38528"/>
            <a:ext cx="45720" cy="192024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103120"/>
            <a:ext cx="2054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2414016"/>
            <a:ext cx="2054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· decode · ANPR · secondary analytics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" y="3108960"/>
            <a:ext cx="2054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beside the cameras. Sends ~1 KB events, not 2 Mbps streams.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07080" y="1938528"/>
            <a:ext cx="2529840" cy="1920240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2" name="Shape 10"/>
          <p:cNvSpPr/>
          <p:nvPr/>
        </p:nvSpPr>
        <p:spPr>
          <a:xfrm>
            <a:off x="3307080" y="1938528"/>
            <a:ext cx="45720" cy="192024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3563112" y="2103120"/>
            <a:ext cx="2054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3112" y="2414016"/>
            <a:ext cx="2054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· correlation · alerts · evidence · audit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3112" y="3108960"/>
            <a:ext cx="2054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PostGIS + TimescaleDB. Row-level tenancy per department.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11240" y="1938528"/>
            <a:ext cx="2529840" cy="1920240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7" name="Shape 15"/>
          <p:cNvSpPr/>
          <p:nvPr/>
        </p:nvSpPr>
        <p:spPr>
          <a:xfrm>
            <a:off x="6111240" y="1938528"/>
            <a:ext cx="45720" cy="1920240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18" name="Text 16"/>
          <p:cNvSpPr/>
          <p:nvPr/>
        </p:nvSpPr>
        <p:spPr>
          <a:xfrm>
            <a:off x="6367272" y="2103120"/>
            <a:ext cx="2054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67272" y="2414016"/>
            <a:ext cx="2054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console · Admin portal · Field PWA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7272" y="3108960"/>
            <a:ext cx="2054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audiences, one design language, three languages.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stays local. Meaning travels.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INGEST &amp; FEDERATION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new department is a driver, not a release.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call discovered and onboarded the entire government grid. Zero failures, zero hard-coded camera IDs.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3931920" cy="199339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38528"/>
            <a:ext cx="45720" cy="1993392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57984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/ 30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2724912"/>
            <a:ext cx="3401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cameras onboarded from the live catalogue in a single call — 0 failed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3346704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/api/v1/cameras/discover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201168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ONVIF + RTSP driver SDK, with a conformance suite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vendor shims: Hikvision, Dahua, Milestone, Genetec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re-read every run — the camera set can change</a:t>
            </a:r>
            <a:endParaRPr lang="en-US" sz="12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VAHAN / SARTHI / eGujCop / AFIS / NAFIS clients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·  ANPR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Detect, track, read, then vote.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plate is never trusted from one frame. Reads are held until several frames agree.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56816"/>
            <a:ext cx="1127760" cy="512064"/>
          </a:xfrm>
          <a:prstGeom prst="rect">
            <a:avLst/>
          </a:prstGeom>
          <a:solidFill>
            <a:srgbClr val="1E2737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56816"/>
            <a:ext cx="112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detect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05000" y="1956816"/>
            <a:ext cx="1127760" cy="512064"/>
          </a:xfrm>
          <a:prstGeom prst="rect">
            <a:avLst/>
          </a:prstGeom>
          <a:solidFill>
            <a:srgbClr val="1E2737"/>
          </a:solidFill>
          <a:ln/>
        </p:spPr>
      </p:sp>
      <p:sp>
        <p:nvSpPr>
          <p:cNvPr id="9" name="Text 7"/>
          <p:cNvSpPr/>
          <p:nvPr/>
        </p:nvSpPr>
        <p:spPr>
          <a:xfrm>
            <a:off x="1905000" y="1956816"/>
            <a:ext cx="112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07080" y="1956816"/>
            <a:ext cx="1127760" cy="512064"/>
          </a:xfrm>
          <a:prstGeom prst="rect">
            <a:avLst/>
          </a:prstGeom>
          <a:solidFill>
            <a:srgbClr val="1E2737"/>
          </a:solidFill>
          <a:ln/>
        </p:spPr>
      </p:sp>
      <p:sp>
        <p:nvSpPr>
          <p:cNvPr id="11" name="Text 9"/>
          <p:cNvSpPr/>
          <p:nvPr/>
        </p:nvSpPr>
        <p:spPr>
          <a:xfrm>
            <a:off x="3307080" y="1956816"/>
            <a:ext cx="112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 detect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1956816"/>
            <a:ext cx="1127760" cy="512064"/>
          </a:xfrm>
          <a:prstGeom prst="rect">
            <a:avLst/>
          </a:prstGeom>
          <a:solidFill>
            <a:srgbClr val="1E2737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956816"/>
            <a:ext cx="112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11240" y="1956816"/>
            <a:ext cx="1127760" cy="512064"/>
          </a:xfrm>
          <a:prstGeom prst="rect">
            <a:avLst/>
          </a:prstGeom>
          <a:solidFill>
            <a:srgbClr val="1E2737"/>
          </a:solidFill>
          <a:ln/>
        </p:spPr>
      </p:sp>
      <p:sp>
        <p:nvSpPr>
          <p:cNvPr id="15" name="Text 13"/>
          <p:cNvSpPr/>
          <p:nvPr/>
        </p:nvSpPr>
        <p:spPr>
          <a:xfrm>
            <a:off x="6111240" y="1956816"/>
            <a:ext cx="112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Grammar fix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13320" y="1956816"/>
            <a:ext cx="1127760" cy="512064"/>
          </a:xfrm>
          <a:prstGeom prst="rect">
            <a:avLst/>
          </a:prstGeom>
          <a:solidFill>
            <a:srgbClr val="1E2737"/>
          </a:solidFill>
          <a:ln/>
        </p:spPr>
      </p:sp>
      <p:sp>
        <p:nvSpPr>
          <p:cNvPr id="17" name="Text 15"/>
          <p:cNvSpPr/>
          <p:nvPr/>
        </p:nvSpPr>
        <p:spPr>
          <a:xfrm>
            <a:off x="7513320" y="1956816"/>
            <a:ext cx="112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vote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2761488"/>
            <a:ext cx="2529840" cy="120700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2761488"/>
            <a:ext cx="45720" cy="1207008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" y="2926080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~14.7 fps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40664" y="3493008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chain, single-threaded, Apple Silicon M2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07080" y="2761488"/>
            <a:ext cx="2529840" cy="120700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3" name="Shape 21"/>
          <p:cNvSpPr/>
          <p:nvPr/>
        </p:nvSpPr>
        <p:spPr>
          <a:xfrm>
            <a:off x="3307080" y="2761488"/>
            <a:ext cx="45720" cy="1207008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24" name="Text 22"/>
          <p:cNvSpPr/>
          <p:nvPr/>
        </p:nvSpPr>
        <p:spPr>
          <a:xfrm>
            <a:off x="3544824" y="2926080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 frames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4824" y="3493008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voted per read on real traffic (max 20)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11240" y="2761488"/>
            <a:ext cx="2529840" cy="120700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7" name="Shape 25"/>
          <p:cNvSpPr/>
          <p:nvPr/>
        </p:nvSpPr>
        <p:spPr>
          <a:xfrm>
            <a:off x="6111240" y="2761488"/>
            <a:ext cx="45720" cy="1207008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28" name="Text 26"/>
          <p:cNvSpPr/>
          <p:nvPr/>
        </p:nvSpPr>
        <p:spPr>
          <a:xfrm>
            <a:off x="6348984" y="2926080"/>
            <a:ext cx="207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65% / 78%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348984" y="3493008"/>
            <a:ext cx="207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per crop / voted, 81 labelled plates; target 85%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13308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B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third box is measured, not estimated, and it is not yet good enough.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·  WATCHLIST CORRELATION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camera read it wrong. We still caught it.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matching ladder, not a string compare. Rung two collapses the characters OCR habitually confuses.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144475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38528"/>
            <a:ext cx="45720" cy="14447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396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  </a:t>
            </a:r>
            <a:pPr indent="0" marL="0">
              <a:buNone/>
            </a:pPr>
            <a:r>
              <a:rPr lang="en-US" sz="2200" b="1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GJ186705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READ   </a:t>
            </a:r>
            <a:pPr indent="0" marL="0">
              <a:buNone/>
            </a:pPr>
            <a:r>
              <a:rPr lang="en-US" sz="2200" b="1" dirty="0">
                <a:solidFill>
                  <a:srgbClr val="F5B7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GJ1B67OS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60520" y="22311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8→B   0→O   5→S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21945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RAISED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match_rung: ambiguity_class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0" y="285292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end to end on live government reads, not a unit test.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62102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alert carries the reason it fired, in words an operator can act on — never a bare score.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·  BEYOND PLATES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Measured on real traffic, not fixtures.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analytics ran against the live government grid for ten minutes across six cameras.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828800" cy="120700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65960"/>
            <a:ext cx="45720" cy="1207008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13969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22376" y="2706624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 reads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1965960"/>
            <a:ext cx="1828800" cy="120700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1" name="Shape 9"/>
          <p:cNvSpPr/>
          <p:nvPr/>
        </p:nvSpPr>
        <p:spPr>
          <a:xfrm>
            <a:off x="2606040" y="1965960"/>
            <a:ext cx="45720" cy="1207008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12" name="Text 10"/>
          <p:cNvSpPr/>
          <p:nvPr/>
        </p:nvSpPr>
        <p:spPr>
          <a:xfrm>
            <a:off x="2825496" y="213969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825496" y="2706624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plates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965960"/>
            <a:ext cx="1828800" cy="120700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5" name="Shape 13"/>
          <p:cNvSpPr/>
          <p:nvPr/>
        </p:nvSpPr>
        <p:spPr>
          <a:xfrm>
            <a:off x="4709160" y="1965960"/>
            <a:ext cx="45720" cy="120700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6" name="Text 14"/>
          <p:cNvSpPr/>
          <p:nvPr/>
        </p:nvSpPr>
        <p:spPr>
          <a:xfrm>
            <a:off x="4928616" y="213969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208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28616" y="2706624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events fired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1965960"/>
            <a:ext cx="1828800" cy="120700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12280" y="1965960"/>
            <a:ext cx="45720" cy="1207008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20" name="Text 18"/>
          <p:cNvSpPr/>
          <p:nvPr/>
        </p:nvSpPr>
        <p:spPr>
          <a:xfrm>
            <a:off x="7031736" y="2139696"/>
            <a:ext cx="138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031736" y="2706624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flagged tampered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2920" y="3493008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 intrusion + 22 wrong-way events. The wrong-way detections are the meaningful ones: they need real vehicle tracks and a heading computed over time, which a synthetic fixture cannot produce.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B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colour is an HSV heuristic. Coarse-make was not attempted.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·  RESILIENCE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broke it on purpose.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Chaos drills against the live stack — and anything that could not be tested honestly is recorded as skipped, never as a pass.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93392"/>
            <a:ext cx="45720" cy="512064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" y="21122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 killed mid-analysis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81528" y="21214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95928" y="21305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Noticed in 33s. Recovered unattended 14s after the feed returned, reconnect counted.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779776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779776"/>
            <a:ext cx="45720" cy="512064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" y="289864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RTSP port blocked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81528" y="2907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95928" y="2916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capture layer fell back to HLS and decoded frames.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66160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66160"/>
            <a:ext cx="45720" cy="512064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Loop-point scene cut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81528" y="3694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SKIPPED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95928" y="37033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fixture provably cannot produce a PTS discontinuity. Refused to claim a pass.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352544"/>
            <a:ext cx="8138160" cy="512064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2" name="Shape 20"/>
          <p:cNvSpPr/>
          <p:nvPr/>
        </p:nvSpPr>
        <p:spPr>
          <a:xfrm>
            <a:off x="502920" y="4352544"/>
            <a:ext cx="45720" cy="512064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" y="4471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Network throttle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81528" y="44805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SKIPPED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995928" y="44897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root-level link shaping. Documented, not simulated.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·  SCALE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80,000-camera arithmetic.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Tiered analytics, district GPUs, and an edge that never ships raw video to the centre.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93392"/>
            <a:ext cx="5349240" cy="53035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93392"/>
            <a:ext cx="45720" cy="5303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130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A — continuous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87752" y="21442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Highways, borders, critical sites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34840" y="21442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Always-on ANPR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5349240" cy="53035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798064"/>
            <a:ext cx="45720" cy="5303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9352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B — sampled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87752" y="29489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Arterial roads and junctions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34840" y="29489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Duty-cycled inference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602736"/>
            <a:ext cx="5349240" cy="530352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602736"/>
            <a:ext cx="45720" cy="5303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" y="37398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C — motion-gated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587752" y="37536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Low-traffic and interior cameras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34840" y="37536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Wakes on motion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956816"/>
            <a:ext cx="2514600" cy="1737360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1956816"/>
            <a:ext cx="45720" cy="173736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13969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₹80 cr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55080" y="2706624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capex, phased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55080" y="3090672"/>
            <a:ext cx="2057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₹0 software licences —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open-source stack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437083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B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arithmetic from a documented model, not a deployment we have run. Stated as such.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EE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·  SECURITY &amp; PRIVACY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evidence, not just for demos.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item below is running code with a test behind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075688"/>
            <a:ext cx="155448" cy="155448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9933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Faces blurred by default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94760" y="20025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edge, before storage. Revealing one needs an admin, a reason, and leaves a record.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642616"/>
            <a:ext cx="155448" cy="155448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Department tenancy in the database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25694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 row-level security under a non-superuser role — not a WHERE clause we remember to add.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209544"/>
            <a:ext cx="155448" cy="155448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3127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Hash-chained audit log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4760" y="31363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Tamper-evident. We edited a row directly in Postgres and the verifier caught it immediately.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776472"/>
            <a:ext cx="155448" cy="155448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3694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mTLS from edge to core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9476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certificates terminated at a gateway; no certificate, no ingest.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4343400"/>
            <a:ext cx="155448" cy="155448"/>
          </a:xfrm>
          <a:prstGeom prst="ellipse">
            <a:avLst/>
          </a:prstGeom>
          <a:solidFill>
            <a:srgbClr val="6EE7A8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" y="4261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Signed, expiring media URLs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94760" y="42702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video link works without a login for minutes, not forever.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10896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·  WHAT IS REAL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works, and what we are not claiming.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14447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reviewer should not have to reverse-engineer which parts are load-bearing.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931920" cy="221284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20240"/>
            <a:ext cx="45720" cy="2212848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TODAY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58952" y="2414016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Capture, reconnect and PTS timing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ANPR with real open-source models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Registry, search, alerts, evidence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Watchlist correlation, both rungs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Zones, tamper, colour, people count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mTLS, RLS, audit chain, signed URLs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3931920" cy="2212848"/>
          </a:xfrm>
          <a:prstGeom prst="rect">
            <a:avLst/>
          </a:prstGeom>
          <a:solidFill>
            <a:srgbClr val="161D2A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1920240"/>
            <a:ext cx="45720" cy="2212848"/>
          </a:xfrm>
          <a:prstGeom prst="rect">
            <a:avLst/>
          </a:prstGeom>
          <a:solidFill>
            <a:srgbClr val="F5B759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2075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5B75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CLAIMED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965192" y="2414016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ANPR accuracy beyond one camera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Coarse-make classification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recognition (excluded by choice)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registry credentials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cameras actually deployed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4439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right-hand column is why you can trust the left.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2296" cy="51435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for a pilot.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331720"/>
            <a:ext cx="45720" cy="4572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500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Running today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236829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platform, against the real grid, on one laptop.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35224"/>
            <a:ext cx="45720" cy="4572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71800" y="297180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Catalogue access per department and a district to pilot 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538728"/>
            <a:ext cx="45720" cy="457200"/>
          </a:xfrm>
          <a:prstGeom prst="rect">
            <a:avLst/>
          </a:prstGeom>
          <a:solidFill>
            <a:srgbClr val="6EE7A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570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90 days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35753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D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district, Tier A cameras, measured against a baseline.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AEB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 · Gujarat Police Innovation Challenge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 Platform — Gujarat Police Innovation Challenge 2026</dc:title>
  <dc:subject>PptxGenJS Presentation</dc:subject>
  <dc:creator>Sentinel Platform</dc:creator>
  <cp:lastModifiedBy>Sentinel Platform</cp:lastModifiedBy>
  <cp:revision>1</cp:revision>
  <dcterms:created xsi:type="dcterms:W3CDTF">2026-10-01T03:57:58Z</dcterms:created>
  <dcterms:modified xsi:type="dcterms:W3CDTF">2026-10-01T03:57:58Z</dcterms:modified>
</cp:coreProperties>
</file>