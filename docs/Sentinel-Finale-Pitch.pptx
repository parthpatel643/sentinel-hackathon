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C5157"/>
                </a:solidFill>
                <a:latin typeface="Franklin Gothic Book"/>
              </a:defRPr>
            </a:pPr>
            <a:r>
              <a:rPr sz="1300" b="0" i="0" u="none" strike="noStrike">
                <a:solidFill>
                  <a:srgbClr val="4C5157"/>
                </a:solidFill>
                <a:latin typeface="Franklin Gothic Book"/>
              </a:rPr>
              <a:t>Build cost (capex), ₹ crore</a:t>
            </a:r>
          </a:p>
        </c:rich>
      </c:tx>
      <c:layout/>
      <c:overlay val="0"/>
    </c:title>
    <c:autoTitleDeleted val="0"/>
    <c:plotArea>
      <c:layout/>
      <c:barChart>
        <c:barDir val="bar"/>
        <c:grouping val="clustered"/>
        <c:varyColors val="0"/>
        <c:ser>
          <c:idx val="0"/>
          <c:order val="0"/>
          <c:tx>
            <c:strRef>
              <c:f>Sheet1!$B$1</c:f>
              <c:strCache>
                <c:ptCount val="1"/>
                <c:pt idx="0">
                  <c:v>Build cost</c:v>
                </c:pt>
              </c:strCache>
            </c:strRef>
          </c:tx>
          <c:spPr>
            <a:solidFill>
              <a:srgbClr val="2F353B"/>
            </a:solidFill>
            <a:effectLst/>
          </c:spPr>
          <c:invertIfNegative val="0"/>
          <c:dLbls>
            <c:numFmt formatCode="&quot;₹&quot;General&quot; cr&quot;" sourceLinked="0"/>
            <c:txPr>
              <a:bodyPr/>
              <a:lstStyle/>
              <a:p>
                <a:pPr>
                  <a:defRPr b="1" i="0" strike="noStrike" sz="1300" u="none">
                    <a:solidFill>
                      <a:srgbClr val="111417"/>
                    </a:solidFill>
                    <a:latin typeface="Franklin Gothic Book"/>
                  </a:defRPr>
                </a:pPr>
              </a:p>
            </c:txPr>
            <c:showLegendKey val="0"/>
            <c:showVal val="1"/>
            <c:showCatName val="0"/>
            <c:showSerName val="0"/>
            <c:showPercent val="0"/>
            <c:showBubbleSize val="0"/>
            <c:showLeaderLines val="0"/>
          </c:dLbls>
          <c:cat>
            <c:multiLvlStrRef>
              <c:f>Sheet1!$A$2:$A$7</c:f>
              <c:multiLvlStrCache>
                <c:ptCount val="6"/>
                <c:lvl>
                  <c:pt idx="0">
                    <c:v>District analysis servers</c:v>
                  </c:pt>
                  <c:pt idx="1">
                    <c:v>State data centre</c:v>
                  </c:pt>
                  <c:pt idx="2">
                    <c:v>Integration and rollout</c:v>
                  </c:pt>
                  <c:pt idx="3">
                    <c:v>Remote edge boxes</c:v>
                  </c:pt>
                  <c:pt idx="4">
                    <c:v>District uplinks</c:v>
                  </c:pt>
                  <c:pt idx="5">
                    <c:v>Disaster-recovery site</c:v>
                  </c:pt>
                </c:lvl>
              </c:multiLvlStrCache>
            </c:multiLvlStrRef>
          </c:cat>
          <c:val>
            <c:numRef>
              <c:f>Sheet1!$B$2:$B$7</c:f>
              <c:numCache>
                <c:formatCode>General</c:formatCode>
                <c:ptCount val="6"/>
                <c:pt idx="0">
                  <c:v>28</c:v>
                </c:pt>
                <c:pt idx="1">
                  <c:v>14</c:v>
                </c:pt>
                <c:pt idx="2">
                  <c:v>12</c:v>
                </c:pt>
                <c:pt idx="3">
                  <c:v>10.5</c:v>
                </c:pt>
                <c:pt idx="4">
                  <c:v>9</c:v>
                </c:pt>
                <c:pt idx="5">
                  <c:v>7</c:v>
                </c:pt>
              </c:numCache>
            </c:numRef>
          </c:val>
        </c:ser>
        <c:dLbls>
          <c:numFmt formatCode="&quot;₹&quot;General&quot; cr&quot;" sourceLinked="0"/>
          <c:txPr>
            <a:bodyPr/>
            <a:lstStyle/>
            <a:p>
              <a:pPr>
                <a:defRPr b="1" i="0" strike="noStrike" sz="1300" u="none">
                  <a:solidFill>
                    <a:srgbClr val="111417"/>
                  </a:solidFill>
                  <a:latin typeface="Franklin Gothic Book"/>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11417"/>
                </a:solidFill>
                <a:latin typeface="Franklin Gothic Book"/>
              </a:defRPr>
            </a:pPr>
            <a:endParaRPr lang="en-US"/>
          </a:p>
        </c:txPr>
        <c:crossAx val="2094734552"/>
        <c:crosses val="autoZero"/>
        <c:auto val="1"/>
        <c:lblAlgn val="ctr"/>
        <c:noMultiLvlLbl val="1"/>
      </c:catAx>
      <c:valAx>
        <c:axId val="2094734552"/>
        <c:scaling>
          <c:orientation val="minMax"/>
          <c:max val="34"/>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Cameras by tier</c:v>
                </c:pt>
              </c:strCache>
            </c:strRef>
          </c:tx>
          <c:spPr>
            <a:solidFill>
              <a:schemeClr val="accent1"/>
            </a:solidFill>
            <a:ln w="9525" cap="flat">
              <a:solidFill>
                <a:srgbClr val="F9F9F9"/>
              </a:solidFill>
              <a:prstDash val="solid"/>
              <a:round/>
            </a:ln>
            <a:effectLst/>
          </c:spPr>
          <c:dPt>
            <c:idx val="0"/>
            <c:bubble3D val="0"/>
            <c:spPr>
              <a:solidFill>
                <a:srgbClr val="FFB000"/>
              </a:solidFill>
              <a:effectLst/>
            </c:spPr>
          </c:dPt>
          <c:dPt>
            <c:idx val="1"/>
            <c:bubble3D val="0"/>
            <c:spPr>
              <a:solidFill>
                <a:srgbClr val="2F353B"/>
              </a:solidFill>
              <a:effectLst/>
            </c:spPr>
          </c:dPt>
          <c:dPt>
            <c:idx val="2"/>
            <c:bubble3D val="0"/>
            <c:spPr>
              <a:solidFill>
                <a:srgbClr val="8A8F95"/>
              </a:solidFill>
              <a:effectLst/>
            </c:spPr>
          </c:dPt>
          <c:dPt>
            <c:idx val="3"/>
            <c:bubble3D val="0"/>
            <c:spPr>
              <a:solidFill>
                <a:srgbClr val="D5D7D2"/>
              </a:solidFill>
              <a:effectLst/>
            </c:spPr>
          </c:dPt>
          <c:dLbls>
            <c:dLbl>
              <c:idx val="0"/>
              <c:numFmt formatCode="0%" sourceLinked="0"/>
              <c:spPr/>
              <c:txPr>
                <a:bodyPr/>
                <a:lstStyle/>
                <a:p>
                  <a:pPr>
                    <a:defRPr sz="1300" b="1" i="0" u="none" strike="noStrike">
                      <a:solidFill>
                        <a:srgbClr val="111417"/>
                      </a:solidFill>
                      <a:latin typeface="Franklin Gothic Book"/>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111417"/>
                      </a:solidFill>
                      <a:latin typeface="Franklin Gothic Book"/>
                    </a:defRPr>
                  </a:pPr>
                </a:p>
              </c:txPr>
              <c:showLegendKey val="0"/>
              <c:showVal val="0"/>
              <c:showCatName val="0"/>
              <c:showSerName val="0"/>
              <c:showPercent val="1"/>
              <c:showBubbleSize val="0"/>
            </c:dLbl>
            <c:dLbl>
              <c:idx val="2"/>
              <c:numFmt formatCode="0%" sourceLinked="0"/>
              <c:spPr/>
              <c:txPr>
                <a:bodyPr/>
                <a:lstStyle/>
                <a:p>
                  <a:pPr>
                    <a:defRPr sz="1300" b="1" i="0" u="none" strike="noStrike">
                      <a:solidFill>
                        <a:srgbClr val="111417"/>
                      </a:solidFill>
                      <a:latin typeface="Franklin Gothic Book"/>
                    </a:defRPr>
                  </a:pPr>
                </a:p>
              </c:txPr>
              <c:showLegendKey val="0"/>
              <c:showVal val="0"/>
              <c:showCatName val="0"/>
              <c:showSerName val="0"/>
              <c:showPercent val="1"/>
              <c:showBubbleSize val="0"/>
            </c:dLbl>
            <c:dLbl>
              <c:idx val="3"/>
              <c:numFmt formatCode="0%" sourceLinked="0"/>
              <c:spPr/>
              <c:txPr>
                <a:bodyPr/>
                <a:lstStyle/>
                <a:p>
                  <a:pPr>
                    <a:defRPr sz="1300" b="1" i="0" u="none" strike="noStrike">
                      <a:solidFill>
                        <a:srgbClr val="111417"/>
                      </a:solidFill>
                      <a:latin typeface="Franklin Gothic Book"/>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Continuous</c:v>
                </c:pt>
                <c:pt idx="1">
                  <c:v>Sampled</c:v>
                </c:pt>
                <c:pt idx="2">
                  <c:v>Motion-triggered</c:v>
                </c:pt>
                <c:pt idx="3">
                  <c:v>View only</c:v>
                </c:pt>
              </c:strCache>
            </c:strRef>
          </c:cat>
          <c:val>
            <c:numRef>
              <c:f>Sheet1!$B$2:$B$5</c:f>
              <c:numCache>
                <c:ptCount val="4"/>
                <c:pt idx="0">
                  <c:v>9600</c:v>
                </c:pt>
                <c:pt idx="1">
                  <c:v>22400</c:v>
                </c:pt>
                <c:pt idx="2">
                  <c:v>28000</c:v>
                </c:pt>
                <c:pt idx="3">
                  <c:v>20000</c:v>
                </c:pt>
              </c:numCache>
            </c:numRef>
          </c:val>
        </c:ser>
        <c:firstSliceAng val="0"/>
        <c:holeSize val="60"/>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[0:00–0:45] Open with the outcome, not the technology.
“Sentinel lets an officer type a registration number and see where that vehicle went, across the government’s cameras — and be told the moment it is seen again.”
Then ten seconds on who we are — and do not read the credentials out; the panel has heard every team list theirs. Point at them and say what they mean for this room: “I’m Parth Patel, I lead the team; with me is Anuj Patel. Our backgrounds are on the slide — enterprise AI architecture and data science. What that means for you: every number we show today, we measured, and we will tell you where we fell short.”
If asked: Parth is a consulting AI solution architect who has worked with IBM and United Airlines, with an MTech in Data Science from IIT Bombay. Anuj is a data scientist based in Göttingen, Germany.
The row under the screenshot is a real sighting from the government grid: the plate, the camera, and the time printed on that camera’s own frame.
If the jury hands over a vehicle number or asks for the live trace now, go straight to slide 04 and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[0:45–2:00] Speak to the officers first; this is their working day.
Gujarat already has about eighty thousand cameras, run by twenty-six departments. They exist; they do not work together. To trace one vehicle today an officer works out whose cameras are on the route, calls each department, asks for footage, and reviews it by hand — racing a retention window of one to two weeks.
Do not put a number of hours on it; the room knows better than we do. Ask instead: “How many calls did the last such trace take?”
The three figures on the right are from the challenge brief, not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[2:00–2:45] Three jobs, one sentence each, in the officers’ words.
See: every department’s cameras on one map and one wall. Find: type a plate, get every sighting with its time and its frame, and a report for the case file. Alert: a watchlist vehicle flagged on every screen the moment any camera reads it.
Then the line that answers the departments’ first worry: “Nothing is installed on anyone’s system. We only read.”
Transition: “Rather than describe it, let us show you — on a camera you choose.”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[2:45–10:00] This is the test case. Switch to the console now; the next five slides are the same steps as backup.
Say what you will do before you click, facing the jury. Roles: the narrator talks, the driver clicks.
CLICK PATH — 01 OPEN: Live Wall → Focus view → choose the camera they name (or the one we are analysing on their road). 02 READ: keep the tile up; when a vehicle passes, its plate appears in the tile’s top-right corner. 03 TRACE: type that plate into the search box at the top (spacing and case do not matter) → Find a Vehicle. Open the stop: camera, printed time, plate as read, evidence frame. If it passed other analysed cameras, the route and Replay route appear. 04 WATCH: “Watch for this vehicle” — the next read raises the banner and sound on every open screen. 05 HAND OVER: Export report → hand them the ZIP.
SAY THE TIMING BEFORE YOU START: “A plate is committed only once several frames agree, so it reaches the screen in about half a minute — sometimes up to a minute and a half.” Fill the wait by opening Overview → ANPR activity, which shows reads arriving per camera.
IF THEY GIVE A PLATE INSTEAD: start at 03. If there is no sighting: say so plainly, open Health to show which cameras were analysed and when, widen the search window to 48 h, and show any probable (one-character-off) matches. Never improvise a route — the system will not draw one it cannot support, and neither should we.
IF THE NETWORK FAILS: say which fallback we are on — our own feed, then the recorded copy of the government grid — and continue on slides 05–09.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live step 1. If the live wall is up, skip this slide.
Officers: “This is the camera you chose. The department’s own recorder keeps running; we only read.” Point at the clock on the frame: that printed time, not our laptop’s, is what every sighting carries.
Professors: the local relay (MediaMTX) pulls each camera once and serves both the analytics and every browser from that one connection, so a camera that is analysed and watched still costs its owner one stream. RTSP, ONVIF, NVRs, Hikvision, Dahua, Genetec and Milestone drivers sit behind one interface. Stream passwords stay on the server; operators see rtsp://***@host.
The banner is real: a watchlist hit on Gandhidham Rambaugh arrived while this camera was open. Alerts reach every open console within a second, with a sound.
Shown: Chiman bhai Bridge, Ahmedabad, from the recorded copy of the government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live step 2, and the slide for the professors. One real frame from the government grid, the four things the edge does to it.
1 Detect and track the vehicle (YOLO11n, a Kalman tracker stepped by the video’s own timestamps, not arrival time). 2 Find the plate (YOLOv9-t) and read it (CCT-XS OCR) on several frames, then vote: a plate is committed only when the frames agree and it fits the Indian registration grammar. 3 Read the date and time burned into the frame (PP-OCRv6), accepted only when a second reading agrees. 4 Store one sighting: camera, printed time, plate, frame.
The numbers are measured on hand-labelled government footage, blind to the OCR’s output. Say the accuracy plainly: 78% of vehicles read exactly after the vote — below our own 85% target. It was 8.6% before we measured; the measurement drove the fixes. Half the plate crops on these wide-angle cameras were unreadable even to a person; no model reads a 20-pixel plate. On-site, that is why we pick cameras by plate yield.
All five models run on ONNX Runtime on this laptop’s CPU, with no internet.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live step 3.
Type the plate — spacing and case do not matter. Every sighting appears on the map and the timeline, in the order the cameras’ own clocks give. Open a stop: camera, the time printed on the frame, the plate as read, the evidence frame.
Be honest about this screenshot before a professor asks: on the government grid each camera replays footage from a different day, so no vehicle there passes two cameras, and this example has one stop. A multi-camera route is exactly what the live trace on today’s cameras shows.
Probable stops: a read one character away, or a look-alike (0/O, 1/I, 8/B, 5/S, 2/Z), is drawn dashed with the plate as read — never silently merged. The 150 km/h check catches cloned plates and clock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live step 4. Live: press “Watch for this vehicle” on the route; it re-checks past reads at once and raises the next sighting on every screen.
Every confirmed read is checked against the watchlist — stolen, wanted, missing, be-on-the-lookout — with priority, case reference and validity.
The misread example is real, from today’s run on Timbavadi Gate: the same blue car read as GJ11CD8889 on some passes and GJ11CDB889 on others. Exact match first, then the look-alike class (0/O, 1/I, 8/B, 5/S, 2/Z), so either read raises the alert.
VAHAN, SARTHI, eGujCop, AFIS and NAFIS connectors are built — retry, circuit breaker, audit — and tested against mock services, because no live credentials exist yet. A rejected credential raises an error; it never reads as “no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live step 5. Live: Export report, then hand the ZIP to the jury.
Officers: the report is the route, the time each camera printed, the plate as read and the evidence frame — in IST, with UTC alongside in the CSV.
Professors: every file in the ZIP is SHA-256-hashed in a manifest, and the report hash binds the PDF and CSV together; change one byte and it no longer verifies. Separately, every search, export, reveal and watchlist change is written to a hash-chained audit log — Admin → Audit log → Verify integrity — and our disaster-recovery drill proved a tampered row is caught.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[10:00–11:00] The slide for both halves of the room.
Officers: a sighting whose printed clock cannot be read is still a sighting — listed, labelled “time unknown” and kept off the route. We never put a guessed time in an evidence record; that is what holds up under cross-examination.
Professors: the clock reader accepts a time only when a second reading agrees. Replayed across all 30 grid cameras, 37% of stream-seconds get a verified time; the rest are honestly unknown, mostly streams with no legible clock. That number is why we ask organisers whether every feed carries a date-time overlay.
Privacy: no face recognition, by decision — faces are detected only so they can be blurred, and the detector misses some small faces, which we say rather than hide. Access is scoped per department inside the database, and private cameras are viewed or analysed only with current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[11:00–12:30] Say “we measured that” for each row, and read the right-hand panel aloud — the professors will respect it, and the officers will trust the rest more for it.
Plate accuracy: 78% of 41 vehicles read exactly, on hand-labelled government footage; it started at 8.6% and the measurement drove the fixes. Clock reading: 97.7% exact on 87 frames with a legible clock, with no wrong times. Capacity: on one base M2 laptop, four cameras analysed at 4 frames a second kept up; eight cameras’ worth did not. Latency: median 27–40 s from the moment in the footage to the stored sighting, p90 67–87 s, across two evidence runs — mostly the multi-frame vote, bought on purpose. DR: a million detections restored in 5.7 s, and a tampered audit row caught. 698 backend and 65 browser tests.
If asked “why 78%?”: the cameras are wide-angle; half of all plate crops were unreadable even to a person. Fine-tuning on Gujarat plates and choosing cameras by plate yield are the pilot’s first work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[12:30–13:15] For the officers: nothing is replaced. For the professors: catalogue-driven discovery, never hard-coded camera IDs.
Three ways in: a department’s catalogue synced in one step — that is how all 30 grid cameras were onboarded; a camera list uploaded as CSV, checked row by row in a dry run before anything is added; or a device on the network — an ONVIF camera or an NVR — whose streams are listed before you add them.
Each camera carries a tier — continuous, sampled, motion-triggered or view-only — that the department sets and can change live; the edge picks it up within 30 seconds without a restart. That is how analysis is spent where plates are legible.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[13:15–15:00] The argument the design rests on. One breath per box, left to right.
Cameras, tiered: not every camera needs AI; a highway check-post and a ration-shop godown are different jobs. Department systems stay as they are; we pull read-only and their 7–15 days of recording stay where they are. Each district decodes and reads plates on its own video; what leaves is a 1 KB event and a 30 KB snapshot, and if the link drops it keeps reading against a cached watchlist and queues up to 72 hours. The state core is search, storage and alerts, with a warm disaster-recovery site. At the end, the people and systems that act.
Then the physics: pulling every camera’s video to one centre needs about 160 gigabits a second, sustained, from sites a thousand kilometres apart, and 12 petabytes for one week. Sending what we find needs about 140 megabits and 390 terabytes.
“What you saw today is the district box, on one laptop — the same code.” Every figure re-derives from five formulas in our scale plan; offer to recompute with their camera mix.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[15:00–16:30] Say “order of magnitude, for comparing approaches — not a tender” before the first number.
About ₹80 crore to build and ₹24 crore a year to run, for eighty thousand cameras: roughly ₹10,000 a camera to build and ₹3,000 a year to run. No software licences — at this scale per-camera VMS fees often outweigh the hardware. Centralising every camera is conservatively ₹400 crore or more to build, before its higher running cost.
The largest line, district analysis servers, rests on a vendor GPU benchmark and our camera-tier split; the pilot’s first exit criterion is measuring both. The saving is reuse: no camera, recorder or VMS is replaced, and GSWAN carries the backhaul.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[16:30–18:00] Each phase is useful on its own; none needs a switch-over.
One district and two departments in three months, with exit criteria we measure rather than promise: plate accuracy on live feeds, GPU throughput, and operators signing off. Then four districts and the main VMS vendors, then every district, then consented private cameras.
To begin we need three things: each department’s camera inventory, read-only access to its streams or VMS, and access to VAHAN and eGujCop when it is ready.
Close on the line, then stop and wait: “Type a plate. See where it went.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Jump here for questions; each appendix slide stands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professors, one line per layer and the reason. At the edge, Python and OpenCV around ONNX Runtime: five small models — vehicles, plates, plate characters, faces to blur, and the camera’s own clock — run unchanged on a laptop or a district GPU, with no internet. The tracker is our own Kalman filter, stepped by the video’s timestamps. MediaMTX pulls each camera once and serves analytics and browsers from that connection. The core is FastAPI over one PostgreSQL: PostGIS for the map, TimescaleDB for sightings over time, trigram search for misread plates; NATS JetStream carries events. The console is React and TypeScript with MapLibre, installable on a phone, in three languages. Everything is open source; the one copyleft piece is the vehicle detector (AGPL-3.0), with an Apache-2.0 replacement (RF-DETR) identified.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the brief’s “which model, and why”. Model 1’s registry and GIS is the foundation everything stands on. Model 2 gives one console that views and analyses every accessible stream. Model 3’s adapters mean no department changes its system — a new vendor is a driver, verified by a conformance suite. Model 4’s central recording is used only where it pays off — critical cameras and alert clips — because full centralisation needs a backbone the State does not have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camera in eight reads plates continuously; a quarter are view-only. The tier is a setting each department controls and can change live — a camera goes to continuous for a bandobast and back afterwards. Be clear the split is our planning assumption, not a survey; department inventories replace it in the pilot. Compute and cost on the cost slide are sized from it: about 560 L4 GPUs with N+1 across 34 district nodes.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juror asks how the totals are made up. Every line re-derives from docs/04-SCALE-PLAN.md §6. The biggest build line, district analysis servers (140 servers × 4 L4 GPUs), rests on a vendor GPU benchmark; Phase 0 measures it. AMC is about 12% of hardware a year. Software licences are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cameras answer more questions at no extra effort: vehicle type and colour on every read, people counted per camera and held to zones, intrusion and loitering zones, wrong-way and stopped vehicles, and camera tamper — covered, blurred or moved — raised with before-and-after frames and closed when restored. Vehicle colour is a heuristic, not a trained classifier; say so if asked. People are counted, never identified.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field app installs from the browser: alerts, a plate lookup, nearby cameras, and a sighting report that queues offline and sends when signal returns. The console runs in English, Hindi and Gujarati, in light and dark themes for day offices and dark control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Health screen runs the integrator compliance checks continuously: RTSP over TCP, timing from the video’s own timestamps, reconnect backoff, catalogue-driven discovery, mixed codecs, and publishing to the government gateway disabled. Integrations shows each government connector with its last test; they are marked “Connected (mock)” because no live credentials exist yet — the client, retry, circuit breaker and audit are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other ways to do this. Leave every department on its own system — nothing changes, and nothing connects. Or pull every camera into one central system — it connects everything, but re-routes all the video, needs a backbone the State does not have, and stops when a link drops. Sentinel gets the reach of the second without disturbing the first. Approaches, not named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Built: exact matching; the look-alike class (0/O, 1/I, 8/B, 5/S, 2/Z); one-character-off reads returned as dashed probable stops; a bridge across a partly read plate when the last four characters agree, vehicle class and colour match, and the hop is reachable at road speed; and the 150 km/h feasibility gate. Designed and costed, not built: full appearance re-identification for a vehicle whose plate is never read (docs/14-APPEARANCE-REID-DESIGN.md). Never say it matches vehicles with no plate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image" Target="../media/image-3-2.jpeg"/><Relationship Id="rId3" Type="http://schemas.openxmlformats.org/officeDocument/2006/relationships/image" Target="../media/image-3-3.jpe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image" Target="../media/image-6-3.jpeg"/><Relationship Id="rId4" Type="http://schemas.openxmlformats.org/officeDocument/2006/relationships/image" Target="../media/image-6-4.jpe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jpe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jpe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012"/>
        </a:solidFill>
      </p:bgPr>
    </p:bg>
    <p:spTree>
      <p:nvGrpSpPr>
        <p:cNvPr id="1" name=""/>
        <p:cNvGrpSpPr/>
        <p:nvPr/>
      </p:nvGrpSpPr>
      <p:grpSpPr>
        <a:xfrm>
          <a:off x="0" y="0"/>
          <a:ext cx="0" cy="0"/>
          <a:chOff x="0" y="0"/>
          <a:chExt cx="0" cy="0"/>
        </a:xfrm>
      </p:grpSpPr>
      <p:sp>
        <p:nvSpPr>
          <p:cNvPr id="2" name="Shape 0"/>
          <p:cNvSpPr/>
          <p:nvPr/>
        </p:nvSpPr>
        <p:spPr>
          <a:xfrm>
            <a:off x="5982919" y="1106424"/>
            <a:ext cx="5696712" cy="3306020"/>
          </a:xfrm>
          <a:prstGeom prst="rect">
            <a:avLst/>
          </a:prstGeom>
          <a:solidFill>
            <a:srgbClr val="16191C"/>
          </a:solidFill>
          <a:ln w="9525">
            <a:solidFill>
              <a:srgbClr val="2E3338"/>
            </a:solidFill>
            <a:prstDash val="solid"/>
          </a:ln>
          <a:effectLst>
            <a:outerShdw sx="100000" sy="100000" kx="0" ky="0" algn="bl" rotWithShape="0" blurRad="228600" dist="63500" dir="5400000">
              <a:srgbClr val="111417">
                <a:alpha val="14000"/>
              </a:srgbClr>
            </a:outerShdw>
          </a:effectLst>
        </p:spPr>
      </p:sp>
      <p:pic>
        <p:nvPicPr>
          <p:cNvPr id="3" name="Image 0" descr="preencoded.png">    </p:cNvPr>
          <p:cNvPicPr>
            <a:picLocks noChangeAspect="1"/>
          </p:cNvPicPr>
          <p:nvPr/>
        </p:nvPicPr>
        <p:blipFill>
          <a:blip r:embed="rId1"/>
          <a:stretch>
            <a:fillRect/>
          </a:stretch>
        </p:blipFill>
        <p:spPr>
          <a:xfrm>
            <a:off x="6019495" y="1143000"/>
            <a:ext cx="5623560" cy="3232868"/>
          </a:xfrm>
          <a:prstGeom prst="rect">
            <a:avLst/>
          </a:prstGeom>
        </p:spPr>
      </p:pic>
      <p:sp>
        <p:nvSpPr>
          <p:cNvPr id="4" name="Shape 1"/>
          <p:cNvSpPr/>
          <p:nvPr/>
        </p:nvSpPr>
        <p:spPr>
          <a:xfrm>
            <a:off x="6019495" y="4695908"/>
            <a:ext cx="5623560" cy="566928"/>
          </a:xfrm>
          <a:prstGeom prst="rect">
            <a:avLst/>
          </a:prstGeom>
          <a:solidFill>
            <a:srgbClr val="23272B"/>
          </a:solidFill>
          <a:ln w="9525">
            <a:solidFill>
              <a:srgbClr val="2E3338"/>
            </a:solidFill>
            <a:prstDash val="solid"/>
          </a:ln>
        </p:spPr>
      </p:sp>
      <p:sp>
        <p:nvSpPr>
          <p:cNvPr id="5" name="Shape 2"/>
          <p:cNvSpPr/>
          <p:nvPr/>
        </p:nvSpPr>
        <p:spPr>
          <a:xfrm>
            <a:off x="6019495" y="4695908"/>
            <a:ext cx="868680" cy="566928"/>
          </a:xfrm>
          <a:prstGeom prst="rect">
            <a:avLst/>
          </a:prstGeom>
          <a:solidFill>
            <a:srgbClr val="FFB000"/>
          </a:solidFill>
          <a:ln w="12700">
            <a:solidFill>
              <a:srgbClr val="FFB000"/>
            </a:solidFill>
            <a:prstDash val="solid"/>
          </a:ln>
        </p:spPr>
      </p:sp>
      <p:sp>
        <p:nvSpPr>
          <p:cNvPr id="6" name="Text 3"/>
          <p:cNvSpPr/>
          <p:nvPr/>
        </p:nvSpPr>
        <p:spPr>
          <a:xfrm>
            <a:off x="6019495" y="4695908"/>
            <a:ext cx="868680" cy="566928"/>
          </a:xfrm>
          <a:prstGeom prst="rect">
            <a:avLst/>
          </a:prstGeom>
          <a:noFill/>
          <a:ln/>
        </p:spPr>
        <p:txBody>
          <a:bodyPr wrap="square" lIns="0" tIns="0" rIns="0" bIns="0" rtlCol="0" anchor="ctr"/>
          <a:lstStyle/>
          <a:p>
            <a:pPr algn="ctr" indent="0" marL="0">
              <a:buNone/>
            </a:pPr>
            <a:r>
              <a:rPr lang="en-US" sz="1300" b="1" dirty="0">
                <a:solidFill>
                  <a:srgbClr val="111417"/>
                </a:solidFill>
                <a:latin typeface="Consolas" pitchFamily="34" charset="0"/>
                <a:ea typeface="Consolas" pitchFamily="34" charset="-122"/>
                <a:cs typeface="Consolas" pitchFamily="34" charset="-120"/>
              </a:rPr>
              <a:t>SEEN</a:t>
            </a:r>
            <a:endParaRPr lang="en-US" sz="1300" dirty="0"/>
          </a:p>
        </p:txBody>
      </p:sp>
      <p:sp>
        <p:nvSpPr>
          <p:cNvPr id="7" name="Text 4"/>
          <p:cNvSpPr/>
          <p:nvPr/>
        </p:nvSpPr>
        <p:spPr>
          <a:xfrm>
            <a:off x="7071055" y="4695908"/>
            <a:ext cx="1600200" cy="566928"/>
          </a:xfrm>
          <a:prstGeom prst="rect">
            <a:avLst/>
          </a:prstGeom>
          <a:noFill/>
          <a:ln/>
        </p:spPr>
        <p:txBody>
          <a:bodyPr wrap="square" lIns="0" tIns="0" rIns="0" bIns="0" rtlCol="0" anchor="ctr"/>
          <a:lstStyle/>
          <a:p>
            <a:pPr indent="0" marL="0">
              <a:buNone/>
            </a:pPr>
            <a:r>
              <a:rPr lang="en-US" sz="1200" dirty="0">
                <a:solidFill>
                  <a:srgbClr val="A9AFB5"/>
                </a:solidFill>
                <a:latin typeface="Consolas" pitchFamily="34" charset="0"/>
                <a:ea typeface="Consolas" pitchFamily="34" charset="-122"/>
                <a:cs typeface="Consolas" pitchFamily="34" charset="-120"/>
              </a:rPr>
              <a:t>17 JUN · 18:01:21</a:t>
            </a:r>
            <a:endParaRPr lang="en-US" sz="1200" dirty="0"/>
          </a:p>
        </p:txBody>
      </p:sp>
      <p:sp>
        <p:nvSpPr>
          <p:cNvPr id="8" name="Text 5"/>
          <p:cNvSpPr/>
          <p:nvPr/>
        </p:nvSpPr>
        <p:spPr>
          <a:xfrm>
            <a:off x="8716975" y="4695908"/>
            <a:ext cx="1371600" cy="566928"/>
          </a:xfrm>
          <a:prstGeom prst="rect">
            <a:avLst/>
          </a:prstGeom>
          <a:noFill/>
          <a:ln/>
        </p:spPr>
        <p:txBody>
          <a:bodyPr wrap="square" lIns="0" tIns="0" rIns="0" bIns="0" rtlCol="0" anchor="ctr"/>
          <a:lstStyle/>
          <a:p>
            <a:pPr indent="0" marL="0">
              <a:buNone/>
            </a:pPr>
            <a:r>
              <a:rPr lang="en-US" sz="1700" b="1" dirty="0">
                <a:solidFill>
                  <a:srgbClr val="EEF0EC"/>
                </a:solidFill>
                <a:latin typeface="Consolas" pitchFamily="34" charset="0"/>
                <a:ea typeface="Consolas" pitchFamily="34" charset="-122"/>
                <a:cs typeface="Consolas" pitchFamily="34" charset="-120"/>
              </a:rPr>
              <a:t>GJ11S7924</a:t>
            </a:r>
            <a:endParaRPr lang="en-US" sz="1700" dirty="0"/>
          </a:p>
        </p:txBody>
      </p:sp>
      <p:sp>
        <p:nvSpPr>
          <p:cNvPr id="9" name="Text 6"/>
          <p:cNvSpPr/>
          <p:nvPr/>
        </p:nvSpPr>
        <p:spPr>
          <a:xfrm>
            <a:off x="10088575" y="4695908"/>
            <a:ext cx="1417320" cy="566928"/>
          </a:xfrm>
          <a:prstGeom prst="rect">
            <a:avLst/>
          </a:prstGeom>
          <a:noFill/>
          <a:ln/>
        </p:spPr>
        <p:txBody>
          <a:bodyPr wrap="square" lIns="0" tIns="0" rIns="0" bIns="0" rtlCol="0" anchor="ctr"/>
          <a:lstStyle/>
          <a:p>
            <a:pPr indent="0" marL="0">
              <a:buNone/>
            </a:pPr>
            <a:r>
              <a:rPr lang="en-US" sz="1300" dirty="0">
                <a:solidFill>
                  <a:srgbClr val="EEF0EC"/>
                </a:solidFill>
                <a:latin typeface="Franklin Gothic Book" pitchFamily="34" charset="0"/>
                <a:ea typeface="Franklin Gothic Book" pitchFamily="34" charset="-122"/>
                <a:cs typeface="Franklin Gothic Book" pitchFamily="34" charset="-120"/>
              </a:rPr>
              <a:t>Timbavadi Gate, Junagadh</a:t>
            </a:r>
            <a:endParaRPr lang="en-US" sz="1300" dirty="0"/>
          </a:p>
        </p:txBody>
      </p:sp>
      <p:sp>
        <p:nvSpPr>
          <p:cNvPr id="10" name="Text 7"/>
          <p:cNvSpPr/>
          <p:nvPr/>
        </p:nvSpPr>
        <p:spPr>
          <a:xfrm>
            <a:off x="548640" y="548640"/>
            <a:ext cx="8229600" cy="274320"/>
          </a:xfrm>
          <a:prstGeom prst="rect">
            <a:avLst/>
          </a:prstGeom>
          <a:noFill/>
          <a:ln/>
        </p:spPr>
        <p:txBody>
          <a:bodyPr wrap="square" lIns="0" tIns="0" rIns="0" bIns="0" rtlCol="0" anchor="t"/>
          <a:lstStyle/>
          <a:p>
            <a:pPr indent="0" marL="0">
              <a:buNone/>
            </a:pPr>
            <a:r>
              <a:rPr lang="en-US" sz="1100" b="1" spc="100" kern="0" dirty="0">
                <a:solidFill>
                  <a:srgbClr val="FFB000"/>
                </a:solidFill>
                <a:latin typeface="Consolas" pitchFamily="34" charset="0"/>
                <a:ea typeface="Consolas" pitchFamily="34" charset="-122"/>
                <a:cs typeface="Consolas" pitchFamily="34" charset="-120"/>
              </a:rPr>
              <a:t>GUJARAT POLICE INNOVATION CHALLENGE 2026 · GRAND FINALE · i-HUB GUJARAT, 12–13 OCT</a:t>
            </a:r>
            <a:endParaRPr lang="en-US" sz="1100" dirty="0"/>
          </a:p>
        </p:txBody>
      </p:sp>
      <p:sp>
        <p:nvSpPr>
          <p:cNvPr id="11" name="Text 8"/>
          <p:cNvSpPr/>
          <p:nvPr/>
        </p:nvSpPr>
        <p:spPr>
          <a:xfrm>
            <a:off x="548640" y="960120"/>
            <a:ext cx="5120640" cy="1097280"/>
          </a:xfrm>
          <a:prstGeom prst="rect">
            <a:avLst/>
          </a:prstGeom>
          <a:noFill/>
          <a:ln/>
        </p:spPr>
        <p:txBody>
          <a:bodyPr wrap="square" lIns="0" tIns="0" rIns="0" bIns="0" rtlCol="0" anchor="t"/>
          <a:lstStyle/>
          <a:p>
            <a:pPr indent="0" marL="0">
              <a:buNone/>
            </a:pPr>
            <a:r>
              <a:rPr lang="en-US" sz="8000" dirty="0">
                <a:solidFill>
                  <a:srgbClr val="EEF0EC"/>
                </a:solidFill>
                <a:latin typeface="Franklin Gothic Demi Cond" pitchFamily="34" charset="0"/>
                <a:ea typeface="Franklin Gothic Demi Cond" pitchFamily="34" charset="-122"/>
                <a:cs typeface="Franklin Gothic Demi Cond" pitchFamily="34" charset="-120"/>
              </a:rPr>
              <a:t>Sentinel</a:t>
            </a:r>
            <a:endParaRPr lang="en-US" sz="8000" dirty="0"/>
          </a:p>
        </p:txBody>
      </p:sp>
      <p:sp>
        <p:nvSpPr>
          <p:cNvPr id="12" name="Text 9"/>
          <p:cNvSpPr/>
          <p:nvPr/>
        </p:nvSpPr>
        <p:spPr>
          <a:xfrm>
            <a:off x="548640" y="2103120"/>
            <a:ext cx="5120640" cy="1280160"/>
          </a:xfrm>
          <a:prstGeom prst="rect">
            <a:avLst/>
          </a:prstGeom>
          <a:noFill/>
          <a:ln/>
        </p:spPr>
        <p:txBody>
          <a:bodyPr wrap="square" lIns="0" tIns="0" rIns="0" bIns="0" rtlCol="0" anchor="t"/>
          <a:lstStyle/>
          <a:p>
            <a:pPr indent="0" marL="0">
              <a:buNone/>
            </a:pPr>
            <a:r>
              <a:rPr lang="en-US" sz="3600" dirty="0">
                <a:solidFill>
                  <a:srgbClr val="EEF0EC"/>
                </a:solidFill>
                <a:latin typeface="Franklin Gothic Demi Cond" pitchFamily="34" charset="0"/>
                <a:ea typeface="Franklin Gothic Demi Cond" pitchFamily="34" charset="-122"/>
                <a:cs typeface="Franklin Gothic Demi Cond" pitchFamily="34" charset="-120"/>
              </a:rPr>
              <a:t>Type a plate.</a:t>
            </a:r>
            <a:endParaRPr lang="en-US" sz="3600" dirty="0"/>
          </a:p>
          <a:p>
            <a:pPr indent="0" marL="0">
              <a:buNone/>
            </a:pPr>
            <a:r>
              <a:rPr lang="en-US" sz="3600" dirty="0">
                <a:solidFill>
                  <a:srgbClr val="EEF0EC"/>
                </a:solidFill>
                <a:latin typeface="Franklin Gothic Demi Cond" pitchFamily="34" charset="0"/>
                <a:ea typeface="Franklin Gothic Demi Cond" pitchFamily="34" charset="-122"/>
                <a:cs typeface="Franklin Gothic Demi Cond" pitchFamily="34" charset="-120"/>
              </a:rPr>
              <a:t>See where it went.</a:t>
            </a:r>
            <a:endParaRPr lang="en-US" sz="3600" dirty="0"/>
          </a:p>
        </p:txBody>
      </p:sp>
      <p:sp>
        <p:nvSpPr>
          <p:cNvPr id="13" name="Text 10"/>
          <p:cNvSpPr/>
          <p:nvPr/>
        </p:nvSpPr>
        <p:spPr>
          <a:xfrm>
            <a:off x="548640" y="3520440"/>
            <a:ext cx="4937760" cy="777240"/>
          </a:xfrm>
          <a:prstGeom prst="rect">
            <a:avLst/>
          </a:prstGeom>
          <a:noFill/>
          <a:ln/>
        </p:spPr>
        <p:txBody>
          <a:bodyPr wrap="square" lIns="0" tIns="0" rIns="0" bIns="0" rtlCol="0" anchor="t"/>
          <a:lstStyle/>
          <a:p>
            <a:pPr indent="0" marL="0">
              <a:buNone/>
            </a:pPr>
            <a:r>
              <a:rPr lang="en-US" sz="1500" dirty="0">
                <a:solidFill>
                  <a:srgbClr val="A9AFB5"/>
                </a:solidFill>
                <a:latin typeface="Franklin Gothic Book" pitchFamily="34" charset="0"/>
                <a:ea typeface="Franklin Gothic Book" pitchFamily="34" charset="-122"/>
                <a:cs typeface="Franklin Gothic Book" pitchFamily="34" charset="-120"/>
              </a:rPr>
              <a:t>One platform over the cameras Gujarat’s departments already run. It reads plates where the video is filmed and alerts officers when a vehicle of interest is seen.</a:t>
            </a:r>
            <a:endParaRPr lang="en-US" sz="1500" dirty="0"/>
          </a:p>
        </p:txBody>
      </p:sp>
      <p:sp>
        <p:nvSpPr>
          <p:cNvPr id="14" name="Text 11"/>
          <p:cNvSpPr/>
          <p:nvPr/>
        </p:nvSpPr>
        <p:spPr>
          <a:xfrm>
            <a:off x="548640" y="4434840"/>
            <a:ext cx="5105095" cy="237744"/>
          </a:xfrm>
          <a:prstGeom prst="rect">
            <a:avLst/>
          </a:prstGeom>
          <a:noFill/>
          <a:ln/>
        </p:spPr>
        <p:txBody>
          <a:bodyPr wrap="square" lIns="0" tIns="0" rIns="0" bIns="0" rtlCol="0" anchor="t"/>
          <a:lstStyle/>
          <a:p>
            <a:pPr indent="0" marL="0">
              <a:buNone/>
            </a:pPr>
            <a:r>
              <a:rPr lang="en-US" sz="1050" b="1" spc="100" kern="0" dirty="0">
                <a:solidFill>
                  <a:srgbClr val="A9AFB5"/>
                </a:solidFill>
                <a:latin typeface="Consolas" pitchFamily="34" charset="0"/>
                <a:ea typeface="Consolas" pitchFamily="34" charset="-122"/>
                <a:cs typeface="Consolas" pitchFamily="34" charset="-120"/>
              </a:rPr>
              <a:t>INVENTAL DATA LABS</a:t>
            </a:r>
            <a:endParaRPr lang="en-US" sz="1050" dirty="0"/>
          </a:p>
        </p:txBody>
      </p:sp>
      <p:sp>
        <p:nvSpPr>
          <p:cNvPr id="15" name="Shape 12"/>
          <p:cNvSpPr/>
          <p:nvPr/>
        </p:nvSpPr>
        <p:spPr>
          <a:xfrm>
            <a:off x="548640" y="4782312"/>
            <a:ext cx="5105095" cy="786384"/>
          </a:xfrm>
          <a:prstGeom prst="rect">
            <a:avLst/>
          </a:prstGeom>
          <a:solidFill>
            <a:srgbClr val="16191C"/>
          </a:solidFill>
          <a:ln w="9525">
            <a:solidFill>
              <a:srgbClr val="2E3338"/>
            </a:solidFill>
            <a:prstDash val="solid"/>
          </a:ln>
        </p:spPr>
      </p:sp>
      <p:sp>
        <p:nvSpPr>
          <p:cNvPr id="16" name="Shape 13"/>
          <p:cNvSpPr/>
          <p:nvPr/>
        </p:nvSpPr>
        <p:spPr>
          <a:xfrm>
            <a:off x="704088" y="4937760"/>
            <a:ext cx="475488" cy="475488"/>
          </a:xfrm>
          <a:prstGeom prst="ellipse">
            <a:avLst/>
          </a:prstGeom>
          <a:solidFill>
            <a:srgbClr val="FFB000"/>
          </a:solidFill>
          <a:ln w="9525">
            <a:solidFill>
              <a:srgbClr val="FFB000"/>
            </a:solidFill>
            <a:prstDash val="solid"/>
          </a:ln>
        </p:spPr>
      </p:sp>
      <p:sp>
        <p:nvSpPr>
          <p:cNvPr id="17" name="Text 14"/>
          <p:cNvSpPr/>
          <p:nvPr/>
        </p:nvSpPr>
        <p:spPr>
          <a:xfrm>
            <a:off x="704088" y="4937760"/>
            <a:ext cx="475488" cy="475488"/>
          </a:xfrm>
          <a:prstGeom prst="rect">
            <a:avLst/>
          </a:prstGeom>
          <a:noFill/>
          <a:ln/>
        </p:spPr>
        <p:txBody>
          <a:bodyPr wrap="square" lIns="0" tIns="0" rIns="0" bIns="0" rtlCol="0" anchor="ctr"/>
          <a:lstStyle/>
          <a:p>
            <a:pPr algn="ctr" indent="0" marL="0">
              <a:buNone/>
            </a:pPr>
            <a:r>
              <a:rPr lang="en-US" sz="1700" dirty="0">
                <a:solidFill>
                  <a:srgbClr val="111417"/>
                </a:solidFill>
                <a:latin typeface="Franklin Gothic Demi Cond" pitchFamily="34" charset="0"/>
                <a:ea typeface="Franklin Gothic Demi Cond" pitchFamily="34" charset="-122"/>
                <a:cs typeface="Franklin Gothic Demi Cond" pitchFamily="34" charset="-120"/>
              </a:rPr>
              <a:t>PP</a:t>
            </a:r>
            <a:endParaRPr lang="en-US" sz="1700" dirty="0"/>
          </a:p>
        </p:txBody>
      </p:sp>
      <p:sp>
        <p:nvSpPr>
          <p:cNvPr id="18" name="Text 15"/>
          <p:cNvSpPr/>
          <p:nvPr/>
        </p:nvSpPr>
        <p:spPr>
          <a:xfrm>
            <a:off x="1335024" y="4873752"/>
            <a:ext cx="4190695" cy="274320"/>
          </a:xfrm>
          <a:prstGeom prst="rect">
            <a:avLst/>
          </a:prstGeom>
          <a:noFill/>
          <a:ln/>
        </p:spPr>
        <p:txBody>
          <a:bodyPr wrap="square" lIns="0" tIns="0" rIns="0" bIns="0" rtlCol="0" anchor="t"/>
          <a:lstStyle/>
          <a:p>
            <a:pPr indent="0" marL="0">
              <a:buNone/>
            </a:pPr>
            <a:r>
              <a:rPr lang="en-US" sz="1400" dirty="0">
                <a:solidFill>
                  <a:srgbClr val="EEF0EC"/>
                </a:solidFill>
                <a:latin typeface="Franklin Gothic Demi" pitchFamily="34" charset="0"/>
                <a:ea typeface="Franklin Gothic Demi" pitchFamily="34" charset="-122"/>
                <a:cs typeface="Franklin Gothic Demi" pitchFamily="34" charset="-120"/>
              </a:rPr>
              <a:t>Parth Patel</a:t>
            </a:r>
            <a:pPr indent="0" marL="0">
              <a:buNone/>
            </a:pPr>
            <a:r>
              <a:rPr lang="en-US" sz="1400" dirty="0">
                <a:solidFill>
                  <a:srgbClr val="A9AFB5"/>
                </a:solidFill>
                <a:latin typeface="Franklin Gothic Book" pitchFamily="34" charset="0"/>
                <a:ea typeface="Franklin Gothic Book" pitchFamily="34" charset="-122"/>
                <a:cs typeface="Franklin Gothic Book" pitchFamily="34" charset="-120"/>
              </a:rPr>
              <a:t>   Team lead · AI solution architect</a:t>
            </a:r>
            <a:endParaRPr lang="en-US" sz="1400" dirty="0"/>
          </a:p>
        </p:txBody>
      </p:sp>
      <p:sp>
        <p:nvSpPr>
          <p:cNvPr id="19" name="Shape 16"/>
          <p:cNvSpPr/>
          <p:nvPr/>
        </p:nvSpPr>
        <p:spPr>
          <a:xfrm>
            <a:off x="1335024" y="5212080"/>
            <a:ext cx="1645920" cy="246888"/>
          </a:xfrm>
          <a:prstGeom prst="rect">
            <a:avLst/>
          </a:prstGeom>
          <a:solidFill>
            <a:srgbClr val="23272B"/>
          </a:solidFill>
          <a:ln w="9525">
            <a:solidFill>
              <a:srgbClr val="2E3338"/>
            </a:solidFill>
            <a:prstDash val="solid"/>
          </a:ln>
        </p:spPr>
      </p:sp>
      <p:sp>
        <p:nvSpPr>
          <p:cNvPr id="20" name="Text 17"/>
          <p:cNvSpPr/>
          <p:nvPr/>
        </p:nvSpPr>
        <p:spPr>
          <a:xfrm>
            <a:off x="1335024" y="5212080"/>
            <a:ext cx="1645920" cy="246888"/>
          </a:xfrm>
          <a:prstGeom prst="rect">
            <a:avLst/>
          </a:prstGeom>
          <a:noFill/>
          <a:ln/>
        </p:spPr>
        <p:txBody>
          <a:bodyPr wrap="square" lIns="0" tIns="0" rIns="0" bIns="0" rtlCol="0" anchor="ctr"/>
          <a:lstStyle/>
          <a:p>
            <a:pPr algn="ctr" indent="0" marL="0">
              <a:buNone/>
            </a:pPr>
            <a:r>
              <a:rPr lang="en-US" sz="1100" dirty="0">
                <a:solidFill>
                  <a:srgbClr val="EEF0EC"/>
                </a:solidFill>
                <a:latin typeface="Consolas" pitchFamily="34" charset="0"/>
                <a:ea typeface="Consolas" pitchFamily="34" charset="-122"/>
                <a:cs typeface="Consolas" pitchFamily="34" charset="-120"/>
              </a:rPr>
              <a:t>IIT Bombay · MTech</a:t>
            </a:r>
            <a:endParaRPr lang="en-US" sz="1100" dirty="0"/>
          </a:p>
        </p:txBody>
      </p:sp>
      <p:sp>
        <p:nvSpPr>
          <p:cNvPr id="21" name="Shape 18"/>
          <p:cNvSpPr/>
          <p:nvPr/>
        </p:nvSpPr>
        <p:spPr>
          <a:xfrm>
            <a:off x="3072384" y="5212080"/>
            <a:ext cx="472440" cy="246888"/>
          </a:xfrm>
          <a:prstGeom prst="rect">
            <a:avLst/>
          </a:prstGeom>
          <a:solidFill>
            <a:srgbClr val="23272B"/>
          </a:solidFill>
          <a:ln w="9525">
            <a:solidFill>
              <a:srgbClr val="2E3338"/>
            </a:solidFill>
            <a:prstDash val="solid"/>
          </a:ln>
        </p:spPr>
      </p:sp>
      <p:sp>
        <p:nvSpPr>
          <p:cNvPr id="22" name="Text 19"/>
          <p:cNvSpPr/>
          <p:nvPr/>
        </p:nvSpPr>
        <p:spPr>
          <a:xfrm>
            <a:off x="3072384" y="5212080"/>
            <a:ext cx="472440" cy="246888"/>
          </a:xfrm>
          <a:prstGeom prst="rect">
            <a:avLst/>
          </a:prstGeom>
          <a:noFill/>
          <a:ln/>
        </p:spPr>
        <p:txBody>
          <a:bodyPr wrap="square" lIns="0" tIns="0" rIns="0" bIns="0" rtlCol="0" anchor="ctr"/>
          <a:lstStyle/>
          <a:p>
            <a:pPr algn="ctr" indent="0" marL="0">
              <a:buNone/>
            </a:pPr>
            <a:r>
              <a:rPr lang="en-US" sz="1100" dirty="0">
                <a:solidFill>
                  <a:srgbClr val="EEF0EC"/>
                </a:solidFill>
                <a:latin typeface="Consolas" pitchFamily="34" charset="0"/>
                <a:ea typeface="Consolas" pitchFamily="34" charset="-122"/>
                <a:cs typeface="Consolas" pitchFamily="34" charset="-120"/>
              </a:rPr>
              <a:t>IBM</a:t>
            </a:r>
            <a:endParaRPr lang="en-US" sz="1100" dirty="0"/>
          </a:p>
        </p:txBody>
      </p:sp>
      <p:sp>
        <p:nvSpPr>
          <p:cNvPr id="23" name="Shape 20"/>
          <p:cNvSpPr/>
          <p:nvPr/>
        </p:nvSpPr>
        <p:spPr>
          <a:xfrm>
            <a:off x="3636264" y="5212080"/>
            <a:ext cx="1411224" cy="246888"/>
          </a:xfrm>
          <a:prstGeom prst="rect">
            <a:avLst/>
          </a:prstGeom>
          <a:solidFill>
            <a:srgbClr val="23272B"/>
          </a:solidFill>
          <a:ln w="9525">
            <a:solidFill>
              <a:srgbClr val="2E3338"/>
            </a:solidFill>
            <a:prstDash val="solid"/>
          </a:ln>
        </p:spPr>
      </p:sp>
      <p:sp>
        <p:nvSpPr>
          <p:cNvPr id="24" name="Text 21"/>
          <p:cNvSpPr/>
          <p:nvPr/>
        </p:nvSpPr>
        <p:spPr>
          <a:xfrm>
            <a:off x="3636264" y="5212080"/>
            <a:ext cx="1411224" cy="246888"/>
          </a:xfrm>
          <a:prstGeom prst="rect">
            <a:avLst/>
          </a:prstGeom>
          <a:noFill/>
          <a:ln/>
        </p:spPr>
        <p:txBody>
          <a:bodyPr wrap="square" lIns="0" tIns="0" rIns="0" bIns="0" rtlCol="0" anchor="ctr"/>
          <a:lstStyle/>
          <a:p>
            <a:pPr algn="ctr" indent="0" marL="0">
              <a:buNone/>
            </a:pPr>
            <a:r>
              <a:rPr lang="en-US" sz="1100" dirty="0">
                <a:solidFill>
                  <a:srgbClr val="EEF0EC"/>
                </a:solidFill>
                <a:latin typeface="Consolas" pitchFamily="34" charset="0"/>
                <a:ea typeface="Consolas" pitchFamily="34" charset="-122"/>
                <a:cs typeface="Consolas" pitchFamily="34" charset="-120"/>
              </a:rPr>
              <a:t>United Airlines</a:t>
            </a:r>
            <a:endParaRPr lang="en-US" sz="1100" dirty="0"/>
          </a:p>
        </p:txBody>
      </p:sp>
      <p:sp>
        <p:nvSpPr>
          <p:cNvPr id="25" name="Shape 22"/>
          <p:cNvSpPr/>
          <p:nvPr/>
        </p:nvSpPr>
        <p:spPr>
          <a:xfrm>
            <a:off x="548640" y="5678424"/>
            <a:ext cx="5105095" cy="786384"/>
          </a:xfrm>
          <a:prstGeom prst="rect">
            <a:avLst/>
          </a:prstGeom>
          <a:solidFill>
            <a:srgbClr val="16191C"/>
          </a:solidFill>
          <a:ln w="9525">
            <a:solidFill>
              <a:srgbClr val="2E3338"/>
            </a:solidFill>
            <a:prstDash val="solid"/>
          </a:ln>
        </p:spPr>
      </p:sp>
      <p:sp>
        <p:nvSpPr>
          <p:cNvPr id="26" name="Shape 23"/>
          <p:cNvSpPr/>
          <p:nvPr/>
        </p:nvSpPr>
        <p:spPr>
          <a:xfrm>
            <a:off x="704088" y="5833872"/>
            <a:ext cx="475488" cy="475488"/>
          </a:xfrm>
          <a:prstGeom prst="ellipse">
            <a:avLst/>
          </a:prstGeom>
          <a:solidFill>
            <a:srgbClr val="23272B"/>
          </a:solidFill>
          <a:ln w="9525">
            <a:solidFill>
              <a:srgbClr val="2E3338"/>
            </a:solidFill>
            <a:prstDash val="solid"/>
          </a:ln>
        </p:spPr>
      </p:sp>
      <p:sp>
        <p:nvSpPr>
          <p:cNvPr id="27" name="Text 24"/>
          <p:cNvSpPr/>
          <p:nvPr/>
        </p:nvSpPr>
        <p:spPr>
          <a:xfrm>
            <a:off x="704088" y="5833872"/>
            <a:ext cx="475488" cy="475488"/>
          </a:xfrm>
          <a:prstGeom prst="rect">
            <a:avLst/>
          </a:prstGeom>
          <a:noFill/>
          <a:ln/>
        </p:spPr>
        <p:txBody>
          <a:bodyPr wrap="square" lIns="0" tIns="0" rIns="0" bIns="0" rtlCol="0" anchor="ctr"/>
          <a:lstStyle/>
          <a:p>
            <a:pPr algn="ctr" indent="0" marL="0">
              <a:buNone/>
            </a:pPr>
            <a:r>
              <a:rPr lang="en-US" sz="1700" dirty="0">
                <a:solidFill>
                  <a:srgbClr val="EEF0EC"/>
                </a:solidFill>
                <a:latin typeface="Franklin Gothic Demi Cond" pitchFamily="34" charset="0"/>
                <a:ea typeface="Franklin Gothic Demi Cond" pitchFamily="34" charset="-122"/>
                <a:cs typeface="Franklin Gothic Demi Cond" pitchFamily="34" charset="-120"/>
              </a:rPr>
              <a:t>AP</a:t>
            </a:r>
            <a:endParaRPr lang="en-US" sz="1700" dirty="0"/>
          </a:p>
        </p:txBody>
      </p:sp>
      <p:sp>
        <p:nvSpPr>
          <p:cNvPr id="28" name="Text 25"/>
          <p:cNvSpPr/>
          <p:nvPr/>
        </p:nvSpPr>
        <p:spPr>
          <a:xfrm>
            <a:off x="1335024" y="5769864"/>
            <a:ext cx="4190695" cy="274320"/>
          </a:xfrm>
          <a:prstGeom prst="rect">
            <a:avLst/>
          </a:prstGeom>
          <a:noFill/>
          <a:ln/>
        </p:spPr>
        <p:txBody>
          <a:bodyPr wrap="square" lIns="0" tIns="0" rIns="0" bIns="0" rtlCol="0" anchor="t"/>
          <a:lstStyle/>
          <a:p>
            <a:pPr indent="0" marL="0">
              <a:buNone/>
            </a:pPr>
            <a:r>
              <a:rPr lang="en-US" sz="1400" dirty="0">
                <a:solidFill>
                  <a:srgbClr val="EEF0EC"/>
                </a:solidFill>
                <a:latin typeface="Franklin Gothic Demi" pitchFamily="34" charset="0"/>
                <a:ea typeface="Franklin Gothic Demi" pitchFamily="34" charset="-122"/>
                <a:cs typeface="Franklin Gothic Demi" pitchFamily="34" charset="-120"/>
              </a:rPr>
              <a:t>Anuj Patel</a:t>
            </a:r>
            <a:pPr indent="0" marL="0">
              <a:buNone/>
            </a:pPr>
            <a:r>
              <a:rPr lang="en-US" sz="1400" dirty="0">
                <a:solidFill>
                  <a:srgbClr val="A9AFB5"/>
                </a:solidFill>
                <a:latin typeface="Franklin Gothic Book" pitchFamily="34" charset="0"/>
                <a:ea typeface="Franklin Gothic Book" pitchFamily="34" charset="-122"/>
                <a:cs typeface="Franklin Gothic Book" pitchFamily="34" charset="-120"/>
              </a:rPr>
              <a:t>   Data scientist</a:t>
            </a:r>
            <a:endParaRPr lang="en-US" sz="1400" dirty="0"/>
          </a:p>
        </p:txBody>
      </p:sp>
      <p:sp>
        <p:nvSpPr>
          <p:cNvPr id="29" name="Shape 26"/>
          <p:cNvSpPr/>
          <p:nvPr/>
        </p:nvSpPr>
        <p:spPr>
          <a:xfrm>
            <a:off x="1335024" y="6108192"/>
            <a:ext cx="1645920" cy="246888"/>
          </a:xfrm>
          <a:prstGeom prst="rect">
            <a:avLst/>
          </a:prstGeom>
          <a:solidFill>
            <a:srgbClr val="23272B"/>
          </a:solidFill>
          <a:ln w="9525">
            <a:solidFill>
              <a:srgbClr val="2E3338"/>
            </a:solidFill>
            <a:prstDash val="solid"/>
          </a:ln>
        </p:spPr>
      </p:sp>
      <p:sp>
        <p:nvSpPr>
          <p:cNvPr id="30" name="Text 27"/>
          <p:cNvSpPr/>
          <p:nvPr/>
        </p:nvSpPr>
        <p:spPr>
          <a:xfrm>
            <a:off x="1335024" y="6108192"/>
            <a:ext cx="1645920" cy="246888"/>
          </a:xfrm>
          <a:prstGeom prst="rect">
            <a:avLst/>
          </a:prstGeom>
          <a:noFill/>
          <a:ln/>
        </p:spPr>
        <p:txBody>
          <a:bodyPr wrap="square" lIns="0" tIns="0" rIns="0" bIns="0" rtlCol="0" anchor="ctr"/>
          <a:lstStyle/>
          <a:p>
            <a:pPr algn="ctr" indent="0" marL="0">
              <a:buNone/>
            </a:pPr>
            <a:r>
              <a:rPr lang="en-US" sz="1100" dirty="0">
                <a:solidFill>
                  <a:srgbClr val="EEF0EC"/>
                </a:solidFill>
                <a:latin typeface="Consolas" pitchFamily="34" charset="0"/>
                <a:ea typeface="Consolas" pitchFamily="34" charset="-122"/>
                <a:cs typeface="Consolas" pitchFamily="34" charset="-120"/>
              </a:rPr>
              <a:t>Göttingen, Germany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THE CASE</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b="1" dirty="0">
                <a:solidFill>
                  <a:srgbClr val="111417"/>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A vehicle is reported. Where did it go?</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02</a:t>
            </a:r>
            <a:endParaRPr lang="en-US" sz="900" dirty="0"/>
          </a:p>
        </p:txBody>
      </p:sp>
      <p:sp>
        <p:nvSpPr>
          <p:cNvPr id="7" name="Text 4"/>
          <p:cNvSpPr/>
          <p:nvPr/>
        </p:nvSpPr>
        <p:spPr>
          <a:xfrm>
            <a:off x="548640" y="1600200"/>
            <a:ext cx="6035040" cy="329184"/>
          </a:xfrm>
          <a:prstGeom prst="rect">
            <a:avLst/>
          </a:prstGeom>
          <a:noFill/>
          <a:ln/>
        </p:spPr>
        <p:txBody>
          <a:bodyPr wrap="square" lIns="0" tIns="0" rIns="0" bIns="0" rtlCol="0" anchor="t"/>
          <a:lstStyle/>
          <a:p>
            <a:pPr indent="0" marL="0">
              <a:buNone/>
            </a:pPr>
            <a:r>
              <a:rPr lang="en-US" sz="1700" dirty="0">
                <a:solidFill>
                  <a:srgbClr val="111417"/>
                </a:solidFill>
                <a:latin typeface="Franklin Gothic Demi" pitchFamily="34" charset="0"/>
                <a:ea typeface="Franklin Gothic Demi" pitchFamily="34" charset="-122"/>
                <a:cs typeface="Franklin Gothic Demi" pitchFamily="34" charset="-120"/>
              </a:rPr>
              <a:t>Today, to trace one vehicle an officer has to:</a:t>
            </a:r>
            <a:endParaRPr lang="en-US" sz="1700" dirty="0"/>
          </a:p>
        </p:txBody>
      </p:sp>
      <p:sp>
        <p:nvSpPr>
          <p:cNvPr id="8" name="Shape 5"/>
          <p:cNvSpPr/>
          <p:nvPr/>
        </p:nvSpPr>
        <p:spPr>
          <a:xfrm>
            <a:off x="749808" y="2331720"/>
            <a:ext cx="0" cy="2962656"/>
          </a:xfrm>
          <a:prstGeom prst="line">
            <a:avLst/>
          </a:prstGeom>
          <a:noFill/>
          <a:ln w="19050">
            <a:solidFill>
              <a:srgbClr val="D5D7D2"/>
            </a:solidFill>
            <a:prstDash val="solid"/>
          </a:ln>
        </p:spPr>
      </p:sp>
      <p:sp>
        <p:nvSpPr>
          <p:cNvPr id="9" name="Shape 6"/>
          <p:cNvSpPr/>
          <p:nvPr/>
        </p:nvSpPr>
        <p:spPr>
          <a:xfrm>
            <a:off x="548640" y="2130552"/>
            <a:ext cx="402336" cy="402336"/>
          </a:xfrm>
          <a:prstGeom prst="ellipse">
            <a:avLst/>
          </a:prstGeom>
          <a:solidFill>
            <a:srgbClr val="EDEEEA"/>
          </a:solidFill>
          <a:ln w="15875">
            <a:solidFill>
              <a:srgbClr val="8A8F95"/>
            </a:solidFill>
            <a:prstDash val="solid"/>
          </a:ln>
        </p:spPr>
      </p:sp>
      <p:sp>
        <p:nvSpPr>
          <p:cNvPr id="10" name="Text 7"/>
          <p:cNvSpPr/>
          <p:nvPr/>
        </p:nvSpPr>
        <p:spPr>
          <a:xfrm>
            <a:off x="548640" y="2130552"/>
            <a:ext cx="402336" cy="402336"/>
          </a:xfrm>
          <a:prstGeom prst="rect">
            <a:avLst/>
          </a:prstGeom>
          <a:noFill/>
          <a:ln/>
        </p:spPr>
        <p:txBody>
          <a:bodyPr wrap="square" lIns="0" tIns="0" rIns="0" bIns="0" rtlCol="0" anchor="ctr"/>
          <a:lstStyle/>
          <a:p>
            <a:pPr algn="ctr" indent="0" marL="0">
              <a:buNone/>
            </a:pPr>
            <a:r>
              <a:rPr lang="en-US" sz="1600" dirty="0">
                <a:solidFill>
                  <a:srgbClr val="4C5157"/>
                </a:solidFill>
                <a:latin typeface="Franklin Gothic Demi Cond" pitchFamily="34" charset="0"/>
                <a:ea typeface="Franklin Gothic Demi Cond" pitchFamily="34" charset="-122"/>
                <a:cs typeface="Franklin Gothic Demi Cond" pitchFamily="34" charset="-120"/>
              </a:rPr>
              <a:t>1</a:t>
            </a:r>
            <a:endParaRPr lang="en-US" sz="1600" dirty="0"/>
          </a:p>
        </p:txBody>
      </p:sp>
      <p:sp>
        <p:nvSpPr>
          <p:cNvPr id="11" name="Text 8"/>
          <p:cNvSpPr/>
          <p:nvPr/>
        </p:nvSpPr>
        <p:spPr>
          <a:xfrm>
            <a:off x="1143000" y="2130552"/>
            <a:ext cx="5486400" cy="329184"/>
          </a:xfrm>
          <a:prstGeom prst="rect">
            <a:avLst/>
          </a:prstGeom>
          <a:noFill/>
          <a:ln/>
        </p:spPr>
        <p:txBody>
          <a:bodyPr wrap="square" lIns="0" tIns="0" rIns="0" bIns="0" rtlCol="0" anchor="t"/>
          <a:lstStyle/>
          <a:p>
            <a:pPr indent="0" marL="0">
              <a:buNone/>
            </a:pPr>
            <a:r>
              <a:rPr lang="en-US" sz="1700" dirty="0">
                <a:solidFill>
                  <a:srgbClr val="111417"/>
                </a:solidFill>
                <a:latin typeface="Franklin Gothic Demi" pitchFamily="34" charset="0"/>
                <a:ea typeface="Franklin Gothic Demi" pitchFamily="34" charset="-122"/>
                <a:cs typeface="Franklin Gothic Demi" pitchFamily="34" charset="-120"/>
              </a:rPr>
              <a:t>Work out whose cameras are on the route</a:t>
            </a:r>
            <a:endParaRPr lang="en-US" sz="1700" dirty="0"/>
          </a:p>
        </p:txBody>
      </p:sp>
      <p:sp>
        <p:nvSpPr>
          <p:cNvPr id="12" name="Text 9"/>
          <p:cNvSpPr/>
          <p:nvPr/>
        </p:nvSpPr>
        <p:spPr>
          <a:xfrm>
            <a:off x="1143000" y="2487168"/>
            <a:ext cx="5486400" cy="45720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Police, municipal, transport, irrigation — each department runs its own.</a:t>
            </a:r>
            <a:endParaRPr lang="en-US" sz="1350" dirty="0"/>
          </a:p>
        </p:txBody>
      </p:sp>
      <p:sp>
        <p:nvSpPr>
          <p:cNvPr id="13" name="Shape 10"/>
          <p:cNvSpPr/>
          <p:nvPr/>
        </p:nvSpPr>
        <p:spPr>
          <a:xfrm>
            <a:off x="548640" y="3118104"/>
            <a:ext cx="402336" cy="402336"/>
          </a:xfrm>
          <a:prstGeom prst="ellipse">
            <a:avLst/>
          </a:prstGeom>
          <a:solidFill>
            <a:srgbClr val="EDEEEA"/>
          </a:solidFill>
          <a:ln w="15875">
            <a:solidFill>
              <a:srgbClr val="8A8F95"/>
            </a:solidFill>
            <a:prstDash val="solid"/>
          </a:ln>
        </p:spPr>
      </p:sp>
      <p:sp>
        <p:nvSpPr>
          <p:cNvPr id="14" name="Text 11"/>
          <p:cNvSpPr/>
          <p:nvPr/>
        </p:nvSpPr>
        <p:spPr>
          <a:xfrm>
            <a:off x="548640" y="3118104"/>
            <a:ext cx="402336" cy="402336"/>
          </a:xfrm>
          <a:prstGeom prst="rect">
            <a:avLst/>
          </a:prstGeom>
          <a:noFill/>
          <a:ln/>
        </p:spPr>
        <p:txBody>
          <a:bodyPr wrap="square" lIns="0" tIns="0" rIns="0" bIns="0" rtlCol="0" anchor="ctr"/>
          <a:lstStyle/>
          <a:p>
            <a:pPr algn="ctr" indent="0" marL="0">
              <a:buNone/>
            </a:pPr>
            <a:r>
              <a:rPr lang="en-US" sz="1600" dirty="0">
                <a:solidFill>
                  <a:srgbClr val="4C5157"/>
                </a:solidFill>
                <a:latin typeface="Franklin Gothic Demi Cond" pitchFamily="34" charset="0"/>
                <a:ea typeface="Franklin Gothic Demi Cond" pitchFamily="34" charset="-122"/>
                <a:cs typeface="Franklin Gothic Demi Cond" pitchFamily="34" charset="-120"/>
              </a:rPr>
              <a:t>2</a:t>
            </a:r>
            <a:endParaRPr lang="en-US" sz="1600" dirty="0"/>
          </a:p>
        </p:txBody>
      </p:sp>
      <p:sp>
        <p:nvSpPr>
          <p:cNvPr id="15" name="Text 12"/>
          <p:cNvSpPr/>
          <p:nvPr/>
        </p:nvSpPr>
        <p:spPr>
          <a:xfrm>
            <a:off x="1143000" y="3118104"/>
            <a:ext cx="5486400" cy="329184"/>
          </a:xfrm>
          <a:prstGeom prst="rect">
            <a:avLst/>
          </a:prstGeom>
          <a:noFill/>
          <a:ln/>
        </p:spPr>
        <p:txBody>
          <a:bodyPr wrap="square" lIns="0" tIns="0" rIns="0" bIns="0" rtlCol="0" anchor="t"/>
          <a:lstStyle/>
          <a:p>
            <a:pPr indent="0" marL="0">
              <a:buNone/>
            </a:pPr>
            <a:r>
              <a:rPr lang="en-US" sz="1700" dirty="0">
                <a:solidFill>
                  <a:srgbClr val="111417"/>
                </a:solidFill>
                <a:latin typeface="Franklin Gothic Demi" pitchFamily="34" charset="0"/>
                <a:ea typeface="Franklin Gothic Demi" pitchFamily="34" charset="-122"/>
                <a:cs typeface="Franklin Gothic Demi" pitchFamily="34" charset="-120"/>
              </a:rPr>
              <a:t>Call each department, one by one</a:t>
            </a:r>
            <a:endParaRPr lang="en-US" sz="1700" dirty="0"/>
          </a:p>
        </p:txBody>
      </p:sp>
      <p:sp>
        <p:nvSpPr>
          <p:cNvPr id="16" name="Text 13"/>
          <p:cNvSpPr/>
          <p:nvPr/>
        </p:nvSpPr>
        <p:spPr>
          <a:xfrm>
            <a:off x="1143000" y="3474720"/>
            <a:ext cx="5486400" cy="45720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A separate system and a separate login for every one of them.</a:t>
            </a:r>
            <a:endParaRPr lang="en-US" sz="1350" dirty="0"/>
          </a:p>
        </p:txBody>
      </p:sp>
      <p:sp>
        <p:nvSpPr>
          <p:cNvPr id="17" name="Shape 14"/>
          <p:cNvSpPr/>
          <p:nvPr/>
        </p:nvSpPr>
        <p:spPr>
          <a:xfrm>
            <a:off x="548640" y="4105656"/>
            <a:ext cx="402336" cy="402336"/>
          </a:xfrm>
          <a:prstGeom prst="ellipse">
            <a:avLst/>
          </a:prstGeom>
          <a:solidFill>
            <a:srgbClr val="EDEEEA"/>
          </a:solidFill>
          <a:ln w="15875">
            <a:solidFill>
              <a:srgbClr val="8A8F95"/>
            </a:solidFill>
            <a:prstDash val="solid"/>
          </a:ln>
        </p:spPr>
      </p:sp>
      <p:sp>
        <p:nvSpPr>
          <p:cNvPr id="18" name="Text 15"/>
          <p:cNvSpPr/>
          <p:nvPr/>
        </p:nvSpPr>
        <p:spPr>
          <a:xfrm>
            <a:off x="548640" y="4105656"/>
            <a:ext cx="402336" cy="402336"/>
          </a:xfrm>
          <a:prstGeom prst="rect">
            <a:avLst/>
          </a:prstGeom>
          <a:noFill/>
          <a:ln/>
        </p:spPr>
        <p:txBody>
          <a:bodyPr wrap="square" lIns="0" tIns="0" rIns="0" bIns="0" rtlCol="0" anchor="ctr"/>
          <a:lstStyle/>
          <a:p>
            <a:pPr algn="ctr" indent="0" marL="0">
              <a:buNone/>
            </a:pPr>
            <a:r>
              <a:rPr lang="en-US" sz="1600" dirty="0">
                <a:solidFill>
                  <a:srgbClr val="4C5157"/>
                </a:solidFill>
                <a:latin typeface="Franklin Gothic Demi Cond" pitchFamily="34" charset="0"/>
                <a:ea typeface="Franklin Gothic Demi Cond" pitchFamily="34" charset="-122"/>
                <a:cs typeface="Franklin Gothic Demi Cond" pitchFamily="34" charset="-120"/>
              </a:rPr>
              <a:t>3</a:t>
            </a:r>
            <a:endParaRPr lang="en-US" sz="1600" dirty="0"/>
          </a:p>
        </p:txBody>
      </p:sp>
      <p:sp>
        <p:nvSpPr>
          <p:cNvPr id="19" name="Text 16"/>
          <p:cNvSpPr/>
          <p:nvPr/>
        </p:nvSpPr>
        <p:spPr>
          <a:xfrm>
            <a:off x="1143000" y="4105656"/>
            <a:ext cx="5486400" cy="329184"/>
          </a:xfrm>
          <a:prstGeom prst="rect">
            <a:avLst/>
          </a:prstGeom>
          <a:noFill/>
          <a:ln/>
        </p:spPr>
        <p:txBody>
          <a:bodyPr wrap="square" lIns="0" tIns="0" rIns="0" bIns="0" rtlCol="0" anchor="t"/>
          <a:lstStyle/>
          <a:p>
            <a:pPr indent="0" marL="0">
              <a:buNone/>
            </a:pPr>
            <a:r>
              <a:rPr lang="en-US" sz="1700" dirty="0">
                <a:solidFill>
                  <a:srgbClr val="111417"/>
                </a:solidFill>
                <a:latin typeface="Franklin Gothic Demi" pitchFamily="34" charset="0"/>
                <a:ea typeface="Franklin Gothic Demi" pitchFamily="34" charset="-122"/>
                <a:cs typeface="Franklin Gothic Demi" pitchFamily="34" charset="-120"/>
              </a:rPr>
              <a:t>Request the footage and review it by hand</a:t>
            </a:r>
            <a:endParaRPr lang="en-US" sz="1700" dirty="0"/>
          </a:p>
        </p:txBody>
      </p:sp>
      <p:sp>
        <p:nvSpPr>
          <p:cNvPr id="20" name="Text 17"/>
          <p:cNvSpPr/>
          <p:nvPr/>
        </p:nvSpPr>
        <p:spPr>
          <a:xfrm>
            <a:off x="1143000" y="4462272"/>
            <a:ext cx="5486400" cy="45720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Camera by camera, frame by frame, with no shared map or timeline.</a:t>
            </a:r>
            <a:endParaRPr lang="en-US" sz="1350" dirty="0"/>
          </a:p>
        </p:txBody>
      </p:sp>
      <p:sp>
        <p:nvSpPr>
          <p:cNvPr id="21" name="Shape 18"/>
          <p:cNvSpPr/>
          <p:nvPr/>
        </p:nvSpPr>
        <p:spPr>
          <a:xfrm>
            <a:off x="548640" y="5093208"/>
            <a:ext cx="402336" cy="402336"/>
          </a:xfrm>
          <a:prstGeom prst="ellipse">
            <a:avLst/>
          </a:prstGeom>
          <a:solidFill>
            <a:srgbClr val="EDEEEA"/>
          </a:solidFill>
          <a:ln w="15875">
            <a:solidFill>
              <a:srgbClr val="8A8F95"/>
            </a:solidFill>
            <a:prstDash val="solid"/>
          </a:ln>
        </p:spPr>
      </p:sp>
      <p:sp>
        <p:nvSpPr>
          <p:cNvPr id="22" name="Text 19"/>
          <p:cNvSpPr/>
          <p:nvPr/>
        </p:nvSpPr>
        <p:spPr>
          <a:xfrm>
            <a:off x="548640" y="5093208"/>
            <a:ext cx="402336" cy="402336"/>
          </a:xfrm>
          <a:prstGeom prst="rect">
            <a:avLst/>
          </a:prstGeom>
          <a:noFill/>
          <a:ln/>
        </p:spPr>
        <p:txBody>
          <a:bodyPr wrap="square" lIns="0" tIns="0" rIns="0" bIns="0" rtlCol="0" anchor="ctr"/>
          <a:lstStyle/>
          <a:p>
            <a:pPr algn="ctr" indent="0" marL="0">
              <a:buNone/>
            </a:pPr>
            <a:r>
              <a:rPr lang="en-US" sz="1600" dirty="0">
                <a:solidFill>
                  <a:srgbClr val="4C5157"/>
                </a:solidFill>
                <a:latin typeface="Franklin Gothic Demi Cond" pitchFamily="34" charset="0"/>
                <a:ea typeface="Franklin Gothic Demi Cond" pitchFamily="34" charset="-122"/>
                <a:cs typeface="Franklin Gothic Demi Cond" pitchFamily="34" charset="-120"/>
              </a:rPr>
              <a:t>4</a:t>
            </a:r>
            <a:endParaRPr lang="en-US" sz="1600" dirty="0"/>
          </a:p>
        </p:txBody>
      </p:sp>
      <p:sp>
        <p:nvSpPr>
          <p:cNvPr id="23" name="Text 20"/>
          <p:cNvSpPr/>
          <p:nvPr/>
        </p:nvSpPr>
        <p:spPr>
          <a:xfrm>
            <a:off x="1143000" y="5093208"/>
            <a:ext cx="5486400" cy="329184"/>
          </a:xfrm>
          <a:prstGeom prst="rect">
            <a:avLst/>
          </a:prstGeom>
          <a:noFill/>
          <a:ln/>
        </p:spPr>
        <p:txBody>
          <a:bodyPr wrap="square" lIns="0" tIns="0" rIns="0" bIns="0" rtlCol="0" anchor="t"/>
          <a:lstStyle/>
          <a:p>
            <a:pPr indent="0" marL="0">
              <a:buNone/>
            </a:pPr>
            <a:r>
              <a:rPr lang="en-US" sz="1700" dirty="0">
                <a:solidFill>
                  <a:srgbClr val="111417"/>
                </a:solidFill>
                <a:latin typeface="Franklin Gothic Demi" pitchFamily="34" charset="0"/>
                <a:ea typeface="Franklin Gothic Demi" pitchFamily="34" charset="-122"/>
                <a:cs typeface="Franklin Gothic Demi" pitchFamily="34" charset="-120"/>
              </a:rPr>
              <a:t>Race the overwrite</a:t>
            </a:r>
            <a:endParaRPr lang="en-US" sz="1700" dirty="0"/>
          </a:p>
        </p:txBody>
      </p:sp>
      <p:sp>
        <p:nvSpPr>
          <p:cNvPr id="24" name="Text 21"/>
          <p:cNvSpPr/>
          <p:nvPr/>
        </p:nvSpPr>
        <p:spPr>
          <a:xfrm>
            <a:off x="1143000" y="5449824"/>
            <a:ext cx="5486400" cy="45720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Most recorders keep 7–15 days. Then the evidence is gone.</a:t>
            </a:r>
            <a:endParaRPr lang="en-US" sz="1350" dirty="0"/>
          </a:p>
        </p:txBody>
      </p:sp>
      <p:sp>
        <p:nvSpPr>
          <p:cNvPr id="25" name="Shape 22"/>
          <p:cNvSpPr/>
          <p:nvPr/>
        </p:nvSpPr>
        <p:spPr>
          <a:xfrm>
            <a:off x="7178040" y="1600200"/>
            <a:ext cx="4465015" cy="1261872"/>
          </a:xfrm>
          <a:prstGeom prst="roundRect">
            <a:avLst>
              <a:gd name="adj" fmla="val 5797"/>
            </a:avLst>
          </a:prstGeom>
          <a:solidFill>
            <a:srgbClr val="FBFBF9"/>
          </a:solidFill>
          <a:ln w="9525">
            <a:solidFill>
              <a:srgbClr val="D5D7D2"/>
            </a:solidFill>
            <a:prstDash val="solid"/>
          </a:ln>
        </p:spPr>
      </p:sp>
      <p:sp>
        <p:nvSpPr>
          <p:cNvPr id="26" name="Text 23"/>
          <p:cNvSpPr/>
          <p:nvPr/>
        </p:nvSpPr>
        <p:spPr>
          <a:xfrm>
            <a:off x="7498080" y="1746504"/>
            <a:ext cx="3824935" cy="640080"/>
          </a:xfrm>
          <a:prstGeom prst="rect">
            <a:avLst/>
          </a:prstGeom>
          <a:noFill/>
          <a:ln/>
        </p:spPr>
        <p:txBody>
          <a:bodyPr wrap="square" lIns="0" tIns="0" rIns="0" bIns="0" rtlCol="0" anchor="t"/>
          <a:lstStyle/>
          <a:p>
            <a:pPr indent="0" marL="0">
              <a:buNone/>
            </a:pPr>
            <a:r>
              <a:rPr lang="en-US" sz="4400" dirty="0">
                <a:solidFill>
                  <a:srgbClr val="111417"/>
                </a:solidFill>
                <a:latin typeface="Franklin Gothic Demi Cond" pitchFamily="34" charset="0"/>
                <a:ea typeface="Franklin Gothic Demi Cond" pitchFamily="34" charset="-122"/>
                <a:cs typeface="Franklin Gothic Demi Cond" pitchFamily="34" charset="-120"/>
              </a:rPr>
              <a:t>≈80,000</a:t>
            </a:r>
            <a:endParaRPr lang="en-US" sz="4400" dirty="0"/>
          </a:p>
        </p:txBody>
      </p:sp>
      <p:sp>
        <p:nvSpPr>
          <p:cNvPr id="27" name="Text 24"/>
          <p:cNvSpPr/>
          <p:nvPr/>
        </p:nvSpPr>
        <p:spPr>
          <a:xfrm>
            <a:off x="7498080" y="2404872"/>
            <a:ext cx="3824935" cy="329184"/>
          </a:xfrm>
          <a:prstGeom prst="rect">
            <a:avLst/>
          </a:prstGeom>
          <a:noFill/>
          <a:ln/>
        </p:spPr>
        <p:txBody>
          <a:bodyPr wrap="square" lIns="0" tIns="0" rIns="0" bIns="0" rtlCol="0" anchor="t"/>
          <a:lstStyle/>
          <a:p>
            <a:pPr indent="0" marL="0">
              <a:buNone/>
            </a:pPr>
            <a:r>
              <a:rPr lang="en-US" sz="1400" dirty="0">
                <a:solidFill>
                  <a:srgbClr val="4C5157"/>
                </a:solidFill>
                <a:latin typeface="Franklin Gothic Book" pitchFamily="34" charset="0"/>
                <a:ea typeface="Franklin Gothic Book" pitchFamily="34" charset="-122"/>
                <a:cs typeface="Franklin Gothic Book" pitchFamily="34" charset="-120"/>
              </a:rPr>
              <a:t>cameras already installed across the State</a:t>
            </a:r>
            <a:endParaRPr lang="en-US" sz="1400" dirty="0"/>
          </a:p>
        </p:txBody>
      </p:sp>
      <p:sp>
        <p:nvSpPr>
          <p:cNvPr id="28" name="Shape 25"/>
          <p:cNvSpPr/>
          <p:nvPr/>
        </p:nvSpPr>
        <p:spPr>
          <a:xfrm>
            <a:off x="7178040" y="3063240"/>
            <a:ext cx="4465015" cy="1261872"/>
          </a:xfrm>
          <a:prstGeom prst="roundRect">
            <a:avLst>
              <a:gd name="adj" fmla="val 5797"/>
            </a:avLst>
          </a:prstGeom>
          <a:solidFill>
            <a:srgbClr val="FBFBF9"/>
          </a:solidFill>
          <a:ln w="9525">
            <a:solidFill>
              <a:srgbClr val="D5D7D2"/>
            </a:solidFill>
            <a:prstDash val="solid"/>
          </a:ln>
        </p:spPr>
      </p:sp>
      <p:sp>
        <p:nvSpPr>
          <p:cNvPr id="29" name="Text 26"/>
          <p:cNvSpPr/>
          <p:nvPr/>
        </p:nvSpPr>
        <p:spPr>
          <a:xfrm>
            <a:off x="7498080" y="3209544"/>
            <a:ext cx="3824935" cy="640080"/>
          </a:xfrm>
          <a:prstGeom prst="rect">
            <a:avLst/>
          </a:prstGeom>
          <a:noFill/>
          <a:ln/>
        </p:spPr>
        <p:txBody>
          <a:bodyPr wrap="square" lIns="0" tIns="0" rIns="0" bIns="0" rtlCol="0" anchor="t"/>
          <a:lstStyle/>
          <a:p>
            <a:pPr indent="0" marL="0">
              <a:buNone/>
            </a:pPr>
            <a:r>
              <a:rPr lang="en-US" sz="4400" dirty="0">
                <a:solidFill>
                  <a:srgbClr val="111417"/>
                </a:solidFill>
                <a:latin typeface="Franklin Gothic Demi Cond" pitchFamily="34" charset="0"/>
                <a:ea typeface="Franklin Gothic Demi Cond" pitchFamily="34" charset="-122"/>
                <a:cs typeface="Franklin Gothic Demi Cond" pitchFamily="34" charset="-120"/>
              </a:rPr>
              <a:t>26</a:t>
            </a:r>
            <a:endParaRPr lang="en-US" sz="4400" dirty="0"/>
          </a:p>
        </p:txBody>
      </p:sp>
      <p:sp>
        <p:nvSpPr>
          <p:cNvPr id="30" name="Text 27"/>
          <p:cNvSpPr/>
          <p:nvPr/>
        </p:nvSpPr>
        <p:spPr>
          <a:xfrm>
            <a:off x="7498080" y="3867912"/>
            <a:ext cx="3824935" cy="329184"/>
          </a:xfrm>
          <a:prstGeom prst="rect">
            <a:avLst/>
          </a:prstGeom>
          <a:noFill/>
          <a:ln/>
        </p:spPr>
        <p:txBody>
          <a:bodyPr wrap="square" lIns="0" tIns="0" rIns="0" bIns="0" rtlCol="0" anchor="t"/>
          <a:lstStyle/>
          <a:p>
            <a:pPr indent="0" marL="0">
              <a:buNone/>
            </a:pPr>
            <a:r>
              <a:rPr lang="en-US" sz="1400" dirty="0">
                <a:solidFill>
                  <a:srgbClr val="4C5157"/>
                </a:solidFill>
                <a:latin typeface="Franklin Gothic Book" pitchFamily="34" charset="0"/>
                <a:ea typeface="Franklin Gothic Book" pitchFamily="34" charset="-122"/>
                <a:cs typeface="Franklin Gothic Book" pitchFamily="34" charset="-120"/>
              </a:rPr>
              <a:t>departments, each with its own system</a:t>
            </a:r>
            <a:endParaRPr lang="en-US" sz="1400" dirty="0"/>
          </a:p>
        </p:txBody>
      </p:sp>
      <p:sp>
        <p:nvSpPr>
          <p:cNvPr id="31" name="Shape 28"/>
          <p:cNvSpPr/>
          <p:nvPr/>
        </p:nvSpPr>
        <p:spPr>
          <a:xfrm>
            <a:off x="7178040" y="4526280"/>
            <a:ext cx="4465015" cy="1261872"/>
          </a:xfrm>
          <a:prstGeom prst="roundRect">
            <a:avLst>
              <a:gd name="adj" fmla="val 5797"/>
            </a:avLst>
          </a:prstGeom>
          <a:solidFill>
            <a:srgbClr val="FBFBF9"/>
          </a:solidFill>
          <a:ln w="9525">
            <a:solidFill>
              <a:srgbClr val="D5D7D2"/>
            </a:solidFill>
            <a:prstDash val="solid"/>
          </a:ln>
        </p:spPr>
      </p:sp>
      <p:sp>
        <p:nvSpPr>
          <p:cNvPr id="32" name="Text 29"/>
          <p:cNvSpPr/>
          <p:nvPr/>
        </p:nvSpPr>
        <p:spPr>
          <a:xfrm>
            <a:off x="7498080" y="4672584"/>
            <a:ext cx="3824935" cy="640080"/>
          </a:xfrm>
          <a:prstGeom prst="rect">
            <a:avLst/>
          </a:prstGeom>
          <a:noFill/>
          <a:ln/>
        </p:spPr>
        <p:txBody>
          <a:bodyPr wrap="square" lIns="0" tIns="0" rIns="0" bIns="0" rtlCol="0" anchor="t"/>
          <a:lstStyle/>
          <a:p>
            <a:pPr indent="0" marL="0">
              <a:buNone/>
            </a:pPr>
            <a:r>
              <a:rPr lang="en-US" sz="4400" dirty="0">
                <a:solidFill>
                  <a:srgbClr val="111417"/>
                </a:solidFill>
                <a:latin typeface="Franklin Gothic Demi Cond" pitchFamily="34" charset="0"/>
                <a:ea typeface="Franklin Gothic Demi Cond" pitchFamily="34" charset="-122"/>
                <a:cs typeface="Franklin Gothic Demi Cond" pitchFamily="34" charset="-120"/>
              </a:rPr>
              <a:t>7–15 days</a:t>
            </a:r>
            <a:endParaRPr lang="en-US" sz="4400" dirty="0"/>
          </a:p>
        </p:txBody>
      </p:sp>
      <p:sp>
        <p:nvSpPr>
          <p:cNvPr id="33" name="Text 30"/>
          <p:cNvSpPr/>
          <p:nvPr/>
        </p:nvSpPr>
        <p:spPr>
          <a:xfrm>
            <a:off x="7498080" y="5330952"/>
            <a:ext cx="3824935" cy="329184"/>
          </a:xfrm>
          <a:prstGeom prst="rect">
            <a:avLst/>
          </a:prstGeom>
          <a:noFill/>
          <a:ln/>
        </p:spPr>
        <p:txBody>
          <a:bodyPr wrap="square" lIns="0" tIns="0" rIns="0" bIns="0" rtlCol="0" anchor="t"/>
          <a:lstStyle/>
          <a:p>
            <a:pPr indent="0" marL="0">
              <a:buNone/>
            </a:pPr>
            <a:r>
              <a:rPr lang="en-US" sz="1400" dirty="0">
                <a:solidFill>
                  <a:srgbClr val="4C5157"/>
                </a:solidFill>
                <a:latin typeface="Franklin Gothic Book" pitchFamily="34" charset="0"/>
                <a:ea typeface="Franklin Gothic Book" pitchFamily="34" charset="-122"/>
                <a:cs typeface="Franklin Gothic Book" pitchFamily="34" charset="-120"/>
              </a:rPr>
              <a:t>before most recordings are overwritten</a:t>
            </a:r>
            <a:endParaRPr lang="en-US" sz="1400" dirty="0"/>
          </a:p>
        </p:txBody>
      </p:sp>
      <p:sp>
        <p:nvSpPr>
          <p:cNvPr id="34" name="Text 31"/>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Camera, department and retention figures are from the challenge brief.</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OUR ANSWER</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b="1" dirty="0">
                <a:solidFill>
                  <a:srgbClr val="111417"/>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One number in. One route out.</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03</a:t>
            </a:r>
            <a:endParaRPr lang="en-US" sz="900" dirty="0"/>
          </a:p>
        </p:txBody>
      </p:sp>
      <p:sp>
        <p:nvSpPr>
          <p:cNvPr id="7" name="Shape 4"/>
          <p:cNvSpPr/>
          <p:nvPr/>
        </p:nvSpPr>
        <p:spPr>
          <a:xfrm>
            <a:off x="548640" y="1600200"/>
            <a:ext cx="3484778" cy="4069080"/>
          </a:xfrm>
          <a:prstGeom prst="roundRect">
            <a:avLst>
              <a:gd name="adj" fmla="val 2099"/>
            </a:avLst>
          </a:prstGeom>
          <a:solidFill>
            <a:srgbClr val="FBFBF9"/>
          </a:solidFill>
          <a:ln w="9525">
            <a:solidFill>
              <a:srgbClr val="D5D7D2"/>
            </a:solidFill>
            <a:prstDash val="solid"/>
          </a:ln>
        </p:spPr>
      </p:sp>
      <p:pic>
        <p:nvPicPr>
          <p:cNvPr id="8" name="Image 0" descr="preencoded.png">    </p:cNvPr>
          <p:cNvPicPr>
            <a:picLocks noChangeAspect="1"/>
          </p:cNvPicPr>
          <p:nvPr/>
        </p:nvPicPr>
        <p:blipFill>
          <a:blip r:embed="rId1"/>
          <a:stretch>
            <a:fillRect/>
          </a:stretch>
        </p:blipFill>
        <p:spPr>
          <a:xfrm>
            <a:off x="731520" y="1783080"/>
            <a:ext cx="3119018" cy="2103120"/>
          </a:xfrm>
          <a:prstGeom prst="rect">
            <a:avLst/>
          </a:prstGeom>
        </p:spPr>
      </p:pic>
      <p:sp>
        <p:nvSpPr>
          <p:cNvPr id="9" name="Shape 5"/>
          <p:cNvSpPr/>
          <p:nvPr/>
        </p:nvSpPr>
        <p:spPr>
          <a:xfrm>
            <a:off x="731520" y="1783080"/>
            <a:ext cx="3119018" cy="2103120"/>
          </a:xfrm>
          <a:prstGeom prst="rect">
            <a:avLst/>
          </a:prstGeom>
          <a:ln w="9525">
            <a:solidFill>
              <a:srgbClr val="D5D7D2"/>
            </a:solidFill>
            <a:prstDash val="solid"/>
          </a:ln>
        </p:spPr>
      </p:sp>
      <p:sp>
        <p:nvSpPr>
          <p:cNvPr id="10" name="Shape 6"/>
          <p:cNvSpPr/>
          <p:nvPr/>
        </p:nvSpPr>
        <p:spPr>
          <a:xfrm>
            <a:off x="731520" y="4069080"/>
            <a:ext cx="868680" cy="292608"/>
          </a:xfrm>
          <a:prstGeom prst="rect">
            <a:avLst/>
          </a:prstGeom>
          <a:solidFill>
            <a:srgbClr val="111417"/>
          </a:solidFill>
          <a:ln w="12700">
            <a:solidFill>
              <a:srgbClr val="111417"/>
            </a:solidFill>
            <a:prstDash val="solid"/>
          </a:ln>
        </p:spPr>
      </p:sp>
      <p:sp>
        <p:nvSpPr>
          <p:cNvPr id="11" name="Text 7"/>
          <p:cNvSpPr/>
          <p:nvPr/>
        </p:nvSpPr>
        <p:spPr>
          <a:xfrm>
            <a:off x="731520" y="4069080"/>
            <a:ext cx="86868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SEE</a:t>
            </a:r>
            <a:endParaRPr lang="en-US" sz="1100" dirty="0"/>
          </a:p>
        </p:txBody>
      </p:sp>
      <p:sp>
        <p:nvSpPr>
          <p:cNvPr id="12" name="Text 8"/>
          <p:cNvSpPr/>
          <p:nvPr/>
        </p:nvSpPr>
        <p:spPr>
          <a:xfrm>
            <a:off x="731520" y="4480560"/>
            <a:ext cx="3119018" cy="384048"/>
          </a:xfrm>
          <a:prstGeom prst="rect">
            <a:avLst/>
          </a:prstGeom>
          <a:noFill/>
          <a:ln/>
        </p:spPr>
        <p:txBody>
          <a:bodyPr wrap="square" lIns="0" tIns="0" rIns="0" bIns="0" rtlCol="0" anchor="t"/>
          <a:lstStyle/>
          <a:p>
            <a:pPr indent="0" marL="0">
              <a:buNone/>
            </a:pPr>
            <a:r>
              <a:rPr lang="en-US" sz="2200" dirty="0">
                <a:solidFill>
                  <a:srgbClr val="111417"/>
                </a:solidFill>
                <a:latin typeface="Franklin Gothic Demi Cond" pitchFamily="34" charset="0"/>
                <a:ea typeface="Franklin Gothic Demi Cond" pitchFamily="34" charset="-122"/>
                <a:cs typeface="Franklin Gothic Demi Cond" pitchFamily="34" charset="-120"/>
              </a:rPr>
              <a:t>Every camera, one map</a:t>
            </a:r>
            <a:endParaRPr lang="en-US" sz="2200" dirty="0"/>
          </a:p>
        </p:txBody>
      </p:sp>
      <p:sp>
        <p:nvSpPr>
          <p:cNvPr id="13" name="Text 9"/>
          <p:cNvSpPr/>
          <p:nvPr/>
        </p:nvSpPr>
        <p:spPr>
          <a:xfrm>
            <a:off x="731520" y="4901184"/>
            <a:ext cx="3119018" cy="68580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Each department’s cameras on one map and one live wall, with their health.</a:t>
            </a:r>
            <a:endParaRPr lang="en-US" sz="1350" dirty="0"/>
          </a:p>
        </p:txBody>
      </p:sp>
      <p:sp>
        <p:nvSpPr>
          <p:cNvPr id="14" name="Shape 10"/>
          <p:cNvSpPr/>
          <p:nvPr/>
        </p:nvSpPr>
        <p:spPr>
          <a:xfrm>
            <a:off x="4353458" y="1600200"/>
            <a:ext cx="3484778" cy="4069080"/>
          </a:xfrm>
          <a:prstGeom prst="roundRect">
            <a:avLst>
              <a:gd name="adj" fmla="val 2099"/>
            </a:avLst>
          </a:prstGeom>
          <a:solidFill>
            <a:srgbClr val="FBFBF9"/>
          </a:solidFill>
          <a:ln w="9525">
            <a:solidFill>
              <a:srgbClr val="D5D7D2"/>
            </a:solidFill>
            <a:prstDash val="solid"/>
          </a:ln>
        </p:spPr>
      </p:sp>
      <p:pic>
        <p:nvPicPr>
          <p:cNvPr id="15" name="Image 1" descr="preencoded.png">    </p:cNvPr>
          <p:cNvPicPr>
            <a:picLocks noChangeAspect="1"/>
          </p:cNvPicPr>
          <p:nvPr/>
        </p:nvPicPr>
        <p:blipFill>
          <a:blip r:embed="rId2"/>
          <a:stretch>
            <a:fillRect/>
          </a:stretch>
        </p:blipFill>
        <p:spPr>
          <a:xfrm>
            <a:off x="4536338" y="1783080"/>
            <a:ext cx="3119018" cy="2103120"/>
          </a:xfrm>
          <a:prstGeom prst="rect">
            <a:avLst/>
          </a:prstGeom>
        </p:spPr>
      </p:pic>
      <p:sp>
        <p:nvSpPr>
          <p:cNvPr id="16" name="Shape 11"/>
          <p:cNvSpPr/>
          <p:nvPr/>
        </p:nvSpPr>
        <p:spPr>
          <a:xfrm>
            <a:off x="4536338" y="1783080"/>
            <a:ext cx="3119018" cy="2103120"/>
          </a:xfrm>
          <a:prstGeom prst="rect">
            <a:avLst/>
          </a:prstGeom>
          <a:ln w="9525">
            <a:solidFill>
              <a:srgbClr val="D5D7D2"/>
            </a:solidFill>
            <a:prstDash val="solid"/>
          </a:ln>
        </p:spPr>
      </p:sp>
      <p:sp>
        <p:nvSpPr>
          <p:cNvPr id="17" name="Shape 12"/>
          <p:cNvSpPr/>
          <p:nvPr/>
        </p:nvSpPr>
        <p:spPr>
          <a:xfrm>
            <a:off x="4536338" y="4069080"/>
            <a:ext cx="868680" cy="292608"/>
          </a:xfrm>
          <a:prstGeom prst="rect">
            <a:avLst/>
          </a:prstGeom>
          <a:solidFill>
            <a:srgbClr val="111417"/>
          </a:solidFill>
          <a:ln w="12700">
            <a:solidFill>
              <a:srgbClr val="111417"/>
            </a:solidFill>
            <a:prstDash val="solid"/>
          </a:ln>
        </p:spPr>
      </p:sp>
      <p:sp>
        <p:nvSpPr>
          <p:cNvPr id="18" name="Text 13"/>
          <p:cNvSpPr/>
          <p:nvPr/>
        </p:nvSpPr>
        <p:spPr>
          <a:xfrm>
            <a:off x="4536338" y="4069080"/>
            <a:ext cx="86868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FIND</a:t>
            </a:r>
            <a:endParaRPr lang="en-US" sz="1100" dirty="0"/>
          </a:p>
        </p:txBody>
      </p:sp>
      <p:sp>
        <p:nvSpPr>
          <p:cNvPr id="19" name="Text 14"/>
          <p:cNvSpPr/>
          <p:nvPr/>
        </p:nvSpPr>
        <p:spPr>
          <a:xfrm>
            <a:off x="4536338" y="4480560"/>
            <a:ext cx="3119018" cy="384048"/>
          </a:xfrm>
          <a:prstGeom prst="rect">
            <a:avLst/>
          </a:prstGeom>
          <a:noFill/>
          <a:ln/>
        </p:spPr>
        <p:txBody>
          <a:bodyPr wrap="square" lIns="0" tIns="0" rIns="0" bIns="0" rtlCol="0" anchor="t"/>
          <a:lstStyle/>
          <a:p>
            <a:pPr indent="0" marL="0">
              <a:buNone/>
            </a:pPr>
            <a:r>
              <a:rPr lang="en-US" sz="2200" dirty="0">
                <a:solidFill>
                  <a:srgbClr val="111417"/>
                </a:solidFill>
                <a:latin typeface="Franklin Gothic Demi Cond" pitchFamily="34" charset="0"/>
                <a:ea typeface="Franklin Gothic Demi Cond" pitchFamily="34" charset="-122"/>
                <a:cs typeface="Franklin Gothic Demi Cond" pitchFamily="34" charset="-120"/>
              </a:rPr>
              <a:t>Any vehicle, by its plate</a:t>
            </a:r>
            <a:endParaRPr lang="en-US" sz="2200" dirty="0"/>
          </a:p>
        </p:txBody>
      </p:sp>
      <p:sp>
        <p:nvSpPr>
          <p:cNvPr id="20" name="Text 15"/>
          <p:cNvSpPr/>
          <p:nvPr/>
        </p:nvSpPr>
        <p:spPr>
          <a:xfrm>
            <a:off x="4536338" y="4901184"/>
            <a:ext cx="3119018" cy="68580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Every sighting with the time printed on its frame — and a report to hand over.</a:t>
            </a:r>
            <a:endParaRPr lang="en-US" sz="1350" dirty="0"/>
          </a:p>
        </p:txBody>
      </p:sp>
      <p:sp>
        <p:nvSpPr>
          <p:cNvPr id="21" name="Shape 16"/>
          <p:cNvSpPr/>
          <p:nvPr/>
        </p:nvSpPr>
        <p:spPr>
          <a:xfrm>
            <a:off x="8158277" y="1600200"/>
            <a:ext cx="3484778" cy="4069080"/>
          </a:xfrm>
          <a:prstGeom prst="roundRect">
            <a:avLst>
              <a:gd name="adj" fmla="val 2099"/>
            </a:avLst>
          </a:prstGeom>
          <a:solidFill>
            <a:srgbClr val="FBFBF9"/>
          </a:solidFill>
          <a:ln w="9525">
            <a:solidFill>
              <a:srgbClr val="D5D7D2"/>
            </a:solidFill>
            <a:prstDash val="solid"/>
          </a:ln>
        </p:spPr>
      </p:sp>
      <p:pic>
        <p:nvPicPr>
          <p:cNvPr id="22" name="Image 2" descr="preencoded.png">    </p:cNvPr>
          <p:cNvPicPr>
            <a:picLocks noChangeAspect="1"/>
          </p:cNvPicPr>
          <p:nvPr/>
        </p:nvPicPr>
        <p:blipFill>
          <a:blip r:embed="rId3"/>
          <a:stretch>
            <a:fillRect/>
          </a:stretch>
        </p:blipFill>
        <p:spPr>
          <a:xfrm>
            <a:off x="8341157" y="1783080"/>
            <a:ext cx="3119018" cy="2103120"/>
          </a:xfrm>
          <a:prstGeom prst="rect">
            <a:avLst/>
          </a:prstGeom>
        </p:spPr>
      </p:pic>
      <p:sp>
        <p:nvSpPr>
          <p:cNvPr id="23" name="Shape 17"/>
          <p:cNvSpPr/>
          <p:nvPr/>
        </p:nvSpPr>
        <p:spPr>
          <a:xfrm>
            <a:off x="8341157" y="1783080"/>
            <a:ext cx="3119018" cy="2103120"/>
          </a:xfrm>
          <a:prstGeom prst="rect">
            <a:avLst/>
          </a:prstGeom>
          <a:ln w="9525">
            <a:solidFill>
              <a:srgbClr val="D5D7D2"/>
            </a:solidFill>
            <a:prstDash val="solid"/>
          </a:ln>
        </p:spPr>
      </p:sp>
      <p:sp>
        <p:nvSpPr>
          <p:cNvPr id="24" name="Shape 18"/>
          <p:cNvSpPr/>
          <p:nvPr/>
        </p:nvSpPr>
        <p:spPr>
          <a:xfrm>
            <a:off x="8341157" y="4069080"/>
            <a:ext cx="868680" cy="292608"/>
          </a:xfrm>
          <a:prstGeom prst="rect">
            <a:avLst/>
          </a:prstGeom>
          <a:solidFill>
            <a:srgbClr val="FFB000"/>
          </a:solidFill>
          <a:ln w="12700">
            <a:solidFill>
              <a:srgbClr val="FFB000"/>
            </a:solidFill>
            <a:prstDash val="solid"/>
          </a:ln>
        </p:spPr>
      </p:sp>
      <p:sp>
        <p:nvSpPr>
          <p:cNvPr id="25" name="Text 19"/>
          <p:cNvSpPr/>
          <p:nvPr/>
        </p:nvSpPr>
        <p:spPr>
          <a:xfrm>
            <a:off x="8341157" y="4069080"/>
            <a:ext cx="868680" cy="292608"/>
          </a:xfrm>
          <a:prstGeom prst="rect">
            <a:avLst/>
          </a:prstGeom>
          <a:noFill/>
          <a:ln/>
        </p:spPr>
        <p:txBody>
          <a:bodyPr wrap="square" lIns="0" tIns="0" rIns="0" bIns="0" rtlCol="0" anchor="ctr"/>
          <a:lstStyle/>
          <a:p>
            <a:pPr algn="ctr" indent="0" marL="0">
              <a:buNone/>
            </a:pPr>
            <a:r>
              <a:rPr lang="en-US" sz="1100" b="1" dirty="0">
                <a:solidFill>
                  <a:srgbClr val="111417"/>
                </a:solidFill>
                <a:latin typeface="Consolas" pitchFamily="34" charset="0"/>
                <a:ea typeface="Consolas" pitchFamily="34" charset="-122"/>
                <a:cs typeface="Consolas" pitchFamily="34" charset="-120"/>
              </a:rPr>
              <a:t>ALERT</a:t>
            </a:r>
            <a:endParaRPr lang="en-US" sz="1100" dirty="0"/>
          </a:p>
        </p:txBody>
      </p:sp>
      <p:sp>
        <p:nvSpPr>
          <p:cNvPr id="26" name="Text 20"/>
          <p:cNvSpPr/>
          <p:nvPr/>
        </p:nvSpPr>
        <p:spPr>
          <a:xfrm>
            <a:off x="8341157" y="4480560"/>
            <a:ext cx="3119018" cy="384048"/>
          </a:xfrm>
          <a:prstGeom prst="rect">
            <a:avLst/>
          </a:prstGeom>
          <a:noFill/>
          <a:ln/>
        </p:spPr>
        <p:txBody>
          <a:bodyPr wrap="square" lIns="0" tIns="0" rIns="0" bIns="0" rtlCol="0" anchor="t"/>
          <a:lstStyle/>
          <a:p>
            <a:pPr indent="0" marL="0">
              <a:buNone/>
            </a:pPr>
            <a:r>
              <a:rPr lang="en-US" sz="2200" dirty="0">
                <a:solidFill>
                  <a:srgbClr val="111417"/>
                </a:solidFill>
                <a:latin typeface="Franklin Gothic Demi Cond" pitchFamily="34" charset="0"/>
                <a:ea typeface="Franklin Gothic Demi Cond" pitchFamily="34" charset="-122"/>
                <a:cs typeface="Franklin Gothic Demi Cond" pitchFamily="34" charset="-120"/>
              </a:rPr>
              <a:t>Flagged when it is read</a:t>
            </a:r>
            <a:endParaRPr lang="en-US" sz="2200" dirty="0"/>
          </a:p>
        </p:txBody>
      </p:sp>
      <p:sp>
        <p:nvSpPr>
          <p:cNvPr id="27" name="Text 21"/>
          <p:cNvSpPr/>
          <p:nvPr/>
        </p:nvSpPr>
        <p:spPr>
          <a:xfrm>
            <a:off x="8341157" y="4901184"/>
            <a:ext cx="3119018" cy="68580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Stolen, wanted and missing vehicles raised on every open screen.</a:t>
            </a:r>
            <a:endParaRPr lang="en-US" sz="1350" dirty="0"/>
          </a:p>
        </p:txBody>
      </p:sp>
      <p:pic>
        <p:nvPicPr>
          <p:cNvPr id="28" name="Image 3" descr="preencoded.png">    </p:cNvPr>
          <p:cNvPicPr>
            <a:picLocks noChangeAspect="1"/>
          </p:cNvPicPr>
          <p:nvPr/>
        </p:nvPicPr>
        <p:blipFill>
          <a:blip r:embed="rId4"/>
          <a:stretch>
            <a:fillRect/>
          </a:stretch>
        </p:blipFill>
        <p:spPr>
          <a:xfrm>
            <a:off x="548640" y="5897880"/>
            <a:ext cx="329184" cy="329184"/>
          </a:xfrm>
          <a:prstGeom prst="rect">
            <a:avLst/>
          </a:prstGeom>
        </p:spPr>
      </p:pic>
      <p:sp>
        <p:nvSpPr>
          <p:cNvPr id="29" name="Text 22"/>
          <p:cNvSpPr/>
          <p:nvPr/>
        </p:nvSpPr>
        <p:spPr>
          <a:xfrm>
            <a:off x="1051560" y="5897880"/>
            <a:ext cx="6949440" cy="329184"/>
          </a:xfrm>
          <a:prstGeom prst="rect">
            <a:avLst/>
          </a:prstGeom>
          <a:noFill/>
          <a:ln/>
        </p:spPr>
        <p:txBody>
          <a:bodyPr wrap="square" lIns="0" tIns="0" rIns="0" bIns="0" rtlCol="0" anchor="ctr"/>
          <a:lstStyle/>
          <a:p>
            <a:pPr indent="0" marL="0">
              <a:buNone/>
            </a:pPr>
            <a:r>
              <a:rPr lang="en-US" sz="1350" dirty="0">
                <a:solidFill>
                  <a:srgbClr val="111417"/>
                </a:solidFill>
                <a:latin typeface="Franklin Gothic Book" pitchFamily="34" charset="0"/>
                <a:ea typeface="Franklin Gothic Book" pitchFamily="34" charset="-122"/>
                <a:cs typeface="Franklin Gothic Book" pitchFamily="34" charset="-120"/>
              </a:rPr>
              <a:t>Read-only: nothing is installed on a department’s cameras, recorders or VMS.</a:t>
            </a:r>
            <a:endParaRPr lang="en-US" sz="1350" dirty="0"/>
          </a:p>
        </p:txBody>
      </p:sp>
      <p:pic>
        <p:nvPicPr>
          <p:cNvPr id="30" name="Image 4" descr="preencoded.png">    </p:cNvPr>
          <p:cNvPicPr>
            <a:picLocks noChangeAspect="1"/>
          </p:cNvPicPr>
          <p:nvPr/>
        </p:nvPicPr>
        <p:blipFill>
          <a:blip r:embed="rId5"/>
          <a:stretch>
            <a:fillRect/>
          </a:stretch>
        </p:blipFill>
        <p:spPr>
          <a:xfrm>
            <a:off x="8366760" y="5897880"/>
            <a:ext cx="329184" cy="329184"/>
          </a:xfrm>
          <a:prstGeom prst="rect">
            <a:avLst/>
          </a:prstGeom>
        </p:spPr>
      </p:pic>
      <p:sp>
        <p:nvSpPr>
          <p:cNvPr id="31" name="Text 23"/>
          <p:cNvSpPr/>
          <p:nvPr/>
        </p:nvSpPr>
        <p:spPr>
          <a:xfrm>
            <a:off x="8869680" y="5897880"/>
            <a:ext cx="2773375" cy="329184"/>
          </a:xfrm>
          <a:prstGeom prst="rect">
            <a:avLst/>
          </a:prstGeom>
          <a:noFill/>
          <a:ln/>
        </p:spPr>
        <p:txBody>
          <a:bodyPr wrap="square" lIns="0" tIns="0" rIns="0" bIns="0" rtlCol="0" anchor="ctr"/>
          <a:lstStyle/>
          <a:p>
            <a:pPr indent="0" marL="0">
              <a:buNone/>
            </a:pPr>
            <a:r>
              <a:rPr lang="en-US" sz="1350" dirty="0">
                <a:solidFill>
                  <a:srgbClr val="111417"/>
                </a:solidFill>
                <a:latin typeface="Franklin Gothic Book" pitchFamily="34" charset="0"/>
                <a:ea typeface="Franklin Gothic Book" pitchFamily="34" charset="-122"/>
                <a:cs typeface="Franklin Gothic Book" pitchFamily="34" charset="-120"/>
              </a:rPr>
              <a:t>English · हिन्दी · ગુજરાતી</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012"/>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FFB000"/>
                </a:solidFill>
                <a:latin typeface="Consolas" pitchFamily="34" charset="0"/>
                <a:ea typeface="Consolas" pitchFamily="34" charset="-122"/>
                <a:cs typeface="Consolas" pitchFamily="34" charset="-120"/>
              </a:rPr>
              <a:t>LIVE, ON A CAMERA YOU CHOOSE</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5B6168"/>
                </a:solidFill>
                <a:latin typeface="Consolas" pitchFamily="34" charset="0"/>
                <a:ea typeface="Consolas" pitchFamily="34" charset="-122"/>
                <a:cs typeface="Consolas" pitchFamily="34" charset="-120"/>
              </a:rPr>
              <a:t>THE CASE</a:t>
            </a:r>
            <a:pPr algn="r" indent="0" marL="0">
              <a:buNone/>
            </a:pPr>
            <a:r>
              <a:rPr lang="en-US" sz="1000" dirty="0">
                <a:solidFill>
                  <a:srgbClr val="5B6168"/>
                </a:solidFill>
                <a:latin typeface="Consolas" pitchFamily="34" charset="0"/>
                <a:ea typeface="Consolas" pitchFamily="34" charset="-122"/>
                <a:cs typeface="Consolas" pitchFamily="34" charset="-120"/>
              </a:rPr>
              <a:t>  ·  </a:t>
            </a:r>
            <a:pPr algn="r" indent="0" marL="0">
              <a:buNone/>
            </a:pPr>
            <a:r>
              <a:rPr lang="en-US" sz="1000" b="1" dirty="0">
                <a:solidFill>
                  <a:srgbClr val="EEF0EC"/>
                </a:solidFill>
                <a:latin typeface="Consolas" pitchFamily="34" charset="0"/>
                <a:ea typeface="Consolas" pitchFamily="34" charset="-122"/>
                <a:cs typeface="Consolas" pitchFamily="34" charset="-120"/>
              </a:rPr>
              <a:t>LIVE</a:t>
            </a:r>
            <a:pPr algn="r" indent="0" marL="0">
              <a:buNone/>
            </a:pPr>
            <a:r>
              <a:rPr lang="en-US" sz="1000" dirty="0">
                <a:solidFill>
                  <a:srgbClr val="5B6168"/>
                </a:solidFill>
                <a:latin typeface="Consolas" pitchFamily="34" charset="0"/>
                <a:ea typeface="Consolas" pitchFamily="34" charset="-122"/>
                <a:cs typeface="Consolas" pitchFamily="34" charset="-120"/>
              </a:rPr>
              <a:t>  ·  </a:t>
            </a:r>
            <a:pPr algn="r" indent="0" marL="0">
              <a:buNone/>
            </a:pPr>
            <a:r>
              <a:rPr lang="en-US" sz="1000" dirty="0">
                <a:solidFill>
                  <a:srgbClr val="5B6168"/>
                </a:solidFill>
                <a:latin typeface="Consolas" pitchFamily="34" charset="0"/>
                <a:ea typeface="Consolas" pitchFamily="34" charset="-122"/>
                <a:cs typeface="Consolas" pitchFamily="34" charset="-120"/>
              </a:rPr>
              <a:t>TRUST</a:t>
            </a:r>
            <a:pPr algn="r" indent="0" marL="0">
              <a:buNone/>
            </a:pPr>
            <a:r>
              <a:rPr lang="en-US" sz="1000" dirty="0">
                <a:solidFill>
                  <a:srgbClr val="5B6168"/>
                </a:solidFill>
                <a:latin typeface="Consolas" pitchFamily="34" charset="0"/>
                <a:ea typeface="Consolas" pitchFamily="34" charset="-122"/>
                <a:cs typeface="Consolas" pitchFamily="34" charset="-120"/>
              </a:rPr>
              <a:t>  ·  </a:t>
            </a:r>
            <a:pPr algn="r" indent="0" marL="0">
              <a:buNone/>
            </a:pPr>
            <a:r>
              <a:rPr lang="en-US" sz="1000" dirty="0">
                <a:solidFill>
                  <a:srgbClr val="5B6168"/>
                </a:solidFill>
                <a:latin typeface="Consolas" pitchFamily="34" charset="0"/>
                <a:ea typeface="Consolas" pitchFamily="34" charset="-122"/>
                <a:cs typeface="Consolas" pitchFamily="34" charset="-120"/>
              </a:rPr>
              <a:t>SCALE</a:t>
            </a:r>
            <a:pPr algn="r" indent="0" marL="0">
              <a:buNone/>
            </a:pPr>
            <a:r>
              <a:rPr lang="en-US" sz="1000" dirty="0">
                <a:solidFill>
                  <a:srgbClr val="5B6168"/>
                </a:solidFill>
                <a:latin typeface="Consolas" pitchFamily="34" charset="0"/>
                <a:ea typeface="Consolas" pitchFamily="34" charset="-122"/>
                <a:cs typeface="Consolas" pitchFamily="34" charset="-120"/>
              </a:rPr>
              <a:t>  ·  </a:t>
            </a:r>
            <a:pPr algn="r" indent="0" marL="0">
              <a:buNone/>
            </a:pPr>
            <a:r>
              <a:rPr lang="en-US" sz="1000" dirty="0">
                <a:solidFill>
                  <a:srgbClr val="5B6168"/>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4000" dirty="0">
                <a:solidFill>
                  <a:srgbClr val="EEF0EC"/>
                </a:solidFill>
                <a:latin typeface="Franklin Gothic Demi Cond" pitchFamily="34" charset="0"/>
                <a:ea typeface="Franklin Gothic Demi Cond" pitchFamily="34" charset="-122"/>
                <a:cs typeface="Franklin Gothic Demi Cond" pitchFamily="34" charset="-120"/>
              </a:rPr>
              <a:t>Pick any camera. We will trace a vehicle from it.</a:t>
            </a:r>
            <a:endParaRPr lang="en-US" sz="40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A9AFB5"/>
                </a:solidFill>
                <a:latin typeface="Consolas" pitchFamily="34" charset="0"/>
                <a:ea typeface="Consolas" pitchFamily="34" charset="-122"/>
                <a:cs typeface="Consolas" pitchFamily="34" charset="-120"/>
              </a:rPr>
              <a:t>04</a:t>
            </a:r>
            <a:endParaRPr lang="en-US" sz="900" dirty="0"/>
          </a:p>
        </p:txBody>
      </p:sp>
      <p:sp>
        <p:nvSpPr>
          <p:cNvPr id="7" name="Text 4"/>
          <p:cNvSpPr/>
          <p:nvPr/>
        </p:nvSpPr>
        <p:spPr>
          <a:xfrm>
            <a:off x="731520" y="1691640"/>
            <a:ext cx="1600200" cy="274320"/>
          </a:xfrm>
          <a:prstGeom prst="rect">
            <a:avLst/>
          </a:prstGeom>
          <a:noFill/>
          <a:ln/>
        </p:spPr>
        <p:txBody>
          <a:bodyPr wrap="square" lIns="0" tIns="0" rIns="0" bIns="0" rtlCol="0" anchor="t"/>
          <a:lstStyle/>
          <a:p>
            <a:pPr indent="0" marL="0">
              <a:buNone/>
            </a:pPr>
            <a:r>
              <a:rPr lang="en-US" sz="1000" spc="100" kern="0" dirty="0">
                <a:solidFill>
                  <a:srgbClr val="A9AFB5"/>
                </a:solidFill>
                <a:latin typeface="Consolas" pitchFamily="34" charset="0"/>
                <a:ea typeface="Consolas" pitchFamily="34" charset="-122"/>
                <a:cs typeface="Consolas" pitchFamily="34" charset="-120"/>
              </a:rPr>
              <a:t>STEP</a:t>
            </a:r>
            <a:endParaRPr lang="en-US" sz="1000" dirty="0"/>
          </a:p>
        </p:txBody>
      </p:sp>
      <p:sp>
        <p:nvSpPr>
          <p:cNvPr id="8" name="Text 5"/>
          <p:cNvSpPr/>
          <p:nvPr/>
        </p:nvSpPr>
        <p:spPr>
          <a:xfrm>
            <a:off x="2331720" y="1691640"/>
            <a:ext cx="2880360" cy="274320"/>
          </a:xfrm>
          <a:prstGeom prst="rect">
            <a:avLst/>
          </a:prstGeom>
          <a:noFill/>
          <a:ln/>
        </p:spPr>
        <p:txBody>
          <a:bodyPr wrap="square" lIns="0" tIns="0" rIns="0" bIns="0" rtlCol="0" anchor="t"/>
          <a:lstStyle/>
          <a:p>
            <a:pPr indent="0" marL="0">
              <a:buNone/>
            </a:pPr>
            <a:r>
              <a:rPr lang="en-US" sz="1000" spc="100" kern="0" dirty="0">
                <a:solidFill>
                  <a:srgbClr val="A9AFB5"/>
                </a:solidFill>
                <a:latin typeface="Consolas" pitchFamily="34" charset="0"/>
                <a:ea typeface="Consolas" pitchFamily="34" charset="-122"/>
                <a:cs typeface="Consolas" pitchFamily="34" charset="-120"/>
              </a:rPr>
              <a:t>DO</a:t>
            </a:r>
            <a:endParaRPr lang="en-US" sz="1000" dirty="0"/>
          </a:p>
        </p:txBody>
      </p:sp>
      <p:sp>
        <p:nvSpPr>
          <p:cNvPr id="9" name="Text 6"/>
          <p:cNvSpPr/>
          <p:nvPr/>
        </p:nvSpPr>
        <p:spPr>
          <a:xfrm>
            <a:off x="5212080" y="1691640"/>
            <a:ext cx="4526280" cy="274320"/>
          </a:xfrm>
          <a:prstGeom prst="rect">
            <a:avLst/>
          </a:prstGeom>
          <a:noFill/>
          <a:ln/>
        </p:spPr>
        <p:txBody>
          <a:bodyPr wrap="square" lIns="0" tIns="0" rIns="0" bIns="0" rtlCol="0" anchor="t"/>
          <a:lstStyle/>
          <a:p>
            <a:pPr indent="0" marL="0">
              <a:buNone/>
            </a:pPr>
            <a:r>
              <a:rPr lang="en-US" sz="1000" spc="100" kern="0" dirty="0">
                <a:solidFill>
                  <a:srgbClr val="A9AFB5"/>
                </a:solidFill>
                <a:latin typeface="Consolas" pitchFamily="34" charset="0"/>
                <a:ea typeface="Consolas" pitchFamily="34" charset="-122"/>
                <a:cs typeface="Consolas" pitchFamily="34" charset="-120"/>
              </a:rPr>
              <a:t>YOU WILL SEE</a:t>
            </a:r>
            <a:endParaRPr lang="en-US" sz="1000" dirty="0"/>
          </a:p>
        </p:txBody>
      </p:sp>
      <p:sp>
        <p:nvSpPr>
          <p:cNvPr id="10" name="Text 7"/>
          <p:cNvSpPr/>
          <p:nvPr/>
        </p:nvSpPr>
        <p:spPr>
          <a:xfrm>
            <a:off x="9738360" y="1691640"/>
            <a:ext cx="2087575" cy="274320"/>
          </a:xfrm>
          <a:prstGeom prst="rect">
            <a:avLst/>
          </a:prstGeom>
          <a:noFill/>
          <a:ln/>
        </p:spPr>
        <p:txBody>
          <a:bodyPr wrap="square" lIns="0" tIns="0" rIns="0" bIns="0" rtlCol="0" anchor="t"/>
          <a:lstStyle/>
          <a:p>
            <a:pPr indent="0" marL="0">
              <a:buNone/>
            </a:pPr>
            <a:r>
              <a:rPr lang="en-US" sz="1000" spc="100" kern="0" dirty="0">
                <a:solidFill>
                  <a:srgbClr val="A9AFB5"/>
                </a:solidFill>
                <a:latin typeface="Consolas" pitchFamily="34" charset="0"/>
                <a:ea typeface="Consolas" pitchFamily="34" charset="-122"/>
                <a:cs typeface="Consolas" pitchFamily="34" charset="-120"/>
              </a:rPr>
              <a:t>ON SCREEN</a:t>
            </a:r>
            <a:endParaRPr lang="en-US" sz="1000" dirty="0"/>
          </a:p>
        </p:txBody>
      </p:sp>
      <p:sp>
        <p:nvSpPr>
          <p:cNvPr id="11" name="Shape 8"/>
          <p:cNvSpPr/>
          <p:nvPr/>
        </p:nvSpPr>
        <p:spPr>
          <a:xfrm>
            <a:off x="548640" y="2057400"/>
            <a:ext cx="11094415" cy="658368"/>
          </a:xfrm>
          <a:prstGeom prst="rect">
            <a:avLst/>
          </a:prstGeom>
          <a:solidFill>
            <a:srgbClr val="16191C"/>
          </a:solidFill>
          <a:ln w="9525">
            <a:solidFill>
              <a:srgbClr val="2E3338"/>
            </a:solidFill>
            <a:prstDash val="solid"/>
          </a:ln>
        </p:spPr>
      </p:sp>
      <p:sp>
        <p:nvSpPr>
          <p:cNvPr id="12" name="Shape 9"/>
          <p:cNvSpPr/>
          <p:nvPr/>
        </p:nvSpPr>
        <p:spPr>
          <a:xfrm>
            <a:off x="548640" y="2057400"/>
            <a:ext cx="1600200" cy="658368"/>
          </a:xfrm>
          <a:prstGeom prst="rect">
            <a:avLst/>
          </a:prstGeom>
          <a:solidFill>
            <a:srgbClr val="23272B"/>
          </a:solidFill>
          <a:ln w="9525">
            <a:solidFill>
              <a:srgbClr val="2E3338"/>
            </a:solidFill>
            <a:prstDash val="solid"/>
          </a:ln>
        </p:spPr>
      </p:sp>
      <p:sp>
        <p:nvSpPr>
          <p:cNvPr id="13" name="Text 10"/>
          <p:cNvSpPr/>
          <p:nvPr/>
        </p:nvSpPr>
        <p:spPr>
          <a:xfrm>
            <a:off x="731520" y="2057400"/>
            <a:ext cx="1371600" cy="658368"/>
          </a:xfrm>
          <a:prstGeom prst="rect">
            <a:avLst/>
          </a:prstGeom>
          <a:noFill/>
          <a:ln/>
        </p:spPr>
        <p:txBody>
          <a:bodyPr wrap="square" lIns="0" tIns="0" rIns="0" bIns="0" rtlCol="0" anchor="ctr"/>
          <a:lstStyle/>
          <a:p>
            <a:pPr indent="0" marL="0">
              <a:buNone/>
            </a:pPr>
            <a:r>
              <a:rPr lang="en-US" sz="1300" b="1" dirty="0">
                <a:solidFill>
                  <a:srgbClr val="FFB000"/>
                </a:solidFill>
                <a:latin typeface="Consolas" pitchFamily="34" charset="0"/>
                <a:ea typeface="Consolas" pitchFamily="34" charset="-122"/>
                <a:cs typeface="Consolas" pitchFamily="34" charset="-120"/>
              </a:rPr>
              <a:t>01 OPEN</a:t>
            </a:r>
            <a:endParaRPr lang="en-US" sz="1300" dirty="0"/>
          </a:p>
        </p:txBody>
      </p:sp>
      <p:sp>
        <p:nvSpPr>
          <p:cNvPr id="14" name="Text 11"/>
          <p:cNvSpPr/>
          <p:nvPr/>
        </p:nvSpPr>
        <p:spPr>
          <a:xfrm>
            <a:off x="2331720" y="2057400"/>
            <a:ext cx="2697480" cy="658368"/>
          </a:xfrm>
          <a:prstGeom prst="rect">
            <a:avLst/>
          </a:prstGeom>
          <a:noFill/>
          <a:ln/>
        </p:spPr>
        <p:txBody>
          <a:bodyPr wrap="square" lIns="0" tIns="0" rIns="0" bIns="0" rtlCol="0" anchor="ctr"/>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Open the camera you choose</a:t>
            </a:r>
            <a:endParaRPr lang="en-US" sz="1500" dirty="0"/>
          </a:p>
        </p:txBody>
      </p:sp>
      <p:sp>
        <p:nvSpPr>
          <p:cNvPr id="15" name="Text 12"/>
          <p:cNvSpPr/>
          <p:nvPr/>
        </p:nvSpPr>
        <p:spPr>
          <a:xfrm>
            <a:off x="5212080" y="2057400"/>
            <a:ext cx="4251960" cy="658368"/>
          </a:xfrm>
          <a:prstGeom prst="rect">
            <a:avLst/>
          </a:prstGeom>
          <a:noFill/>
          <a:ln/>
        </p:spPr>
        <p:txBody>
          <a:bodyPr wrap="square" lIns="0" tIns="0" rIns="0" bIns="0" rtlCol="0" anchor="ctr"/>
          <a:lstStyle/>
          <a:p>
            <a:pPr indent="0" marL="0">
              <a:buNone/>
            </a:pPr>
            <a:r>
              <a:rPr lang="en-US" sz="1350" dirty="0">
                <a:solidFill>
                  <a:srgbClr val="EEF0EC"/>
                </a:solidFill>
                <a:latin typeface="Franklin Gothic Book" pitchFamily="34" charset="0"/>
                <a:ea typeface="Franklin Gothic Book" pitchFamily="34" charset="-122"/>
                <a:cs typeface="Franklin Gothic Book" pitchFamily="34" charset="-120"/>
              </a:rPr>
              <a:t>Its live video, through our relay — the department’s system sees one viewer</a:t>
            </a:r>
            <a:endParaRPr lang="en-US" sz="1350" dirty="0"/>
          </a:p>
        </p:txBody>
      </p:sp>
      <p:sp>
        <p:nvSpPr>
          <p:cNvPr id="16" name="Text 13"/>
          <p:cNvSpPr/>
          <p:nvPr/>
        </p:nvSpPr>
        <p:spPr>
          <a:xfrm>
            <a:off x="9738360" y="2057400"/>
            <a:ext cx="1767535" cy="658368"/>
          </a:xfrm>
          <a:prstGeom prst="rect">
            <a:avLst/>
          </a:prstGeom>
          <a:noFill/>
          <a:ln/>
        </p:spPr>
        <p:txBody>
          <a:bodyPr wrap="square" lIns="0" tIns="0" rIns="0" bIns="0" rtlCol="0" anchor="ctr"/>
          <a:lstStyle/>
          <a:p>
            <a:pPr indent="0" marL="0">
              <a:buNone/>
            </a:pPr>
            <a:r>
              <a:rPr lang="en-US" sz="1100" dirty="0">
                <a:solidFill>
                  <a:srgbClr val="A9AFB5"/>
                </a:solidFill>
                <a:latin typeface="Consolas" pitchFamily="34" charset="0"/>
                <a:ea typeface="Consolas" pitchFamily="34" charset="-122"/>
                <a:cs typeface="Consolas" pitchFamily="34" charset="-120"/>
              </a:rPr>
              <a:t>Live Wall → Focus view</a:t>
            </a:r>
            <a:endParaRPr lang="en-US" sz="1100" dirty="0"/>
          </a:p>
        </p:txBody>
      </p:sp>
      <p:sp>
        <p:nvSpPr>
          <p:cNvPr id="17" name="Shape 14"/>
          <p:cNvSpPr/>
          <p:nvPr/>
        </p:nvSpPr>
        <p:spPr>
          <a:xfrm>
            <a:off x="548640" y="2788920"/>
            <a:ext cx="11094415" cy="658368"/>
          </a:xfrm>
          <a:prstGeom prst="rect">
            <a:avLst/>
          </a:prstGeom>
          <a:solidFill>
            <a:srgbClr val="16191C"/>
          </a:solidFill>
          <a:ln w="9525">
            <a:solidFill>
              <a:srgbClr val="2E3338"/>
            </a:solidFill>
            <a:prstDash val="solid"/>
          </a:ln>
        </p:spPr>
      </p:sp>
      <p:sp>
        <p:nvSpPr>
          <p:cNvPr id="18" name="Shape 15"/>
          <p:cNvSpPr/>
          <p:nvPr/>
        </p:nvSpPr>
        <p:spPr>
          <a:xfrm>
            <a:off x="548640" y="2788920"/>
            <a:ext cx="1600200" cy="658368"/>
          </a:xfrm>
          <a:prstGeom prst="rect">
            <a:avLst/>
          </a:prstGeom>
          <a:solidFill>
            <a:srgbClr val="23272B"/>
          </a:solidFill>
          <a:ln w="9525">
            <a:solidFill>
              <a:srgbClr val="2E3338"/>
            </a:solidFill>
            <a:prstDash val="solid"/>
          </a:ln>
        </p:spPr>
      </p:sp>
      <p:sp>
        <p:nvSpPr>
          <p:cNvPr id="19" name="Text 16"/>
          <p:cNvSpPr/>
          <p:nvPr/>
        </p:nvSpPr>
        <p:spPr>
          <a:xfrm>
            <a:off x="731520" y="2788920"/>
            <a:ext cx="1371600" cy="658368"/>
          </a:xfrm>
          <a:prstGeom prst="rect">
            <a:avLst/>
          </a:prstGeom>
          <a:noFill/>
          <a:ln/>
        </p:spPr>
        <p:txBody>
          <a:bodyPr wrap="square" lIns="0" tIns="0" rIns="0" bIns="0" rtlCol="0" anchor="ctr"/>
          <a:lstStyle/>
          <a:p>
            <a:pPr indent="0" marL="0">
              <a:buNone/>
            </a:pPr>
            <a:r>
              <a:rPr lang="en-US" sz="1300" b="1" dirty="0">
                <a:solidFill>
                  <a:srgbClr val="FFB000"/>
                </a:solidFill>
                <a:latin typeface="Consolas" pitchFamily="34" charset="0"/>
                <a:ea typeface="Consolas" pitchFamily="34" charset="-122"/>
                <a:cs typeface="Consolas" pitchFamily="34" charset="-120"/>
              </a:rPr>
              <a:t>02 READ</a:t>
            </a:r>
            <a:endParaRPr lang="en-US" sz="1300" dirty="0"/>
          </a:p>
        </p:txBody>
      </p:sp>
      <p:sp>
        <p:nvSpPr>
          <p:cNvPr id="20" name="Text 17"/>
          <p:cNvSpPr/>
          <p:nvPr/>
        </p:nvSpPr>
        <p:spPr>
          <a:xfrm>
            <a:off x="2331720" y="2788920"/>
            <a:ext cx="2697480" cy="658368"/>
          </a:xfrm>
          <a:prstGeom prst="rect">
            <a:avLst/>
          </a:prstGeom>
          <a:noFill/>
          <a:ln/>
        </p:spPr>
        <p:txBody>
          <a:bodyPr wrap="square" lIns="0" tIns="0" rIns="0" bIns="0" rtlCol="0" anchor="ctr"/>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Let a vehicle pass</a:t>
            </a:r>
            <a:endParaRPr lang="en-US" sz="1500" dirty="0"/>
          </a:p>
        </p:txBody>
      </p:sp>
      <p:sp>
        <p:nvSpPr>
          <p:cNvPr id="21" name="Text 18"/>
          <p:cNvSpPr/>
          <p:nvPr/>
        </p:nvSpPr>
        <p:spPr>
          <a:xfrm>
            <a:off x="5212080" y="2788920"/>
            <a:ext cx="4251960" cy="658368"/>
          </a:xfrm>
          <a:prstGeom prst="rect">
            <a:avLst/>
          </a:prstGeom>
          <a:noFill/>
          <a:ln/>
        </p:spPr>
        <p:txBody>
          <a:bodyPr wrap="square" lIns="0" tIns="0" rIns="0" bIns="0" rtlCol="0" anchor="ctr"/>
          <a:lstStyle/>
          <a:p>
            <a:pPr indent="0" marL="0">
              <a:buNone/>
            </a:pPr>
            <a:r>
              <a:rPr lang="en-US" sz="1350" dirty="0">
                <a:solidFill>
                  <a:srgbClr val="EEF0EC"/>
                </a:solidFill>
                <a:latin typeface="Franklin Gothic Book" pitchFamily="34" charset="0"/>
                <a:ea typeface="Franklin Gothic Book" pitchFamily="34" charset="-122"/>
                <a:cs typeface="Franklin Gothic Book" pitchFamily="34" charset="-120"/>
              </a:rPr>
              <a:t>Its plate on the tile, once several frames agree on it</a:t>
            </a:r>
            <a:endParaRPr lang="en-US" sz="1350" dirty="0"/>
          </a:p>
        </p:txBody>
      </p:sp>
      <p:sp>
        <p:nvSpPr>
          <p:cNvPr id="22" name="Text 19"/>
          <p:cNvSpPr/>
          <p:nvPr/>
        </p:nvSpPr>
        <p:spPr>
          <a:xfrm>
            <a:off x="9738360" y="2788920"/>
            <a:ext cx="1767535" cy="658368"/>
          </a:xfrm>
          <a:prstGeom prst="rect">
            <a:avLst/>
          </a:prstGeom>
          <a:noFill/>
          <a:ln/>
        </p:spPr>
        <p:txBody>
          <a:bodyPr wrap="square" lIns="0" tIns="0" rIns="0" bIns="0" rtlCol="0" anchor="ctr"/>
          <a:lstStyle/>
          <a:p>
            <a:pPr indent="0" marL="0">
              <a:buNone/>
            </a:pPr>
            <a:r>
              <a:rPr lang="en-US" sz="1100" dirty="0">
                <a:solidFill>
                  <a:srgbClr val="A9AFB5"/>
                </a:solidFill>
                <a:latin typeface="Consolas" pitchFamily="34" charset="0"/>
                <a:ea typeface="Consolas" pitchFamily="34" charset="-122"/>
                <a:cs typeface="Consolas" pitchFamily="34" charset="-120"/>
              </a:rPr>
              <a:t>Live Wall</a:t>
            </a:r>
            <a:endParaRPr lang="en-US" sz="1100" dirty="0"/>
          </a:p>
        </p:txBody>
      </p:sp>
      <p:sp>
        <p:nvSpPr>
          <p:cNvPr id="23" name="Shape 20"/>
          <p:cNvSpPr/>
          <p:nvPr/>
        </p:nvSpPr>
        <p:spPr>
          <a:xfrm>
            <a:off x="548640" y="3520440"/>
            <a:ext cx="11094415" cy="658368"/>
          </a:xfrm>
          <a:prstGeom prst="rect">
            <a:avLst/>
          </a:prstGeom>
          <a:solidFill>
            <a:srgbClr val="16191C"/>
          </a:solidFill>
          <a:ln w="9525">
            <a:solidFill>
              <a:srgbClr val="2E3338"/>
            </a:solidFill>
            <a:prstDash val="solid"/>
          </a:ln>
        </p:spPr>
      </p:sp>
      <p:sp>
        <p:nvSpPr>
          <p:cNvPr id="24" name="Shape 21"/>
          <p:cNvSpPr/>
          <p:nvPr/>
        </p:nvSpPr>
        <p:spPr>
          <a:xfrm>
            <a:off x="548640" y="3520440"/>
            <a:ext cx="1600200" cy="658368"/>
          </a:xfrm>
          <a:prstGeom prst="rect">
            <a:avLst/>
          </a:prstGeom>
          <a:solidFill>
            <a:srgbClr val="23272B"/>
          </a:solidFill>
          <a:ln w="9525">
            <a:solidFill>
              <a:srgbClr val="2E3338"/>
            </a:solidFill>
            <a:prstDash val="solid"/>
          </a:ln>
        </p:spPr>
      </p:sp>
      <p:sp>
        <p:nvSpPr>
          <p:cNvPr id="25" name="Text 22"/>
          <p:cNvSpPr/>
          <p:nvPr/>
        </p:nvSpPr>
        <p:spPr>
          <a:xfrm>
            <a:off x="731520" y="3520440"/>
            <a:ext cx="1371600" cy="658368"/>
          </a:xfrm>
          <a:prstGeom prst="rect">
            <a:avLst/>
          </a:prstGeom>
          <a:noFill/>
          <a:ln/>
        </p:spPr>
        <p:txBody>
          <a:bodyPr wrap="square" lIns="0" tIns="0" rIns="0" bIns="0" rtlCol="0" anchor="ctr"/>
          <a:lstStyle/>
          <a:p>
            <a:pPr indent="0" marL="0">
              <a:buNone/>
            </a:pPr>
            <a:r>
              <a:rPr lang="en-US" sz="1300" b="1" dirty="0">
                <a:solidFill>
                  <a:srgbClr val="FFB000"/>
                </a:solidFill>
                <a:latin typeface="Consolas" pitchFamily="34" charset="0"/>
                <a:ea typeface="Consolas" pitchFamily="34" charset="-122"/>
                <a:cs typeface="Consolas" pitchFamily="34" charset="-120"/>
              </a:rPr>
              <a:t>03 TRACE</a:t>
            </a:r>
            <a:endParaRPr lang="en-US" sz="1300" dirty="0"/>
          </a:p>
        </p:txBody>
      </p:sp>
      <p:sp>
        <p:nvSpPr>
          <p:cNvPr id="26" name="Text 23"/>
          <p:cNvSpPr/>
          <p:nvPr/>
        </p:nvSpPr>
        <p:spPr>
          <a:xfrm>
            <a:off x="2331720" y="3520440"/>
            <a:ext cx="2697480" cy="658368"/>
          </a:xfrm>
          <a:prstGeom prst="rect">
            <a:avLst/>
          </a:prstGeom>
          <a:noFill/>
          <a:ln/>
        </p:spPr>
        <p:txBody>
          <a:bodyPr wrap="square" lIns="0" tIns="0" rIns="0" bIns="0" rtlCol="0" anchor="ctr"/>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Type that plate</a:t>
            </a:r>
            <a:endParaRPr lang="en-US" sz="1500" dirty="0"/>
          </a:p>
        </p:txBody>
      </p:sp>
      <p:sp>
        <p:nvSpPr>
          <p:cNvPr id="27" name="Text 24"/>
          <p:cNvSpPr/>
          <p:nvPr/>
        </p:nvSpPr>
        <p:spPr>
          <a:xfrm>
            <a:off x="5212080" y="3520440"/>
            <a:ext cx="4251960" cy="658368"/>
          </a:xfrm>
          <a:prstGeom prst="rect">
            <a:avLst/>
          </a:prstGeom>
          <a:noFill/>
          <a:ln/>
        </p:spPr>
        <p:txBody>
          <a:bodyPr wrap="square" lIns="0" tIns="0" rIns="0" bIns="0" rtlCol="0" anchor="ctr"/>
          <a:lstStyle/>
          <a:p>
            <a:pPr indent="0" marL="0">
              <a:buNone/>
            </a:pPr>
            <a:r>
              <a:rPr lang="en-US" sz="1350" dirty="0">
                <a:solidFill>
                  <a:srgbClr val="EEF0EC"/>
                </a:solidFill>
                <a:latin typeface="Franklin Gothic Book" pitchFamily="34" charset="0"/>
                <a:ea typeface="Franklin Gothic Book" pitchFamily="34" charset="-122"/>
                <a:cs typeface="Franklin Gothic Book" pitchFamily="34" charset="-120"/>
              </a:rPr>
              <a:t>Every sighting, timed by each camera’s own clock, on the map</a:t>
            </a:r>
            <a:endParaRPr lang="en-US" sz="1350" dirty="0"/>
          </a:p>
        </p:txBody>
      </p:sp>
      <p:sp>
        <p:nvSpPr>
          <p:cNvPr id="28" name="Text 25"/>
          <p:cNvSpPr/>
          <p:nvPr/>
        </p:nvSpPr>
        <p:spPr>
          <a:xfrm>
            <a:off x="9738360" y="3520440"/>
            <a:ext cx="1767535" cy="658368"/>
          </a:xfrm>
          <a:prstGeom prst="rect">
            <a:avLst/>
          </a:prstGeom>
          <a:noFill/>
          <a:ln/>
        </p:spPr>
        <p:txBody>
          <a:bodyPr wrap="square" lIns="0" tIns="0" rIns="0" bIns="0" rtlCol="0" anchor="ctr"/>
          <a:lstStyle/>
          <a:p>
            <a:pPr indent="0" marL="0">
              <a:buNone/>
            </a:pPr>
            <a:r>
              <a:rPr lang="en-US" sz="1100" dirty="0">
                <a:solidFill>
                  <a:srgbClr val="A9AFB5"/>
                </a:solidFill>
                <a:latin typeface="Consolas" pitchFamily="34" charset="0"/>
                <a:ea typeface="Consolas" pitchFamily="34" charset="-122"/>
                <a:cs typeface="Consolas" pitchFamily="34" charset="-120"/>
              </a:rPr>
              <a:t>Find a Vehicle</a:t>
            </a:r>
            <a:endParaRPr lang="en-US" sz="1100" dirty="0"/>
          </a:p>
        </p:txBody>
      </p:sp>
      <p:sp>
        <p:nvSpPr>
          <p:cNvPr id="29" name="Shape 26"/>
          <p:cNvSpPr/>
          <p:nvPr/>
        </p:nvSpPr>
        <p:spPr>
          <a:xfrm>
            <a:off x="548640" y="4251960"/>
            <a:ext cx="11094415" cy="658368"/>
          </a:xfrm>
          <a:prstGeom prst="rect">
            <a:avLst/>
          </a:prstGeom>
          <a:solidFill>
            <a:srgbClr val="16191C"/>
          </a:solidFill>
          <a:ln w="9525">
            <a:solidFill>
              <a:srgbClr val="2E3338"/>
            </a:solidFill>
            <a:prstDash val="solid"/>
          </a:ln>
        </p:spPr>
      </p:sp>
      <p:sp>
        <p:nvSpPr>
          <p:cNvPr id="30" name="Shape 27"/>
          <p:cNvSpPr/>
          <p:nvPr/>
        </p:nvSpPr>
        <p:spPr>
          <a:xfrm>
            <a:off x="548640" y="4251960"/>
            <a:ext cx="1600200" cy="658368"/>
          </a:xfrm>
          <a:prstGeom prst="rect">
            <a:avLst/>
          </a:prstGeom>
          <a:solidFill>
            <a:srgbClr val="23272B"/>
          </a:solidFill>
          <a:ln w="9525">
            <a:solidFill>
              <a:srgbClr val="2E3338"/>
            </a:solidFill>
            <a:prstDash val="solid"/>
          </a:ln>
        </p:spPr>
      </p:sp>
      <p:sp>
        <p:nvSpPr>
          <p:cNvPr id="31" name="Text 28"/>
          <p:cNvSpPr/>
          <p:nvPr/>
        </p:nvSpPr>
        <p:spPr>
          <a:xfrm>
            <a:off x="731520" y="4251960"/>
            <a:ext cx="1371600" cy="658368"/>
          </a:xfrm>
          <a:prstGeom prst="rect">
            <a:avLst/>
          </a:prstGeom>
          <a:noFill/>
          <a:ln/>
        </p:spPr>
        <p:txBody>
          <a:bodyPr wrap="square" lIns="0" tIns="0" rIns="0" bIns="0" rtlCol="0" anchor="ctr"/>
          <a:lstStyle/>
          <a:p>
            <a:pPr indent="0" marL="0">
              <a:buNone/>
            </a:pPr>
            <a:r>
              <a:rPr lang="en-US" sz="1300" b="1" dirty="0">
                <a:solidFill>
                  <a:srgbClr val="FFB000"/>
                </a:solidFill>
                <a:latin typeface="Consolas" pitchFamily="34" charset="0"/>
                <a:ea typeface="Consolas" pitchFamily="34" charset="-122"/>
                <a:cs typeface="Consolas" pitchFamily="34" charset="-120"/>
              </a:rPr>
              <a:t>04 WATCH</a:t>
            </a:r>
            <a:endParaRPr lang="en-US" sz="1300" dirty="0"/>
          </a:p>
        </p:txBody>
      </p:sp>
      <p:sp>
        <p:nvSpPr>
          <p:cNvPr id="32" name="Text 29"/>
          <p:cNvSpPr/>
          <p:nvPr/>
        </p:nvSpPr>
        <p:spPr>
          <a:xfrm>
            <a:off x="2331720" y="4251960"/>
            <a:ext cx="2697480" cy="658368"/>
          </a:xfrm>
          <a:prstGeom prst="rect">
            <a:avLst/>
          </a:prstGeom>
          <a:noFill/>
          <a:ln/>
        </p:spPr>
        <p:txBody>
          <a:bodyPr wrap="square" lIns="0" tIns="0" rIns="0" bIns="0" rtlCol="0" anchor="ctr"/>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Arm a watch on it</a:t>
            </a:r>
            <a:endParaRPr lang="en-US" sz="1500" dirty="0"/>
          </a:p>
        </p:txBody>
      </p:sp>
      <p:sp>
        <p:nvSpPr>
          <p:cNvPr id="33" name="Text 30"/>
          <p:cNvSpPr/>
          <p:nvPr/>
        </p:nvSpPr>
        <p:spPr>
          <a:xfrm>
            <a:off x="5212080" y="4251960"/>
            <a:ext cx="4251960" cy="658368"/>
          </a:xfrm>
          <a:prstGeom prst="rect">
            <a:avLst/>
          </a:prstGeom>
          <a:noFill/>
          <a:ln/>
        </p:spPr>
        <p:txBody>
          <a:bodyPr wrap="square" lIns="0" tIns="0" rIns="0" bIns="0" rtlCol="0" anchor="ctr"/>
          <a:lstStyle/>
          <a:p>
            <a:pPr indent="0" marL="0">
              <a:buNone/>
            </a:pPr>
            <a:r>
              <a:rPr lang="en-US" sz="1350" dirty="0">
                <a:solidFill>
                  <a:srgbClr val="EEF0EC"/>
                </a:solidFill>
                <a:latin typeface="Franklin Gothic Book" pitchFamily="34" charset="0"/>
                <a:ea typeface="Franklin Gothic Book" pitchFamily="34" charset="-122"/>
                <a:cs typeface="Franklin Gothic Book" pitchFamily="34" charset="-120"/>
              </a:rPr>
              <a:t>The next sighting raises an alert on every open screen</a:t>
            </a:r>
            <a:endParaRPr lang="en-US" sz="1350" dirty="0"/>
          </a:p>
        </p:txBody>
      </p:sp>
      <p:sp>
        <p:nvSpPr>
          <p:cNvPr id="34" name="Text 31"/>
          <p:cNvSpPr/>
          <p:nvPr/>
        </p:nvSpPr>
        <p:spPr>
          <a:xfrm>
            <a:off x="9738360" y="4251960"/>
            <a:ext cx="1767535" cy="658368"/>
          </a:xfrm>
          <a:prstGeom prst="rect">
            <a:avLst/>
          </a:prstGeom>
          <a:noFill/>
          <a:ln/>
        </p:spPr>
        <p:txBody>
          <a:bodyPr wrap="square" lIns="0" tIns="0" rIns="0" bIns="0" rtlCol="0" anchor="ctr"/>
          <a:lstStyle/>
          <a:p>
            <a:pPr indent="0" marL="0">
              <a:buNone/>
            </a:pPr>
            <a:r>
              <a:rPr lang="en-US" sz="1100" dirty="0">
                <a:solidFill>
                  <a:srgbClr val="A9AFB5"/>
                </a:solidFill>
                <a:latin typeface="Consolas" pitchFamily="34" charset="0"/>
                <a:ea typeface="Consolas" pitchFamily="34" charset="-122"/>
                <a:cs typeface="Consolas" pitchFamily="34" charset="-120"/>
              </a:rPr>
              <a:t>Watch for this vehicle</a:t>
            </a:r>
            <a:endParaRPr lang="en-US" sz="1100" dirty="0"/>
          </a:p>
        </p:txBody>
      </p:sp>
      <p:sp>
        <p:nvSpPr>
          <p:cNvPr id="35" name="Shape 32"/>
          <p:cNvSpPr/>
          <p:nvPr/>
        </p:nvSpPr>
        <p:spPr>
          <a:xfrm>
            <a:off x="548640" y="4983480"/>
            <a:ext cx="11094415" cy="658368"/>
          </a:xfrm>
          <a:prstGeom prst="rect">
            <a:avLst/>
          </a:prstGeom>
          <a:solidFill>
            <a:srgbClr val="16191C"/>
          </a:solidFill>
          <a:ln w="9525">
            <a:solidFill>
              <a:srgbClr val="2E3338"/>
            </a:solidFill>
            <a:prstDash val="solid"/>
          </a:ln>
        </p:spPr>
      </p:sp>
      <p:sp>
        <p:nvSpPr>
          <p:cNvPr id="36" name="Shape 33"/>
          <p:cNvSpPr/>
          <p:nvPr/>
        </p:nvSpPr>
        <p:spPr>
          <a:xfrm>
            <a:off x="548640" y="4983480"/>
            <a:ext cx="1600200" cy="658368"/>
          </a:xfrm>
          <a:prstGeom prst="rect">
            <a:avLst/>
          </a:prstGeom>
          <a:solidFill>
            <a:srgbClr val="23272B"/>
          </a:solidFill>
          <a:ln w="9525">
            <a:solidFill>
              <a:srgbClr val="2E3338"/>
            </a:solidFill>
            <a:prstDash val="solid"/>
          </a:ln>
        </p:spPr>
      </p:sp>
      <p:sp>
        <p:nvSpPr>
          <p:cNvPr id="37" name="Text 34"/>
          <p:cNvSpPr/>
          <p:nvPr/>
        </p:nvSpPr>
        <p:spPr>
          <a:xfrm>
            <a:off x="731520" y="4983480"/>
            <a:ext cx="1371600" cy="658368"/>
          </a:xfrm>
          <a:prstGeom prst="rect">
            <a:avLst/>
          </a:prstGeom>
          <a:noFill/>
          <a:ln/>
        </p:spPr>
        <p:txBody>
          <a:bodyPr wrap="square" lIns="0" tIns="0" rIns="0" bIns="0" rtlCol="0" anchor="ctr"/>
          <a:lstStyle/>
          <a:p>
            <a:pPr indent="0" marL="0">
              <a:buNone/>
            </a:pPr>
            <a:r>
              <a:rPr lang="en-US" sz="1300" b="1" dirty="0">
                <a:solidFill>
                  <a:srgbClr val="FFB000"/>
                </a:solidFill>
                <a:latin typeface="Consolas" pitchFamily="34" charset="0"/>
                <a:ea typeface="Consolas" pitchFamily="34" charset="-122"/>
                <a:cs typeface="Consolas" pitchFamily="34" charset="-120"/>
              </a:rPr>
              <a:t>05 HAND OVER</a:t>
            </a:r>
            <a:endParaRPr lang="en-US" sz="1300" dirty="0"/>
          </a:p>
        </p:txBody>
      </p:sp>
      <p:sp>
        <p:nvSpPr>
          <p:cNvPr id="38" name="Text 35"/>
          <p:cNvSpPr/>
          <p:nvPr/>
        </p:nvSpPr>
        <p:spPr>
          <a:xfrm>
            <a:off x="2331720" y="4983480"/>
            <a:ext cx="2697480" cy="658368"/>
          </a:xfrm>
          <a:prstGeom prst="rect">
            <a:avLst/>
          </a:prstGeom>
          <a:noFill/>
          <a:ln/>
        </p:spPr>
        <p:txBody>
          <a:bodyPr wrap="square" lIns="0" tIns="0" rIns="0" bIns="0" rtlCol="0" anchor="ctr"/>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Export the report</a:t>
            </a:r>
            <a:endParaRPr lang="en-US" sz="1500" dirty="0"/>
          </a:p>
        </p:txBody>
      </p:sp>
      <p:sp>
        <p:nvSpPr>
          <p:cNvPr id="39" name="Text 36"/>
          <p:cNvSpPr/>
          <p:nvPr/>
        </p:nvSpPr>
        <p:spPr>
          <a:xfrm>
            <a:off x="5212080" y="4983480"/>
            <a:ext cx="4251960" cy="658368"/>
          </a:xfrm>
          <a:prstGeom prst="rect">
            <a:avLst/>
          </a:prstGeom>
          <a:noFill/>
          <a:ln/>
        </p:spPr>
        <p:txBody>
          <a:bodyPr wrap="square" lIns="0" tIns="0" rIns="0" bIns="0" rtlCol="0" anchor="ctr"/>
          <a:lstStyle/>
          <a:p>
            <a:pPr indent="0" marL="0">
              <a:buNone/>
            </a:pPr>
            <a:r>
              <a:rPr lang="en-US" sz="1350" dirty="0">
                <a:solidFill>
                  <a:srgbClr val="EEF0EC"/>
                </a:solidFill>
                <a:latin typeface="Franklin Gothic Book" pitchFamily="34" charset="0"/>
                <a:ea typeface="Franklin Gothic Book" pitchFamily="34" charset="-122"/>
                <a:cs typeface="Franklin Gothic Book" pitchFamily="34" charset="-120"/>
              </a:rPr>
              <a:t>PDF, CSV and evidence frames, sealed with SHA-256</a:t>
            </a:r>
            <a:endParaRPr lang="en-US" sz="1350" dirty="0"/>
          </a:p>
        </p:txBody>
      </p:sp>
      <p:sp>
        <p:nvSpPr>
          <p:cNvPr id="40" name="Text 37"/>
          <p:cNvSpPr/>
          <p:nvPr/>
        </p:nvSpPr>
        <p:spPr>
          <a:xfrm>
            <a:off x="9738360" y="4983480"/>
            <a:ext cx="1767535" cy="658368"/>
          </a:xfrm>
          <a:prstGeom prst="rect">
            <a:avLst/>
          </a:prstGeom>
          <a:noFill/>
          <a:ln/>
        </p:spPr>
        <p:txBody>
          <a:bodyPr wrap="square" lIns="0" tIns="0" rIns="0" bIns="0" rtlCol="0" anchor="ctr"/>
          <a:lstStyle/>
          <a:p>
            <a:pPr indent="0" marL="0">
              <a:buNone/>
            </a:pPr>
            <a:r>
              <a:rPr lang="en-US" sz="1100" dirty="0">
                <a:solidFill>
                  <a:srgbClr val="A9AFB5"/>
                </a:solidFill>
                <a:latin typeface="Consolas" pitchFamily="34" charset="0"/>
                <a:ea typeface="Consolas" pitchFamily="34" charset="-122"/>
                <a:cs typeface="Consolas" pitchFamily="34" charset="-120"/>
              </a:rPr>
              <a:t>Export report</a:t>
            </a:r>
            <a:endParaRPr lang="en-US" sz="1100" dirty="0"/>
          </a:p>
        </p:txBody>
      </p:sp>
      <p:pic>
        <p:nvPicPr>
          <p:cNvPr id="41" name="Image 0" descr="preencoded.png">    </p:cNvPr>
          <p:cNvPicPr>
            <a:picLocks noChangeAspect="1"/>
          </p:cNvPicPr>
          <p:nvPr/>
        </p:nvPicPr>
        <p:blipFill>
          <a:blip r:embed="rId1"/>
          <a:stretch>
            <a:fillRect/>
          </a:stretch>
        </p:blipFill>
        <p:spPr>
          <a:xfrm>
            <a:off x="548640" y="5870448"/>
            <a:ext cx="310896" cy="310896"/>
          </a:xfrm>
          <a:prstGeom prst="rect">
            <a:avLst/>
          </a:prstGeom>
        </p:spPr>
      </p:pic>
      <p:sp>
        <p:nvSpPr>
          <p:cNvPr id="42" name="Text 38"/>
          <p:cNvSpPr/>
          <p:nvPr/>
        </p:nvSpPr>
        <p:spPr>
          <a:xfrm>
            <a:off x="1005840" y="5852160"/>
            <a:ext cx="10637215" cy="548640"/>
          </a:xfrm>
          <a:prstGeom prst="rect">
            <a:avLst/>
          </a:prstGeom>
          <a:noFill/>
          <a:ln/>
        </p:spPr>
        <p:txBody>
          <a:bodyPr wrap="square" lIns="0" tIns="0" rIns="0" bIns="0" rtlCol="0" anchor="t"/>
          <a:lstStyle/>
          <a:p>
            <a:pPr indent="0" marL="0">
              <a:buNone/>
            </a:pPr>
            <a:r>
              <a:rPr lang="en-US" sz="1300" dirty="0">
                <a:solidFill>
                  <a:srgbClr val="EEF0EC"/>
                </a:solidFill>
                <a:latin typeface="Franklin Gothic Demi" pitchFamily="34" charset="0"/>
                <a:ea typeface="Franklin Gothic Demi" pitchFamily="34" charset="-122"/>
                <a:cs typeface="Franklin Gothic Demi" pitchFamily="34" charset="-120"/>
              </a:rPr>
              <a:t>Timing, stated up front: </a:t>
            </a:r>
            <a:pPr indent="0" marL="0">
              <a:buNone/>
            </a:pPr>
            <a:r>
              <a:rPr lang="en-US" sz="1300" dirty="0">
                <a:solidFill>
                  <a:srgbClr val="A9AFB5"/>
                </a:solidFill>
                <a:latin typeface="Franklin Gothic Book" pitchFamily="34" charset="0"/>
                <a:ea typeface="Franklin Gothic Book" pitchFamily="34" charset="-122"/>
                <a:cs typeface="Franklin Gothic Book" pitchFamily="34" charset="-120"/>
              </a:rPr>
              <a:t>a plate is committed only once several frames agree, so a read reaches the console in about half a minute — sometimes up to a minute and a half. Near-real-time, for investigation; not for lifting a boom gate.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LIVE · STEP 1 OF 5 · OPEN</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Open any camera, from any department</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05</a:t>
            </a:r>
            <a:endParaRPr lang="en-US" sz="900" dirty="0"/>
          </a:p>
        </p:txBody>
      </p:sp>
      <p:sp>
        <p:nvSpPr>
          <p:cNvPr id="7" name="Shape 4"/>
          <p:cNvSpPr/>
          <p:nvPr/>
        </p:nvSpPr>
        <p:spPr>
          <a:xfrm>
            <a:off x="548640" y="1591056"/>
            <a:ext cx="7616952" cy="4633391"/>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8" name="Image 0" descr="preencoded.png">    </p:cNvPr>
          <p:cNvPicPr>
            <a:picLocks noChangeAspect="1"/>
          </p:cNvPicPr>
          <p:nvPr/>
        </p:nvPicPr>
        <p:blipFill>
          <a:blip r:embed="rId1"/>
          <a:stretch>
            <a:fillRect/>
          </a:stretch>
        </p:blipFill>
        <p:spPr>
          <a:xfrm>
            <a:off x="585216" y="1627632"/>
            <a:ext cx="7543800" cy="4560239"/>
          </a:xfrm>
          <a:prstGeom prst="rect">
            <a:avLst/>
          </a:prstGeom>
        </p:spPr>
      </p:pic>
      <p:sp>
        <p:nvSpPr>
          <p:cNvPr id="9" name="Shape 5"/>
          <p:cNvSpPr/>
          <p:nvPr/>
        </p:nvSpPr>
        <p:spPr>
          <a:xfrm>
            <a:off x="2154779" y="1614453"/>
            <a:ext cx="402336" cy="402336"/>
          </a:xfrm>
          <a:prstGeom prst="ellipse">
            <a:avLst/>
          </a:prstGeom>
          <a:solidFill>
            <a:srgbClr val="FFB000"/>
          </a:solidFill>
          <a:ln w="15875">
            <a:solidFill>
              <a:srgbClr val="111417"/>
            </a:solidFill>
            <a:prstDash val="solid"/>
          </a:ln>
        </p:spPr>
      </p:sp>
      <p:sp>
        <p:nvSpPr>
          <p:cNvPr id="10" name="Text 6"/>
          <p:cNvSpPr/>
          <p:nvPr/>
        </p:nvSpPr>
        <p:spPr>
          <a:xfrm>
            <a:off x="2154779" y="1614453"/>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1</a:t>
            </a:r>
            <a:endParaRPr lang="en-US" sz="1584" dirty="0"/>
          </a:p>
        </p:txBody>
      </p:sp>
      <p:sp>
        <p:nvSpPr>
          <p:cNvPr id="11" name="Shape 7"/>
          <p:cNvSpPr/>
          <p:nvPr/>
        </p:nvSpPr>
        <p:spPr>
          <a:xfrm>
            <a:off x="3943703" y="1941917"/>
            <a:ext cx="402336" cy="402336"/>
          </a:xfrm>
          <a:prstGeom prst="ellipse">
            <a:avLst/>
          </a:prstGeom>
          <a:solidFill>
            <a:srgbClr val="FFB000"/>
          </a:solidFill>
          <a:ln w="15875">
            <a:solidFill>
              <a:srgbClr val="111417"/>
            </a:solidFill>
            <a:prstDash val="solid"/>
          </a:ln>
        </p:spPr>
      </p:sp>
      <p:sp>
        <p:nvSpPr>
          <p:cNvPr id="12" name="Text 8"/>
          <p:cNvSpPr/>
          <p:nvPr/>
        </p:nvSpPr>
        <p:spPr>
          <a:xfrm>
            <a:off x="3943703" y="1941917"/>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2</a:t>
            </a:r>
            <a:endParaRPr lang="en-US" sz="1584" dirty="0"/>
          </a:p>
        </p:txBody>
      </p:sp>
      <p:sp>
        <p:nvSpPr>
          <p:cNvPr id="13" name="Shape 9"/>
          <p:cNvSpPr/>
          <p:nvPr/>
        </p:nvSpPr>
        <p:spPr>
          <a:xfrm>
            <a:off x="8503920" y="1627632"/>
            <a:ext cx="402336" cy="402336"/>
          </a:xfrm>
          <a:prstGeom prst="ellipse">
            <a:avLst/>
          </a:prstGeom>
          <a:solidFill>
            <a:srgbClr val="FFB000"/>
          </a:solidFill>
          <a:ln w="15875">
            <a:solidFill>
              <a:srgbClr val="111417"/>
            </a:solidFill>
            <a:prstDash val="solid"/>
          </a:ln>
        </p:spPr>
      </p:sp>
      <p:sp>
        <p:nvSpPr>
          <p:cNvPr id="14" name="Text 10"/>
          <p:cNvSpPr/>
          <p:nvPr/>
        </p:nvSpPr>
        <p:spPr>
          <a:xfrm>
            <a:off x="8503920" y="1627632"/>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1</a:t>
            </a:r>
            <a:endParaRPr lang="en-US" sz="1584" dirty="0"/>
          </a:p>
        </p:txBody>
      </p:sp>
      <p:sp>
        <p:nvSpPr>
          <p:cNvPr id="15" name="Text 11"/>
          <p:cNvSpPr/>
          <p:nvPr/>
        </p:nvSpPr>
        <p:spPr>
          <a:xfrm>
            <a:off x="9070848" y="1664208"/>
            <a:ext cx="257220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The camera you choose</a:t>
            </a:r>
            <a:endParaRPr lang="en-US" sz="1600" dirty="0"/>
          </a:p>
        </p:txBody>
      </p:sp>
      <p:sp>
        <p:nvSpPr>
          <p:cNvPr id="16" name="Text 12"/>
          <p:cNvSpPr/>
          <p:nvPr/>
        </p:nvSpPr>
        <p:spPr>
          <a:xfrm>
            <a:off x="9070848" y="1981200"/>
            <a:ext cx="2572207" cy="594360"/>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Any camera in the registry, from any department — in focus, or on a wall of 4, 9 or 16.</a:t>
            </a:r>
            <a:endParaRPr lang="en-US" sz="1300" dirty="0"/>
          </a:p>
        </p:txBody>
      </p:sp>
      <p:sp>
        <p:nvSpPr>
          <p:cNvPr id="17" name="Shape 13"/>
          <p:cNvSpPr/>
          <p:nvPr/>
        </p:nvSpPr>
        <p:spPr>
          <a:xfrm>
            <a:off x="8503920" y="2849880"/>
            <a:ext cx="402336" cy="402336"/>
          </a:xfrm>
          <a:prstGeom prst="ellipse">
            <a:avLst/>
          </a:prstGeom>
          <a:solidFill>
            <a:srgbClr val="FFB000"/>
          </a:solidFill>
          <a:ln w="15875">
            <a:solidFill>
              <a:srgbClr val="111417"/>
            </a:solidFill>
            <a:prstDash val="solid"/>
          </a:ln>
        </p:spPr>
      </p:sp>
      <p:sp>
        <p:nvSpPr>
          <p:cNvPr id="18" name="Text 14"/>
          <p:cNvSpPr/>
          <p:nvPr/>
        </p:nvSpPr>
        <p:spPr>
          <a:xfrm>
            <a:off x="8503920" y="2849880"/>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2</a:t>
            </a:r>
            <a:endParaRPr lang="en-US" sz="1584" dirty="0"/>
          </a:p>
        </p:txBody>
      </p:sp>
      <p:sp>
        <p:nvSpPr>
          <p:cNvPr id="19" name="Text 15"/>
          <p:cNvSpPr/>
          <p:nvPr/>
        </p:nvSpPr>
        <p:spPr>
          <a:xfrm>
            <a:off x="9070848" y="2886456"/>
            <a:ext cx="257220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Its own clock</a:t>
            </a:r>
            <a:endParaRPr lang="en-US" sz="1600" dirty="0"/>
          </a:p>
        </p:txBody>
      </p:sp>
      <p:sp>
        <p:nvSpPr>
          <p:cNvPr id="20" name="Text 16"/>
          <p:cNvSpPr/>
          <p:nvPr/>
        </p:nvSpPr>
        <p:spPr>
          <a:xfrm>
            <a:off x="9070848" y="3203448"/>
            <a:ext cx="2572207" cy="594360"/>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Every sighting is timed by the date and time the camera prints on its frame.</a:t>
            </a:r>
            <a:endParaRPr lang="en-US" sz="1300" dirty="0"/>
          </a:p>
        </p:txBody>
      </p:sp>
      <p:sp>
        <p:nvSpPr>
          <p:cNvPr id="21" name="Shape 17"/>
          <p:cNvSpPr/>
          <p:nvPr/>
        </p:nvSpPr>
        <p:spPr>
          <a:xfrm>
            <a:off x="8503920" y="4072128"/>
            <a:ext cx="402336" cy="402336"/>
          </a:xfrm>
          <a:prstGeom prst="ellipse">
            <a:avLst/>
          </a:prstGeom>
          <a:solidFill>
            <a:srgbClr val="FFB000"/>
          </a:solidFill>
          <a:ln w="15875">
            <a:solidFill>
              <a:srgbClr val="111417"/>
            </a:solidFill>
            <a:prstDash val="solid"/>
          </a:ln>
        </p:spPr>
      </p:sp>
      <p:sp>
        <p:nvSpPr>
          <p:cNvPr id="22" name="Text 18"/>
          <p:cNvSpPr/>
          <p:nvPr/>
        </p:nvSpPr>
        <p:spPr>
          <a:xfrm>
            <a:off x="8503920" y="4072128"/>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3</a:t>
            </a:r>
            <a:endParaRPr lang="en-US" sz="1584" dirty="0"/>
          </a:p>
        </p:txBody>
      </p:sp>
      <p:sp>
        <p:nvSpPr>
          <p:cNvPr id="23" name="Text 19"/>
          <p:cNvSpPr/>
          <p:nvPr/>
        </p:nvSpPr>
        <p:spPr>
          <a:xfrm>
            <a:off x="9070848" y="4108704"/>
            <a:ext cx="257220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Alerts reach you anywhere</a:t>
            </a:r>
            <a:endParaRPr lang="en-US" sz="1600" dirty="0"/>
          </a:p>
        </p:txBody>
      </p:sp>
      <p:sp>
        <p:nvSpPr>
          <p:cNvPr id="24" name="Text 20"/>
          <p:cNvSpPr/>
          <p:nvPr/>
        </p:nvSpPr>
        <p:spPr>
          <a:xfrm>
            <a:off x="9070848" y="4425696"/>
            <a:ext cx="2572207" cy="594360"/>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This watchlist hit, at another camera, arrived while we watched this one.</a:t>
            </a:r>
            <a:endParaRPr lang="en-US" sz="1300" dirty="0"/>
          </a:p>
        </p:txBody>
      </p:sp>
      <p:sp>
        <p:nvSpPr>
          <p:cNvPr id="25" name="Shape 21"/>
          <p:cNvSpPr/>
          <p:nvPr/>
        </p:nvSpPr>
        <p:spPr>
          <a:xfrm>
            <a:off x="9034272" y="5184648"/>
            <a:ext cx="2608783" cy="946536"/>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26" name="Image 1" descr="preencoded.png">    </p:cNvPr>
          <p:cNvPicPr>
            <a:picLocks noChangeAspect="1"/>
          </p:cNvPicPr>
          <p:nvPr/>
        </p:nvPicPr>
        <p:blipFill>
          <a:blip r:embed="rId2"/>
          <a:stretch>
            <a:fillRect/>
          </a:stretch>
        </p:blipFill>
        <p:spPr>
          <a:xfrm>
            <a:off x="9070848" y="5221224"/>
            <a:ext cx="2535631" cy="87338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LIVE · STEP 2 OF 5 · READ</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How a frame becomes a sighting</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06</a:t>
            </a:r>
            <a:endParaRPr lang="en-US" sz="900" dirty="0"/>
          </a:p>
        </p:txBody>
      </p:sp>
      <p:sp>
        <p:nvSpPr>
          <p:cNvPr id="7" name="Shape 4"/>
          <p:cNvSpPr/>
          <p:nvPr/>
        </p:nvSpPr>
        <p:spPr>
          <a:xfrm>
            <a:off x="566928" y="1517904"/>
            <a:ext cx="365760" cy="365760"/>
          </a:xfrm>
          <a:prstGeom prst="ellipse">
            <a:avLst/>
          </a:prstGeom>
          <a:solidFill>
            <a:srgbClr val="FFB000"/>
          </a:solidFill>
          <a:ln w="15875">
            <a:solidFill>
              <a:srgbClr val="111417"/>
            </a:solidFill>
            <a:prstDash val="solid"/>
          </a:ln>
        </p:spPr>
      </p:sp>
      <p:sp>
        <p:nvSpPr>
          <p:cNvPr id="8" name="Text 5"/>
          <p:cNvSpPr/>
          <p:nvPr/>
        </p:nvSpPr>
        <p:spPr>
          <a:xfrm>
            <a:off x="566928" y="1517904"/>
            <a:ext cx="365760" cy="365760"/>
          </a:xfrm>
          <a:prstGeom prst="rect">
            <a:avLst/>
          </a:prstGeom>
          <a:noFill/>
          <a:ln/>
        </p:spPr>
        <p:txBody>
          <a:bodyPr wrap="square" lIns="0" tIns="0" rIns="0" bIns="0" rtlCol="0" anchor="ctr"/>
          <a:lstStyle/>
          <a:p>
            <a:pPr algn="ctr" indent="0" marL="0">
              <a:buNone/>
            </a:pPr>
            <a:r>
              <a:rPr lang="en-US" sz="1440" dirty="0">
                <a:solidFill>
                  <a:srgbClr val="111417"/>
                </a:solidFill>
                <a:latin typeface="Franklin Gothic Demi Cond" pitchFamily="34" charset="0"/>
                <a:ea typeface="Franklin Gothic Demi Cond" pitchFamily="34" charset="-122"/>
                <a:cs typeface="Franklin Gothic Demi Cond" pitchFamily="34" charset="-120"/>
              </a:rPr>
              <a:t>1</a:t>
            </a:r>
            <a:endParaRPr lang="en-US" sz="1440" dirty="0"/>
          </a:p>
        </p:txBody>
      </p:sp>
      <p:sp>
        <p:nvSpPr>
          <p:cNvPr id="9" name="Text 6"/>
          <p:cNvSpPr/>
          <p:nvPr/>
        </p:nvSpPr>
        <p:spPr>
          <a:xfrm>
            <a:off x="1024128" y="1554480"/>
            <a:ext cx="3977640" cy="310896"/>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Detect and track</a:t>
            </a:r>
            <a:endParaRPr lang="en-US" sz="1500" dirty="0"/>
          </a:p>
        </p:txBody>
      </p:sp>
      <p:sp>
        <p:nvSpPr>
          <p:cNvPr id="10" name="Shape 7"/>
          <p:cNvSpPr/>
          <p:nvPr/>
        </p:nvSpPr>
        <p:spPr>
          <a:xfrm>
            <a:off x="512064" y="1975104"/>
            <a:ext cx="3776472" cy="1536192"/>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11" name="Image 0" descr="preencoded.png">    </p:cNvPr>
          <p:cNvPicPr>
            <a:picLocks noChangeAspect="1"/>
          </p:cNvPicPr>
          <p:nvPr/>
        </p:nvPicPr>
        <p:blipFill>
          <a:blip r:embed="rId1"/>
          <a:stretch>
            <a:fillRect/>
          </a:stretch>
        </p:blipFill>
        <p:spPr>
          <a:xfrm>
            <a:off x="548640" y="2011680"/>
            <a:ext cx="3703320" cy="1463040"/>
          </a:xfrm>
          <a:prstGeom prst="rect">
            <a:avLst/>
          </a:prstGeom>
        </p:spPr>
      </p:pic>
      <p:sp>
        <p:nvSpPr>
          <p:cNvPr id="12" name="Shape 8"/>
          <p:cNvSpPr/>
          <p:nvPr/>
        </p:nvSpPr>
        <p:spPr>
          <a:xfrm>
            <a:off x="2801493" y="2439042"/>
            <a:ext cx="661583" cy="862424"/>
          </a:xfrm>
          <a:prstGeom prst="rect">
            <a:avLst/>
          </a:prstGeom>
          <a:ln w="25400">
            <a:solidFill>
              <a:srgbClr val="FFB000"/>
            </a:solidFill>
            <a:prstDash val="solid"/>
          </a:ln>
        </p:spPr>
      </p:sp>
      <p:sp>
        <p:nvSpPr>
          <p:cNvPr id="13" name="Text 9"/>
          <p:cNvSpPr/>
          <p:nvPr/>
        </p:nvSpPr>
        <p:spPr>
          <a:xfrm>
            <a:off x="548640" y="3611880"/>
            <a:ext cx="3703320" cy="50292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A vehicle is found and followed from frame to frame.</a:t>
            </a:r>
            <a:endParaRPr lang="en-US" sz="1250" dirty="0"/>
          </a:p>
        </p:txBody>
      </p:sp>
      <p:sp>
        <p:nvSpPr>
          <p:cNvPr id="14" name="Shape 10"/>
          <p:cNvSpPr/>
          <p:nvPr/>
        </p:nvSpPr>
        <p:spPr>
          <a:xfrm>
            <a:off x="4343400" y="2743200"/>
            <a:ext cx="229514" cy="0"/>
          </a:xfrm>
          <a:prstGeom prst="line">
            <a:avLst/>
          </a:prstGeom>
          <a:noFill/>
          <a:ln w="19050">
            <a:solidFill>
              <a:srgbClr val="8A8F95"/>
            </a:solidFill>
            <a:prstDash val="solid"/>
            <a:tailEnd type="triangle"/>
          </a:ln>
        </p:spPr>
      </p:sp>
      <p:sp>
        <p:nvSpPr>
          <p:cNvPr id="15" name="Shape 11"/>
          <p:cNvSpPr/>
          <p:nvPr/>
        </p:nvSpPr>
        <p:spPr>
          <a:xfrm>
            <a:off x="4682642" y="1517904"/>
            <a:ext cx="365760" cy="365760"/>
          </a:xfrm>
          <a:prstGeom prst="ellipse">
            <a:avLst/>
          </a:prstGeom>
          <a:solidFill>
            <a:srgbClr val="FFB000"/>
          </a:solidFill>
          <a:ln w="15875">
            <a:solidFill>
              <a:srgbClr val="111417"/>
            </a:solidFill>
            <a:prstDash val="solid"/>
          </a:ln>
        </p:spPr>
      </p:sp>
      <p:sp>
        <p:nvSpPr>
          <p:cNvPr id="16" name="Text 12"/>
          <p:cNvSpPr/>
          <p:nvPr/>
        </p:nvSpPr>
        <p:spPr>
          <a:xfrm>
            <a:off x="4682642" y="1517904"/>
            <a:ext cx="365760" cy="365760"/>
          </a:xfrm>
          <a:prstGeom prst="rect">
            <a:avLst/>
          </a:prstGeom>
          <a:noFill/>
          <a:ln/>
        </p:spPr>
        <p:txBody>
          <a:bodyPr wrap="square" lIns="0" tIns="0" rIns="0" bIns="0" rtlCol="0" anchor="ctr"/>
          <a:lstStyle/>
          <a:p>
            <a:pPr algn="ctr" indent="0" marL="0">
              <a:buNone/>
            </a:pPr>
            <a:r>
              <a:rPr lang="en-US" sz="1440" dirty="0">
                <a:solidFill>
                  <a:srgbClr val="111417"/>
                </a:solidFill>
                <a:latin typeface="Franklin Gothic Demi Cond" pitchFamily="34" charset="0"/>
                <a:ea typeface="Franklin Gothic Demi Cond" pitchFamily="34" charset="-122"/>
                <a:cs typeface="Franklin Gothic Demi Cond" pitchFamily="34" charset="-120"/>
              </a:rPr>
              <a:t>2</a:t>
            </a:r>
            <a:endParaRPr lang="en-US" sz="1440" dirty="0"/>
          </a:p>
        </p:txBody>
      </p:sp>
      <p:sp>
        <p:nvSpPr>
          <p:cNvPr id="17" name="Text 13"/>
          <p:cNvSpPr/>
          <p:nvPr/>
        </p:nvSpPr>
        <p:spPr>
          <a:xfrm>
            <a:off x="5139842" y="1554480"/>
            <a:ext cx="1399032" cy="310896"/>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Isolate</a:t>
            </a:r>
            <a:endParaRPr lang="en-US" sz="1500" dirty="0"/>
          </a:p>
        </p:txBody>
      </p:sp>
      <p:sp>
        <p:nvSpPr>
          <p:cNvPr id="18" name="Shape 14"/>
          <p:cNvSpPr/>
          <p:nvPr/>
        </p:nvSpPr>
        <p:spPr>
          <a:xfrm>
            <a:off x="4627778" y="1975104"/>
            <a:ext cx="1197864" cy="1536192"/>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19" name="Image 1" descr="preencoded.png">    </p:cNvPr>
          <p:cNvPicPr>
            <a:picLocks noChangeAspect="1"/>
          </p:cNvPicPr>
          <p:nvPr/>
        </p:nvPicPr>
        <p:blipFill>
          <a:blip r:embed="rId2"/>
          <a:stretch>
            <a:fillRect/>
          </a:stretch>
        </p:blipFill>
        <p:spPr>
          <a:xfrm>
            <a:off x="4664354" y="2011680"/>
            <a:ext cx="1124712" cy="1463040"/>
          </a:xfrm>
          <a:prstGeom prst="rect">
            <a:avLst/>
          </a:prstGeom>
        </p:spPr>
      </p:pic>
      <p:sp>
        <p:nvSpPr>
          <p:cNvPr id="20" name="Text 15"/>
          <p:cNvSpPr/>
          <p:nvPr/>
        </p:nvSpPr>
        <p:spPr>
          <a:xfrm>
            <a:off x="4664354" y="3611880"/>
            <a:ext cx="1124712" cy="50292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Its box, every frame.</a:t>
            </a:r>
            <a:endParaRPr lang="en-US" sz="1250" dirty="0"/>
          </a:p>
        </p:txBody>
      </p:sp>
      <p:sp>
        <p:nvSpPr>
          <p:cNvPr id="21" name="Shape 16"/>
          <p:cNvSpPr/>
          <p:nvPr/>
        </p:nvSpPr>
        <p:spPr>
          <a:xfrm>
            <a:off x="5880506" y="2743200"/>
            <a:ext cx="229514" cy="0"/>
          </a:xfrm>
          <a:prstGeom prst="line">
            <a:avLst/>
          </a:prstGeom>
          <a:noFill/>
          <a:ln w="19050">
            <a:solidFill>
              <a:srgbClr val="8A8F95"/>
            </a:solidFill>
            <a:prstDash val="solid"/>
            <a:tailEnd type="triangle"/>
          </a:ln>
        </p:spPr>
      </p:sp>
      <p:sp>
        <p:nvSpPr>
          <p:cNvPr id="22" name="Shape 17"/>
          <p:cNvSpPr/>
          <p:nvPr/>
        </p:nvSpPr>
        <p:spPr>
          <a:xfrm>
            <a:off x="6219749" y="1517904"/>
            <a:ext cx="365760" cy="365760"/>
          </a:xfrm>
          <a:prstGeom prst="ellipse">
            <a:avLst/>
          </a:prstGeom>
          <a:solidFill>
            <a:srgbClr val="FFB000"/>
          </a:solidFill>
          <a:ln w="15875">
            <a:solidFill>
              <a:srgbClr val="111417"/>
            </a:solidFill>
            <a:prstDash val="solid"/>
          </a:ln>
        </p:spPr>
      </p:sp>
      <p:sp>
        <p:nvSpPr>
          <p:cNvPr id="23" name="Text 18"/>
          <p:cNvSpPr/>
          <p:nvPr/>
        </p:nvSpPr>
        <p:spPr>
          <a:xfrm>
            <a:off x="6219749" y="1517904"/>
            <a:ext cx="365760" cy="365760"/>
          </a:xfrm>
          <a:prstGeom prst="rect">
            <a:avLst/>
          </a:prstGeom>
          <a:noFill/>
          <a:ln/>
        </p:spPr>
        <p:txBody>
          <a:bodyPr wrap="square" lIns="0" tIns="0" rIns="0" bIns="0" rtlCol="0" anchor="ctr"/>
          <a:lstStyle/>
          <a:p>
            <a:pPr algn="ctr" indent="0" marL="0">
              <a:buNone/>
            </a:pPr>
            <a:r>
              <a:rPr lang="en-US" sz="1440" dirty="0">
                <a:solidFill>
                  <a:srgbClr val="111417"/>
                </a:solidFill>
                <a:latin typeface="Franklin Gothic Demi Cond" pitchFamily="34" charset="0"/>
                <a:ea typeface="Franklin Gothic Demi Cond" pitchFamily="34" charset="-122"/>
                <a:cs typeface="Franklin Gothic Demi Cond" pitchFamily="34" charset="-120"/>
              </a:rPr>
              <a:t>3</a:t>
            </a:r>
            <a:endParaRPr lang="en-US" sz="1440" dirty="0"/>
          </a:p>
        </p:txBody>
      </p:sp>
      <p:sp>
        <p:nvSpPr>
          <p:cNvPr id="24" name="Text 19"/>
          <p:cNvSpPr/>
          <p:nvPr/>
        </p:nvSpPr>
        <p:spPr>
          <a:xfrm>
            <a:off x="6676949" y="1554480"/>
            <a:ext cx="2788920" cy="310896"/>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Read the plate</a:t>
            </a:r>
            <a:endParaRPr lang="en-US" sz="1500" dirty="0"/>
          </a:p>
        </p:txBody>
      </p:sp>
      <p:sp>
        <p:nvSpPr>
          <p:cNvPr id="25" name="Shape 20"/>
          <p:cNvSpPr/>
          <p:nvPr/>
        </p:nvSpPr>
        <p:spPr>
          <a:xfrm>
            <a:off x="6164885" y="1975104"/>
            <a:ext cx="2587752" cy="873252"/>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26" name="Image 2" descr="preencoded.png">    </p:cNvPr>
          <p:cNvPicPr>
            <a:picLocks noChangeAspect="1"/>
          </p:cNvPicPr>
          <p:nvPr/>
        </p:nvPicPr>
        <p:blipFill>
          <a:blip r:embed="rId3"/>
          <a:stretch>
            <a:fillRect/>
          </a:stretch>
        </p:blipFill>
        <p:spPr>
          <a:xfrm>
            <a:off x="6201461" y="2011680"/>
            <a:ext cx="2514600" cy="800100"/>
          </a:xfrm>
          <a:prstGeom prst="rect">
            <a:avLst/>
          </a:prstGeom>
        </p:spPr>
      </p:pic>
      <p:sp>
        <p:nvSpPr>
          <p:cNvPr id="27" name="Shape 21"/>
          <p:cNvSpPr/>
          <p:nvPr/>
        </p:nvSpPr>
        <p:spPr>
          <a:xfrm>
            <a:off x="6384341" y="2971800"/>
            <a:ext cx="1693926" cy="433070"/>
          </a:xfrm>
          <a:prstGeom prst="roundRect">
            <a:avLst>
              <a:gd name="adj" fmla="val 10557"/>
            </a:avLst>
          </a:prstGeom>
          <a:solidFill>
            <a:srgbClr val="111417"/>
          </a:solidFill>
          <a:ln w="12700">
            <a:solidFill>
              <a:srgbClr val="111417"/>
            </a:solidFill>
            <a:prstDash val="solid"/>
          </a:ln>
        </p:spPr>
      </p:sp>
      <p:sp>
        <p:nvSpPr>
          <p:cNvPr id="28" name="Text 22"/>
          <p:cNvSpPr/>
          <p:nvPr/>
        </p:nvSpPr>
        <p:spPr>
          <a:xfrm>
            <a:off x="6384341" y="2971800"/>
            <a:ext cx="1693926" cy="433070"/>
          </a:xfrm>
          <a:prstGeom prst="rect">
            <a:avLst/>
          </a:prstGeom>
          <a:noFill/>
          <a:ln/>
        </p:spPr>
        <p:txBody>
          <a:bodyPr wrap="square" lIns="0" tIns="0" rIns="0" bIns="0" rtlCol="0" anchor="ctr"/>
          <a:lstStyle/>
          <a:p>
            <a:pPr algn="ctr" indent="0" marL="0">
              <a:buNone/>
            </a:pPr>
            <a:r>
              <a:rPr lang="en-US" sz="2200" b="1" dirty="0">
                <a:solidFill>
                  <a:srgbClr val="FFFFFF"/>
                </a:solidFill>
                <a:latin typeface="Consolas" pitchFamily="34" charset="0"/>
                <a:ea typeface="Consolas" pitchFamily="34" charset="-122"/>
                <a:cs typeface="Consolas" pitchFamily="34" charset="-120"/>
              </a:rPr>
              <a:t>GJ11S7924</a:t>
            </a:r>
            <a:endParaRPr lang="en-US" sz="2200" dirty="0"/>
          </a:p>
        </p:txBody>
      </p:sp>
      <p:sp>
        <p:nvSpPr>
          <p:cNvPr id="29" name="Text 23"/>
          <p:cNvSpPr/>
          <p:nvPr/>
        </p:nvSpPr>
        <p:spPr>
          <a:xfrm>
            <a:off x="6201461" y="3611880"/>
            <a:ext cx="2514600" cy="50292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Read on several frames; kept only when they agree.</a:t>
            </a:r>
            <a:endParaRPr lang="en-US" sz="1250" dirty="0"/>
          </a:p>
        </p:txBody>
      </p:sp>
      <p:sp>
        <p:nvSpPr>
          <p:cNvPr id="30" name="Shape 24"/>
          <p:cNvSpPr/>
          <p:nvPr/>
        </p:nvSpPr>
        <p:spPr>
          <a:xfrm>
            <a:off x="8807501" y="2743200"/>
            <a:ext cx="229514" cy="0"/>
          </a:xfrm>
          <a:prstGeom prst="line">
            <a:avLst/>
          </a:prstGeom>
          <a:noFill/>
          <a:ln w="19050">
            <a:solidFill>
              <a:srgbClr val="8A8F95"/>
            </a:solidFill>
            <a:prstDash val="solid"/>
            <a:tailEnd type="triangle"/>
          </a:ln>
        </p:spPr>
      </p:sp>
      <p:sp>
        <p:nvSpPr>
          <p:cNvPr id="31" name="Shape 25"/>
          <p:cNvSpPr/>
          <p:nvPr/>
        </p:nvSpPr>
        <p:spPr>
          <a:xfrm>
            <a:off x="9146743" y="1517904"/>
            <a:ext cx="365760" cy="365760"/>
          </a:xfrm>
          <a:prstGeom prst="ellipse">
            <a:avLst/>
          </a:prstGeom>
          <a:solidFill>
            <a:srgbClr val="FFB000"/>
          </a:solidFill>
          <a:ln w="15875">
            <a:solidFill>
              <a:srgbClr val="111417"/>
            </a:solidFill>
            <a:prstDash val="solid"/>
          </a:ln>
        </p:spPr>
      </p:sp>
      <p:sp>
        <p:nvSpPr>
          <p:cNvPr id="32" name="Text 26"/>
          <p:cNvSpPr/>
          <p:nvPr/>
        </p:nvSpPr>
        <p:spPr>
          <a:xfrm>
            <a:off x="9146743" y="1517904"/>
            <a:ext cx="365760" cy="365760"/>
          </a:xfrm>
          <a:prstGeom prst="rect">
            <a:avLst/>
          </a:prstGeom>
          <a:noFill/>
          <a:ln/>
        </p:spPr>
        <p:txBody>
          <a:bodyPr wrap="square" lIns="0" tIns="0" rIns="0" bIns="0" rtlCol="0" anchor="ctr"/>
          <a:lstStyle/>
          <a:p>
            <a:pPr algn="ctr" indent="0" marL="0">
              <a:buNone/>
            </a:pPr>
            <a:r>
              <a:rPr lang="en-US" sz="1440" dirty="0">
                <a:solidFill>
                  <a:srgbClr val="111417"/>
                </a:solidFill>
                <a:latin typeface="Franklin Gothic Demi Cond" pitchFamily="34" charset="0"/>
                <a:ea typeface="Franklin Gothic Demi Cond" pitchFamily="34" charset="-122"/>
                <a:cs typeface="Franklin Gothic Demi Cond" pitchFamily="34" charset="-120"/>
              </a:rPr>
              <a:t>4</a:t>
            </a:r>
            <a:endParaRPr lang="en-US" sz="1440" dirty="0"/>
          </a:p>
        </p:txBody>
      </p:sp>
      <p:sp>
        <p:nvSpPr>
          <p:cNvPr id="33" name="Text 27"/>
          <p:cNvSpPr/>
          <p:nvPr/>
        </p:nvSpPr>
        <p:spPr>
          <a:xfrm>
            <a:off x="9603943" y="1554480"/>
            <a:ext cx="2788920" cy="310896"/>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Read the camera’s clock</a:t>
            </a:r>
            <a:endParaRPr lang="en-US" sz="1500" dirty="0"/>
          </a:p>
        </p:txBody>
      </p:sp>
      <p:sp>
        <p:nvSpPr>
          <p:cNvPr id="34" name="Shape 28"/>
          <p:cNvSpPr/>
          <p:nvPr/>
        </p:nvSpPr>
        <p:spPr>
          <a:xfrm>
            <a:off x="9091879" y="1975104"/>
            <a:ext cx="2587752" cy="426266"/>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35" name="Image 3" descr="preencoded.png">    </p:cNvPr>
          <p:cNvPicPr>
            <a:picLocks noChangeAspect="1"/>
          </p:cNvPicPr>
          <p:nvPr/>
        </p:nvPicPr>
        <p:blipFill>
          <a:blip r:embed="rId4"/>
          <a:stretch>
            <a:fillRect/>
          </a:stretch>
        </p:blipFill>
        <p:spPr>
          <a:xfrm>
            <a:off x="9128455" y="2011680"/>
            <a:ext cx="2514600" cy="353114"/>
          </a:xfrm>
          <a:prstGeom prst="rect">
            <a:avLst/>
          </a:prstGeom>
        </p:spPr>
      </p:pic>
      <p:sp>
        <p:nvSpPr>
          <p:cNvPr id="36" name="Text 29"/>
          <p:cNvSpPr/>
          <p:nvPr/>
        </p:nvSpPr>
        <p:spPr>
          <a:xfrm>
            <a:off x="9128455" y="2578608"/>
            <a:ext cx="2514600" cy="365760"/>
          </a:xfrm>
          <a:prstGeom prst="rect">
            <a:avLst/>
          </a:prstGeom>
          <a:noFill/>
          <a:ln/>
        </p:spPr>
        <p:txBody>
          <a:bodyPr wrap="square" lIns="0" tIns="0" rIns="0" bIns="0" rtlCol="0" anchor="t"/>
          <a:lstStyle/>
          <a:p>
            <a:pPr indent="0" marL="0">
              <a:buNone/>
            </a:pPr>
            <a:r>
              <a:rPr lang="en-US" sz="1300" b="1" dirty="0">
                <a:solidFill>
                  <a:srgbClr val="111417"/>
                </a:solidFill>
                <a:latin typeface="Consolas" pitchFamily="34" charset="0"/>
                <a:ea typeface="Consolas" pitchFamily="34" charset="-122"/>
                <a:cs typeface="Consolas" pitchFamily="34" charset="-120"/>
              </a:rPr>
              <a:t>17 Jun 2026 · 18:01:21 IST</a:t>
            </a:r>
            <a:endParaRPr lang="en-US" sz="1300" dirty="0"/>
          </a:p>
        </p:txBody>
      </p:sp>
      <p:sp>
        <p:nvSpPr>
          <p:cNvPr id="37" name="Text 30"/>
          <p:cNvSpPr/>
          <p:nvPr/>
        </p:nvSpPr>
        <p:spPr>
          <a:xfrm>
            <a:off x="9128455" y="2971800"/>
            <a:ext cx="2514600" cy="274320"/>
          </a:xfrm>
          <a:prstGeom prst="rect">
            <a:avLst/>
          </a:prstGeom>
          <a:noFill/>
          <a:ln/>
        </p:spPr>
        <p:txBody>
          <a:bodyPr wrap="square" lIns="0" tIns="0" rIns="0" bIns="0" rtlCol="0" anchor="t"/>
          <a:lstStyle/>
          <a:p>
            <a:pPr indent="0" marL="0">
              <a:buNone/>
            </a:pPr>
            <a:r>
              <a:rPr lang="en-US" sz="1200" dirty="0">
                <a:solidFill>
                  <a:srgbClr val="4C5157"/>
                </a:solidFill>
                <a:latin typeface="Consolas" pitchFamily="34" charset="0"/>
                <a:ea typeface="Consolas" pitchFamily="34" charset="-122"/>
                <a:cs typeface="Consolas" pitchFamily="34" charset="-120"/>
              </a:rPr>
              <a:t>Timbavadi Gate · cam06</a:t>
            </a:r>
            <a:endParaRPr lang="en-US" sz="1200" dirty="0"/>
          </a:p>
        </p:txBody>
      </p:sp>
      <p:sp>
        <p:nvSpPr>
          <p:cNvPr id="38" name="Text 31"/>
          <p:cNvSpPr/>
          <p:nvPr/>
        </p:nvSpPr>
        <p:spPr>
          <a:xfrm>
            <a:off x="9128455" y="3611880"/>
            <a:ext cx="2514600" cy="50292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The time printed on the frame, not when it arrived.</a:t>
            </a:r>
            <a:endParaRPr lang="en-US" sz="1250" dirty="0"/>
          </a:p>
        </p:txBody>
      </p:sp>
      <p:sp>
        <p:nvSpPr>
          <p:cNvPr id="39" name="Shape 32"/>
          <p:cNvSpPr/>
          <p:nvPr/>
        </p:nvSpPr>
        <p:spPr>
          <a:xfrm>
            <a:off x="548640" y="4251960"/>
            <a:ext cx="2567864" cy="1481328"/>
          </a:xfrm>
          <a:prstGeom prst="roundRect">
            <a:avLst>
              <a:gd name="adj" fmla="val 4938"/>
            </a:avLst>
          </a:prstGeom>
          <a:solidFill>
            <a:srgbClr val="FFF4DA"/>
          </a:solidFill>
          <a:ln w="9525">
            <a:solidFill>
              <a:srgbClr val="ECCB78"/>
            </a:solidFill>
            <a:prstDash val="solid"/>
          </a:ln>
        </p:spPr>
      </p:sp>
      <p:sp>
        <p:nvSpPr>
          <p:cNvPr id="40" name="Text 33"/>
          <p:cNvSpPr/>
          <p:nvPr/>
        </p:nvSpPr>
        <p:spPr>
          <a:xfrm>
            <a:off x="777240" y="4343400"/>
            <a:ext cx="2110664" cy="658368"/>
          </a:xfrm>
          <a:prstGeom prst="rect">
            <a:avLst/>
          </a:prstGeom>
          <a:noFill/>
          <a:ln/>
        </p:spPr>
        <p:txBody>
          <a:bodyPr wrap="square" lIns="0" tIns="0" rIns="0" bIns="0" rtlCol="0" anchor="t"/>
          <a:lstStyle/>
          <a:p>
            <a:pPr indent="0" marL="0">
              <a:buNone/>
            </a:pPr>
            <a:r>
              <a:rPr lang="en-US" sz="4000" dirty="0">
                <a:solidFill>
                  <a:srgbClr val="111417"/>
                </a:solidFill>
                <a:latin typeface="Franklin Gothic Demi Cond" pitchFamily="34" charset="0"/>
                <a:ea typeface="Franklin Gothic Demi Cond" pitchFamily="34" charset="-122"/>
                <a:cs typeface="Franklin Gothic Demi Cond" pitchFamily="34" charset="-120"/>
              </a:rPr>
              <a:t>78%</a:t>
            </a:r>
            <a:endParaRPr lang="en-US" sz="4000" dirty="0"/>
          </a:p>
        </p:txBody>
      </p:sp>
      <p:sp>
        <p:nvSpPr>
          <p:cNvPr id="41" name="Text 34"/>
          <p:cNvSpPr/>
          <p:nvPr/>
        </p:nvSpPr>
        <p:spPr>
          <a:xfrm>
            <a:off x="777240" y="5001768"/>
            <a:ext cx="2110664" cy="310896"/>
          </a:xfrm>
          <a:prstGeom prst="rect">
            <a:avLst/>
          </a:prstGeom>
          <a:noFill/>
          <a:ln/>
        </p:spPr>
        <p:txBody>
          <a:bodyPr wrap="square" lIns="0" tIns="0" rIns="0" bIns="0" rtlCol="0" anchor="t"/>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plates read exactly</a:t>
            </a:r>
            <a:endParaRPr lang="en-US" sz="1300" dirty="0"/>
          </a:p>
        </p:txBody>
      </p:sp>
      <p:sp>
        <p:nvSpPr>
          <p:cNvPr id="42" name="Text 35"/>
          <p:cNvSpPr/>
          <p:nvPr/>
        </p:nvSpPr>
        <p:spPr>
          <a:xfrm>
            <a:off x="777240" y="5321808"/>
            <a:ext cx="2110664" cy="329184"/>
          </a:xfrm>
          <a:prstGeom prst="rect">
            <a:avLst/>
          </a:prstGeom>
          <a:noFill/>
          <a:ln/>
        </p:spPr>
        <p:txBody>
          <a:bodyPr wrap="square" lIns="0" tIns="0" rIns="0" bIns="0" rtlCol="0" anchor="t"/>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41 vehicles, after the vote</a:t>
            </a:r>
            <a:endParaRPr lang="en-US" sz="1150" dirty="0"/>
          </a:p>
        </p:txBody>
      </p:sp>
      <p:sp>
        <p:nvSpPr>
          <p:cNvPr id="43" name="Shape 36"/>
          <p:cNvSpPr/>
          <p:nvPr/>
        </p:nvSpPr>
        <p:spPr>
          <a:xfrm>
            <a:off x="3390824" y="4251960"/>
            <a:ext cx="2567864" cy="1481328"/>
          </a:xfrm>
          <a:prstGeom prst="roundRect">
            <a:avLst>
              <a:gd name="adj" fmla="val 4938"/>
            </a:avLst>
          </a:prstGeom>
          <a:solidFill>
            <a:srgbClr val="FBFBF9"/>
          </a:solidFill>
          <a:ln w="9525">
            <a:solidFill>
              <a:srgbClr val="D5D7D2"/>
            </a:solidFill>
            <a:prstDash val="solid"/>
          </a:ln>
        </p:spPr>
      </p:sp>
      <p:sp>
        <p:nvSpPr>
          <p:cNvPr id="44" name="Text 37"/>
          <p:cNvSpPr/>
          <p:nvPr/>
        </p:nvSpPr>
        <p:spPr>
          <a:xfrm>
            <a:off x="3619424" y="4343400"/>
            <a:ext cx="2110664" cy="658368"/>
          </a:xfrm>
          <a:prstGeom prst="rect">
            <a:avLst/>
          </a:prstGeom>
          <a:noFill/>
          <a:ln/>
        </p:spPr>
        <p:txBody>
          <a:bodyPr wrap="square" lIns="0" tIns="0" rIns="0" bIns="0" rtlCol="0" anchor="t"/>
          <a:lstStyle/>
          <a:p>
            <a:pPr indent="0" marL="0">
              <a:buNone/>
            </a:pPr>
            <a:r>
              <a:rPr lang="en-US" sz="4000" dirty="0">
                <a:solidFill>
                  <a:srgbClr val="111417"/>
                </a:solidFill>
                <a:latin typeface="Franklin Gothic Demi Cond" pitchFamily="34" charset="0"/>
                <a:ea typeface="Franklin Gothic Demi Cond" pitchFamily="34" charset="-122"/>
                <a:cs typeface="Franklin Gothic Demi Cond" pitchFamily="34" charset="-120"/>
              </a:rPr>
              <a:t>88%</a:t>
            </a:r>
            <a:endParaRPr lang="en-US" sz="4000" dirty="0"/>
          </a:p>
        </p:txBody>
      </p:sp>
      <p:sp>
        <p:nvSpPr>
          <p:cNvPr id="45" name="Text 38"/>
          <p:cNvSpPr/>
          <p:nvPr/>
        </p:nvSpPr>
        <p:spPr>
          <a:xfrm>
            <a:off x="3619424" y="5001768"/>
            <a:ext cx="2110664" cy="310896"/>
          </a:xfrm>
          <a:prstGeom prst="rect">
            <a:avLst/>
          </a:prstGeom>
          <a:noFill/>
          <a:ln/>
        </p:spPr>
        <p:txBody>
          <a:bodyPr wrap="square" lIns="0" tIns="0" rIns="0" bIns="0" rtlCol="0" anchor="t"/>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plate characters correct</a:t>
            </a:r>
            <a:endParaRPr lang="en-US" sz="1300" dirty="0"/>
          </a:p>
        </p:txBody>
      </p:sp>
      <p:sp>
        <p:nvSpPr>
          <p:cNvPr id="46" name="Text 39"/>
          <p:cNvSpPr/>
          <p:nvPr/>
        </p:nvSpPr>
        <p:spPr>
          <a:xfrm>
            <a:off x="3619424" y="5321808"/>
            <a:ext cx="2110664" cy="329184"/>
          </a:xfrm>
          <a:prstGeom prst="rect">
            <a:avLst/>
          </a:prstGeom>
          <a:noFill/>
          <a:ln/>
        </p:spPr>
        <p:txBody>
          <a:bodyPr wrap="square" lIns="0" tIns="0" rIns="0" bIns="0" rtlCol="0" anchor="t"/>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81 legible plate crops</a:t>
            </a:r>
            <a:endParaRPr lang="en-US" sz="1150" dirty="0"/>
          </a:p>
        </p:txBody>
      </p:sp>
      <p:sp>
        <p:nvSpPr>
          <p:cNvPr id="47" name="Shape 40"/>
          <p:cNvSpPr/>
          <p:nvPr/>
        </p:nvSpPr>
        <p:spPr>
          <a:xfrm>
            <a:off x="6233008" y="4251960"/>
            <a:ext cx="2567864" cy="1481328"/>
          </a:xfrm>
          <a:prstGeom prst="roundRect">
            <a:avLst>
              <a:gd name="adj" fmla="val 4938"/>
            </a:avLst>
          </a:prstGeom>
          <a:solidFill>
            <a:srgbClr val="FBFBF9"/>
          </a:solidFill>
          <a:ln w="9525">
            <a:solidFill>
              <a:srgbClr val="D5D7D2"/>
            </a:solidFill>
            <a:prstDash val="solid"/>
          </a:ln>
        </p:spPr>
      </p:sp>
      <p:sp>
        <p:nvSpPr>
          <p:cNvPr id="48" name="Text 41"/>
          <p:cNvSpPr/>
          <p:nvPr/>
        </p:nvSpPr>
        <p:spPr>
          <a:xfrm>
            <a:off x="6461608" y="4343400"/>
            <a:ext cx="2110664" cy="658368"/>
          </a:xfrm>
          <a:prstGeom prst="rect">
            <a:avLst/>
          </a:prstGeom>
          <a:noFill/>
          <a:ln/>
        </p:spPr>
        <p:txBody>
          <a:bodyPr wrap="square" lIns="0" tIns="0" rIns="0" bIns="0" rtlCol="0" anchor="t"/>
          <a:lstStyle/>
          <a:p>
            <a:pPr indent="0" marL="0">
              <a:buNone/>
            </a:pPr>
            <a:r>
              <a:rPr lang="en-US" sz="4000" dirty="0">
                <a:solidFill>
                  <a:srgbClr val="111417"/>
                </a:solidFill>
                <a:latin typeface="Franklin Gothic Demi Cond" pitchFamily="34" charset="0"/>
                <a:ea typeface="Franklin Gothic Demi Cond" pitchFamily="34" charset="-122"/>
                <a:cs typeface="Franklin Gothic Demi Cond" pitchFamily="34" charset="-120"/>
              </a:rPr>
              <a:t>97.7%</a:t>
            </a:r>
            <a:endParaRPr lang="en-US" sz="4000" dirty="0"/>
          </a:p>
        </p:txBody>
      </p:sp>
      <p:sp>
        <p:nvSpPr>
          <p:cNvPr id="49" name="Text 42"/>
          <p:cNvSpPr/>
          <p:nvPr/>
        </p:nvSpPr>
        <p:spPr>
          <a:xfrm>
            <a:off x="6461608" y="5001768"/>
            <a:ext cx="2110664" cy="310896"/>
          </a:xfrm>
          <a:prstGeom prst="rect">
            <a:avLst/>
          </a:prstGeom>
          <a:noFill/>
          <a:ln/>
        </p:spPr>
        <p:txBody>
          <a:bodyPr wrap="square" lIns="0" tIns="0" rIns="0" bIns="0" rtlCol="0" anchor="t"/>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camera clocks read exactly</a:t>
            </a:r>
            <a:endParaRPr lang="en-US" sz="1300" dirty="0"/>
          </a:p>
        </p:txBody>
      </p:sp>
      <p:sp>
        <p:nvSpPr>
          <p:cNvPr id="50" name="Text 43"/>
          <p:cNvSpPr/>
          <p:nvPr/>
        </p:nvSpPr>
        <p:spPr>
          <a:xfrm>
            <a:off x="6461608" y="5321808"/>
            <a:ext cx="2110664" cy="329184"/>
          </a:xfrm>
          <a:prstGeom prst="rect">
            <a:avLst/>
          </a:prstGeom>
          <a:noFill/>
          <a:ln/>
        </p:spPr>
        <p:txBody>
          <a:bodyPr wrap="square" lIns="0" tIns="0" rIns="0" bIns="0" rtlCol="0" anchor="t"/>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87 legible clocks · none wrong</a:t>
            </a:r>
            <a:endParaRPr lang="en-US" sz="1150" dirty="0"/>
          </a:p>
        </p:txBody>
      </p:sp>
      <p:sp>
        <p:nvSpPr>
          <p:cNvPr id="51" name="Shape 44"/>
          <p:cNvSpPr/>
          <p:nvPr/>
        </p:nvSpPr>
        <p:spPr>
          <a:xfrm>
            <a:off x="9075191" y="4251960"/>
            <a:ext cx="2567864" cy="1481328"/>
          </a:xfrm>
          <a:prstGeom prst="roundRect">
            <a:avLst>
              <a:gd name="adj" fmla="val 4938"/>
            </a:avLst>
          </a:prstGeom>
          <a:solidFill>
            <a:srgbClr val="FBFBF9"/>
          </a:solidFill>
          <a:ln w="9525">
            <a:solidFill>
              <a:srgbClr val="D5D7D2"/>
            </a:solidFill>
            <a:prstDash val="solid"/>
          </a:ln>
        </p:spPr>
      </p:sp>
      <p:sp>
        <p:nvSpPr>
          <p:cNvPr id="52" name="Text 45"/>
          <p:cNvSpPr/>
          <p:nvPr/>
        </p:nvSpPr>
        <p:spPr>
          <a:xfrm>
            <a:off x="9303791" y="4343400"/>
            <a:ext cx="2110664" cy="658368"/>
          </a:xfrm>
          <a:prstGeom prst="rect">
            <a:avLst/>
          </a:prstGeom>
          <a:noFill/>
          <a:ln/>
        </p:spPr>
        <p:txBody>
          <a:bodyPr wrap="square" lIns="0" tIns="0" rIns="0" bIns="0" rtlCol="0" anchor="t"/>
          <a:lstStyle/>
          <a:p>
            <a:pPr indent="0" marL="0">
              <a:buNone/>
            </a:pPr>
            <a:r>
              <a:rPr lang="en-US" sz="4000" dirty="0">
                <a:solidFill>
                  <a:srgbClr val="111417"/>
                </a:solidFill>
                <a:latin typeface="Franklin Gothic Demi Cond" pitchFamily="34" charset="0"/>
                <a:ea typeface="Franklin Gothic Demi Cond" pitchFamily="34" charset="-122"/>
                <a:cs typeface="Franklin Gothic Demi Cond" pitchFamily="34" charset="-120"/>
              </a:rPr>
              <a:t>49 ms</a:t>
            </a:r>
            <a:endParaRPr lang="en-US" sz="4000" dirty="0"/>
          </a:p>
        </p:txBody>
      </p:sp>
      <p:sp>
        <p:nvSpPr>
          <p:cNvPr id="53" name="Text 46"/>
          <p:cNvSpPr/>
          <p:nvPr/>
        </p:nvSpPr>
        <p:spPr>
          <a:xfrm>
            <a:off x="9303791" y="5001768"/>
            <a:ext cx="2110664" cy="310896"/>
          </a:xfrm>
          <a:prstGeom prst="rect">
            <a:avLst/>
          </a:prstGeom>
          <a:noFill/>
          <a:ln/>
        </p:spPr>
        <p:txBody>
          <a:bodyPr wrap="square" lIns="0" tIns="0" rIns="0" bIns="0" rtlCol="0" anchor="t"/>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to find and read a plate</a:t>
            </a:r>
            <a:endParaRPr lang="en-US" sz="1300" dirty="0"/>
          </a:p>
        </p:txBody>
      </p:sp>
      <p:sp>
        <p:nvSpPr>
          <p:cNvPr id="54" name="Text 47"/>
          <p:cNvSpPr/>
          <p:nvPr/>
        </p:nvSpPr>
        <p:spPr>
          <a:xfrm>
            <a:off x="9303791" y="5321808"/>
            <a:ext cx="2110664" cy="329184"/>
          </a:xfrm>
          <a:prstGeom prst="rect">
            <a:avLst/>
          </a:prstGeom>
          <a:noFill/>
          <a:ln/>
        </p:spPr>
        <p:txBody>
          <a:bodyPr wrap="square" lIns="0" tIns="0" rIns="0" bIns="0" rtlCol="0" anchor="t"/>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per crop, on a laptop CPU</a:t>
            </a:r>
            <a:endParaRPr lang="en-US" sz="1150" dirty="0"/>
          </a:p>
        </p:txBody>
      </p:sp>
      <p:sp>
        <p:nvSpPr>
          <p:cNvPr id="55" name="Text 48"/>
          <p:cNvSpPr/>
          <p:nvPr/>
        </p:nvSpPr>
        <p:spPr>
          <a:xfrm>
            <a:off x="548640" y="5897880"/>
            <a:ext cx="110944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Measured on hand-labelled government-grid footage, blind to the OCR. 79 of 160 plate crops were unreadable even to a person and are excluded. 78% is below our own 85% target. evidence/ANPR-ACCURACY.md · evidence/CLOCK-READER-ACCURACY.md</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LIVE · STEP 3 OF 5 · TRACE</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Type the plate. Every sighting, in order.</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07</a:t>
            </a:r>
            <a:endParaRPr lang="en-US" sz="900" dirty="0"/>
          </a:p>
        </p:txBody>
      </p:sp>
      <p:sp>
        <p:nvSpPr>
          <p:cNvPr id="7" name="Shape 4"/>
          <p:cNvSpPr/>
          <p:nvPr/>
        </p:nvSpPr>
        <p:spPr>
          <a:xfrm>
            <a:off x="548640" y="1591056"/>
            <a:ext cx="7799832" cy="3526012"/>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8" name="Image 0" descr="preencoded.png">    </p:cNvPr>
          <p:cNvPicPr>
            <a:picLocks noChangeAspect="1"/>
          </p:cNvPicPr>
          <p:nvPr/>
        </p:nvPicPr>
        <p:blipFill>
          <a:blip r:embed="rId1"/>
          <a:stretch>
            <a:fillRect/>
          </a:stretch>
        </p:blipFill>
        <p:spPr>
          <a:xfrm>
            <a:off x="585216" y="1627632"/>
            <a:ext cx="7726680" cy="3452860"/>
          </a:xfrm>
          <a:prstGeom prst="rect">
            <a:avLst/>
          </a:prstGeom>
        </p:spPr>
      </p:pic>
      <p:sp>
        <p:nvSpPr>
          <p:cNvPr id="9" name="Shape 5"/>
          <p:cNvSpPr/>
          <p:nvPr/>
        </p:nvSpPr>
        <p:spPr>
          <a:xfrm>
            <a:off x="4247388" y="2995946"/>
            <a:ext cx="402336" cy="402336"/>
          </a:xfrm>
          <a:prstGeom prst="ellipse">
            <a:avLst/>
          </a:prstGeom>
          <a:solidFill>
            <a:srgbClr val="FFB000"/>
          </a:solidFill>
          <a:ln w="15875">
            <a:solidFill>
              <a:srgbClr val="111417"/>
            </a:solidFill>
            <a:prstDash val="solid"/>
          </a:ln>
        </p:spPr>
      </p:sp>
      <p:sp>
        <p:nvSpPr>
          <p:cNvPr id="10" name="Text 6"/>
          <p:cNvSpPr/>
          <p:nvPr/>
        </p:nvSpPr>
        <p:spPr>
          <a:xfrm>
            <a:off x="4247388" y="2995946"/>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1</a:t>
            </a:r>
            <a:endParaRPr lang="en-US" sz="1584" dirty="0"/>
          </a:p>
        </p:txBody>
      </p:sp>
      <p:sp>
        <p:nvSpPr>
          <p:cNvPr id="11" name="Shape 7"/>
          <p:cNvSpPr/>
          <p:nvPr/>
        </p:nvSpPr>
        <p:spPr>
          <a:xfrm>
            <a:off x="7627810" y="2344007"/>
            <a:ext cx="402336" cy="402336"/>
          </a:xfrm>
          <a:prstGeom prst="ellipse">
            <a:avLst/>
          </a:prstGeom>
          <a:solidFill>
            <a:srgbClr val="FFB000"/>
          </a:solidFill>
          <a:ln w="15875">
            <a:solidFill>
              <a:srgbClr val="111417"/>
            </a:solidFill>
            <a:prstDash val="solid"/>
          </a:ln>
        </p:spPr>
      </p:sp>
      <p:sp>
        <p:nvSpPr>
          <p:cNvPr id="12" name="Text 8"/>
          <p:cNvSpPr/>
          <p:nvPr/>
        </p:nvSpPr>
        <p:spPr>
          <a:xfrm>
            <a:off x="7627810" y="2344007"/>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2</a:t>
            </a:r>
            <a:endParaRPr lang="en-US" sz="1584" dirty="0"/>
          </a:p>
        </p:txBody>
      </p:sp>
      <p:sp>
        <p:nvSpPr>
          <p:cNvPr id="13" name="Shape 9"/>
          <p:cNvSpPr/>
          <p:nvPr/>
        </p:nvSpPr>
        <p:spPr>
          <a:xfrm>
            <a:off x="1977676" y="3913489"/>
            <a:ext cx="402336" cy="402336"/>
          </a:xfrm>
          <a:prstGeom prst="ellipse">
            <a:avLst/>
          </a:prstGeom>
          <a:solidFill>
            <a:srgbClr val="FFB000"/>
          </a:solidFill>
          <a:ln w="15875">
            <a:solidFill>
              <a:srgbClr val="111417"/>
            </a:solidFill>
            <a:prstDash val="solid"/>
          </a:ln>
        </p:spPr>
      </p:sp>
      <p:sp>
        <p:nvSpPr>
          <p:cNvPr id="14" name="Text 10"/>
          <p:cNvSpPr/>
          <p:nvPr/>
        </p:nvSpPr>
        <p:spPr>
          <a:xfrm>
            <a:off x="1977676" y="3913489"/>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3</a:t>
            </a:r>
            <a:endParaRPr lang="en-US" sz="1584" dirty="0"/>
          </a:p>
        </p:txBody>
      </p:sp>
      <p:sp>
        <p:nvSpPr>
          <p:cNvPr id="15" name="Shape 11"/>
          <p:cNvSpPr/>
          <p:nvPr/>
        </p:nvSpPr>
        <p:spPr>
          <a:xfrm>
            <a:off x="8686800" y="1627632"/>
            <a:ext cx="402336" cy="402336"/>
          </a:xfrm>
          <a:prstGeom prst="ellipse">
            <a:avLst/>
          </a:prstGeom>
          <a:solidFill>
            <a:srgbClr val="FFB000"/>
          </a:solidFill>
          <a:ln w="15875">
            <a:solidFill>
              <a:srgbClr val="111417"/>
            </a:solidFill>
            <a:prstDash val="solid"/>
          </a:ln>
        </p:spPr>
      </p:sp>
      <p:sp>
        <p:nvSpPr>
          <p:cNvPr id="16" name="Text 12"/>
          <p:cNvSpPr/>
          <p:nvPr/>
        </p:nvSpPr>
        <p:spPr>
          <a:xfrm>
            <a:off x="8686800" y="1627632"/>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1</a:t>
            </a:r>
            <a:endParaRPr lang="en-US" sz="1584" dirty="0"/>
          </a:p>
        </p:txBody>
      </p:sp>
      <p:sp>
        <p:nvSpPr>
          <p:cNvPr id="17" name="Text 13"/>
          <p:cNvSpPr/>
          <p:nvPr/>
        </p:nvSpPr>
        <p:spPr>
          <a:xfrm>
            <a:off x="9253728" y="1664208"/>
            <a:ext cx="238932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The camera’s own clock</a:t>
            </a:r>
            <a:endParaRPr lang="en-US" sz="1600" dirty="0"/>
          </a:p>
        </p:txBody>
      </p:sp>
      <p:sp>
        <p:nvSpPr>
          <p:cNvPr id="18" name="Text 14"/>
          <p:cNvSpPr/>
          <p:nvPr/>
        </p:nvSpPr>
        <p:spPr>
          <a:xfrm>
            <a:off x="9253728" y="1981200"/>
            <a:ext cx="2389327" cy="594360"/>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Each stop is timed by the clock printed on its frame — never by when the video arrived.</a:t>
            </a:r>
            <a:endParaRPr lang="en-US" sz="1300" dirty="0"/>
          </a:p>
        </p:txBody>
      </p:sp>
      <p:sp>
        <p:nvSpPr>
          <p:cNvPr id="19" name="Shape 15"/>
          <p:cNvSpPr/>
          <p:nvPr/>
        </p:nvSpPr>
        <p:spPr>
          <a:xfrm>
            <a:off x="8686800" y="2849880"/>
            <a:ext cx="402336" cy="402336"/>
          </a:xfrm>
          <a:prstGeom prst="ellipse">
            <a:avLst/>
          </a:prstGeom>
          <a:solidFill>
            <a:srgbClr val="FFB000"/>
          </a:solidFill>
          <a:ln w="15875">
            <a:solidFill>
              <a:srgbClr val="111417"/>
            </a:solidFill>
            <a:prstDash val="solid"/>
          </a:ln>
        </p:spPr>
      </p:sp>
      <p:sp>
        <p:nvSpPr>
          <p:cNvPr id="20" name="Text 16"/>
          <p:cNvSpPr/>
          <p:nvPr/>
        </p:nvSpPr>
        <p:spPr>
          <a:xfrm>
            <a:off x="8686800" y="2849880"/>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2</a:t>
            </a:r>
            <a:endParaRPr lang="en-US" sz="1584" dirty="0"/>
          </a:p>
        </p:txBody>
      </p:sp>
      <p:sp>
        <p:nvSpPr>
          <p:cNvPr id="21" name="Text 17"/>
          <p:cNvSpPr/>
          <p:nvPr/>
        </p:nvSpPr>
        <p:spPr>
          <a:xfrm>
            <a:off x="9253728" y="2886456"/>
            <a:ext cx="238932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The evidence at every stop</a:t>
            </a:r>
            <a:endParaRPr lang="en-US" sz="1600" dirty="0"/>
          </a:p>
        </p:txBody>
      </p:sp>
      <p:sp>
        <p:nvSpPr>
          <p:cNvPr id="22" name="Text 18"/>
          <p:cNvSpPr/>
          <p:nvPr/>
        </p:nvSpPr>
        <p:spPr>
          <a:xfrm>
            <a:off x="9253728" y="3203448"/>
            <a:ext cx="2389327" cy="594360"/>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The frame, the plate as read, the camera and how the match was made.</a:t>
            </a:r>
            <a:endParaRPr lang="en-US" sz="1300" dirty="0"/>
          </a:p>
        </p:txBody>
      </p:sp>
      <p:sp>
        <p:nvSpPr>
          <p:cNvPr id="23" name="Shape 19"/>
          <p:cNvSpPr/>
          <p:nvPr/>
        </p:nvSpPr>
        <p:spPr>
          <a:xfrm>
            <a:off x="8686800" y="4072128"/>
            <a:ext cx="402336" cy="402336"/>
          </a:xfrm>
          <a:prstGeom prst="ellipse">
            <a:avLst/>
          </a:prstGeom>
          <a:solidFill>
            <a:srgbClr val="FFB000"/>
          </a:solidFill>
          <a:ln w="15875">
            <a:solidFill>
              <a:srgbClr val="111417"/>
            </a:solidFill>
            <a:prstDash val="solid"/>
          </a:ln>
        </p:spPr>
      </p:sp>
      <p:sp>
        <p:nvSpPr>
          <p:cNvPr id="24" name="Text 20"/>
          <p:cNvSpPr/>
          <p:nvPr/>
        </p:nvSpPr>
        <p:spPr>
          <a:xfrm>
            <a:off x="8686800" y="4072128"/>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3</a:t>
            </a:r>
            <a:endParaRPr lang="en-US" sz="1584" dirty="0"/>
          </a:p>
        </p:txBody>
      </p:sp>
      <p:sp>
        <p:nvSpPr>
          <p:cNvPr id="25" name="Text 21"/>
          <p:cNvSpPr/>
          <p:nvPr/>
        </p:nvSpPr>
        <p:spPr>
          <a:xfrm>
            <a:off x="9253728" y="4108704"/>
            <a:ext cx="238932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On the map, in order</a:t>
            </a:r>
            <a:endParaRPr lang="en-US" sz="1600" dirty="0"/>
          </a:p>
        </p:txBody>
      </p:sp>
      <p:sp>
        <p:nvSpPr>
          <p:cNvPr id="26" name="Text 22"/>
          <p:cNvSpPr/>
          <p:nvPr/>
        </p:nvSpPr>
        <p:spPr>
          <a:xfrm>
            <a:off x="9253728" y="4425696"/>
            <a:ext cx="2389327" cy="396240"/>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Numbered stops and a replayable route over 24 h, 48 h or 7 days.</a:t>
            </a:r>
            <a:endParaRPr lang="en-US" sz="1300" dirty="0"/>
          </a:p>
        </p:txBody>
      </p:sp>
      <p:pic>
        <p:nvPicPr>
          <p:cNvPr id="27" name="Image 1" descr="preencoded.png">    </p:cNvPr>
          <p:cNvPicPr>
            <a:picLocks noChangeAspect="1"/>
          </p:cNvPicPr>
          <p:nvPr/>
        </p:nvPicPr>
        <p:blipFill>
          <a:blip r:embed="rId2"/>
          <a:stretch>
            <a:fillRect/>
          </a:stretch>
        </p:blipFill>
        <p:spPr>
          <a:xfrm>
            <a:off x="548640" y="5418820"/>
            <a:ext cx="329184" cy="329184"/>
          </a:xfrm>
          <a:prstGeom prst="rect">
            <a:avLst/>
          </a:prstGeom>
        </p:spPr>
      </p:pic>
      <p:sp>
        <p:nvSpPr>
          <p:cNvPr id="28" name="Text 23"/>
          <p:cNvSpPr/>
          <p:nvPr/>
        </p:nvSpPr>
        <p:spPr>
          <a:xfrm>
            <a:off x="1060704" y="5400532"/>
            <a:ext cx="4897984"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A misread is shown, not hidden</a:t>
            </a:r>
            <a:endParaRPr lang="en-US" sz="1500" dirty="0"/>
          </a:p>
        </p:txBody>
      </p:sp>
      <p:sp>
        <p:nvSpPr>
          <p:cNvPr id="29" name="Text 24"/>
          <p:cNvSpPr/>
          <p:nvPr/>
        </p:nvSpPr>
        <p:spPr>
          <a:xfrm>
            <a:off x="1060704" y="5683996"/>
            <a:ext cx="4897984"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One character off comes back as a dashed “probable” stop, with the plate as read, to confirm by eye.</a:t>
            </a:r>
            <a:endParaRPr lang="en-US" sz="1250" dirty="0"/>
          </a:p>
        </p:txBody>
      </p:sp>
      <p:pic>
        <p:nvPicPr>
          <p:cNvPr id="30" name="Image 2" descr="preencoded.png">    </p:cNvPr>
          <p:cNvPicPr>
            <a:picLocks noChangeAspect="1"/>
          </p:cNvPicPr>
          <p:nvPr/>
        </p:nvPicPr>
        <p:blipFill>
          <a:blip r:embed="rId3"/>
          <a:stretch>
            <a:fillRect/>
          </a:stretch>
        </p:blipFill>
        <p:spPr>
          <a:xfrm>
            <a:off x="6233008" y="5418820"/>
            <a:ext cx="329184" cy="329184"/>
          </a:xfrm>
          <a:prstGeom prst="rect">
            <a:avLst/>
          </a:prstGeom>
        </p:spPr>
      </p:pic>
      <p:sp>
        <p:nvSpPr>
          <p:cNvPr id="31" name="Text 25"/>
          <p:cNvSpPr/>
          <p:nvPr/>
        </p:nvSpPr>
        <p:spPr>
          <a:xfrm>
            <a:off x="6745072" y="5400532"/>
            <a:ext cx="4897984"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An impossible journey is flagged</a:t>
            </a:r>
            <a:endParaRPr lang="en-US" sz="1500" dirty="0"/>
          </a:p>
        </p:txBody>
      </p:sp>
      <p:sp>
        <p:nvSpPr>
          <p:cNvPr id="32" name="Text 26"/>
          <p:cNvSpPr/>
          <p:nvPr/>
        </p:nvSpPr>
        <p:spPr>
          <a:xfrm>
            <a:off x="6745072" y="5683996"/>
            <a:ext cx="4897984"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Two stops more than 150 km/h apart are flagged, not drawn — a cloned plate stands out.</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LIVE · STEP 4 OF 5 · WATCH</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Flagged on every screen the moment it is read</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08</a:t>
            </a:r>
            <a:endParaRPr lang="en-US" sz="900" dirty="0"/>
          </a:p>
        </p:txBody>
      </p:sp>
      <p:sp>
        <p:nvSpPr>
          <p:cNvPr id="7" name="Shape 4"/>
          <p:cNvSpPr/>
          <p:nvPr/>
        </p:nvSpPr>
        <p:spPr>
          <a:xfrm>
            <a:off x="548640" y="1591056"/>
            <a:ext cx="7525512" cy="2939444"/>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8" name="Image 0" descr="preencoded.png">    </p:cNvPr>
          <p:cNvPicPr>
            <a:picLocks noChangeAspect="1"/>
          </p:cNvPicPr>
          <p:nvPr/>
        </p:nvPicPr>
        <p:blipFill>
          <a:blip r:embed="rId1"/>
          <a:stretch>
            <a:fillRect/>
          </a:stretch>
        </p:blipFill>
        <p:spPr>
          <a:xfrm>
            <a:off x="585216" y="1627632"/>
            <a:ext cx="7452360" cy="2866292"/>
          </a:xfrm>
          <a:prstGeom prst="rect">
            <a:avLst/>
          </a:prstGeom>
        </p:spPr>
      </p:pic>
      <p:sp>
        <p:nvSpPr>
          <p:cNvPr id="9" name="Shape 5"/>
          <p:cNvSpPr/>
          <p:nvPr/>
        </p:nvSpPr>
        <p:spPr>
          <a:xfrm>
            <a:off x="431820" y="2415335"/>
            <a:ext cx="402336" cy="402336"/>
          </a:xfrm>
          <a:prstGeom prst="ellipse">
            <a:avLst/>
          </a:prstGeom>
          <a:solidFill>
            <a:srgbClr val="FFB000"/>
          </a:solidFill>
          <a:ln w="15875">
            <a:solidFill>
              <a:srgbClr val="111417"/>
            </a:solidFill>
            <a:prstDash val="solid"/>
          </a:ln>
        </p:spPr>
      </p:sp>
      <p:sp>
        <p:nvSpPr>
          <p:cNvPr id="10" name="Text 6"/>
          <p:cNvSpPr/>
          <p:nvPr/>
        </p:nvSpPr>
        <p:spPr>
          <a:xfrm>
            <a:off x="431820" y="2415335"/>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1</a:t>
            </a:r>
            <a:endParaRPr lang="en-US" sz="1584" dirty="0"/>
          </a:p>
        </p:txBody>
      </p:sp>
      <p:sp>
        <p:nvSpPr>
          <p:cNvPr id="11" name="Shape 7"/>
          <p:cNvSpPr/>
          <p:nvPr/>
        </p:nvSpPr>
        <p:spPr>
          <a:xfrm>
            <a:off x="7716979" y="2811839"/>
            <a:ext cx="402336" cy="402336"/>
          </a:xfrm>
          <a:prstGeom prst="ellipse">
            <a:avLst/>
          </a:prstGeom>
          <a:solidFill>
            <a:srgbClr val="FFB000"/>
          </a:solidFill>
          <a:ln w="15875">
            <a:solidFill>
              <a:srgbClr val="111417"/>
            </a:solidFill>
            <a:prstDash val="solid"/>
          </a:ln>
        </p:spPr>
      </p:sp>
      <p:sp>
        <p:nvSpPr>
          <p:cNvPr id="12" name="Text 8"/>
          <p:cNvSpPr/>
          <p:nvPr/>
        </p:nvSpPr>
        <p:spPr>
          <a:xfrm>
            <a:off x="7716979" y="2811839"/>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2</a:t>
            </a:r>
            <a:endParaRPr lang="en-US" sz="1584" dirty="0"/>
          </a:p>
        </p:txBody>
      </p:sp>
      <p:sp>
        <p:nvSpPr>
          <p:cNvPr id="13" name="Shape 9"/>
          <p:cNvSpPr/>
          <p:nvPr/>
        </p:nvSpPr>
        <p:spPr>
          <a:xfrm>
            <a:off x="4817247" y="2200363"/>
            <a:ext cx="402336" cy="402336"/>
          </a:xfrm>
          <a:prstGeom prst="ellipse">
            <a:avLst/>
          </a:prstGeom>
          <a:solidFill>
            <a:srgbClr val="FFB000"/>
          </a:solidFill>
          <a:ln w="15875">
            <a:solidFill>
              <a:srgbClr val="111417"/>
            </a:solidFill>
            <a:prstDash val="solid"/>
          </a:ln>
        </p:spPr>
      </p:sp>
      <p:sp>
        <p:nvSpPr>
          <p:cNvPr id="14" name="Text 10"/>
          <p:cNvSpPr/>
          <p:nvPr/>
        </p:nvSpPr>
        <p:spPr>
          <a:xfrm>
            <a:off x="4817247" y="2200363"/>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3</a:t>
            </a:r>
            <a:endParaRPr lang="en-US" sz="1584" dirty="0"/>
          </a:p>
        </p:txBody>
      </p:sp>
      <p:sp>
        <p:nvSpPr>
          <p:cNvPr id="15" name="Shape 11"/>
          <p:cNvSpPr/>
          <p:nvPr/>
        </p:nvSpPr>
        <p:spPr>
          <a:xfrm>
            <a:off x="8412480" y="1627632"/>
            <a:ext cx="402336" cy="402336"/>
          </a:xfrm>
          <a:prstGeom prst="ellipse">
            <a:avLst/>
          </a:prstGeom>
          <a:solidFill>
            <a:srgbClr val="FFB000"/>
          </a:solidFill>
          <a:ln w="15875">
            <a:solidFill>
              <a:srgbClr val="111417"/>
            </a:solidFill>
            <a:prstDash val="solid"/>
          </a:ln>
        </p:spPr>
      </p:sp>
      <p:sp>
        <p:nvSpPr>
          <p:cNvPr id="16" name="Text 12"/>
          <p:cNvSpPr/>
          <p:nvPr/>
        </p:nvSpPr>
        <p:spPr>
          <a:xfrm>
            <a:off x="8412480" y="1627632"/>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1</a:t>
            </a:r>
            <a:endParaRPr lang="en-US" sz="1584" dirty="0"/>
          </a:p>
        </p:txBody>
      </p:sp>
      <p:sp>
        <p:nvSpPr>
          <p:cNvPr id="17" name="Text 13"/>
          <p:cNvSpPr/>
          <p:nvPr/>
        </p:nvSpPr>
        <p:spPr>
          <a:xfrm>
            <a:off x="8979408" y="1664208"/>
            <a:ext cx="266364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One row per vehicle, ranked</a:t>
            </a:r>
            <a:endParaRPr lang="en-US" sz="1600" dirty="0"/>
          </a:p>
        </p:txBody>
      </p:sp>
      <p:sp>
        <p:nvSpPr>
          <p:cNvPr id="18" name="Text 14"/>
          <p:cNvSpPr/>
          <p:nvPr/>
        </p:nvSpPr>
        <p:spPr>
          <a:xfrm>
            <a:off x="8979408" y="1981200"/>
            <a:ext cx="2663647" cy="594360"/>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Lit amber until someone acts; a banner and a sound on every open console and phone.</a:t>
            </a:r>
            <a:endParaRPr lang="en-US" sz="1300" dirty="0"/>
          </a:p>
        </p:txBody>
      </p:sp>
      <p:sp>
        <p:nvSpPr>
          <p:cNvPr id="19" name="Shape 15"/>
          <p:cNvSpPr/>
          <p:nvPr/>
        </p:nvSpPr>
        <p:spPr>
          <a:xfrm>
            <a:off x="8412480" y="2849880"/>
            <a:ext cx="402336" cy="402336"/>
          </a:xfrm>
          <a:prstGeom prst="ellipse">
            <a:avLst/>
          </a:prstGeom>
          <a:solidFill>
            <a:srgbClr val="FFB000"/>
          </a:solidFill>
          <a:ln w="15875">
            <a:solidFill>
              <a:srgbClr val="111417"/>
            </a:solidFill>
            <a:prstDash val="solid"/>
          </a:ln>
        </p:spPr>
      </p:sp>
      <p:sp>
        <p:nvSpPr>
          <p:cNvPr id="20" name="Text 16"/>
          <p:cNvSpPr/>
          <p:nvPr/>
        </p:nvSpPr>
        <p:spPr>
          <a:xfrm>
            <a:off x="8412480" y="2849880"/>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2</a:t>
            </a:r>
            <a:endParaRPr lang="en-US" sz="1584" dirty="0"/>
          </a:p>
        </p:txBody>
      </p:sp>
      <p:sp>
        <p:nvSpPr>
          <p:cNvPr id="21" name="Text 17"/>
          <p:cNvSpPr/>
          <p:nvPr/>
        </p:nvSpPr>
        <p:spPr>
          <a:xfrm>
            <a:off x="8979408" y="2886456"/>
            <a:ext cx="266364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Evidence before action</a:t>
            </a:r>
            <a:endParaRPr lang="en-US" sz="1600" dirty="0"/>
          </a:p>
        </p:txBody>
      </p:sp>
      <p:sp>
        <p:nvSpPr>
          <p:cNvPr id="22" name="Text 18"/>
          <p:cNvSpPr/>
          <p:nvPr/>
        </p:nvSpPr>
        <p:spPr>
          <a:xfrm>
            <a:off x="8979408" y="3203448"/>
            <a:ext cx="2663647" cy="396240"/>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The frame, the camera and the time printed on it — before anyone acts.</a:t>
            </a:r>
            <a:endParaRPr lang="en-US" sz="1300" dirty="0"/>
          </a:p>
        </p:txBody>
      </p:sp>
      <p:sp>
        <p:nvSpPr>
          <p:cNvPr id="23" name="Shape 19"/>
          <p:cNvSpPr/>
          <p:nvPr/>
        </p:nvSpPr>
        <p:spPr>
          <a:xfrm>
            <a:off x="8412480" y="3874008"/>
            <a:ext cx="402336" cy="402336"/>
          </a:xfrm>
          <a:prstGeom prst="ellipse">
            <a:avLst/>
          </a:prstGeom>
          <a:solidFill>
            <a:srgbClr val="FFB000"/>
          </a:solidFill>
          <a:ln w="15875">
            <a:solidFill>
              <a:srgbClr val="111417"/>
            </a:solidFill>
            <a:prstDash val="solid"/>
          </a:ln>
        </p:spPr>
      </p:sp>
      <p:sp>
        <p:nvSpPr>
          <p:cNvPr id="24" name="Text 20"/>
          <p:cNvSpPr/>
          <p:nvPr/>
        </p:nvSpPr>
        <p:spPr>
          <a:xfrm>
            <a:off x="8412480" y="3874008"/>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3</a:t>
            </a:r>
            <a:endParaRPr lang="en-US" sz="1584" dirty="0"/>
          </a:p>
        </p:txBody>
      </p:sp>
      <p:sp>
        <p:nvSpPr>
          <p:cNvPr id="25" name="Text 21"/>
          <p:cNvSpPr/>
          <p:nvPr/>
        </p:nvSpPr>
        <p:spPr>
          <a:xfrm>
            <a:off x="8979408" y="3910584"/>
            <a:ext cx="266364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Every action on the record</a:t>
            </a:r>
            <a:endParaRPr lang="en-US" sz="1600" dirty="0"/>
          </a:p>
        </p:txBody>
      </p:sp>
      <p:sp>
        <p:nvSpPr>
          <p:cNvPr id="26" name="Text 22"/>
          <p:cNvSpPr/>
          <p:nvPr/>
        </p:nvSpPr>
        <p:spPr>
          <a:xfrm>
            <a:off x="8979408" y="4227576"/>
            <a:ext cx="2663647" cy="594360"/>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Acknowledge, resolve or “not this vehicle” — each one in the audit log.</a:t>
            </a:r>
            <a:endParaRPr lang="en-US" sz="1300" dirty="0"/>
          </a:p>
        </p:txBody>
      </p:sp>
      <p:sp>
        <p:nvSpPr>
          <p:cNvPr id="27" name="Shape 23"/>
          <p:cNvSpPr/>
          <p:nvPr/>
        </p:nvSpPr>
        <p:spPr>
          <a:xfrm>
            <a:off x="548640" y="4813964"/>
            <a:ext cx="7452360" cy="914400"/>
          </a:xfrm>
          <a:prstGeom prst="roundRect">
            <a:avLst>
              <a:gd name="adj" fmla="val 8000"/>
            </a:avLst>
          </a:prstGeom>
          <a:solidFill>
            <a:srgbClr val="F3F4F0"/>
          </a:solidFill>
          <a:ln w="9525">
            <a:solidFill>
              <a:srgbClr val="D5D7D2"/>
            </a:solidFill>
            <a:prstDash val="solid"/>
          </a:ln>
        </p:spPr>
      </p:sp>
      <p:pic>
        <p:nvPicPr>
          <p:cNvPr id="28" name="Image 1" descr="preencoded.png">    </p:cNvPr>
          <p:cNvPicPr>
            <a:picLocks noChangeAspect="1"/>
          </p:cNvPicPr>
          <p:nvPr/>
        </p:nvPicPr>
        <p:blipFill>
          <a:blip r:embed="rId2"/>
          <a:stretch>
            <a:fillRect/>
          </a:stretch>
        </p:blipFill>
        <p:spPr>
          <a:xfrm>
            <a:off x="777240" y="5106572"/>
            <a:ext cx="329184" cy="329184"/>
          </a:xfrm>
          <a:prstGeom prst="rect">
            <a:avLst/>
          </a:prstGeom>
        </p:spPr>
      </p:pic>
      <p:sp>
        <p:nvSpPr>
          <p:cNvPr id="29" name="Text 24"/>
          <p:cNvSpPr/>
          <p:nvPr/>
        </p:nvSpPr>
        <p:spPr>
          <a:xfrm>
            <a:off x="1280160" y="4941980"/>
            <a:ext cx="3017520" cy="292608"/>
          </a:xfrm>
          <a:prstGeom prst="rect">
            <a:avLst/>
          </a:prstGeom>
          <a:noFill/>
          <a:ln/>
        </p:spPr>
        <p:txBody>
          <a:bodyPr wrap="square" lIns="0" tIns="0" rIns="0" bIns="0" rtlCol="0" anchor="t"/>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It catches the camera’s misreads</a:t>
            </a:r>
            <a:endParaRPr lang="en-US" sz="1400" dirty="0"/>
          </a:p>
        </p:txBody>
      </p:sp>
      <p:sp>
        <p:nvSpPr>
          <p:cNvPr id="30" name="Text 25"/>
          <p:cNvSpPr/>
          <p:nvPr/>
        </p:nvSpPr>
        <p:spPr>
          <a:xfrm>
            <a:off x="1280160" y="5252876"/>
            <a:ext cx="3108960" cy="411480"/>
          </a:xfrm>
          <a:prstGeom prst="rect">
            <a:avLst/>
          </a:prstGeom>
          <a:noFill/>
          <a:ln/>
        </p:spPr>
        <p:txBody>
          <a:bodyPr wrap="square" lIns="0" tIns="0" rIns="0" bIns="0" rtlCol="0" anchor="t"/>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One car at Timbavadi Gate, read both ways today. Either read raises the alert.</a:t>
            </a:r>
            <a:endParaRPr lang="en-US" sz="1150" dirty="0"/>
          </a:p>
        </p:txBody>
      </p:sp>
      <p:sp>
        <p:nvSpPr>
          <p:cNvPr id="31" name="Shape 26"/>
          <p:cNvSpPr/>
          <p:nvPr/>
        </p:nvSpPr>
        <p:spPr>
          <a:xfrm>
            <a:off x="4617720" y="5088284"/>
            <a:ext cx="1428496" cy="314960"/>
          </a:xfrm>
          <a:prstGeom prst="roundRect">
            <a:avLst>
              <a:gd name="adj" fmla="val 14516"/>
            </a:avLst>
          </a:prstGeom>
          <a:solidFill>
            <a:srgbClr val="111417"/>
          </a:solidFill>
          <a:ln w="12700">
            <a:solidFill>
              <a:srgbClr val="111417"/>
            </a:solidFill>
            <a:prstDash val="solid"/>
          </a:ln>
        </p:spPr>
      </p:sp>
      <p:sp>
        <p:nvSpPr>
          <p:cNvPr id="32" name="Text 27"/>
          <p:cNvSpPr/>
          <p:nvPr/>
        </p:nvSpPr>
        <p:spPr>
          <a:xfrm>
            <a:off x="4617720" y="5088284"/>
            <a:ext cx="1428496" cy="314960"/>
          </a:xfrm>
          <a:prstGeom prst="rect">
            <a:avLst/>
          </a:prstGeom>
          <a:noFill/>
          <a:ln/>
        </p:spPr>
        <p:txBody>
          <a:bodyPr wrap="square" lIns="0" tIns="0" rIns="0" bIns="0" rtlCol="0" anchor="ctr"/>
          <a:lstStyle/>
          <a:p>
            <a:pPr algn="ctr" indent="0" marL="0">
              <a:buNone/>
            </a:pPr>
            <a:r>
              <a:rPr lang="en-US" sz="1600" b="1" dirty="0">
                <a:solidFill>
                  <a:srgbClr val="FFFFFF"/>
                </a:solidFill>
                <a:latin typeface="Consolas" pitchFamily="34" charset="0"/>
                <a:ea typeface="Consolas" pitchFamily="34" charset="-122"/>
                <a:cs typeface="Consolas" pitchFamily="34" charset="-120"/>
              </a:rPr>
              <a:t>GJ11CD8889</a:t>
            </a:r>
            <a:endParaRPr lang="en-US" sz="1600" dirty="0"/>
          </a:p>
        </p:txBody>
      </p:sp>
      <p:sp>
        <p:nvSpPr>
          <p:cNvPr id="33" name="Text 28"/>
          <p:cNvSpPr/>
          <p:nvPr/>
        </p:nvSpPr>
        <p:spPr>
          <a:xfrm>
            <a:off x="6091936" y="5088284"/>
            <a:ext cx="320040" cy="356616"/>
          </a:xfrm>
          <a:prstGeom prst="rect">
            <a:avLst/>
          </a:prstGeom>
          <a:noFill/>
          <a:ln/>
        </p:spPr>
        <p:txBody>
          <a:bodyPr wrap="square" lIns="0" tIns="0" rIns="0" bIns="0" rtlCol="0" anchor="ctr"/>
          <a:lstStyle/>
          <a:p>
            <a:pPr algn="ctr" indent="0" marL="0">
              <a:buNone/>
            </a:pPr>
            <a:r>
              <a:rPr lang="en-US" sz="1800" dirty="0">
                <a:solidFill>
                  <a:srgbClr val="111417"/>
                </a:solidFill>
                <a:latin typeface="Franklin Gothic Demi" pitchFamily="34" charset="0"/>
                <a:ea typeface="Franklin Gothic Demi" pitchFamily="34" charset="-122"/>
                <a:cs typeface="Franklin Gothic Demi" pitchFamily="34" charset="-120"/>
              </a:rPr>
              <a:t>≈</a:t>
            </a:r>
            <a:endParaRPr lang="en-US" sz="1800" dirty="0"/>
          </a:p>
        </p:txBody>
      </p:sp>
      <p:sp>
        <p:nvSpPr>
          <p:cNvPr id="34" name="Shape 29"/>
          <p:cNvSpPr/>
          <p:nvPr/>
        </p:nvSpPr>
        <p:spPr>
          <a:xfrm>
            <a:off x="6457696" y="5088284"/>
            <a:ext cx="1428496" cy="314960"/>
          </a:xfrm>
          <a:prstGeom prst="roundRect">
            <a:avLst>
              <a:gd name="adj" fmla="val 14516"/>
            </a:avLst>
          </a:prstGeom>
          <a:solidFill>
            <a:srgbClr val="111417"/>
          </a:solidFill>
          <a:ln w="12700">
            <a:solidFill>
              <a:srgbClr val="111417"/>
            </a:solidFill>
            <a:prstDash val="solid"/>
          </a:ln>
        </p:spPr>
      </p:sp>
      <p:sp>
        <p:nvSpPr>
          <p:cNvPr id="35" name="Text 30"/>
          <p:cNvSpPr/>
          <p:nvPr/>
        </p:nvSpPr>
        <p:spPr>
          <a:xfrm>
            <a:off x="6457696" y="5088284"/>
            <a:ext cx="1428496" cy="314960"/>
          </a:xfrm>
          <a:prstGeom prst="rect">
            <a:avLst/>
          </a:prstGeom>
          <a:noFill/>
          <a:ln/>
        </p:spPr>
        <p:txBody>
          <a:bodyPr wrap="square" lIns="0" tIns="0" rIns="0" bIns="0" rtlCol="0" anchor="ctr"/>
          <a:lstStyle/>
          <a:p>
            <a:pPr algn="ctr" indent="0" marL="0">
              <a:buNone/>
            </a:pPr>
            <a:r>
              <a:rPr lang="en-US" sz="1600" b="1" dirty="0">
                <a:solidFill>
                  <a:srgbClr val="FFFFFF"/>
                </a:solidFill>
                <a:latin typeface="Consolas" pitchFamily="34" charset="0"/>
                <a:ea typeface="Consolas" pitchFamily="34" charset="-122"/>
                <a:cs typeface="Consolas" pitchFamily="34" charset="-120"/>
              </a:rPr>
              <a:t>GJ11CDB889</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LIVE · STEP 5 OF 5 · HAND OVER</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A report that holds up</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09</a:t>
            </a:r>
            <a:endParaRPr lang="en-US" sz="900" dirty="0"/>
          </a:p>
        </p:txBody>
      </p:sp>
      <p:sp>
        <p:nvSpPr>
          <p:cNvPr id="7" name="Shape 4"/>
          <p:cNvSpPr/>
          <p:nvPr/>
        </p:nvSpPr>
        <p:spPr>
          <a:xfrm>
            <a:off x="548640" y="1609344"/>
            <a:ext cx="5879592" cy="3363697"/>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8" name="Image 0" descr="preencoded.png">    </p:cNvPr>
          <p:cNvPicPr>
            <a:picLocks noChangeAspect="1"/>
          </p:cNvPicPr>
          <p:nvPr/>
        </p:nvPicPr>
        <p:blipFill>
          <a:blip r:embed="rId1"/>
          <a:stretch>
            <a:fillRect/>
          </a:stretch>
        </p:blipFill>
        <p:spPr>
          <a:xfrm>
            <a:off x="585216" y="1645920"/>
            <a:ext cx="5806440" cy="3290545"/>
          </a:xfrm>
          <a:prstGeom prst="rect">
            <a:avLst/>
          </a:prstGeom>
        </p:spPr>
      </p:pic>
      <p:sp>
        <p:nvSpPr>
          <p:cNvPr id="9" name="Shape 5"/>
          <p:cNvSpPr/>
          <p:nvPr/>
        </p:nvSpPr>
        <p:spPr>
          <a:xfrm>
            <a:off x="6812280" y="1645920"/>
            <a:ext cx="4830775" cy="1783080"/>
          </a:xfrm>
          <a:prstGeom prst="roundRect">
            <a:avLst>
              <a:gd name="adj" fmla="val 4103"/>
            </a:avLst>
          </a:prstGeom>
          <a:solidFill>
            <a:srgbClr val="111417"/>
          </a:solidFill>
          <a:ln w="9525">
            <a:solidFill>
              <a:srgbClr val="111417"/>
            </a:solidFill>
            <a:prstDash val="solid"/>
          </a:ln>
        </p:spPr>
      </p:sp>
      <p:sp>
        <p:nvSpPr>
          <p:cNvPr id="10" name="Text 6"/>
          <p:cNvSpPr/>
          <p:nvPr/>
        </p:nvSpPr>
        <p:spPr>
          <a:xfrm>
            <a:off x="7040880" y="1755648"/>
            <a:ext cx="4373575" cy="274320"/>
          </a:xfrm>
          <a:prstGeom prst="rect">
            <a:avLst/>
          </a:prstGeom>
          <a:noFill/>
          <a:ln/>
        </p:spPr>
        <p:txBody>
          <a:bodyPr wrap="square" lIns="0" tIns="0" rIns="0" bIns="0" rtlCol="0" anchor="t"/>
          <a:lstStyle/>
          <a:p>
            <a:pPr indent="0" marL="0">
              <a:buNone/>
            </a:pPr>
            <a:r>
              <a:rPr lang="en-US" sz="1200" b="1" dirty="0">
                <a:solidFill>
                  <a:srgbClr val="FFB000"/>
                </a:solidFill>
                <a:latin typeface="Consolas" pitchFamily="34" charset="0"/>
                <a:ea typeface="Consolas" pitchFamily="34" charset="-122"/>
                <a:cs typeface="Consolas" pitchFamily="34" charset="-120"/>
              </a:rPr>
              <a:t>manifest.json</a:t>
            </a:r>
            <a:endParaRPr lang="en-US" sz="1200" dirty="0"/>
          </a:p>
        </p:txBody>
      </p:sp>
      <p:sp>
        <p:nvSpPr>
          <p:cNvPr id="11" name="Text 7"/>
          <p:cNvSpPr/>
          <p:nvPr/>
        </p:nvSpPr>
        <p:spPr>
          <a:xfrm>
            <a:off x="7040880" y="2103120"/>
            <a:ext cx="1920240" cy="274320"/>
          </a:xfrm>
          <a:prstGeom prst="rect">
            <a:avLst/>
          </a:prstGeom>
          <a:noFill/>
          <a:ln/>
        </p:spPr>
        <p:txBody>
          <a:bodyPr wrap="square" lIns="0" tIns="0" rIns="0" bIns="0" rtlCol="0" anchor="t"/>
          <a:lstStyle/>
          <a:p>
            <a:pPr indent="0" marL="0">
              <a:buNone/>
            </a:pPr>
            <a:r>
              <a:rPr lang="en-US" sz="1100" dirty="0">
                <a:solidFill>
                  <a:srgbClr val="A9AFB5"/>
                </a:solidFill>
                <a:latin typeface="Consolas" pitchFamily="34" charset="0"/>
                <a:ea typeface="Consolas" pitchFamily="34" charset="-122"/>
                <a:cs typeface="Consolas" pitchFamily="34" charset="-120"/>
              </a:rPr>
              <a:t>evidence/hop-01.jpg</a:t>
            </a:r>
            <a:endParaRPr lang="en-US" sz="1100" dirty="0"/>
          </a:p>
        </p:txBody>
      </p:sp>
      <p:sp>
        <p:nvSpPr>
          <p:cNvPr id="12" name="Text 8"/>
          <p:cNvSpPr/>
          <p:nvPr/>
        </p:nvSpPr>
        <p:spPr>
          <a:xfrm>
            <a:off x="8961120" y="2103120"/>
            <a:ext cx="2453335" cy="274320"/>
          </a:xfrm>
          <a:prstGeom prst="rect">
            <a:avLst/>
          </a:prstGeom>
          <a:noFill/>
          <a:ln/>
        </p:spPr>
        <p:txBody>
          <a:bodyPr wrap="square" lIns="0" tIns="0" rIns="0" bIns="0" rtlCol="0" anchor="t"/>
          <a:lstStyle/>
          <a:p>
            <a:pPr indent="0" marL="0">
              <a:buNone/>
            </a:pPr>
            <a:r>
              <a:rPr lang="en-US" sz="1100" dirty="0">
                <a:solidFill>
                  <a:srgbClr val="EEF0EC"/>
                </a:solidFill>
                <a:latin typeface="Consolas" pitchFamily="34" charset="0"/>
                <a:ea typeface="Consolas" pitchFamily="34" charset="-122"/>
                <a:cs typeface="Consolas" pitchFamily="34" charset="-120"/>
              </a:rPr>
              <a:t>39df8b2b1437e230…</a:t>
            </a:r>
            <a:endParaRPr lang="en-US" sz="1100" dirty="0"/>
          </a:p>
        </p:txBody>
      </p:sp>
      <p:sp>
        <p:nvSpPr>
          <p:cNvPr id="13" name="Text 9"/>
          <p:cNvSpPr/>
          <p:nvPr/>
        </p:nvSpPr>
        <p:spPr>
          <a:xfrm>
            <a:off x="7040880" y="2414016"/>
            <a:ext cx="1920240" cy="274320"/>
          </a:xfrm>
          <a:prstGeom prst="rect">
            <a:avLst/>
          </a:prstGeom>
          <a:noFill/>
          <a:ln/>
        </p:spPr>
        <p:txBody>
          <a:bodyPr wrap="square" lIns="0" tIns="0" rIns="0" bIns="0" rtlCol="0" anchor="t"/>
          <a:lstStyle/>
          <a:p>
            <a:pPr indent="0" marL="0">
              <a:buNone/>
            </a:pPr>
            <a:r>
              <a:rPr lang="en-US" sz="1100" dirty="0">
                <a:solidFill>
                  <a:srgbClr val="A9AFB5"/>
                </a:solidFill>
                <a:latin typeface="Consolas" pitchFamily="34" charset="0"/>
                <a:ea typeface="Consolas" pitchFamily="34" charset="-122"/>
                <a:cs typeface="Consolas" pitchFamily="34" charset="-120"/>
              </a:rPr>
              <a:t>report.csv</a:t>
            </a:r>
            <a:endParaRPr lang="en-US" sz="1100" dirty="0"/>
          </a:p>
        </p:txBody>
      </p:sp>
      <p:sp>
        <p:nvSpPr>
          <p:cNvPr id="14" name="Text 10"/>
          <p:cNvSpPr/>
          <p:nvPr/>
        </p:nvSpPr>
        <p:spPr>
          <a:xfrm>
            <a:off x="8961120" y="2414016"/>
            <a:ext cx="2453335" cy="274320"/>
          </a:xfrm>
          <a:prstGeom prst="rect">
            <a:avLst/>
          </a:prstGeom>
          <a:noFill/>
          <a:ln/>
        </p:spPr>
        <p:txBody>
          <a:bodyPr wrap="square" lIns="0" tIns="0" rIns="0" bIns="0" rtlCol="0" anchor="t"/>
          <a:lstStyle/>
          <a:p>
            <a:pPr indent="0" marL="0">
              <a:buNone/>
            </a:pPr>
            <a:r>
              <a:rPr lang="en-US" sz="1100" dirty="0">
                <a:solidFill>
                  <a:srgbClr val="EEF0EC"/>
                </a:solidFill>
                <a:latin typeface="Consolas" pitchFamily="34" charset="0"/>
                <a:ea typeface="Consolas" pitchFamily="34" charset="-122"/>
                <a:cs typeface="Consolas" pitchFamily="34" charset="-120"/>
              </a:rPr>
              <a:t>cde7918bc28b314a…</a:t>
            </a:r>
            <a:endParaRPr lang="en-US" sz="1100" dirty="0"/>
          </a:p>
        </p:txBody>
      </p:sp>
      <p:sp>
        <p:nvSpPr>
          <p:cNvPr id="15" name="Text 11"/>
          <p:cNvSpPr/>
          <p:nvPr/>
        </p:nvSpPr>
        <p:spPr>
          <a:xfrm>
            <a:off x="7040880" y="2724912"/>
            <a:ext cx="1920240" cy="274320"/>
          </a:xfrm>
          <a:prstGeom prst="rect">
            <a:avLst/>
          </a:prstGeom>
          <a:noFill/>
          <a:ln/>
        </p:spPr>
        <p:txBody>
          <a:bodyPr wrap="square" lIns="0" tIns="0" rIns="0" bIns="0" rtlCol="0" anchor="t"/>
          <a:lstStyle/>
          <a:p>
            <a:pPr indent="0" marL="0">
              <a:buNone/>
            </a:pPr>
            <a:r>
              <a:rPr lang="en-US" sz="1100" dirty="0">
                <a:solidFill>
                  <a:srgbClr val="A9AFB5"/>
                </a:solidFill>
                <a:latin typeface="Consolas" pitchFamily="34" charset="0"/>
                <a:ea typeface="Consolas" pitchFamily="34" charset="-122"/>
                <a:cs typeface="Consolas" pitchFamily="34" charset="-120"/>
              </a:rPr>
              <a:t>report.pdf</a:t>
            </a:r>
            <a:endParaRPr lang="en-US" sz="1100" dirty="0"/>
          </a:p>
        </p:txBody>
      </p:sp>
      <p:sp>
        <p:nvSpPr>
          <p:cNvPr id="16" name="Text 12"/>
          <p:cNvSpPr/>
          <p:nvPr/>
        </p:nvSpPr>
        <p:spPr>
          <a:xfrm>
            <a:off x="8961120" y="2724912"/>
            <a:ext cx="2453335" cy="274320"/>
          </a:xfrm>
          <a:prstGeom prst="rect">
            <a:avLst/>
          </a:prstGeom>
          <a:noFill/>
          <a:ln/>
        </p:spPr>
        <p:txBody>
          <a:bodyPr wrap="square" lIns="0" tIns="0" rIns="0" bIns="0" rtlCol="0" anchor="t"/>
          <a:lstStyle/>
          <a:p>
            <a:pPr indent="0" marL="0">
              <a:buNone/>
            </a:pPr>
            <a:r>
              <a:rPr lang="en-US" sz="1100" dirty="0">
                <a:solidFill>
                  <a:srgbClr val="EEF0EC"/>
                </a:solidFill>
                <a:latin typeface="Consolas" pitchFamily="34" charset="0"/>
                <a:ea typeface="Consolas" pitchFamily="34" charset="-122"/>
                <a:cs typeface="Consolas" pitchFamily="34" charset="-120"/>
              </a:rPr>
              <a:t>7ef88b707cfd252d…</a:t>
            </a:r>
            <a:endParaRPr lang="en-US" sz="1100" dirty="0"/>
          </a:p>
        </p:txBody>
      </p:sp>
      <p:sp>
        <p:nvSpPr>
          <p:cNvPr id="17" name="Text 13"/>
          <p:cNvSpPr/>
          <p:nvPr/>
        </p:nvSpPr>
        <p:spPr>
          <a:xfrm>
            <a:off x="7040880" y="3035808"/>
            <a:ext cx="1920240" cy="274320"/>
          </a:xfrm>
          <a:prstGeom prst="rect">
            <a:avLst/>
          </a:prstGeom>
          <a:noFill/>
          <a:ln/>
        </p:spPr>
        <p:txBody>
          <a:bodyPr wrap="square" lIns="0" tIns="0" rIns="0" bIns="0" rtlCol="0" anchor="t"/>
          <a:lstStyle/>
          <a:p>
            <a:pPr indent="0" marL="0">
              <a:buNone/>
            </a:pPr>
            <a:r>
              <a:rPr lang="en-US" sz="1100" dirty="0">
                <a:solidFill>
                  <a:srgbClr val="A9AFB5"/>
                </a:solidFill>
                <a:latin typeface="Consolas" pitchFamily="34" charset="0"/>
                <a:ea typeface="Consolas" pitchFamily="34" charset="-122"/>
                <a:cs typeface="Consolas" pitchFamily="34" charset="-120"/>
              </a:rPr>
              <a:t>report_sha256</a:t>
            </a:r>
            <a:endParaRPr lang="en-US" sz="1100" dirty="0"/>
          </a:p>
        </p:txBody>
      </p:sp>
      <p:sp>
        <p:nvSpPr>
          <p:cNvPr id="18" name="Text 14"/>
          <p:cNvSpPr/>
          <p:nvPr/>
        </p:nvSpPr>
        <p:spPr>
          <a:xfrm>
            <a:off x="8961120" y="3035808"/>
            <a:ext cx="2453335" cy="274320"/>
          </a:xfrm>
          <a:prstGeom prst="rect">
            <a:avLst/>
          </a:prstGeom>
          <a:noFill/>
          <a:ln/>
        </p:spPr>
        <p:txBody>
          <a:bodyPr wrap="square" lIns="0" tIns="0" rIns="0" bIns="0" rtlCol="0" anchor="t"/>
          <a:lstStyle/>
          <a:p>
            <a:pPr indent="0" marL="0">
              <a:buNone/>
            </a:pPr>
            <a:r>
              <a:rPr lang="en-US" sz="1100" dirty="0">
                <a:solidFill>
                  <a:srgbClr val="EEF0EC"/>
                </a:solidFill>
                <a:latin typeface="Consolas" pitchFamily="34" charset="0"/>
                <a:ea typeface="Consolas" pitchFamily="34" charset="-122"/>
                <a:cs typeface="Consolas" pitchFamily="34" charset="-120"/>
              </a:rPr>
              <a:t>0616ea25c31de3e7…</a:t>
            </a:r>
            <a:endParaRPr lang="en-US" sz="1100" dirty="0"/>
          </a:p>
        </p:txBody>
      </p:sp>
      <p:sp>
        <p:nvSpPr>
          <p:cNvPr id="19" name="Shape 15"/>
          <p:cNvSpPr/>
          <p:nvPr/>
        </p:nvSpPr>
        <p:spPr>
          <a:xfrm>
            <a:off x="6812280" y="3685032"/>
            <a:ext cx="402336" cy="402336"/>
          </a:xfrm>
          <a:prstGeom prst="ellipse">
            <a:avLst/>
          </a:prstGeom>
          <a:solidFill>
            <a:srgbClr val="FFB000"/>
          </a:solidFill>
          <a:ln w="15875">
            <a:solidFill>
              <a:srgbClr val="111417"/>
            </a:solidFill>
            <a:prstDash val="solid"/>
          </a:ln>
        </p:spPr>
      </p:sp>
      <p:sp>
        <p:nvSpPr>
          <p:cNvPr id="20" name="Text 16"/>
          <p:cNvSpPr/>
          <p:nvPr/>
        </p:nvSpPr>
        <p:spPr>
          <a:xfrm>
            <a:off x="6812280" y="3685032"/>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1</a:t>
            </a:r>
            <a:endParaRPr lang="en-US" sz="1584" dirty="0"/>
          </a:p>
        </p:txBody>
      </p:sp>
      <p:sp>
        <p:nvSpPr>
          <p:cNvPr id="21" name="Text 17"/>
          <p:cNvSpPr/>
          <p:nvPr/>
        </p:nvSpPr>
        <p:spPr>
          <a:xfrm>
            <a:off x="7379208" y="3721608"/>
            <a:ext cx="426384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The camera’s time, in IST and UTC</a:t>
            </a:r>
            <a:endParaRPr lang="en-US" sz="1600" dirty="0"/>
          </a:p>
        </p:txBody>
      </p:sp>
      <p:sp>
        <p:nvSpPr>
          <p:cNvPr id="22" name="Text 18"/>
          <p:cNvSpPr/>
          <p:nvPr/>
        </p:nvSpPr>
        <p:spPr>
          <a:xfrm>
            <a:off x="7379208" y="4038600"/>
            <a:ext cx="4263847"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As each camera printed it, with the plate as read and the frame.</a:t>
            </a:r>
            <a:endParaRPr lang="en-US" sz="1250" dirty="0"/>
          </a:p>
        </p:txBody>
      </p:sp>
      <p:sp>
        <p:nvSpPr>
          <p:cNvPr id="23" name="Shape 19"/>
          <p:cNvSpPr/>
          <p:nvPr/>
        </p:nvSpPr>
        <p:spPr>
          <a:xfrm>
            <a:off x="6812280" y="4629912"/>
            <a:ext cx="402336" cy="402336"/>
          </a:xfrm>
          <a:prstGeom prst="ellipse">
            <a:avLst/>
          </a:prstGeom>
          <a:solidFill>
            <a:srgbClr val="FFB000"/>
          </a:solidFill>
          <a:ln w="15875">
            <a:solidFill>
              <a:srgbClr val="111417"/>
            </a:solidFill>
            <a:prstDash val="solid"/>
          </a:ln>
        </p:spPr>
      </p:sp>
      <p:sp>
        <p:nvSpPr>
          <p:cNvPr id="24" name="Text 20"/>
          <p:cNvSpPr/>
          <p:nvPr/>
        </p:nvSpPr>
        <p:spPr>
          <a:xfrm>
            <a:off x="6812280" y="4629912"/>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2</a:t>
            </a:r>
            <a:endParaRPr lang="en-US" sz="1584" dirty="0"/>
          </a:p>
        </p:txBody>
      </p:sp>
      <p:sp>
        <p:nvSpPr>
          <p:cNvPr id="25" name="Text 21"/>
          <p:cNvSpPr/>
          <p:nvPr/>
        </p:nvSpPr>
        <p:spPr>
          <a:xfrm>
            <a:off x="7379208" y="4666488"/>
            <a:ext cx="426384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Sealed with SHA-256</a:t>
            </a:r>
            <a:endParaRPr lang="en-US" sz="1600" dirty="0"/>
          </a:p>
        </p:txBody>
      </p:sp>
      <p:sp>
        <p:nvSpPr>
          <p:cNvPr id="26" name="Text 22"/>
          <p:cNvSpPr/>
          <p:nvPr/>
        </p:nvSpPr>
        <p:spPr>
          <a:xfrm>
            <a:off x="7379208" y="4983480"/>
            <a:ext cx="4263847"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Change one byte of the PDF, CSV or a frame and it no longer verifies.</a:t>
            </a:r>
            <a:endParaRPr lang="en-US" sz="1250" dirty="0"/>
          </a:p>
        </p:txBody>
      </p:sp>
      <p:sp>
        <p:nvSpPr>
          <p:cNvPr id="27" name="Shape 23"/>
          <p:cNvSpPr/>
          <p:nvPr/>
        </p:nvSpPr>
        <p:spPr>
          <a:xfrm>
            <a:off x="6812280" y="5574792"/>
            <a:ext cx="402336" cy="402336"/>
          </a:xfrm>
          <a:prstGeom prst="ellipse">
            <a:avLst/>
          </a:prstGeom>
          <a:solidFill>
            <a:srgbClr val="FFB000"/>
          </a:solidFill>
          <a:ln w="15875">
            <a:solidFill>
              <a:srgbClr val="111417"/>
            </a:solidFill>
            <a:prstDash val="solid"/>
          </a:ln>
        </p:spPr>
      </p:sp>
      <p:sp>
        <p:nvSpPr>
          <p:cNvPr id="28" name="Text 24"/>
          <p:cNvSpPr/>
          <p:nvPr/>
        </p:nvSpPr>
        <p:spPr>
          <a:xfrm>
            <a:off x="6812280" y="5574792"/>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3</a:t>
            </a:r>
            <a:endParaRPr lang="en-US" sz="1584" dirty="0"/>
          </a:p>
        </p:txBody>
      </p:sp>
      <p:sp>
        <p:nvSpPr>
          <p:cNvPr id="29" name="Text 25"/>
          <p:cNvSpPr/>
          <p:nvPr/>
        </p:nvSpPr>
        <p:spPr>
          <a:xfrm>
            <a:off x="7379208" y="5611368"/>
            <a:ext cx="426384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A chain of custody</a:t>
            </a:r>
            <a:endParaRPr lang="en-US" sz="1600" dirty="0"/>
          </a:p>
        </p:txBody>
      </p:sp>
      <p:sp>
        <p:nvSpPr>
          <p:cNvPr id="30" name="Text 26"/>
          <p:cNvSpPr/>
          <p:nvPr/>
        </p:nvSpPr>
        <p:spPr>
          <a:xfrm>
            <a:off x="7379208" y="5928360"/>
            <a:ext cx="4263847"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Every search, export and reveal is hash-chained; Verify integrity proves none was altered.</a:t>
            </a:r>
            <a:endParaRPr lang="en-US" sz="1250" dirty="0"/>
          </a:p>
        </p:txBody>
      </p:sp>
      <p:sp>
        <p:nvSpPr>
          <p:cNvPr id="31" name="Text 27"/>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The Movement Report exported for GJ11S7924 from the recorded government grid; page 1 of 2.</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TRUST</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It says what it does not know</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10</a:t>
            </a:r>
            <a:endParaRPr lang="en-US" sz="900" dirty="0"/>
          </a:p>
        </p:txBody>
      </p:sp>
      <p:sp>
        <p:nvSpPr>
          <p:cNvPr id="7" name="Shape 4"/>
          <p:cNvSpPr/>
          <p:nvPr/>
        </p:nvSpPr>
        <p:spPr>
          <a:xfrm>
            <a:off x="6083503" y="1609344"/>
            <a:ext cx="5559552" cy="3684369"/>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8" name="Image 0" descr="preencoded.png">    </p:cNvPr>
          <p:cNvPicPr>
            <a:picLocks noChangeAspect="1"/>
          </p:cNvPicPr>
          <p:nvPr/>
        </p:nvPicPr>
        <p:blipFill>
          <a:blip r:embed="rId1"/>
          <a:stretch>
            <a:fillRect/>
          </a:stretch>
        </p:blipFill>
        <p:spPr>
          <a:xfrm>
            <a:off x="6120079" y="1645920"/>
            <a:ext cx="5486400" cy="3611217"/>
          </a:xfrm>
          <a:prstGeom prst="rect">
            <a:avLst/>
          </a:prstGeom>
        </p:spPr>
      </p:pic>
      <p:pic>
        <p:nvPicPr>
          <p:cNvPr id="9" name="Image 1" descr="preencoded.png">    </p:cNvPr>
          <p:cNvPicPr>
            <a:picLocks noChangeAspect="1"/>
          </p:cNvPicPr>
          <p:nvPr/>
        </p:nvPicPr>
        <p:blipFill>
          <a:blip r:embed="rId2"/>
          <a:stretch>
            <a:fillRect/>
          </a:stretch>
        </p:blipFill>
        <p:spPr>
          <a:xfrm>
            <a:off x="548640" y="1709928"/>
            <a:ext cx="329184" cy="329184"/>
          </a:xfrm>
          <a:prstGeom prst="rect">
            <a:avLst/>
          </a:prstGeom>
        </p:spPr>
      </p:pic>
      <p:sp>
        <p:nvSpPr>
          <p:cNvPr id="10" name="Text 5"/>
          <p:cNvSpPr/>
          <p:nvPr/>
        </p:nvSpPr>
        <p:spPr>
          <a:xfrm>
            <a:off x="1060704" y="1691640"/>
            <a:ext cx="4547311"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“Time unknown” — never a guess</a:t>
            </a:r>
            <a:endParaRPr lang="en-US" sz="1500" dirty="0"/>
          </a:p>
        </p:txBody>
      </p:sp>
      <p:sp>
        <p:nvSpPr>
          <p:cNvPr id="11" name="Text 6"/>
          <p:cNvSpPr/>
          <p:nvPr/>
        </p:nvSpPr>
        <p:spPr>
          <a:xfrm>
            <a:off x="1060704" y="1975104"/>
            <a:ext cx="4547311"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If the clock on a frame cannot be read, the sighting is listed and labelled, and kept off the route.</a:t>
            </a:r>
            <a:endParaRPr lang="en-US" sz="1250" dirty="0"/>
          </a:p>
        </p:txBody>
      </p:sp>
      <p:pic>
        <p:nvPicPr>
          <p:cNvPr id="12" name="Image 2" descr="preencoded.png">    </p:cNvPr>
          <p:cNvPicPr>
            <a:picLocks noChangeAspect="1"/>
          </p:cNvPicPr>
          <p:nvPr/>
        </p:nvPicPr>
        <p:blipFill>
          <a:blip r:embed="rId3"/>
          <a:stretch>
            <a:fillRect/>
          </a:stretch>
        </p:blipFill>
        <p:spPr>
          <a:xfrm>
            <a:off x="548640" y="2788920"/>
            <a:ext cx="329184" cy="329184"/>
          </a:xfrm>
          <a:prstGeom prst="rect">
            <a:avLst/>
          </a:prstGeom>
        </p:spPr>
      </p:pic>
      <p:sp>
        <p:nvSpPr>
          <p:cNvPr id="13" name="Text 7"/>
          <p:cNvSpPr/>
          <p:nvPr/>
        </p:nvSpPr>
        <p:spPr>
          <a:xfrm>
            <a:off x="1060704" y="2770632"/>
            <a:ext cx="4547311"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No face recognition</a:t>
            </a:r>
            <a:endParaRPr lang="en-US" sz="1500" dirty="0"/>
          </a:p>
        </p:txBody>
      </p:sp>
      <p:sp>
        <p:nvSpPr>
          <p:cNvPr id="14" name="Text 8"/>
          <p:cNvSpPr/>
          <p:nvPr/>
        </p:nvSpPr>
        <p:spPr>
          <a:xfrm>
            <a:off x="1060704" y="3054096"/>
            <a:ext cx="4547311" cy="1905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By decision. Faces are detected only so they can be blurred.</a:t>
            </a:r>
            <a:endParaRPr lang="en-US" sz="1250" dirty="0"/>
          </a:p>
        </p:txBody>
      </p:sp>
      <p:pic>
        <p:nvPicPr>
          <p:cNvPr id="15" name="Image 3" descr="preencoded.png">    </p:cNvPr>
          <p:cNvPicPr>
            <a:picLocks noChangeAspect="1"/>
          </p:cNvPicPr>
          <p:nvPr/>
        </p:nvPicPr>
        <p:blipFill>
          <a:blip r:embed="rId4"/>
          <a:stretch>
            <a:fillRect/>
          </a:stretch>
        </p:blipFill>
        <p:spPr>
          <a:xfrm>
            <a:off x="548640" y="3867912"/>
            <a:ext cx="329184" cy="329184"/>
          </a:xfrm>
          <a:prstGeom prst="rect">
            <a:avLst/>
          </a:prstGeom>
        </p:spPr>
      </p:pic>
      <p:sp>
        <p:nvSpPr>
          <p:cNvPr id="16" name="Text 9"/>
          <p:cNvSpPr/>
          <p:nvPr/>
        </p:nvSpPr>
        <p:spPr>
          <a:xfrm>
            <a:off x="1060704" y="3849624"/>
            <a:ext cx="4547311"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Each department sees its own</a:t>
            </a:r>
            <a:endParaRPr lang="en-US" sz="1500" dirty="0"/>
          </a:p>
        </p:txBody>
      </p:sp>
      <p:sp>
        <p:nvSpPr>
          <p:cNvPr id="17" name="Text 10"/>
          <p:cNvSpPr/>
          <p:nvPr/>
        </p:nvSpPr>
        <p:spPr>
          <a:xfrm>
            <a:off x="1060704" y="4133088"/>
            <a:ext cx="4547311"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Access is enforced inside the database itself, not only in the screens.</a:t>
            </a:r>
            <a:endParaRPr lang="en-US" sz="1250" dirty="0"/>
          </a:p>
        </p:txBody>
      </p:sp>
      <p:pic>
        <p:nvPicPr>
          <p:cNvPr id="18" name="Image 4" descr="preencoded.png">    </p:cNvPr>
          <p:cNvPicPr>
            <a:picLocks noChangeAspect="1"/>
          </p:cNvPicPr>
          <p:nvPr/>
        </p:nvPicPr>
        <p:blipFill>
          <a:blip r:embed="rId5"/>
          <a:stretch>
            <a:fillRect/>
          </a:stretch>
        </p:blipFill>
        <p:spPr>
          <a:xfrm>
            <a:off x="548640" y="4946904"/>
            <a:ext cx="329184" cy="329184"/>
          </a:xfrm>
          <a:prstGeom prst="rect">
            <a:avLst/>
          </a:prstGeom>
        </p:spPr>
      </p:pic>
      <p:sp>
        <p:nvSpPr>
          <p:cNvPr id="19" name="Text 11"/>
          <p:cNvSpPr/>
          <p:nvPr/>
        </p:nvSpPr>
        <p:spPr>
          <a:xfrm>
            <a:off x="1060704" y="4928616"/>
            <a:ext cx="4547311"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Private cameras need consent</a:t>
            </a:r>
            <a:endParaRPr lang="en-US" sz="1500" dirty="0"/>
          </a:p>
        </p:txBody>
      </p:sp>
      <p:sp>
        <p:nvSpPr>
          <p:cNvPr id="20" name="Text 12"/>
          <p:cNvSpPr/>
          <p:nvPr/>
        </p:nvSpPr>
        <p:spPr>
          <a:xfrm>
            <a:off x="1060704" y="5212080"/>
            <a:ext cx="4547311"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Without current consent a camera is registered, but never viewed or analysed.</a:t>
            </a:r>
            <a:endParaRPr lang="en-US" sz="1250" dirty="0"/>
          </a:p>
        </p:txBody>
      </p:sp>
      <p:sp>
        <p:nvSpPr>
          <p:cNvPr id="21" name="Text 13"/>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Shown: a vehicle read repeatedly at Gandhidham Rambaugh, on frames whose clock could not be read.</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TRUST</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Measured, not promised</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11</a:t>
            </a:r>
            <a:endParaRPr lang="en-US" sz="900" dirty="0"/>
          </a:p>
        </p:txBody>
      </p:sp>
      <p:sp>
        <p:nvSpPr>
          <p:cNvPr id="7" name="Text 4"/>
          <p:cNvSpPr/>
          <p:nvPr/>
        </p:nvSpPr>
        <p:spPr>
          <a:xfrm>
            <a:off x="731520" y="1627632"/>
            <a:ext cx="2377440" cy="237744"/>
          </a:xfrm>
          <a:prstGeom prst="rect">
            <a:avLst/>
          </a:prstGeom>
          <a:noFill/>
          <a:ln/>
        </p:spPr>
        <p:txBody>
          <a:bodyPr wrap="square" lIns="0" tIns="0" rIns="0" bIns="0" rtlCol="0" anchor="t"/>
          <a:lstStyle/>
          <a:p>
            <a:pPr indent="0" marL="0">
              <a:buNone/>
            </a:pPr>
            <a:r>
              <a:rPr lang="en-US" sz="1000" dirty="0">
                <a:solidFill>
                  <a:srgbClr val="4C5157"/>
                </a:solidFill>
                <a:latin typeface="Consolas" pitchFamily="34" charset="0"/>
                <a:ea typeface="Consolas" pitchFamily="34" charset="-122"/>
                <a:cs typeface="Consolas" pitchFamily="34" charset="-120"/>
              </a:rPr>
              <a:t>MEASURE</a:t>
            </a:r>
            <a:endParaRPr lang="en-US" sz="1000" dirty="0"/>
          </a:p>
        </p:txBody>
      </p:sp>
      <p:sp>
        <p:nvSpPr>
          <p:cNvPr id="8" name="Text 5"/>
          <p:cNvSpPr/>
          <p:nvPr/>
        </p:nvSpPr>
        <p:spPr>
          <a:xfrm>
            <a:off x="3200400" y="1627632"/>
            <a:ext cx="1280160" cy="237744"/>
          </a:xfrm>
          <a:prstGeom prst="rect">
            <a:avLst/>
          </a:prstGeom>
          <a:noFill/>
          <a:ln/>
        </p:spPr>
        <p:txBody>
          <a:bodyPr wrap="square" lIns="0" tIns="0" rIns="0" bIns="0" rtlCol="0" anchor="t"/>
          <a:lstStyle/>
          <a:p>
            <a:pPr indent="0" marL="0">
              <a:buNone/>
            </a:pPr>
            <a:r>
              <a:rPr lang="en-US" sz="1000" dirty="0">
                <a:solidFill>
                  <a:srgbClr val="4C5157"/>
                </a:solidFill>
                <a:latin typeface="Consolas" pitchFamily="34" charset="0"/>
                <a:ea typeface="Consolas" pitchFamily="34" charset="-122"/>
                <a:cs typeface="Consolas" pitchFamily="34" charset="-120"/>
              </a:rPr>
              <a:t>RESULT</a:t>
            </a:r>
            <a:endParaRPr lang="en-US" sz="1000" dirty="0"/>
          </a:p>
        </p:txBody>
      </p:sp>
      <p:sp>
        <p:nvSpPr>
          <p:cNvPr id="9" name="Text 6"/>
          <p:cNvSpPr/>
          <p:nvPr/>
        </p:nvSpPr>
        <p:spPr>
          <a:xfrm>
            <a:off x="4617720" y="1627632"/>
            <a:ext cx="2926080" cy="237744"/>
          </a:xfrm>
          <a:prstGeom prst="rect">
            <a:avLst/>
          </a:prstGeom>
          <a:noFill/>
          <a:ln/>
        </p:spPr>
        <p:txBody>
          <a:bodyPr wrap="square" lIns="0" tIns="0" rIns="0" bIns="0" rtlCol="0" anchor="t"/>
          <a:lstStyle/>
          <a:p>
            <a:pPr indent="0" marL="0">
              <a:buNone/>
            </a:pPr>
            <a:r>
              <a:rPr lang="en-US" sz="1000" dirty="0">
                <a:solidFill>
                  <a:srgbClr val="4C5157"/>
                </a:solidFill>
                <a:latin typeface="Consolas" pitchFamily="34" charset="0"/>
                <a:ea typeface="Consolas" pitchFamily="34" charset="-122"/>
                <a:cs typeface="Consolas" pitchFamily="34" charset="-120"/>
              </a:rPr>
              <a:t>UNDER WHAT CONDITIONS</a:t>
            </a:r>
            <a:endParaRPr lang="en-US" sz="1000" dirty="0"/>
          </a:p>
        </p:txBody>
      </p:sp>
      <p:sp>
        <p:nvSpPr>
          <p:cNvPr id="10" name="Shape 7"/>
          <p:cNvSpPr/>
          <p:nvPr/>
        </p:nvSpPr>
        <p:spPr>
          <a:xfrm>
            <a:off x="548640" y="1920240"/>
            <a:ext cx="7086600" cy="640080"/>
          </a:xfrm>
          <a:prstGeom prst="roundRect">
            <a:avLst>
              <a:gd name="adj" fmla="val 5714"/>
            </a:avLst>
          </a:prstGeom>
          <a:solidFill>
            <a:srgbClr val="FBFBF9"/>
          </a:solidFill>
          <a:ln w="9525">
            <a:solidFill>
              <a:srgbClr val="D5D7D2"/>
            </a:solidFill>
            <a:prstDash val="solid"/>
          </a:ln>
        </p:spPr>
      </p:sp>
      <p:sp>
        <p:nvSpPr>
          <p:cNvPr id="11" name="Text 8"/>
          <p:cNvSpPr/>
          <p:nvPr/>
        </p:nvSpPr>
        <p:spPr>
          <a:xfrm>
            <a:off x="731520" y="1920240"/>
            <a:ext cx="2377440" cy="640080"/>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Plates read exactly</a:t>
            </a:r>
            <a:endParaRPr lang="en-US" sz="1400" dirty="0"/>
          </a:p>
        </p:txBody>
      </p:sp>
      <p:sp>
        <p:nvSpPr>
          <p:cNvPr id="12" name="Text 9"/>
          <p:cNvSpPr/>
          <p:nvPr/>
        </p:nvSpPr>
        <p:spPr>
          <a:xfrm>
            <a:off x="3200400" y="1920240"/>
            <a:ext cx="1325880" cy="640080"/>
          </a:xfrm>
          <a:prstGeom prst="rect">
            <a:avLst/>
          </a:prstGeom>
          <a:noFill/>
          <a:ln/>
        </p:spPr>
        <p:txBody>
          <a:bodyPr wrap="square" lIns="0" tIns="0" rIns="0" bIns="0" rtlCol="0" anchor="ctr"/>
          <a:lstStyle/>
          <a:p>
            <a:pPr indent="0" marL="0">
              <a:buNone/>
            </a:pPr>
            <a:r>
              <a:rPr lang="en-US" sz="2400" dirty="0">
                <a:solidFill>
                  <a:srgbClr val="111417"/>
                </a:solidFill>
                <a:latin typeface="Franklin Gothic Demi Cond" pitchFamily="34" charset="0"/>
                <a:ea typeface="Franklin Gothic Demi Cond" pitchFamily="34" charset="-122"/>
                <a:cs typeface="Franklin Gothic Demi Cond" pitchFamily="34" charset="-120"/>
              </a:rPr>
              <a:t>78%</a:t>
            </a:r>
            <a:endParaRPr lang="en-US" sz="2400" dirty="0"/>
          </a:p>
        </p:txBody>
      </p:sp>
      <p:sp>
        <p:nvSpPr>
          <p:cNvPr id="13" name="Text 10"/>
          <p:cNvSpPr/>
          <p:nvPr/>
        </p:nvSpPr>
        <p:spPr>
          <a:xfrm>
            <a:off x="4617720" y="1920240"/>
            <a:ext cx="2880360" cy="640080"/>
          </a:xfrm>
          <a:prstGeom prst="rect">
            <a:avLst/>
          </a:prstGeom>
          <a:noFill/>
          <a:ln/>
        </p:spPr>
        <p:txBody>
          <a:bodyPr wrap="square" lIns="0" tIns="0" rIns="0" bIns="0" rtlCol="0" anchor="ctr"/>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41 vehicles, hand-labelled government footage, after the vote</a:t>
            </a:r>
            <a:endParaRPr lang="en-US" sz="1200" dirty="0"/>
          </a:p>
        </p:txBody>
      </p:sp>
      <p:sp>
        <p:nvSpPr>
          <p:cNvPr id="14" name="Shape 11"/>
          <p:cNvSpPr/>
          <p:nvPr/>
        </p:nvSpPr>
        <p:spPr>
          <a:xfrm>
            <a:off x="548640" y="2615184"/>
            <a:ext cx="7086600" cy="640080"/>
          </a:xfrm>
          <a:prstGeom prst="roundRect">
            <a:avLst>
              <a:gd name="adj" fmla="val 5714"/>
            </a:avLst>
          </a:prstGeom>
          <a:solidFill>
            <a:srgbClr val="FBFBF9"/>
          </a:solidFill>
          <a:ln w="9525">
            <a:solidFill>
              <a:srgbClr val="D5D7D2"/>
            </a:solidFill>
            <a:prstDash val="solid"/>
          </a:ln>
        </p:spPr>
      </p:sp>
      <p:sp>
        <p:nvSpPr>
          <p:cNvPr id="15" name="Text 12"/>
          <p:cNvSpPr/>
          <p:nvPr/>
        </p:nvSpPr>
        <p:spPr>
          <a:xfrm>
            <a:off x="731520" y="2615184"/>
            <a:ext cx="2377440" cy="640080"/>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Camera clocks read exactly</a:t>
            </a:r>
            <a:endParaRPr lang="en-US" sz="1400" dirty="0"/>
          </a:p>
        </p:txBody>
      </p:sp>
      <p:sp>
        <p:nvSpPr>
          <p:cNvPr id="16" name="Text 13"/>
          <p:cNvSpPr/>
          <p:nvPr/>
        </p:nvSpPr>
        <p:spPr>
          <a:xfrm>
            <a:off x="3200400" y="2615184"/>
            <a:ext cx="1325880" cy="640080"/>
          </a:xfrm>
          <a:prstGeom prst="rect">
            <a:avLst/>
          </a:prstGeom>
          <a:noFill/>
          <a:ln/>
        </p:spPr>
        <p:txBody>
          <a:bodyPr wrap="square" lIns="0" tIns="0" rIns="0" bIns="0" rtlCol="0" anchor="ctr"/>
          <a:lstStyle/>
          <a:p>
            <a:pPr indent="0" marL="0">
              <a:buNone/>
            </a:pPr>
            <a:r>
              <a:rPr lang="en-US" sz="2400" dirty="0">
                <a:solidFill>
                  <a:srgbClr val="111417"/>
                </a:solidFill>
                <a:latin typeface="Franklin Gothic Demi Cond" pitchFamily="34" charset="0"/>
                <a:ea typeface="Franklin Gothic Demi Cond" pitchFamily="34" charset="-122"/>
                <a:cs typeface="Franklin Gothic Demi Cond" pitchFamily="34" charset="-120"/>
              </a:rPr>
              <a:t>97.7%</a:t>
            </a:r>
            <a:endParaRPr lang="en-US" sz="2400" dirty="0"/>
          </a:p>
        </p:txBody>
      </p:sp>
      <p:sp>
        <p:nvSpPr>
          <p:cNvPr id="17" name="Text 14"/>
          <p:cNvSpPr/>
          <p:nvPr/>
        </p:nvSpPr>
        <p:spPr>
          <a:xfrm>
            <a:off x="4617720" y="2615184"/>
            <a:ext cx="2880360" cy="640080"/>
          </a:xfrm>
          <a:prstGeom prst="rect">
            <a:avLst/>
          </a:prstGeom>
          <a:noFill/>
          <a:ln/>
        </p:spPr>
        <p:txBody>
          <a:bodyPr wrap="square" lIns="0" tIns="0" rIns="0" bIns="0" rtlCol="0" anchor="ctr"/>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87 frames with a legible clock; no wrong times</a:t>
            </a:r>
            <a:endParaRPr lang="en-US" sz="1200" dirty="0"/>
          </a:p>
        </p:txBody>
      </p:sp>
      <p:sp>
        <p:nvSpPr>
          <p:cNvPr id="18" name="Shape 15"/>
          <p:cNvSpPr/>
          <p:nvPr/>
        </p:nvSpPr>
        <p:spPr>
          <a:xfrm>
            <a:off x="548640" y="3310128"/>
            <a:ext cx="7086600" cy="640080"/>
          </a:xfrm>
          <a:prstGeom prst="roundRect">
            <a:avLst>
              <a:gd name="adj" fmla="val 5714"/>
            </a:avLst>
          </a:prstGeom>
          <a:solidFill>
            <a:srgbClr val="FBFBF9"/>
          </a:solidFill>
          <a:ln w="9525">
            <a:solidFill>
              <a:srgbClr val="D5D7D2"/>
            </a:solidFill>
            <a:prstDash val="solid"/>
          </a:ln>
        </p:spPr>
      </p:sp>
      <p:sp>
        <p:nvSpPr>
          <p:cNvPr id="19" name="Text 16"/>
          <p:cNvSpPr/>
          <p:nvPr/>
        </p:nvSpPr>
        <p:spPr>
          <a:xfrm>
            <a:off x="731520" y="3310128"/>
            <a:ext cx="2377440" cy="640080"/>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Analysis on one laptop</a:t>
            </a:r>
            <a:endParaRPr lang="en-US" sz="1400" dirty="0"/>
          </a:p>
        </p:txBody>
      </p:sp>
      <p:sp>
        <p:nvSpPr>
          <p:cNvPr id="20" name="Text 17"/>
          <p:cNvSpPr/>
          <p:nvPr/>
        </p:nvSpPr>
        <p:spPr>
          <a:xfrm>
            <a:off x="3200400" y="3310128"/>
            <a:ext cx="1325880" cy="640080"/>
          </a:xfrm>
          <a:prstGeom prst="rect">
            <a:avLst/>
          </a:prstGeom>
          <a:noFill/>
          <a:ln/>
        </p:spPr>
        <p:txBody>
          <a:bodyPr wrap="square" lIns="0" tIns="0" rIns="0" bIns="0" rtlCol="0" anchor="ctr"/>
          <a:lstStyle/>
          <a:p>
            <a:pPr indent="0" marL="0">
              <a:buNone/>
            </a:pPr>
            <a:r>
              <a:rPr lang="en-US" sz="2400" dirty="0">
                <a:solidFill>
                  <a:srgbClr val="111417"/>
                </a:solidFill>
                <a:latin typeface="Franklin Gothic Demi Cond" pitchFamily="34" charset="0"/>
                <a:ea typeface="Franklin Gothic Demi Cond" pitchFamily="34" charset="-122"/>
                <a:cs typeface="Franklin Gothic Demi Cond" pitchFamily="34" charset="-120"/>
              </a:rPr>
              <a:t>4 × 4 fps</a:t>
            </a:r>
            <a:endParaRPr lang="en-US" sz="2400" dirty="0"/>
          </a:p>
        </p:txBody>
      </p:sp>
      <p:sp>
        <p:nvSpPr>
          <p:cNvPr id="21" name="Text 18"/>
          <p:cNvSpPr/>
          <p:nvPr/>
        </p:nvSpPr>
        <p:spPr>
          <a:xfrm>
            <a:off x="4617720" y="3310128"/>
            <a:ext cx="2880360" cy="640080"/>
          </a:xfrm>
          <a:prstGeom prst="rect">
            <a:avLst/>
          </a:prstGeom>
          <a:noFill/>
          <a:ln/>
        </p:spPr>
        <p:txBody>
          <a:bodyPr wrap="square" lIns="0" tIns="0" rIns="0" bIns="0" rtlCol="0" anchor="ctr"/>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Four cameras at 4 frames a second kept up (base M2, CPU)</a:t>
            </a:r>
            <a:endParaRPr lang="en-US" sz="1200" dirty="0"/>
          </a:p>
        </p:txBody>
      </p:sp>
      <p:sp>
        <p:nvSpPr>
          <p:cNvPr id="22" name="Shape 19"/>
          <p:cNvSpPr/>
          <p:nvPr/>
        </p:nvSpPr>
        <p:spPr>
          <a:xfrm>
            <a:off x="548640" y="4005072"/>
            <a:ext cx="7086600" cy="640080"/>
          </a:xfrm>
          <a:prstGeom prst="roundRect">
            <a:avLst>
              <a:gd name="adj" fmla="val 5714"/>
            </a:avLst>
          </a:prstGeom>
          <a:solidFill>
            <a:srgbClr val="FBFBF9"/>
          </a:solidFill>
          <a:ln w="9525">
            <a:solidFill>
              <a:srgbClr val="D5D7D2"/>
            </a:solidFill>
            <a:prstDash val="solid"/>
          </a:ln>
        </p:spPr>
      </p:sp>
      <p:sp>
        <p:nvSpPr>
          <p:cNvPr id="23" name="Text 20"/>
          <p:cNvSpPr/>
          <p:nvPr/>
        </p:nvSpPr>
        <p:spPr>
          <a:xfrm>
            <a:off x="731520" y="4005072"/>
            <a:ext cx="2377440" cy="640080"/>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Footage to stored sighting</a:t>
            </a:r>
            <a:endParaRPr lang="en-US" sz="1400" dirty="0"/>
          </a:p>
        </p:txBody>
      </p:sp>
      <p:sp>
        <p:nvSpPr>
          <p:cNvPr id="24" name="Text 21"/>
          <p:cNvSpPr/>
          <p:nvPr/>
        </p:nvSpPr>
        <p:spPr>
          <a:xfrm>
            <a:off x="3200400" y="4005072"/>
            <a:ext cx="1325880" cy="640080"/>
          </a:xfrm>
          <a:prstGeom prst="rect">
            <a:avLst/>
          </a:prstGeom>
          <a:noFill/>
          <a:ln/>
        </p:spPr>
        <p:txBody>
          <a:bodyPr wrap="square" lIns="0" tIns="0" rIns="0" bIns="0" rtlCol="0" anchor="ctr"/>
          <a:lstStyle/>
          <a:p>
            <a:pPr indent="0" marL="0">
              <a:buNone/>
            </a:pPr>
            <a:r>
              <a:rPr lang="en-US" sz="2400" dirty="0">
                <a:solidFill>
                  <a:srgbClr val="111417"/>
                </a:solidFill>
                <a:latin typeface="Franklin Gothic Demi Cond" pitchFamily="34" charset="0"/>
                <a:ea typeface="Franklin Gothic Demi Cond" pitchFamily="34" charset="-122"/>
                <a:cs typeface="Franklin Gothic Demi Cond" pitchFamily="34" charset="-120"/>
              </a:rPr>
              <a:t>27–40 s</a:t>
            </a:r>
            <a:endParaRPr lang="en-US" sz="2400" dirty="0"/>
          </a:p>
        </p:txBody>
      </p:sp>
      <p:sp>
        <p:nvSpPr>
          <p:cNvPr id="25" name="Text 22"/>
          <p:cNvSpPr/>
          <p:nvPr/>
        </p:nvSpPr>
        <p:spPr>
          <a:xfrm>
            <a:off x="4617720" y="4005072"/>
            <a:ext cx="2880360" cy="640080"/>
          </a:xfrm>
          <a:prstGeom prst="rect">
            <a:avLst/>
          </a:prstGeom>
          <a:noFill/>
          <a:ln/>
        </p:spPr>
        <p:txBody>
          <a:bodyPr wrap="square" lIns="0" tIns="0" rIns="0" bIns="0" rtlCol="0" anchor="ctr"/>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Median over two evidence runs; p90 67–87 s</a:t>
            </a:r>
            <a:endParaRPr lang="en-US" sz="1200" dirty="0"/>
          </a:p>
        </p:txBody>
      </p:sp>
      <p:sp>
        <p:nvSpPr>
          <p:cNvPr id="26" name="Shape 23"/>
          <p:cNvSpPr/>
          <p:nvPr/>
        </p:nvSpPr>
        <p:spPr>
          <a:xfrm>
            <a:off x="548640" y="4700016"/>
            <a:ext cx="7086600" cy="640080"/>
          </a:xfrm>
          <a:prstGeom prst="roundRect">
            <a:avLst>
              <a:gd name="adj" fmla="val 5714"/>
            </a:avLst>
          </a:prstGeom>
          <a:solidFill>
            <a:srgbClr val="FBFBF9"/>
          </a:solidFill>
          <a:ln w="9525">
            <a:solidFill>
              <a:srgbClr val="D5D7D2"/>
            </a:solidFill>
            <a:prstDash val="solid"/>
          </a:ln>
        </p:spPr>
      </p:sp>
      <p:sp>
        <p:nvSpPr>
          <p:cNvPr id="27" name="Text 24"/>
          <p:cNvSpPr/>
          <p:nvPr/>
        </p:nvSpPr>
        <p:spPr>
          <a:xfrm>
            <a:off x="731520" y="4700016"/>
            <a:ext cx="2377440" cy="640080"/>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Restore a million records</a:t>
            </a:r>
            <a:endParaRPr lang="en-US" sz="1400" dirty="0"/>
          </a:p>
        </p:txBody>
      </p:sp>
      <p:sp>
        <p:nvSpPr>
          <p:cNvPr id="28" name="Text 25"/>
          <p:cNvSpPr/>
          <p:nvPr/>
        </p:nvSpPr>
        <p:spPr>
          <a:xfrm>
            <a:off x="3200400" y="4700016"/>
            <a:ext cx="1325880" cy="640080"/>
          </a:xfrm>
          <a:prstGeom prst="rect">
            <a:avLst/>
          </a:prstGeom>
          <a:noFill/>
          <a:ln/>
        </p:spPr>
        <p:txBody>
          <a:bodyPr wrap="square" lIns="0" tIns="0" rIns="0" bIns="0" rtlCol="0" anchor="ctr"/>
          <a:lstStyle/>
          <a:p>
            <a:pPr indent="0" marL="0">
              <a:buNone/>
            </a:pPr>
            <a:r>
              <a:rPr lang="en-US" sz="2400" dirty="0">
                <a:solidFill>
                  <a:srgbClr val="111417"/>
                </a:solidFill>
                <a:latin typeface="Franklin Gothic Demi Cond" pitchFamily="34" charset="0"/>
                <a:ea typeface="Franklin Gothic Demi Cond" pitchFamily="34" charset="-122"/>
                <a:cs typeface="Franklin Gothic Demi Cond" pitchFamily="34" charset="-120"/>
              </a:rPr>
              <a:t>5.7 s</a:t>
            </a:r>
            <a:endParaRPr lang="en-US" sz="2400" dirty="0"/>
          </a:p>
        </p:txBody>
      </p:sp>
      <p:sp>
        <p:nvSpPr>
          <p:cNvPr id="29" name="Text 26"/>
          <p:cNvSpPr/>
          <p:nvPr/>
        </p:nvSpPr>
        <p:spPr>
          <a:xfrm>
            <a:off x="4617720" y="4700016"/>
            <a:ext cx="2880360" cy="640080"/>
          </a:xfrm>
          <a:prstGeom prst="rect">
            <a:avLst/>
          </a:prstGeom>
          <a:noFill/>
          <a:ln/>
        </p:spPr>
        <p:txBody>
          <a:bodyPr wrap="square" lIns="0" tIns="0" rIns="0" bIns="0" rtlCol="0" anchor="ctr"/>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Disaster-recovery drill; a tampered audit row was caught</a:t>
            </a:r>
            <a:endParaRPr lang="en-US" sz="1200" dirty="0"/>
          </a:p>
        </p:txBody>
      </p:sp>
      <p:sp>
        <p:nvSpPr>
          <p:cNvPr id="30" name="Shape 27"/>
          <p:cNvSpPr/>
          <p:nvPr/>
        </p:nvSpPr>
        <p:spPr>
          <a:xfrm>
            <a:off x="548640" y="5394960"/>
            <a:ext cx="7086600" cy="640080"/>
          </a:xfrm>
          <a:prstGeom prst="roundRect">
            <a:avLst>
              <a:gd name="adj" fmla="val 5714"/>
            </a:avLst>
          </a:prstGeom>
          <a:solidFill>
            <a:srgbClr val="FBFBF9"/>
          </a:solidFill>
          <a:ln w="9525">
            <a:solidFill>
              <a:srgbClr val="D5D7D2"/>
            </a:solidFill>
            <a:prstDash val="solid"/>
          </a:ln>
        </p:spPr>
      </p:sp>
      <p:sp>
        <p:nvSpPr>
          <p:cNvPr id="31" name="Text 28"/>
          <p:cNvSpPr/>
          <p:nvPr/>
        </p:nvSpPr>
        <p:spPr>
          <a:xfrm>
            <a:off x="731520" y="5394960"/>
            <a:ext cx="2377440" cy="640080"/>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Automated tests</a:t>
            </a:r>
            <a:endParaRPr lang="en-US" sz="1400" dirty="0"/>
          </a:p>
        </p:txBody>
      </p:sp>
      <p:sp>
        <p:nvSpPr>
          <p:cNvPr id="32" name="Text 29"/>
          <p:cNvSpPr/>
          <p:nvPr/>
        </p:nvSpPr>
        <p:spPr>
          <a:xfrm>
            <a:off x="3200400" y="5394960"/>
            <a:ext cx="1325880" cy="640080"/>
          </a:xfrm>
          <a:prstGeom prst="rect">
            <a:avLst/>
          </a:prstGeom>
          <a:noFill/>
          <a:ln/>
        </p:spPr>
        <p:txBody>
          <a:bodyPr wrap="square" lIns="0" tIns="0" rIns="0" bIns="0" rtlCol="0" anchor="ctr"/>
          <a:lstStyle/>
          <a:p>
            <a:pPr indent="0" marL="0">
              <a:buNone/>
            </a:pPr>
            <a:r>
              <a:rPr lang="en-US" sz="2400" dirty="0">
                <a:solidFill>
                  <a:srgbClr val="111417"/>
                </a:solidFill>
                <a:latin typeface="Franklin Gothic Demi Cond" pitchFamily="34" charset="0"/>
                <a:ea typeface="Franklin Gothic Demi Cond" pitchFamily="34" charset="-122"/>
                <a:cs typeface="Franklin Gothic Demi Cond" pitchFamily="34" charset="-120"/>
              </a:rPr>
              <a:t>763</a:t>
            </a:r>
            <a:endParaRPr lang="en-US" sz="2400" dirty="0"/>
          </a:p>
        </p:txBody>
      </p:sp>
      <p:sp>
        <p:nvSpPr>
          <p:cNvPr id="33" name="Text 30"/>
          <p:cNvSpPr/>
          <p:nvPr/>
        </p:nvSpPr>
        <p:spPr>
          <a:xfrm>
            <a:off x="4617720" y="5394960"/>
            <a:ext cx="2880360" cy="640080"/>
          </a:xfrm>
          <a:prstGeom prst="rect">
            <a:avLst/>
          </a:prstGeom>
          <a:noFill/>
          <a:ln/>
        </p:spPr>
        <p:txBody>
          <a:bodyPr wrap="square" lIns="0" tIns="0" rIns="0" bIns="0" rtlCol="0" anchor="ctr"/>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698 backend and 65 browser tests, run on every change</a:t>
            </a:r>
            <a:endParaRPr lang="en-US" sz="1200" dirty="0"/>
          </a:p>
        </p:txBody>
      </p:sp>
      <p:sp>
        <p:nvSpPr>
          <p:cNvPr id="34" name="Shape 31"/>
          <p:cNvSpPr/>
          <p:nvPr/>
        </p:nvSpPr>
        <p:spPr>
          <a:xfrm>
            <a:off x="8001000" y="1627632"/>
            <a:ext cx="3642055" cy="4434840"/>
          </a:xfrm>
          <a:prstGeom prst="roundRect">
            <a:avLst>
              <a:gd name="adj" fmla="val 2009"/>
            </a:avLst>
          </a:prstGeom>
          <a:solidFill>
            <a:srgbClr val="FFF4DA"/>
          </a:solidFill>
          <a:ln w="9525">
            <a:solidFill>
              <a:srgbClr val="ECCB78"/>
            </a:solidFill>
            <a:prstDash val="solid"/>
          </a:ln>
        </p:spPr>
      </p:sp>
      <p:pic>
        <p:nvPicPr>
          <p:cNvPr id="35" name="Image 0" descr="preencoded.png">    </p:cNvPr>
          <p:cNvPicPr>
            <a:picLocks noChangeAspect="1"/>
          </p:cNvPicPr>
          <p:nvPr/>
        </p:nvPicPr>
        <p:blipFill>
          <a:blip r:embed="rId1"/>
          <a:stretch>
            <a:fillRect/>
          </a:stretch>
        </p:blipFill>
        <p:spPr>
          <a:xfrm>
            <a:off x="8275320" y="1828800"/>
            <a:ext cx="365760" cy="365760"/>
          </a:xfrm>
          <a:prstGeom prst="rect">
            <a:avLst/>
          </a:prstGeom>
        </p:spPr>
      </p:pic>
      <p:sp>
        <p:nvSpPr>
          <p:cNvPr id="36" name="Text 32"/>
          <p:cNvSpPr/>
          <p:nvPr/>
        </p:nvSpPr>
        <p:spPr>
          <a:xfrm>
            <a:off x="8778240" y="1847088"/>
            <a:ext cx="2636215" cy="347472"/>
          </a:xfrm>
          <a:prstGeom prst="rect">
            <a:avLst/>
          </a:prstGeom>
          <a:noFill/>
          <a:ln/>
        </p:spPr>
        <p:txBody>
          <a:bodyPr wrap="square" lIns="0" tIns="0" rIns="0" bIns="0" rtlCol="0" anchor="t"/>
          <a:lstStyle/>
          <a:p>
            <a:pPr indent="0" marL="0">
              <a:buNone/>
            </a:pPr>
            <a:r>
              <a:rPr lang="en-US" sz="2200" dirty="0">
                <a:solidFill>
                  <a:srgbClr val="111417"/>
                </a:solidFill>
                <a:latin typeface="Franklin Gothic Demi Cond" pitchFamily="34" charset="0"/>
                <a:ea typeface="Franklin Gothic Demi Cond" pitchFamily="34" charset="-122"/>
                <a:cs typeface="Franklin Gothic Demi Cond" pitchFamily="34" charset="-120"/>
              </a:rPr>
              <a:t>Stated plainly</a:t>
            </a:r>
            <a:endParaRPr lang="en-US" sz="2200" dirty="0"/>
          </a:p>
        </p:txBody>
      </p:sp>
      <p:sp>
        <p:nvSpPr>
          <p:cNvPr id="37" name="Text 33"/>
          <p:cNvSpPr/>
          <p:nvPr/>
        </p:nvSpPr>
        <p:spPr>
          <a:xfrm>
            <a:off x="8275320" y="2377440"/>
            <a:ext cx="3139135" cy="3566160"/>
          </a:xfrm>
          <a:prstGeom prst="rect">
            <a:avLst/>
          </a:prstGeom>
          <a:noFill/>
          <a:ln/>
        </p:spPr>
        <p:txBody>
          <a:bodyPr wrap="square" lIns="0" tIns="0" rIns="0" bIns="0" rtlCol="0" anchor="t"/>
          <a:lstStyle/>
          <a:p>
            <a:pPr marL="177800" indent="-177800">
              <a:spcAft>
                <a:spcPts val="700"/>
              </a:spcAft>
              <a:buSzPct val="100000"/>
              <a:buChar char="•"/>
            </a:pPr>
            <a:r>
              <a:rPr lang="en-US" sz="1350" dirty="0">
                <a:solidFill>
                  <a:srgbClr val="111417"/>
                </a:solidFill>
                <a:latin typeface="Franklin Gothic Book" pitchFamily="34" charset="0"/>
                <a:ea typeface="Franklin Gothic Book" pitchFamily="34" charset="-122"/>
                <a:cs typeface="Franklin Gothic Book" pitchFamily="34" charset="-120"/>
              </a:rPr>
              <a:t>Plate accuracy is below our own 85% target.</a:t>
            </a:r>
            <a:endParaRPr lang="en-US" sz="1350" dirty="0"/>
          </a:p>
          <a:p>
            <a:pPr marL="177800" indent="-177800">
              <a:spcAft>
                <a:spcPts val="700"/>
              </a:spcAft>
              <a:buSzPct val="100000"/>
              <a:buChar char="•"/>
            </a:pPr>
            <a:r>
              <a:rPr lang="en-US" sz="1350" dirty="0">
                <a:solidFill>
                  <a:srgbClr val="111417"/>
                </a:solidFill>
                <a:latin typeface="Franklin Gothic Book" pitchFamily="34" charset="0"/>
                <a:ea typeface="Franklin Gothic Book" pitchFamily="34" charset="-122"/>
                <a:cs typeface="Franklin Gothic Book" pitchFamily="34" charset="-120"/>
              </a:rPr>
              <a:t>Near-real-time, for investigation — not for lifting a boom gate.</a:t>
            </a:r>
            <a:endParaRPr lang="en-US" sz="1350" dirty="0"/>
          </a:p>
          <a:p>
            <a:pPr marL="177800" indent="-177800">
              <a:spcAft>
                <a:spcPts val="700"/>
              </a:spcAft>
              <a:buSzPct val="100000"/>
              <a:buChar char="•"/>
            </a:pPr>
            <a:r>
              <a:rPr lang="en-US" sz="1350" dirty="0">
                <a:solidFill>
                  <a:srgbClr val="111417"/>
                </a:solidFill>
                <a:latin typeface="Franklin Gothic Book" pitchFamily="34" charset="0"/>
                <a:ea typeface="Franklin Gothic Book" pitchFamily="34" charset="-122"/>
                <a:cs typeface="Franklin Gothic Book" pitchFamily="34" charset="-120"/>
              </a:rPr>
              <a:t>The grid’s footage cannot show a multi-camera route; today’s live trace does.</a:t>
            </a:r>
            <a:endParaRPr lang="en-US" sz="1350" dirty="0"/>
          </a:p>
          <a:p>
            <a:pPr marL="177800" indent="-177800">
              <a:spcAft>
                <a:spcPts val="700"/>
              </a:spcAft>
              <a:buSzPct val="100000"/>
              <a:buChar char="•"/>
            </a:pPr>
            <a:r>
              <a:rPr lang="en-US" sz="1350" dirty="0">
                <a:solidFill>
                  <a:srgbClr val="111417"/>
                </a:solidFill>
                <a:latin typeface="Franklin Gothic Book" pitchFamily="34" charset="0"/>
                <a:ea typeface="Franklin Gothic Book" pitchFamily="34" charset="-122"/>
                <a:cs typeface="Franklin Gothic Book" pitchFamily="34" charset="-120"/>
              </a:rPr>
              <a:t>Statewide sizing is arithmetic, not an 80,000-camera load test.</a:t>
            </a:r>
            <a:endParaRPr lang="en-US" sz="1350" dirty="0"/>
          </a:p>
          <a:p>
            <a:pPr marL="177800" indent="-177800">
              <a:spcAft>
                <a:spcPts val="700"/>
              </a:spcAft>
              <a:buSzPct val="100000"/>
              <a:buChar char="•"/>
            </a:pPr>
            <a:r>
              <a:rPr lang="en-US" sz="1350" dirty="0">
                <a:solidFill>
                  <a:srgbClr val="111417"/>
                </a:solidFill>
                <a:latin typeface="Franklin Gothic Book" pitchFamily="34" charset="0"/>
                <a:ea typeface="Franklin Gothic Book" pitchFamily="34" charset="-122"/>
                <a:cs typeface="Franklin Gothic Book" pitchFamily="34" charset="-120"/>
              </a:rPr>
              <a:t>VAHAN and eGujCop connectors run against mocks until access is granted.</a:t>
            </a:r>
            <a:endParaRPr lang="en-US" sz="1350" dirty="0"/>
          </a:p>
          <a:p>
            <a:pPr marL="177800" indent="-177800">
              <a:spcAft>
                <a:spcPts val="700"/>
              </a:spcAft>
              <a:buSzPct val="100000"/>
              <a:buChar char="•"/>
            </a:pPr>
            <a:r>
              <a:rPr lang="en-US" sz="1350" dirty="0">
                <a:solidFill>
                  <a:srgbClr val="111417"/>
                </a:solidFill>
                <a:latin typeface="Franklin Gothic Book" pitchFamily="34" charset="0"/>
                <a:ea typeface="Franklin Gothic Book" pitchFamily="34" charset="-122"/>
                <a:cs typeface="Franklin Gothic Book" pitchFamily="34" charset="-120"/>
              </a:rPr>
              <a:t>Matching a vehicle whose plate is never read is designed, not built.</a:t>
            </a:r>
            <a:endParaRPr lang="en-US" sz="1350" dirty="0"/>
          </a:p>
        </p:txBody>
      </p:sp>
      <p:sp>
        <p:nvSpPr>
          <p:cNvPr id="38" name="Text 34"/>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evidence/ANPR-ACCURACY.md · CLOCK-READER-ACCURACY.md · TIER-CAPACITY.md · M14-EVIDENCE-RUN(-FINDINGS).md · DR-RESTORE-DRILL.md</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SCALE</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Bring the cameras you already have</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12</a:t>
            </a:r>
            <a:endParaRPr lang="en-US" sz="900" dirty="0"/>
          </a:p>
        </p:txBody>
      </p:sp>
      <p:sp>
        <p:nvSpPr>
          <p:cNvPr id="7" name="Shape 4"/>
          <p:cNvSpPr/>
          <p:nvPr/>
        </p:nvSpPr>
        <p:spPr>
          <a:xfrm>
            <a:off x="548640" y="1563624"/>
            <a:ext cx="11094415" cy="3224103"/>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8" name="Image 0" descr="preencoded.png">    </p:cNvPr>
          <p:cNvPicPr>
            <a:picLocks noChangeAspect="1"/>
          </p:cNvPicPr>
          <p:nvPr/>
        </p:nvPicPr>
        <p:blipFill>
          <a:blip r:embed="rId1"/>
          <a:stretch>
            <a:fillRect/>
          </a:stretch>
        </p:blipFill>
        <p:spPr>
          <a:xfrm>
            <a:off x="585216" y="1600200"/>
            <a:ext cx="11021263" cy="3150951"/>
          </a:xfrm>
          <a:prstGeom prst="rect">
            <a:avLst/>
          </a:prstGeom>
        </p:spPr>
      </p:pic>
      <p:pic>
        <p:nvPicPr>
          <p:cNvPr id="9" name="Image 1" descr="preencoded.png">    </p:cNvPr>
          <p:cNvPicPr>
            <a:picLocks noChangeAspect="1"/>
          </p:cNvPicPr>
          <p:nvPr/>
        </p:nvPicPr>
        <p:blipFill>
          <a:blip r:embed="rId2"/>
          <a:stretch>
            <a:fillRect/>
          </a:stretch>
        </p:blipFill>
        <p:spPr>
          <a:xfrm>
            <a:off x="548640" y="5135199"/>
            <a:ext cx="329184" cy="329184"/>
          </a:xfrm>
          <a:prstGeom prst="rect">
            <a:avLst/>
          </a:prstGeom>
        </p:spPr>
      </p:pic>
      <p:sp>
        <p:nvSpPr>
          <p:cNvPr id="10" name="Text 5"/>
          <p:cNvSpPr/>
          <p:nvPr/>
        </p:nvSpPr>
        <p:spPr>
          <a:xfrm>
            <a:off x="1060704" y="5116911"/>
            <a:ext cx="2055800"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Sync a catalogue</a:t>
            </a:r>
            <a:endParaRPr lang="en-US" sz="1500" dirty="0"/>
          </a:p>
        </p:txBody>
      </p:sp>
      <p:sp>
        <p:nvSpPr>
          <p:cNvPr id="11" name="Text 6"/>
          <p:cNvSpPr/>
          <p:nvPr/>
        </p:nvSpPr>
        <p:spPr>
          <a:xfrm>
            <a:off x="1060704" y="5400375"/>
            <a:ext cx="2055800"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How all 30 grid cameras were onboarded.</a:t>
            </a:r>
            <a:endParaRPr lang="en-US" sz="1250" dirty="0"/>
          </a:p>
        </p:txBody>
      </p:sp>
      <p:pic>
        <p:nvPicPr>
          <p:cNvPr id="12" name="Image 2" descr="preencoded.png">    </p:cNvPr>
          <p:cNvPicPr>
            <a:picLocks noChangeAspect="1"/>
          </p:cNvPicPr>
          <p:nvPr/>
        </p:nvPicPr>
        <p:blipFill>
          <a:blip r:embed="rId3"/>
          <a:stretch>
            <a:fillRect/>
          </a:stretch>
        </p:blipFill>
        <p:spPr>
          <a:xfrm>
            <a:off x="3390824" y="5135199"/>
            <a:ext cx="329184" cy="329184"/>
          </a:xfrm>
          <a:prstGeom prst="rect">
            <a:avLst/>
          </a:prstGeom>
        </p:spPr>
      </p:pic>
      <p:sp>
        <p:nvSpPr>
          <p:cNvPr id="13" name="Text 7"/>
          <p:cNvSpPr/>
          <p:nvPr/>
        </p:nvSpPr>
        <p:spPr>
          <a:xfrm>
            <a:off x="3902888" y="5116911"/>
            <a:ext cx="2055800"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Upload a camera list</a:t>
            </a:r>
            <a:endParaRPr lang="en-US" sz="1500" dirty="0"/>
          </a:p>
        </p:txBody>
      </p:sp>
      <p:sp>
        <p:nvSpPr>
          <p:cNvPr id="14" name="Text 8"/>
          <p:cNvSpPr/>
          <p:nvPr/>
        </p:nvSpPr>
        <p:spPr>
          <a:xfrm>
            <a:off x="3902888" y="5400375"/>
            <a:ext cx="2055800"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Every row checked in a dry run first.</a:t>
            </a:r>
            <a:endParaRPr lang="en-US" sz="1250" dirty="0"/>
          </a:p>
        </p:txBody>
      </p:sp>
      <p:pic>
        <p:nvPicPr>
          <p:cNvPr id="15" name="Image 3" descr="preencoded.png">    </p:cNvPr>
          <p:cNvPicPr>
            <a:picLocks noChangeAspect="1"/>
          </p:cNvPicPr>
          <p:nvPr/>
        </p:nvPicPr>
        <p:blipFill>
          <a:blip r:embed="rId4"/>
          <a:stretch>
            <a:fillRect/>
          </a:stretch>
        </p:blipFill>
        <p:spPr>
          <a:xfrm>
            <a:off x="6233008" y="5135199"/>
            <a:ext cx="329184" cy="329184"/>
          </a:xfrm>
          <a:prstGeom prst="rect">
            <a:avLst/>
          </a:prstGeom>
        </p:spPr>
      </p:pic>
      <p:sp>
        <p:nvSpPr>
          <p:cNvPr id="16" name="Text 9"/>
          <p:cNvSpPr/>
          <p:nvPr/>
        </p:nvSpPr>
        <p:spPr>
          <a:xfrm>
            <a:off x="6745072" y="5116911"/>
            <a:ext cx="2055800"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Discover devices</a:t>
            </a:r>
            <a:endParaRPr lang="en-US" sz="1500" dirty="0"/>
          </a:p>
        </p:txBody>
      </p:sp>
      <p:sp>
        <p:nvSpPr>
          <p:cNvPr id="17" name="Text 10"/>
          <p:cNvSpPr/>
          <p:nvPr/>
        </p:nvSpPr>
        <p:spPr>
          <a:xfrm>
            <a:off x="6745072" y="5400375"/>
            <a:ext cx="2055800"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ONVIF cameras and NVRs; streams listed first.</a:t>
            </a:r>
            <a:endParaRPr lang="en-US" sz="1250" dirty="0"/>
          </a:p>
        </p:txBody>
      </p:sp>
      <p:pic>
        <p:nvPicPr>
          <p:cNvPr id="18" name="Image 4" descr="preencoded.png">    </p:cNvPr>
          <p:cNvPicPr>
            <a:picLocks noChangeAspect="1"/>
          </p:cNvPicPr>
          <p:nvPr/>
        </p:nvPicPr>
        <p:blipFill>
          <a:blip r:embed="rId5"/>
          <a:stretch>
            <a:fillRect/>
          </a:stretch>
        </p:blipFill>
        <p:spPr>
          <a:xfrm>
            <a:off x="9075191" y="5135199"/>
            <a:ext cx="329184" cy="329184"/>
          </a:xfrm>
          <a:prstGeom prst="rect">
            <a:avLst/>
          </a:prstGeom>
        </p:spPr>
      </p:pic>
      <p:sp>
        <p:nvSpPr>
          <p:cNvPr id="19" name="Text 11"/>
          <p:cNvSpPr/>
          <p:nvPr/>
        </p:nvSpPr>
        <p:spPr>
          <a:xfrm>
            <a:off x="9587255" y="5116911"/>
            <a:ext cx="2055800"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Set each camera’s tier</a:t>
            </a:r>
            <a:endParaRPr lang="en-US" sz="1500" dirty="0"/>
          </a:p>
        </p:txBody>
      </p:sp>
      <p:sp>
        <p:nvSpPr>
          <p:cNvPr id="20" name="Text 12"/>
          <p:cNvSpPr/>
          <p:nvPr/>
        </p:nvSpPr>
        <p:spPr>
          <a:xfrm>
            <a:off x="9587255" y="5400375"/>
            <a:ext cx="2055800"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Live changes apply in 30 s, no restart.</a:t>
            </a:r>
            <a:endParaRPr lang="en-US" sz="1250" dirty="0"/>
          </a:p>
        </p:txBody>
      </p:sp>
      <p:sp>
        <p:nvSpPr>
          <p:cNvPr id="21" name="Text 13"/>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30 government cameras across 8 districts, onboarded from the live catalogue: H.264 and H.265, 576p to 1440p. 9 have no recorded location and are listed, not mapped.</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SCALE</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Analyse where it is filmed. Send meaning, not video.</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13</a:t>
            </a:r>
            <a:endParaRPr lang="en-US" sz="900" dirty="0"/>
          </a:p>
        </p:txBody>
      </p:sp>
      <p:sp>
        <p:nvSpPr>
          <p:cNvPr id="7" name="Shape 4"/>
          <p:cNvSpPr/>
          <p:nvPr/>
        </p:nvSpPr>
        <p:spPr>
          <a:xfrm>
            <a:off x="548640" y="1645920"/>
            <a:ext cx="1911645" cy="2331720"/>
          </a:xfrm>
          <a:prstGeom prst="roundRect">
            <a:avLst>
              <a:gd name="adj" fmla="val 3827"/>
            </a:avLst>
          </a:prstGeom>
          <a:solidFill>
            <a:srgbClr val="FBFBF9"/>
          </a:solidFill>
          <a:ln w="9525">
            <a:solidFill>
              <a:srgbClr val="D5D7D2"/>
            </a:solidFill>
            <a:prstDash val="solid"/>
          </a:ln>
        </p:spPr>
      </p:sp>
      <p:pic>
        <p:nvPicPr>
          <p:cNvPr id="8" name="Image 0" descr="preencoded.png">    </p:cNvPr>
          <p:cNvPicPr>
            <a:picLocks noChangeAspect="1"/>
          </p:cNvPicPr>
          <p:nvPr/>
        </p:nvPicPr>
        <p:blipFill>
          <a:blip r:embed="rId1"/>
          <a:stretch>
            <a:fillRect/>
          </a:stretch>
        </p:blipFill>
        <p:spPr>
          <a:xfrm>
            <a:off x="749808" y="1847088"/>
            <a:ext cx="384048" cy="384048"/>
          </a:xfrm>
          <a:prstGeom prst="rect">
            <a:avLst/>
          </a:prstGeom>
        </p:spPr>
      </p:pic>
      <p:sp>
        <p:nvSpPr>
          <p:cNvPr id="9" name="Text 5"/>
          <p:cNvSpPr/>
          <p:nvPr/>
        </p:nvSpPr>
        <p:spPr>
          <a:xfrm>
            <a:off x="749808" y="2340864"/>
            <a:ext cx="1545885" cy="566928"/>
          </a:xfrm>
          <a:prstGeom prst="rect">
            <a:avLst/>
          </a:prstGeom>
          <a:noFill/>
          <a:ln/>
        </p:spPr>
        <p:txBody>
          <a:bodyPr wrap="square" lIns="0" tIns="0" rIns="0" bIns="0" rtlCol="0" anchor="b"/>
          <a:lstStyle/>
          <a:p>
            <a:pPr indent="0" marL="0">
              <a:buNone/>
            </a:pPr>
            <a:r>
              <a:rPr lang="en-US" sz="1900" dirty="0">
                <a:solidFill>
                  <a:srgbClr val="111417"/>
                </a:solidFill>
                <a:latin typeface="Franklin Gothic Demi Cond" pitchFamily="34" charset="0"/>
                <a:ea typeface="Franklin Gothic Demi Cond" pitchFamily="34" charset="-122"/>
                <a:cs typeface="Franklin Gothic Demi Cond" pitchFamily="34" charset="-120"/>
              </a:rPr>
              <a:t>80,000 cameras</a:t>
            </a:r>
            <a:endParaRPr lang="en-US" sz="1900" dirty="0"/>
          </a:p>
        </p:txBody>
      </p:sp>
      <p:sp>
        <p:nvSpPr>
          <p:cNvPr id="10" name="Text 6"/>
          <p:cNvSpPr/>
          <p:nvPr/>
        </p:nvSpPr>
        <p:spPr>
          <a:xfrm>
            <a:off x="749808" y="2980944"/>
            <a:ext cx="1545885" cy="9144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Tiered: continuous, sampled, motion-triggered or view-only.</a:t>
            </a:r>
            <a:endParaRPr lang="en-US" sz="1250" dirty="0"/>
          </a:p>
        </p:txBody>
      </p:sp>
      <p:sp>
        <p:nvSpPr>
          <p:cNvPr id="11" name="Shape 7"/>
          <p:cNvSpPr/>
          <p:nvPr/>
        </p:nvSpPr>
        <p:spPr>
          <a:xfrm>
            <a:off x="2515149" y="2811780"/>
            <a:ext cx="274320" cy="0"/>
          </a:xfrm>
          <a:prstGeom prst="line">
            <a:avLst/>
          </a:prstGeom>
          <a:noFill/>
          <a:ln w="19050">
            <a:solidFill>
              <a:srgbClr val="111417"/>
            </a:solidFill>
            <a:prstDash val="solid"/>
            <a:tailEnd type="triangle"/>
          </a:ln>
        </p:spPr>
      </p:sp>
      <p:sp>
        <p:nvSpPr>
          <p:cNvPr id="12" name="Shape 8"/>
          <p:cNvSpPr/>
          <p:nvPr/>
        </p:nvSpPr>
        <p:spPr>
          <a:xfrm>
            <a:off x="2844333" y="1645920"/>
            <a:ext cx="1911645" cy="2331720"/>
          </a:xfrm>
          <a:prstGeom prst="roundRect">
            <a:avLst>
              <a:gd name="adj" fmla="val 3827"/>
            </a:avLst>
          </a:prstGeom>
          <a:solidFill>
            <a:srgbClr val="FBFBF9"/>
          </a:solidFill>
          <a:ln w="9525">
            <a:solidFill>
              <a:srgbClr val="D5D7D2"/>
            </a:solidFill>
            <a:prstDash val="solid"/>
          </a:ln>
        </p:spPr>
      </p:sp>
      <p:pic>
        <p:nvPicPr>
          <p:cNvPr id="13" name="Image 1" descr="preencoded.png">    </p:cNvPr>
          <p:cNvPicPr>
            <a:picLocks noChangeAspect="1"/>
          </p:cNvPicPr>
          <p:nvPr/>
        </p:nvPicPr>
        <p:blipFill>
          <a:blip r:embed="rId2"/>
          <a:stretch>
            <a:fillRect/>
          </a:stretch>
        </p:blipFill>
        <p:spPr>
          <a:xfrm>
            <a:off x="3045501" y="1847088"/>
            <a:ext cx="384048" cy="384048"/>
          </a:xfrm>
          <a:prstGeom prst="rect">
            <a:avLst/>
          </a:prstGeom>
        </p:spPr>
      </p:pic>
      <p:sp>
        <p:nvSpPr>
          <p:cNvPr id="14" name="Text 9"/>
          <p:cNvSpPr/>
          <p:nvPr/>
        </p:nvSpPr>
        <p:spPr>
          <a:xfrm>
            <a:off x="3045501" y="2340864"/>
            <a:ext cx="1545885" cy="566928"/>
          </a:xfrm>
          <a:prstGeom prst="rect">
            <a:avLst/>
          </a:prstGeom>
          <a:noFill/>
          <a:ln/>
        </p:spPr>
        <p:txBody>
          <a:bodyPr wrap="square" lIns="0" tIns="0" rIns="0" bIns="0" rtlCol="0" anchor="b"/>
          <a:lstStyle/>
          <a:p>
            <a:pPr indent="0" marL="0">
              <a:buNone/>
            </a:pPr>
            <a:r>
              <a:rPr lang="en-US" sz="1900" dirty="0">
                <a:solidFill>
                  <a:srgbClr val="111417"/>
                </a:solidFill>
                <a:latin typeface="Franklin Gothic Demi Cond" pitchFamily="34" charset="0"/>
                <a:ea typeface="Franklin Gothic Demi Cond" pitchFamily="34" charset="-122"/>
                <a:cs typeface="Franklin Gothic Demi Cond" pitchFamily="34" charset="-120"/>
              </a:rPr>
              <a:t>Department systems</a:t>
            </a:r>
            <a:endParaRPr lang="en-US" sz="1900" dirty="0"/>
          </a:p>
        </p:txBody>
      </p:sp>
      <p:sp>
        <p:nvSpPr>
          <p:cNvPr id="15" name="Text 10"/>
          <p:cNvSpPr/>
          <p:nvPr/>
        </p:nvSpPr>
        <p:spPr>
          <a:xfrm>
            <a:off x="3045501" y="2980944"/>
            <a:ext cx="1545885" cy="9144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Unchanged. Their 7–15 days of recording stay where they are.</a:t>
            </a:r>
            <a:endParaRPr lang="en-US" sz="1250" dirty="0"/>
          </a:p>
        </p:txBody>
      </p:sp>
      <p:sp>
        <p:nvSpPr>
          <p:cNvPr id="16" name="Shape 11"/>
          <p:cNvSpPr/>
          <p:nvPr/>
        </p:nvSpPr>
        <p:spPr>
          <a:xfrm>
            <a:off x="4810841" y="2811780"/>
            <a:ext cx="274320" cy="0"/>
          </a:xfrm>
          <a:prstGeom prst="line">
            <a:avLst/>
          </a:prstGeom>
          <a:noFill/>
          <a:ln w="19050">
            <a:solidFill>
              <a:srgbClr val="111417"/>
            </a:solidFill>
            <a:prstDash val="solid"/>
            <a:tailEnd type="triangle"/>
          </a:ln>
        </p:spPr>
      </p:sp>
      <p:sp>
        <p:nvSpPr>
          <p:cNvPr id="17" name="Shape 12"/>
          <p:cNvSpPr/>
          <p:nvPr/>
        </p:nvSpPr>
        <p:spPr>
          <a:xfrm>
            <a:off x="5140025" y="1645920"/>
            <a:ext cx="1911645" cy="2331720"/>
          </a:xfrm>
          <a:prstGeom prst="roundRect">
            <a:avLst>
              <a:gd name="adj" fmla="val 3827"/>
            </a:avLst>
          </a:prstGeom>
          <a:solidFill>
            <a:srgbClr val="111417"/>
          </a:solidFill>
          <a:ln w="9525">
            <a:solidFill>
              <a:srgbClr val="111417"/>
            </a:solidFill>
            <a:prstDash val="solid"/>
          </a:ln>
        </p:spPr>
      </p:sp>
      <p:pic>
        <p:nvPicPr>
          <p:cNvPr id="18" name="Image 2" descr="preencoded.png">    </p:cNvPr>
          <p:cNvPicPr>
            <a:picLocks noChangeAspect="1"/>
          </p:cNvPicPr>
          <p:nvPr/>
        </p:nvPicPr>
        <p:blipFill>
          <a:blip r:embed="rId3"/>
          <a:stretch>
            <a:fillRect/>
          </a:stretch>
        </p:blipFill>
        <p:spPr>
          <a:xfrm>
            <a:off x="5341193" y="1847088"/>
            <a:ext cx="384048" cy="384048"/>
          </a:xfrm>
          <a:prstGeom prst="rect">
            <a:avLst/>
          </a:prstGeom>
        </p:spPr>
      </p:pic>
      <p:sp>
        <p:nvSpPr>
          <p:cNvPr id="19" name="Text 13"/>
          <p:cNvSpPr/>
          <p:nvPr/>
        </p:nvSpPr>
        <p:spPr>
          <a:xfrm>
            <a:off x="5341193" y="2340864"/>
            <a:ext cx="1545885" cy="566928"/>
          </a:xfrm>
          <a:prstGeom prst="rect">
            <a:avLst/>
          </a:prstGeom>
          <a:noFill/>
          <a:ln/>
        </p:spPr>
        <p:txBody>
          <a:bodyPr wrap="square" lIns="0" tIns="0" rIns="0" bIns="0" rtlCol="0" anchor="b"/>
          <a:lstStyle/>
          <a:p>
            <a:pPr indent="0" marL="0">
              <a:buNone/>
            </a:pPr>
            <a:r>
              <a:rPr lang="en-US" sz="1900" dirty="0">
                <a:solidFill>
                  <a:srgbClr val="EEF0EC"/>
                </a:solidFill>
                <a:latin typeface="Franklin Gothic Demi Cond" pitchFamily="34" charset="0"/>
                <a:ea typeface="Franklin Gothic Demi Cond" pitchFamily="34" charset="-122"/>
                <a:cs typeface="Franklin Gothic Demi Cond" pitchFamily="34" charset="-120"/>
              </a:rPr>
              <a:t>District edge ×34</a:t>
            </a:r>
            <a:endParaRPr lang="en-US" sz="1900" dirty="0"/>
          </a:p>
        </p:txBody>
      </p:sp>
      <p:sp>
        <p:nvSpPr>
          <p:cNvPr id="20" name="Text 14"/>
          <p:cNvSpPr/>
          <p:nvPr/>
        </p:nvSpPr>
        <p:spPr>
          <a:xfrm>
            <a:off x="5341193" y="2980944"/>
            <a:ext cx="1545885" cy="914400"/>
          </a:xfrm>
          <a:prstGeom prst="rect">
            <a:avLst/>
          </a:prstGeom>
          <a:noFill/>
          <a:ln/>
        </p:spPr>
        <p:txBody>
          <a:bodyPr wrap="square" lIns="0" tIns="0" rIns="0" bIns="0" rtlCol="0" anchor="t"/>
          <a:lstStyle/>
          <a:p>
            <a:pPr indent="0" marL="0">
              <a:buNone/>
            </a:pPr>
            <a:r>
              <a:rPr lang="en-US" sz="1250" dirty="0">
                <a:solidFill>
                  <a:srgbClr val="A9AFB5"/>
                </a:solidFill>
                <a:latin typeface="Franklin Gothic Book" pitchFamily="34" charset="0"/>
                <a:ea typeface="Franklin Gothic Book" pitchFamily="34" charset="-122"/>
                <a:cs typeface="Franklin Gothic Book" pitchFamily="34" charset="-120"/>
              </a:rPr>
              <a:t>Reads plates where the video is. Keeps working offline for 72 h.</a:t>
            </a:r>
            <a:endParaRPr lang="en-US" sz="1250" dirty="0"/>
          </a:p>
        </p:txBody>
      </p:sp>
      <p:sp>
        <p:nvSpPr>
          <p:cNvPr id="21" name="Shape 15"/>
          <p:cNvSpPr/>
          <p:nvPr/>
        </p:nvSpPr>
        <p:spPr>
          <a:xfrm>
            <a:off x="7106534" y="2811780"/>
            <a:ext cx="274320" cy="0"/>
          </a:xfrm>
          <a:prstGeom prst="line">
            <a:avLst/>
          </a:prstGeom>
          <a:noFill/>
          <a:ln w="19050">
            <a:solidFill>
              <a:srgbClr val="111417"/>
            </a:solidFill>
            <a:prstDash val="solid"/>
            <a:tailEnd type="triangle"/>
          </a:ln>
        </p:spPr>
      </p:sp>
      <p:sp>
        <p:nvSpPr>
          <p:cNvPr id="22" name="Shape 16"/>
          <p:cNvSpPr/>
          <p:nvPr/>
        </p:nvSpPr>
        <p:spPr>
          <a:xfrm>
            <a:off x="7435718" y="1645920"/>
            <a:ext cx="1911645" cy="2331720"/>
          </a:xfrm>
          <a:prstGeom prst="roundRect">
            <a:avLst>
              <a:gd name="adj" fmla="val 3827"/>
            </a:avLst>
          </a:prstGeom>
          <a:solidFill>
            <a:srgbClr val="FBFBF9"/>
          </a:solidFill>
          <a:ln w="9525">
            <a:solidFill>
              <a:srgbClr val="D5D7D2"/>
            </a:solidFill>
            <a:prstDash val="solid"/>
          </a:ln>
        </p:spPr>
      </p:sp>
      <p:pic>
        <p:nvPicPr>
          <p:cNvPr id="23" name="Image 3" descr="preencoded.png">    </p:cNvPr>
          <p:cNvPicPr>
            <a:picLocks noChangeAspect="1"/>
          </p:cNvPicPr>
          <p:nvPr/>
        </p:nvPicPr>
        <p:blipFill>
          <a:blip r:embed="rId4"/>
          <a:stretch>
            <a:fillRect/>
          </a:stretch>
        </p:blipFill>
        <p:spPr>
          <a:xfrm>
            <a:off x="7636886" y="1847088"/>
            <a:ext cx="384048" cy="384048"/>
          </a:xfrm>
          <a:prstGeom prst="rect">
            <a:avLst/>
          </a:prstGeom>
        </p:spPr>
      </p:pic>
      <p:sp>
        <p:nvSpPr>
          <p:cNvPr id="24" name="Text 17"/>
          <p:cNvSpPr/>
          <p:nvPr/>
        </p:nvSpPr>
        <p:spPr>
          <a:xfrm>
            <a:off x="7636886" y="2340864"/>
            <a:ext cx="1545885" cy="566928"/>
          </a:xfrm>
          <a:prstGeom prst="rect">
            <a:avLst/>
          </a:prstGeom>
          <a:noFill/>
          <a:ln/>
        </p:spPr>
        <p:txBody>
          <a:bodyPr wrap="square" lIns="0" tIns="0" rIns="0" bIns="0" rtlCol="0" anchor="b"/>
          <a:lstStyle/>
          <a:p>
            <a:pPr indent="0" marL="0">
              <a:buNone/>
            </a:pPr>
            <a:r>
              <a:rPr lang="en-US" sz="1900" dirty="0">
                <a:solidFill>
                  <a:srgbClr val="111417"/>
                </a:solidFill>
                <a:latin typeface="Franklin Gothic Demi Cond" pitchFamily="34" charset="0"/>
                <a:ea typeface="Franklin Gothic Demi Cond" pitchFamily="34" charset="-122"/>
                <a:cs typeface="Franklin Gothic Demi Cond" pitchFamily="34" charset="-120"/>
              </a:rPr>
              <a:t>State core</a:t>
            </a:r>
            <a:endParaRPr lang="en-US" sz="1900" dirty="0"/>
          </a:p>
        </p:txBody>
      </p:sp>
      <p:sp>
        <p:nvSpPr>
          <p:cNvPr id="25" name="Text 18"/>
          <p:cNvSpPr/>
          <p:nvPr/>
        </p:nvSpPr>
        <p:spPr>
          <a:xfrm>
            <a:off x="7636886" y="2980944"/>
            <a:ext cx="1545885" cy="9144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Search, watchlist, alerts. Warm DR site: RPO 15 min, RTO 1 h.</a:t>
            </a:r>
            <a:endParaRPr lang="en-US" sz="1250" dirty="0"/>
          </a:p>
        </p:txBody>
      </p:sp>
      <p:sp>
        <p:nvSpPr>
          <p:cNvPr id="26" name="Shape 19"/>
          <p:cNvSpPr/>
          <p:nvPr/>
        </p:nvSpPr>
        <p:spPr>
          <a:xfrm>
            <a:off x="9402227" y="2811780"/>
            <a:ext cx="274320" cy="0"/>
          </a:xfrm>
          <a:prstGeom prst="line">
            <a:avLst/>
          </a:prstGeom>
          <a:noFill/>
          <a:ln w="19050">
            <a:solidFill>
              <a:srgbClr val="111417"/>
            </a:solidFill>
            <a:prstDash val="solid"/>
            <a:tailEnd type="triangle"/>
          </a:ln>
        </p:spPr>
      </p:sp>
      <p:sp>
        <p:nvSpPr>
          <p:cNvPr id="27" name="Shape 20"/>
          <p:cNvSpPr/>
          <p:nvPr/>
        </p:nvSpPr>
        <p:spPr>
          <a:xfrm>
            <a:off x="9731411" y="1645920"/>
            <a:ext cx="1911645" cy="2331720"/>
          </a:xfrm>
          <a:prstGeom prst="roundRect">
            <a:avLst>
              <a:gd name="adj" fmla="val 3827"/>
            </a:avLst>
          </a:prstGeom>
          <a:solidFill>
            <a:srgbClr val="FBFBF9"/>
          </a:solidFill>
          <a:ln w="9525">
            <a:solidFill>
              <a:srgbClr val="D5D7D2"/>
            </a:solidFill>
            <a:prstDash val="solid"/>
          </a:ln>
        </p:spPr>
      </p:sp>
      <p:pic>
        <p:nvPicPr>
          <p:cNvPr id="28" name="Image 4" descr="preencoded.png">    </p:cNvPr>
          <p:cNvPicPr>
            <a:picLocks noChangeAspect="1"/>
          </p:cNvPicPr>
          <p:nvPr/>
        </p:nvPicPr>
        <p:blipFill>
          <a:blip r:embed="rId5"/>
          <a:stretch>
            <a:fillRect/>
          </a:stretch>
        </p:blipFill>
        <p:spPr>
          <a:xfrm>
            <a:off x="9932579" y="1847088"/>
            <a:ext cx="384048" cy="384048"/>
          </a:xfrm>
          <a:prstGeom prst="rect">
            <a:avLst/>
          </a:prstGeom>
        </p:spPr>
      </p:pic>
      <p:sp>
        <p:nvSpPr>
          <p:cNvPr id="29" name="Text 21"/>
          <p:cNvSpPr/>
          <p:nvPr/>
        </p:nvSpPr>
        <p:spPr>
          <a:xfrm>
            <a:off x="9932579" y="2340864"/>
            <a:ext cx="1545885" cy="566928"/>
          </a:xfrm>
          <a:prstGeom prst="rect">
            <a:avLst/>
          </a:prstGeom>
          <a:noFill/>
          <a:ln/>
        </p:spPr>
        <p:txBody>
          <a:bodyPr wrap="square" lIns="0" tIns="0" rIns="0" bIns="0" rtlCol="0" anchor="b"/>
          <a:lstStyle/>
          <a:p>
            <a:pPr indent="0" marL="0">
              <a:buNone/>
            </a:pPr>
            <a:r>
              <a:rPr lang="en-US" sz="1900" dirty="0">
                <a:solidFill>
                  <a:srgbClr val="111417"/>
                </a:solidFill>
                <a:latin typeface="Franklin Gothic Demi Cond" pitchFamily="34" charset="0"/>
                <a:ea typeface="Franklin Gothic Demi Cond" pitchFamily="34" charset="-122"/>
                <a:cs typeface="Franklin Gothic Demi Cond" pitchFamily="34" charset="-120"/>
              </a:rPr>
              <a:t>Officers and systems</a:t>
            </a:r>
            <a:endParaRPr lang="en-US" sz="1900" dirty="0"/>
          </a:p>
        </p:txBody>
      </p:sp>
      <p:sp>
        <p:nvSpPr>
          <p:cNvPr id="30" name="Text 22"/>
          <p:cNvSpPr/>
          <p:nvPr/>
        </p:nvSpPr>
        <p:spPr>
          <a:xfrm>
            <a:off x="9932579" y="2980944"/>
            <a:ext cx="1545885" cy="9144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Control rooms, field phones, VAHAN · SARTHI · eGujCop.</a:t>
            </a:r>
            <a:endParaRPr lang="en-US" sz="1250" dirty="0"/>
          </a:p>
        </p:txBody>
      </p:sp>
      <p:sp>
        <p:nvSpPr>
          <p:cNvPr id="31" name="Shape 23"/>
          <p:cNvSpPr/>
          <p:nvPr/>
        </p:nvSpPr>
        <p:spPr>
          <a:xfrm>
            <a:off x="5140025" y="4087368"/>
            <a:ext cx="1911645" cy="310896"/>
          </a:xfrm>
          <a:prstGeom prst="rect">
            <a:avLst/>
          </a:prstGeom>
          <a:solidFill>
            <a:srgbClr val="FFB000"/>
          </a:solidFill>
          <a:ln w="12700">
            <a:solidFill>
              <a:srgbClr val="FFB000"/>
            </a:solidFill>
            <a:prstDash val="solid"/>
          </a:ln>
        </p:spPr>
      </p:sp>
      <p:sp>
        <p:nvSpPr>
          <p:cNvPr id="32" name="Text 24"/>
          <p:cNvSpPr/>
          <p:nvPr/>
        </p:nvSpPr>
        <p:spPr>
          <a:xfrm>
            <a:off x="5140025" y="4087368"/>
            <a:ext cx="1911645" cy="310896"/>
          </a:xfrm>
          <a:prstGeom prst="rect">
            <a:avLst/>
          </a:prstGeom>
          <a:noFill/>
          <a:ln/>
        </p:spPr>
        <p:txBody>
          <a:bodyPr wrap="square" lIns="0" tIns="0" rIns="0" bIns="0" rtlCol="0" anchor="ctr"/>
          <a:lstStyle/>
          <a:p>
            <a:pPr algn="ctr" indent="0" marL="0">
              <a:buNone/>
            </a:pPr>
            <a:r>
              <a:rPr lang="en-US" sz="1050" b="1" dirty="0">
                <a:solidFill>
                  <a:srgbClr val="111417"/>
                </a:solidFill>
                <a:latin typeface="Consolas" pitchFamily="34" charset="0"/>
                <a:ea typeface="Consolas" pitchFamily="34" charset="-122"/>
                <a:cs typeface="Consolas" pitchFamily="34" charset="-120"/>
              </a:rPr>
              <a:t>TODAY: ONE LAPTOP</a:t>
            </a:r>
            <a:endParaRPr lang="en-US" sz="1050" dirty="0"/>
          </a:p>
        </p:txBody>
      </p:sp>
      <p:sp>
        <p:nvSpPr>
          <p:cNvPr id="33" name="Text 25"/>
          <p:cNvSpPr/>
          <p:nvPr/>
        </p:nvSpPr>
        <p:spPr>
          <a:xfrm>
            <a:off x="7435718" y="4105656"/>
            <a:ext cx="1911645" cy="274320"/>
          </a:xfrm>
          <a:prstGeom prst="rect">
            <a:avLst/>
          </a:prstGeom>
          <a:noFill/>
          <a:ln/>
        </p:spPr>
        <p:txBody>
          <a:bodyPr wrap="square" lIns="0" tIns="0" rIns="0" bIns="0" rtlCol="0" anchor="t"/>
          <a:lstStyle/>
          <a:p>
            <a:pPr algn="ctr" indent="0" marL="0">
              <a:buNone/>
            </a:pPr>
            <a:r>
              <a:rPr lang="en-US" sz="1000" dirty="0">
                <a:solidFill>
                  <a:srgbClr val="4C5157"/>
                </a:solidFill>
                <a:latin typeface="Consolas" pitchFamily="34" charset="0"/>
                <a:ea typeface="Consolas" pitchFamily="34" charset="-122"/>
                <a:cs typeface="Consolas" pitchFamily="34" charset="-120"/>
              </a:rPr>
              <a:t>≈31 KB per sighting arrives</a:t>
            </a:r>
            <a:endParaRPr lang="en-US" sz="1000" dirty="0"/>
          </a:p>
        </p:txBody>
      </p:sp>
      <p:sp>
        <p:nvSpPr>
          <p:cNvPr id="34" name="Shape 26"/>
          <p:cNvSpPr/>
          <p:nvPr/>
        </p:nvSpPr>
        <p:spPr>
          <a:xfrm>
            <a:off x="548640" y="4617720"/>
            <a:ext cx="5410048" cy="1417320"/>
          </a:xfrm>
          <a:prstGeom prst="roundRect">
            <a:avLst>
              <a:gd name="adj" fmla="val 5161"/>
            </a:avLst>
          </a:prstGeom>
          <a:solidFill>
            <a:srgbClr val="FBFBF9"/>
          </a:solidFill>
          <a:ln w="9525">
            <a:solidFill>
              <a:srgbClr val="D5D7D2"/>
            </a:solidFill>
            <a:prstDash val="solid"/>
          </a:ln>
        </p:spPr>
      </p:sp>
      <p:sp>
        <p:nvSpPr>
          <p:cNvPr id="35" name="Text 27"/>
          <p:cNvSpPr/>
          <p:nvPr/>
        </p:nvSpPr>
        <p:spPr>
          <a:xfrm>
            <a:off x="822960" y="4754880"/>
            <a:ext cx="4861408" cy="292608"/>
          </a:xfrm>
          <a:prstGeom prst="rect">
            <a:avLst/>
          </a:prstGeom>
          <a:noFill/>
          <a:ln/>
        </p:spPr>
        <p:txBody>
          <a:bodyPr wrap="square" lIns="0" tIns="0" rIns="0" bIns="0" rtlCol="0" anchor="t"/>
          <a:lstStyle/>
          <a:p>
            <a:pPr indent="0" marL="0">
              <a:buNone/>
            </a:pPr>
            <a:r>
              <a:rPr lang="en-US" sz="1400" dirty="0">
                <a:solidFill>
                  <a:srgbClr val="4C5157"/>
                </a:solidFill>
                <a:latin typeface="Franklin Gothic Demi" pitchFamily="34" charset="0"/>
                <a:ea typeface="Franklin Gothic Demi" pitchFamily="34" charset="-122"/>
                <a:cs typeface="Franklin Gothic Demi" pitchFamily="34" charset="-120"/>
              </a:rPr>
              <a:t>Centralise all video</a:t>
            </a:r>
            <a:endParaRPr lang="en-US" sz="1400" dirty="0"/>
          </a:p>
        </p:txBody>
      </p:sp>
      <p:sp>
        <p:nvSpPr>
          <p:cNvPr id="36" name="Text 28"/>
          <p:cNvSpPr/>
          <p:nvPr/>
        </p:nvSpPr>
        <p:spPr>
          <a:xfrm>
            <a:off x="822960" y="5074920"/>
            <a:ext cx="2377440" cy="548640"/>
          </a:xfrm>
          <a:prstGeom prst="rect">
            <a:avLst/>
          </a:prstGeom>
          <a:noFill/>
          <a:ln/>
        </p:spPr>
        <p:txBody>
          <a:bodyPr wrap="square" lIns="0" tIns="0" rIns="0" bIns="0" rtlCol="0" anchor="t"/>
          <a:lstStyle/>
          <a:p>
            <a:pPr indent="0" marL="0">
              <a:buNone/>
            </a:pPr>
            <a:r>
              <a:rPr lang="en-US" sz="3400" dirty="0">
                <a:solidFill>
                  <a:srgbClr val="4C5157"/>
                </a:solidFill>
                <a:latin typeface="Franklin Gothic Demi Cond" pitchFamily="34" charset="0"/>
                <a:ea typeface="Franklin Gothic Demi Cond" pitchFamily="34" charset="-122"/>
                <a:cs typeface="Franklin Gothic Demi Cond" pitchFamily="34" charset="-120"/>
              </a:rPr>
              <a:t>160 Gbps</a:t>
            </a:r>
            <a:endParaRPr lang="en-US" sz="3400" dirty="0"/>
          </a:p>
        </p:txBody>
      </p:sp>
      <p:sp>
        <p:nvSpPr>
          <p:cNvPr id="37" name="Text 29"/>
          <p:cNvSpPr/>
          <p:nvPr/>
        </p:nvSpPr>
        <p:spPr>
          <a:xfrm>
            <a:off x="822960" y="5623560"/>
            <a:ext cx="2377440" cy="274320"/>
          </a:xfrm>
          <a:prstGeom prst="rect">
            <a:avLst/>
          </a:prstGeom>
          <a:noFill/>
          <a:ln/>
        </p:spPr>
        <p:txBody>
          <a:bodyPr wrap="square" lIns="0" tIns="0" rIns="0" bIns="0" rtlCol="0" anchor="t"/>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sustained backbone</a:t>
            </a:r>
            <a:endParaRPr lang="en-US" sz="1200" dirty="0"/>
          </a:p>
        </p:txBody>
      </p:sp>
      <p:sp>
        <p:nvSpPr>
          <p:cNvPr id="38" name="Text 30"/>
          <p:cNvSpPr/>
          <p:nvPr/>
        </p:nvSpPr>
        <p:spPr>
          <a:xfrm>
            <a:off x="3291840" y="5074920"/>
            <a:ext cx="2377440" cy="548640"/>
          </a:xfrm>
          <a:prstGeom prst="rect">
            <a:avLst/>
          </a:prstGeom>
          <a:noFill/>
          <a:ln/>
        </p:spPr>
        <p:txBody>
          <a:bodyPr wrap="square" lIns="0" tIns="0" rIns="0" bIns="0" rtlCol="0" anchor="t"/>
          <a:lstStyle/>
          <a:p>
            <a:pPr indent="0" marL="0">
              <a:buNone/>
            </a:pPr>
            <a:r>
              <a:rPr lang="en-US" sz="3400" dirty="0">
                <a:solidFill>
                  <a:srgbClr val="4C5157"/>
                </a:solidFill>
                <a:latin typeface="Franklin Gothic Demi Cond" pitchFamily="34" charset="0"/>
                <a:ea typeface="Franklin Gothic Demi Cond" pitchFamily="34" charset="-122"/>
                <a:cs typeface="Franklin Gothic Demi Cond" pitchFamily="34" charset="-120"/>
              </a:rPr>
              <a:t>12.1 PB</a:t>
            </a:r>
            <a:endParaRPr lang="en-US" sz="3400" dirty="0"/>
          </a:p>
        </p:txBody>
      </p:sp>
      <p:sp>
        <p:nvSpPr>
          <p:cNvPr id="39" name="Text 31"/>
          <p:cNvSpPr/>
          <p:nvPr/>
        </p:nvSpPr>
        <p:spPr>
          <a:xfrm>
            <a:off x="3291840" y="5623560"/>
            <a:ext cx="2377440" cy="274320"/>
          </a:xfrm>
          <a:prstGeom prst="rect">
            <a:avLst/>
          </a:prstGeom>
          <a:noFill/>
          <a:ln/>
        </p:spPr>
        <p:txBody>
          <a:bodyPr wrap="square" lIns="0" tIns="0" rIns="0" bIns="0" rtlCol="0" anchor="t"/>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hot storage for one week</a:t>
            </a:r>
            <a:endParaRPr lang="en-US" sz="1200" dirty="0"/>
          </a:p>
        </p:txBody>
      </p:sp>
      <p:sp>
        <p:nvSpPr>
          <p:cNvPr id="40" name="Shape 32"/>
          <p:cNvSpPr/>
          <p:nvPr/>
        </p:nvSpPr>
        <p:spPr>
          <a:xfrm>
            <a:off x="6233008" y="4617720"/>
            <a:ext cx="5410048" cy="1417320"/>
          </a:xfrm>
          <a:prstGeom prst="roundRect">
            <a:avLst>
              <a:gd name="adj" fmla="val 5161"/>
            </a:avLst>
          </a:prstGeom>
          <a:solidFill>
            <a:srgbClr val="FFF4DA"/>
          </a:solidFill>
          <a:ln w="9525">
            <a:solidFill>
              <a:srgbClr val="ECCB78"/>
            </a:solidFill>
            <a:prstDash val="solid"/>
          </a:ln>
        </p:spPr>
      </p:sp>
      <p:sp>
        <p:nvSpPr>
          <p:cNvPr id="41" name="Text 33"/>
          <p:cNvSpPr/>
          <p:nvPr/>
        </p:nvSpPr>
        <p:spPr>
          <a:xfrm>
            <a:off x="6507328" y="4754880"/>
            <a:ext cx="4861408" cy="292608"/>
          </a:xfrm>
          <a:prstGeom prst="rect">
            <a:avLst/>
          </a:prstGeom>
          <a:noFill/>
          <a:ln/>
        </p:spPr>
        <p:txBody>
          <a:bodyPr wrap="square" lIns="0" tIns="0" rIns="0" bIns="0" rtlCol="0" anchor="t"/>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Sentinel: analyse at the edge</a:t>
            </a:r>
            <a:endParaRPr lang="en-US" sz="1400" dirty="0"/>
          </a:p>
        </p:txBody>
      </p:sp>
      <p:sp>
        <p:nvSpPr>
          <p:cNvPr id="42" name="Text 34"/>
          <p:cNvSpPr/>
          <p:nvPr/>
        </p:nvSpPr>
        <p:spPr>
          <a:xfrm>
            <a:off x="6507328" y="5074920"/>
            <a:ext cx="2377440" cy="548640"/>
          </a:xfrm>
          <a:prstGeom prst="rect">
            <a:avLst/>
          </a:prstGeom>
          <a:noFill/>
          <a:ln/>
        </p:spPr>
        <p:txBody>
          <a:bodyPr wrap="square" lIns="0" tIns="0" rIns="0" bIns="0" rtlCol="0" anchor="t"/>
          <a:lstStyle/>
          <a:p>
            <a:pPr indent="0" marL="0">
              <a:buNone/>
            </a:pPr>
            <a:r>
              <a:rPr lang="en-US" sz="3400" dirty="0">
                <a:solidFill>
                  <a:srgbClr val="111417"/>
                </a:solidFill>
                <a:latin typeface="Franklin Gothic Demi Cond" pitchFamily="34" charset="0"/>
                <a:ea typeface="Franklin Gothic Demi Cond" pitchFamily="34" charset="-122"/>
                <a:cs typeface="Franklin Gothic Demi Cond" pitchFamily="34" charset="-120"/>
              </a:rPr>
              <a:t>≈140 Mbps</a:t>
            </a:r>
            <a:endParaRPr lang="en-US" sz="3400" dirty="0"/>
          </a:p>
        </p:txBody>
      </p:sp>
      <p:sp>
        <p:nvSpPr>
          <p:cNvPr id="43" name="Text 35"/>
          <p:cNvSpPr/>
          <p:nvPr/>
        </p:nvSpPr>
        <p:spPr>
          <a:xfrm>
            <a:off x="6507328" y="5623560"/>
            <a:ext cx="2377440" cy="274320"/>
          </a:xfrm>
          <a:prstGeom prst="rect">
            <a:avLst/>
          </a:prstGeom>
          <a:noFill/>
          <a:ln/>
        </p:spPr>
        <p:txBody>
          <a:bodyPr wrap="square" lIns="0" tIns="0" rIns="0" bIns="0" rtlCol="0" anchor="t"/>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events and snapshots</a:t>
            </a:r>
            <a:endParaRPr lang="en-US" sz="1200" dirty="0"/>
          </a:p>
        </p:txBody>
      </p:sp>
      <p:sp>
        <p:nvSpPr>
          <p:cNvPr id="44" name="Text 36"/>
          <p:cNvSpPr/>
          <p:nvPr/>
        </p:nvSpPr>
        <p:spPr>
          <a:xfrm>
            <a:off x="8976208" y="5074920"/>
            <a:ext cx="2377440" cy="548640"/>
          </a:xfrm>
          <a:prstGeom prst="rect">
            <a:avLst/>
          </a:prstGeom>
          <a:noFill/>
          <a:ln/>
        </p:spPr>
        <p:txBody>
          <a:bodyPr wrap="square" lIns="0" tIns="0" rIns="0" bIns="0" rtlCol="0" anchor="t"/>
          <a:lstStyle/>
          <a:p>
            <a:pPr indent="0" marL="0">
              <a:buNone/>
            </a:pPr>
            <a:r>
              <a:rPr lang="en-US" sz="3400" dirty="0">
                <a:solidFill>
                  <a:srgbClr val="111417"/>
                </a:solidFill>
                <a:latin typeface="Franklin Gothic Demi Cond" pitchFamily="34" charset="0"/>
                <a:ea typeface="Franklin Gothic Demi Cond" pitchFamily="34" charset="-122"/>
                <a:cs typeface="Franklin Gothic Demi Cond" pitchFamily="34" charset="-120"/>
              </a:rPr>
              <a:t>≈390 TB</a:t>
            </a:r>
            <a:endParaRPr lang="en-US" sz="3400" dirty="0"/>
          </a:p>
        </p:txBody>
      </p:sp>
      <p:sp>
        <p:nvSpPr>
          <p:cNvPr id="45" name="Text 37"/>
          <p:cNvSpPr/>
          <p:nvPr/>
        </p:nvSpPr>
        <p:spPr>
          <a:xfrm>
            <a:off x="8976208" y="5623560"/>
            <a:ext cx="2377440" cy="274320"/>
          </a:xfrm>
          <a:prstGeom prst="rect">
            <a:avLst/>
          </a:prstGeom>
          <a:noFill/>
          <a:ln/>
        </p:spPr>
        <p:txBody>
          <a:bodyPr wrap="square" lIns="0" tIns="0" rIns="0" bIns="0" rtlCol="0" anchor="t"/>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selective, usable</a:t>
            </a:r>
            <a:endParaRPr lang="en-US" sz="1200" dirty="0"/>
          </a:p>
        </p:txBody>
      </p:sp>
      <p:sp>
        <p:nvSpPr>
          <p:cNvPr id="46" name="Text 38"/>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Statewide figures are planning arithmetic for ~80,000 cameras at 2 Mbps (docs/04-SCALE-PLAN.md), not a deployment: ≈1,000× less network, ≈30× less storage.</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SCALE</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What it costs, to an order of magnitude</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14</a:t>
            </a:r>
            <a:endParaRPr lang="en-US" sz="900" dirty="0"/>
          </a:p>
        </p:txBody>
      </p:sp>
      <p:graphicFrame>
        <p:nvGraphicFramePr>
          <p:cNvPr id="7" name="Chart 0" descr=""/>
          <p:cNvGraphicFramePr/>
          <p:nvPr/>
        </p:nvGraphicFramePr>
        <p:xfrm>
          <a:off x="548640" y="1600200"/>
          <a:ext cx="6309360" cy="3931920"/>
        </p:xfrm>
        <a:graphic xmlns:a="http://schemas.openxmlformats.org/drawingml/2006/main">
          <a:graphicData uri="http://schemas.openxmlformats.org/drawingml/2006/chart">
            <c:chart xmlns:c="http://schemas.openxmlformats.org/drawingml/2006/chart" r:id="rId1"/>
          </a:graphicData>
        </a:graphic>
      </p:graphicFrame>
      <p:sp>
        <p:nvSpPr>
          <p:cNvPr id="8" name="Shape 4"/>
          <p:cNvSpPr/>
          <p:nvPr/>
        </p:nvSpPr>
        <p:spPr>
          <a:xfrm>
            <a:off x="7223760" y="1691640"/>
            <a:ext cx="2072488" cy="1170432"/>
          </a:xfrm>
          <a:prstGeom prst="roundRect">
            <a:avLst>
              <a:gd name="adj" fmla="val 6250"/>
            </a:avLst>
          </a:prstGeom>
          <a:solidFill>
            <a:srgbClr val="FFF4DA"/>
          </a:solidFill>
          <a:ln w="9525">
            <a:solidFill>
              <a:srgbClr val="ECCB78"/>
            </a:solidFill>
            <a:prstDash val="solid"/>
          </a:ln>
        </p:spPr>
      </p:sp>
      <p:sp>
        <p:nvSpPr>
          <p:cNvPr id="9" name="Text 5"/>
          <p:cNvSpPr/>
          <p:nvPr/>
        </p:nvSpPr>
        <p:spPr>
          <a:xfrm>
            <a:off x="7452360" y="1837944"/>
            <a:ext cx="1615288" cy="594360"/>
          </a:xfrm>
          <a:prstGeom prst="rect">
            <a:avLst/>
          </a:prstGeom>
          <a:noFill/>
          <a:ln/>
        </p:spPr>
        <p:txBody>
          <a:bodyPr wrap="square" lIns="0" tIns="0" rIns="0" bIns="0" rtlCol="0" anchor="t"/>
          <a:lstStyle/>
          <a:p>
            <a:pPr indent="0" marL="0">
              <a:buNone/>
            </a:pPr>
            <a:r>
              <a:rPr lang="en-US" sz="3200" dirty="0">
                <a:solidFill>
                  <a:srgbClr val="111417"/>
                </a:solidFill>
                <a:latin typeface="Franklin Gothic Demi Cond" pitchFamily="34" charset="0"/>
                <a:ea typeface="Franklin Gothic Demi Cond" pitchFamily="34" charset="-122"/>
                <a:cs typeface="Franklin Gothic Demi Cond" pitchFamily="34" charset="-120"/>
              </a:rPr>
              <a:t>≈₹80 cr</a:t>
            </a:r>
            <a:endParaRPr lang="en-US" sz="3200" dirty="0"/>
          </a:p>
        </p:txBody>
      </p:sp>
      <p:sp>
        <p:nvSpPr>
          <p:cNvPr id="10" name="Text 6"/>
          <p:cNvSpPr/>
          <p:nvPr/>
        </p:nvSpPr>
        <p:spPr>
          <a:xfrm>
            <a:off x="7452360" y="2441448"/>
            <a:ext cx="1615288" cy="292608"/>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to build</a:t>
            </a:r>
            <a:endParaRPr lang="en-US" sz="1300" dirty="0"/>
          </a:p>
        </p:txBody>
      </p:sp>
      <p:sp>
        <p:nvSpPr>
          <p:cNvPr id="11" name="Shape 7"/>
          <p:cNvSpPr/>
          <p:nvPr/>
        </p:nvSpPr>
        <p:spPr>
          <a:xfrm>
            <a:off x="9570568" y="1691640"/>
            <a:ext cx="2072488" cy="1170432"/>
          </a:xfrm>
          <a:prstGeom prst="roundRect">
            <a:avLst>
              <a:gd name="adj" fmla="val 6250"/>
            </a:avLst>
          </a:prstGeom>
          <a:solidFill>
            <a:srgbClr val="FFF4DA"/>
          </a:solidFill>
          <a:ln w="9525">
            <a:solidFill>
              <a:srgbClr val="ECCB78"/>
            </a:solidFill>
            <a:prstDash val="solid"/>
          </a:ln>
        </p:spPr>
      </p:sp>
      <p:sp>
        <p:nvSpPr>
          <p:cNvPr id="12" name="Text 8"/>
          <p:cNvSpPr/>
          <p:nvPr/>
        </p:nvSpPr>
        <p:spPr>
          <a:xfrm>
            <a:off x="9799168" y="1837944"/>
            <a:ext cx="1615288" cy="594360"/>
          </a:xfrm>
          <a:prstGeom prst="rect">
            <a:avLst/>
          </a:prstGeom>
          <a:noFill/>
          <a:ln/>
        </p:spPr>
        <p:txBody>
          <a:bodyPr wrap="square" lIns="0" tIns="0" rIns="0" bIns="0" rtlCol="0" anchor="t"/>
          <a:lstStyle/>
          <a:p>
            <a:pPr indent="0" marL="0">
              <a:buNone/>
            </a:pPr>
            <a:r>
              <a:rPr lang="en-US" sz="3200" dirty="0">
                <a:solidFill>
                  <a:srgbClr val="111417"/>
                </a:solidFill>
                <a:latin typeface="Franklin Gothic Demi Cond" pitchFamily="34" charset="0"/>
                <a:ea typeface="Franklin Gothic Demi Cond" pitchFamily="34" charset="-122"/>
                <a:cs typeface="Franklin Gothic Demi Cond" pitchFamily="34" charset="-120"/>
              </a:rPr>
              <a:t>≈₹24 cr</a:t>
            </a:r>
            <a:endParaRPr lang="en-US" sz="3200" dirty="0"/>
          </a:p>
        </p:txBody>
      </p:sp>
      <p:sp>
        <p:nvSpPr>
          <p:cNvPr id="13" name="Text 9"/>
          <p:cNvSpPr/>
          <p:nvPr/>
        </p:nvSpPr>
        <p:spPr>
          <a:xfrm>
            <a:off x="9799168" y="2441448"/>
            <a:ext cx="1615288" cy="292608"/>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a year to run</a:t>
            </a:r>
            <a:endParaRPr lang="en-US" sz="1300" dirty="0"/>
          </a:p>
        </p:txBody>
      </p:sp>
      <p:sp>
        <p:nvSpPr>
          <p:cNvPr id="14" name="Shape 10"/>
          <p:cNvSpPr/>
          <p:nvPr/>
        </p:nvSpPr>
        <p:spPr>
          <a:xfrm>
            <a:off x="7223760" y="3063240"/>
            <a:ext cx="2072488" cy="1170432"/>
          </a:xfrm>
          <a:prstGeom prst="roundRect">
            <a:avLst>
              <a:gd name="adj" fmla="val 6250"/>
            </a:avLst>
          </a:prstGeom>
          <a:solidFill>
            <a:srgbClr val="FBFBF9"/>
          </a:solidFill>
          <a:ln w="9525">
            <a:solidFill>
              <a:srgbClr val="D5D7D2"/>
            </a:solidFill>
            <a:prstDash val="solid"/>
          </a:ln>
        </p:spPr>
      </p:sp>
      <p:sp>
        <p:nvSpPr>
          <p:cNvPr id="15" name="Text 11"/>
          <p:cNvSpPr/>
          <p:nvPr/>
        </p:nvSpPr>
        <p:spPr>
          <a:xfrm>
            <a:off x="7452360" y="3209544"/>
            <a:ext cx="1615288" cy="594360"/>
          </a:xfrm>
          <a:prstGeom prst="rect">
            <a:avLst/>
          </a:prstGeom>
          <a:noFill/>
          <a:ln/>
        </p:spPr>
        <p:txBody>
          <a:bodyPr wrap="square" lIns="0" tIns="0" rIns="0" bIns="0" rtlCol="0" anchor="t"/>
          <a:lstStyle/>
          <a:p>
            <a:pPr indent="0" marL="0">
              <a:buNone/>
            </a:pPr>
            <a:r>
              <a:rPr lang="en-US" sz="3200" dirty="0">
                <a:solidFill>
                  <a:srgbClr val="111417"/>
                </a:solidFill>
                <a:latin typeface="Franklin Gothic Demi Cond" pitchFamily="34" charset="0"/>
                <a:ea typeface="Franklin Gothic Demi Cond" pitchFamily="34" charset="-122"/>
                <a:cs typeface="Franklin Gothic Demi Cond" pitchFamily="34" charset="-120"/>
              </a:rPr>
              <a:t>≈₹10,000</a:t>
            </a:r>
            <a:endParaRPr lang="en-US" sz="3200" dirty="0"/>
          </a:p>
        </p:txBody>
      </p:sp>
      <p:sp>
        <p:nvSpPr>
          <p:cNvPr id="16" name="Text 12"/>
          <p:cNvSpPr/>
          <p:nvPr/>
        </p:nvSpPr>
        <p:spPr>
          <a:xfrm>
            <a:off x="7452360" y="3813048"/>
            <a:ext cx="1615288" cy="292608"/>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per camera to build</a:t>
            </a:r>
            <a:endParaRPr lang="en-US" sz="1300" dirty="0"/>
          </a:p>
        </p:txBody>
      </p:sp>
      <p:sp>
        <p:nvSpPr>
          <p:cNvPr id="17" name="Shape 13"/>
          <p:cNvSpPr/>
          <p:nvPr/>
        </p:nvSpPr>
        <p:spPr>
          <a:xfrm>
            <a:off x="9570568" y="3063240"/>
            <a:ext cx="2072488" cy="1170432"/>
          </a:xfrm>
          <a:prstGeom prst="roundRect">
            <a:avLst>
              <a:gd name="adj" fmla="val 6250"/>
            </a:avLst>
          </a:prstGeom>
          <a:solidFill>
            <a:srgbClr val="FBFBF9"/>
          </a:solidFill>
          <a:ln w="9525">
            <a:solidFill>
              <a:srgbClr val="D5D7D2"/>
            </a:solidFill>
            <a:prstDash val="solid"/>
          </a:ln>
        </p:spPr>
      </p:sp>
      <p:sp>
        <p:nvSpPr>
          <p:cNvPr id="18" name="Text 14"/>
          <p:cNvSpPr/>
          <p:nvPr/>
        </p:nvSpPr>
        <p:spPr>
          <a:xfrm>
            <a:off x="9799168" y="3209544"/>
            <a:ext cx="1615288" cy="594360"/>
          </a:xfrm>
          <a:prstGeom prst="rect">
            <a:avLst/>
          </a:prstGeom>
          <a:noFill/>
          <a:ln/>
        </p:spPr>
        <p:txBody>
          <a:bodyPr wrap="square" lIns="0" tIns="0" rIns="0" bIns="0" rtlCol="0" anchor="t"/>
          <a:lstStyle/>
          <a:p>
            <a:pPr indent="0" marL="0">
              <a:buNone/>
            </a:pPr>
            <a:r>
              <a:rPr lang="en-US" sz="3200" dirty="0">
                <a:solidFill>
                  <a:srgbClr val="111417"/>
                </a:solidFill>
                <a:latin typeface="Franklin Gothic Demi Cond" pitchFamily="34" charset="0"/>
                <a:ea typeface="Franklin Gothic Demi Cond" pitchFamily="34" charset="-122"/>
                <a:cs typeface="Franklin Gothic Demi Cond" pitchFamily="34" charset="-120"/>
              </a:rPr>
              <a:t>₹0</a:t>
            </a:r>
            <a:endParaRPr lang="en-US" sz="3200" dirty="0"/>
          </a:p>
        </p:txBody>
      </p:sp>
      <p:sp>
        <p:nvSpPr>
          <p:cNvPr id="19" name="Text 15"/>
          <p:cNvSpPr/>
          <p:nvPr/>
        </p:nvSpPr>
        <p:spPr>
          <a:xfrm>
            <a:off x="9799168" y="3813048"/>
            <a:ext cx="1615288" cy="292608"/>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in software licences</a:t>
            </a:r>
            <a:endParaRPr lang="en-US" sz="1300" dirty="0"/>
          </a:p>
        </p:txBody>
      </p:sp>
      <p:sp>
        <p:nvSpPr>
          <p:cNvPr id="20" name="Shape 16"/>
          <p:cNvSpPr/>
          <p:nvPr/>
        </p:nvSpPr>
        <p:spPr>
          <a:xfrm>
            <a:off x="7223760" y="4526280"/>
            <a:ext cx="4419295" cy="1005840"/>
          </a:xfrm>
          <a:prstGeom prst="roundRect">
            <a:avLst>
              <a:gd name="adj" fmla="val 7273"/>
            </a:avLst>
          </a:prstGeom>
          <a:solidFill>
            <a:srgbClr val="F3F4F0"/>
          </a:solidFill>
          <a:ln w="9525">
            <a:solidFill>
              <a:srgbClr val="D5D7D2"/>
            </a:solidFill>
            <a:prstDash val="solid"/>
          </a:ln>
        </p:spPr>
      </p:sp>
      <p:sp>
        <p:nvSpPr>
          <p:cNvPr id="21" name="Text 17"/>
          <p:cNvSpPr/>
          <p:nvPr/>
        </p:nvSpPr>
        <p:spPr>
          <a:xfrm>
            <a:off x="7452360" y="4617720"/>
            <a:ext cx="3962095" cy="822960"/>
          </a:xfrm>
          <a:prstGeom prst="rect">
            <a:avLst/>
          </a:prstGeom>
          <a:noFill/>
          <a:ln/>
        </p:spPr>
        <p:txBody>
          <a:bodyPr wrap="square" lIns="0" tIns="0" rIns="0" bIns="0" rtlCol="0" anchor="ctr"/>
          <a:lstStyle/>
          <a:p>
            <a:pPr indent="0" marL="0">
              <a:buNone/>
            </a:pPr>
            <a:r>
              <a:rPr lang="en-US" sz="1350" dirty="0">
                <a:solidFill>
                  <a:srgbClr val="111417"/>
                </a:solidFill>
                <a:latin typeface="Franklin Gothic Demi" pitchFamily="34" charset="0"/>
                <a:ea typeface="Franklin Gothic Demi" pitchFamily="34" charset="-122"/>
                <a:cs typeface="Franklin Gothic Demi" pitchFamily="34" charset="-120"/>
              </a:rPr>
              <a:t>Centralising every camera: ₹400 cr+ to build</a:t>
            </a:r>
            <a:endParaRPr lang="en-US" sz="1350" dirty="0"/>
          </a:p>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About five times more, before its higher running cost.</a:t>
            </a:r>
            <a:endParaRPr lang="en-US" sz="1350" dirty="0"/>
          </a:p>
        </p:txBody>
      </p:sp>
      <p:sp>
        <p:nvSpPr>
          <p:cNvPr id="22" name="Text 18"/>
          <p:cNvSpPr/>
          <p:nvPr/>
        </p:nvSpPr>
        <p:spPr>
          <a:xfrm>
            <a:off x="548640" y="5897880"/>
            <a:ext cx="110944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Order of magnitude for ~80,000 cameras, from docs/04-SCALE-PLAN.md §6 — not a tender. Five-year cost of ownership ≈₹200 cr. The pilot replaces each estimate with a measurement.</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012"/>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FFB000"/>
                </a:solidFill>
                <a:latin typeface="Consolas" pitchFamily="34" charset="0"/>
                <a:ea typeface="Consolas" pitchFamily="34" charset="-122"/>
                <a:cs typeface="Consolas" pitchFamily="34" charset="-120"/>
              </a:rPr>
              <a:t>NEXT</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5B6168"/>
                </a:solidFill>
                <a:latin typeface="Consolas" pitchFamily="34" charset="0"/>
                <a:ea typeface="Consolas" pitchFamily="34" charset="-122"/>
                <a:cs typeface="Consolas" pitchFamily="34" charset="-120"/>
              </a:rPr>
              <a:t>THE CASE</a:t>
            </a:r>
            <a:pPr algn="r" indent="0" marL="0">
              <a:buNone/>
            </a:pPr>
            <a:r>
              <a:rPr lang="en-US" sz="1000" dirty="0">
                <a:solidFill>
                  <a:srgbClr val="5B6168"/>
                </a:solidFill>
                <a:latin typeface="Consolas" pitchFamily="34" charset="0"/>
                <a:ea typeface="Consolas" pitchFamily="34" charset="-122"/>
                <a:cs typeface="Consolas" pitchFamily="34" charset="-120"/>
              </a:rPr>
              <a:t>  ·  </a:t>
            </a:r>
            <a:pPr algn="r" indent="0" marL="0">
              <a:buNone/>
            </a:pPr>
            <a:r>
              <a:rPr lang="en-US" sz="1000" dirty="0">
                <a:solidFill>
                  <a:srgbClr val="5B6168"/>
                </a:solidFill>
                <a:latin typeface="Consolas" pitchFamily="34" charset="0"/>
                <a:ea typeface="Consolas" pitchFamily="34" charset="-122"/>
                <a:cs typeface="Consolas" pitchFamily="34" charset="-120"/>
              </a:rPr>
              <a:t>LIVE</a:t>
            </a:r>
            <a:pPr algn="r" indent="0" marL="0">
              <a:buNone/>
            </a:pPr>
            <a:r>
              <a:rPr lang="en-US" sz="1000" dirty="0">
                <a:solidFill>
                  <a:srgbClr val="5B6168"/>
                </a:solidFill>
                <a:latin typeface="Consolas" pitchFamily="34" charset="0"/>
                <a:ea typeface="Consolas" pitchFamily="34" charset="-122"/>
                <a:cs typeface="Consolas" pitchFamily="34" charset="-120"/>
              </a:rPr>
              <a:t>  ·  </a:t>
            </a:r>
            <a:pPr algn="r" indent="0" marL="0">
              <a:buNone/>
            </a:pPr>
            <a:r>
              <a:rPr lang="en-US" sz="1000" dirty="0">
                <a:solidFill>
                  <a:srgbClr val="5B6168"/>
                </a:solidFill>
                <a:latin typeface="Consolas" pitchFamily="34" charset="0"/>
                <a:ea typeface="Consolas" pitchFamily="34" charset="-122"/>
                <a:cs typeface="Consolas" pitchFamily="34" charset="-120"/>
              </a:rPr>
              <a:t>TRUST</a:t>
            </a:r>
            <a:pPr algn="r" indent="0" marL="0">
              <a:buNone/>
            </a:pPr>
            <a:r>
              <a:rPr lang="en-US" sz="1000" dirty="0">
                <a:solidFill>
                  <a:srgbClr val="5B6168"/>
                </a:solidFill>
                <a:latin typeface="Consolas" pitchFamily="34" charset="0"/>
                <a:ea typeface="Consolas" pitchFamily="34" charset="-122"/>
                <a:cs typeface="Consolas" pitchFamily="34" charset="-120"/>
              </a:rPr>
              <a:t>  ·  </a:t>
            </a:r>
            <a:pPr algn="r" indent="0" marL="0">
              <a:buNone/>
            </a:pPr>
            <a:r>
              <a:rPr lang="en-US" sz="1000" dirty="0">
                <a:solidFill>
                  <a:srgbClr val="5B6168"/>
                </a:solidFill>
                <a:latin typeface="Consolas" pitchFamily="34" charset="0"/>
                <a:ea typeface="Consolas" pitchFamily="34" charset="-122"/>
                <a:cs typeface="Consolas" pitchFamily="34" charset="-120"/>
              </a:rPr>
              <a:t>SCALE</a:t>
            </a:r>
            <a:pPr algn="r" indent="0" marL="0">
              <a:buNone/>
            </a:pPr>
            <a:r>
              <a:rPr lang="en-US" sz="1000" dirty="0">
                <a:solidFill>
                  <a:srgbClr val="5B6168"/>
                </a:solidFill>
                <a:latin typeface="Consolas" pitchFamily="34" charset="0"/>
                <a:ea typeface="Consolas" pitchFamily="34" charset="-122"/>
                <a:cs typeface="Consolas" pitchFamily="34" charset="-120"/>
              </a:rPr>
              <a:t>  ·  </a:t>
            </a:r>
            <a:pPr algn="r" indent="0" marL="0">
              <a:buNone/>
            </a:pPr>
            <a:r>
              <a:rPr lang="en-US" sz="1000" b="1" dirty="0">
                <a:solidFill>
                  <a:srgbClr val="EEF0EC"/>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4400" dirty="0">
                <a:solidFill>
                  <a:srgbClr val="EEF0EC"/>
                </a:solidFill>
                <a:latin typeface="Franklin Gothic Demi Cond" pitchFamily="34" charset="0"/>
                <a:ea typeface="Franklin Gothic Demi Cond" pitchFamily="34" charset="-122"/>
                <a:cs typeface="Franklin Gothic Demi Cond" pitchFamily="34" charset="-120"/>
              </a:rPr>
              <a:t>Start with one district.</a:t>
            </a:r>
            <a:endParaRPr lang="en-US" sz="44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A9AFB5"/>
                </a:solidFill>
                <a:latin typeface="Consolas" pitchFamily="34" charset="0"/>
                <a:ea typeface="Consolas" pitchFamily="34" charset="-122"/>
                <a:cs typeface="Consolas" pitchFamily="34" charset="-120"/>
              </a:rPr>
              <a:t>15</a:t>
            </a:r>
            <a:endParaRPr lang="en-US" sz="900" dirty="0"/>
          </a:p>
        </p:txBody>
      </p:sp>
      <p:sp>
        <p:nvSpPr>
          <p:cNvPr id="7" name="Shape 4"/>
          <p:cNvSpPr/>
          <p:nvPr/>
        </p:nvSpPr>
        <p:spPr>
          <a:xfrm>
            <a:off x="548640" y="1737360"/>
            <a:ext cx="2602154" cy="1783080"/>
          </a:xfrm>
          <a:prstGeom prst="rect">
            <a:avLst/>
          </a:prstGeom>
          <a:solidFill>
            <a:srgbClr val="FFB000"/>
          </a:solidFill>
          <a:ln w="9525">
            <a:solidFill>
              <a:srgbClr val="FFB000"/>
            </a:solidFill>
            <a:prstDash val="solid"/>
          </a:ln>
        </p:spPr>
      </p:sp>
      <p:sp>
        <p:nvSpPr>
          <p:cNvPr id="8" name="Text 5"/>
          <p:cNvSpPr/>
          <p:nvPr/>
        </p:nvSpPr>
        <p:spPr>
          <a:xfrm>
            <a:off x="777240" y="1874520"/>
            <a:ext cx="2144954" cy="274320"/>
          </a:xfrm>
          <a:prstGeom prst="rect">
            <a:avLst/>
          </a:prstGeom>
          <a:noFill/>
          <a:ln/>
        </p:spPr>
        <p:txBody>
          <a:bodyPr wrap="square" lIns="0" tIns="0" rIns="0" bIns="0" rtlCol="0" anchor="t"/>
          <a:lstStyle/>
          <a:p>
            <a:pPr indent="0" marL="0">
              <a:buNone/>
            </a:pPr>
            <a:r>
              <a:rPr lang="en-US" sz="1100" b="1" dirty="0">
                <a:solidFill>
                  <a:srgbClr val="111417"/>
                </a:solidFill>
                <a:latin typeface="Consolas" pitchFamily="34" charset="0"/>
                <a:ea typeface="Consolas" pitchFamily="34" charset="-122"/>
                <a:cs typeface="Consolas" pitchFamily="34" charset="-120"/>
              </a:rPr>
              <a:t>PILOT · 0–3 months</a:t>
            </a:r>
            <a:endParaRPr lang="en-US" sz="1100" dirty="0"/>
          </a:p>
        </p:txBody>
      </p:sp>
      <p:sp>
        <p:nvSpPr>
          <p:cNvPr id="9" name="Text 6"/>
          <p:cNvSpPr/>
          <p:nvPr/>
        </p:nvSpPr>
        <p:spPr>
          <a:xfrm>
            <a:off x="777240" y="2212848"/>
            <a:ext cx="2144954" cy="640080"/>
          </a:xfrm>
          <a:prstGeom prst="rect">
            <a:avLst/>
          </a:prstGeom>
          <a:noFill/>
          <a:ln/>
        </p:spPr>
        <p:txBody>
          <a:bodyPr wrap="square" lIns="0" tIns="0" rIns="0" bIns="0" rtlCol="0" anchor="t"/>
          <a:lstStyle/>
          <a:p>
            <a:pPr indent="0" marL="0">
              <a:buNone/>
            </a:pPr>
            <a:r>
              <a:rPr lang="en-US" sz="3800" dirty="0">
                <a:solidFill>
                  <a:srgbClr val="111417"/>
                </a:solidFill>
                <a:latin typeface="Franklin Gothic Demi Cond" pitchFamily="34" charset="0"/>
                <a:ea typeface="Franklin Gothic Demi Cond" pitchFamily="34" charset="-122"/>
                <a:cs typeface="Franklin Gothic Demi Cond" pitchFamily="34" charset="-120"/>
              </a:rPr>
              <a:t>≈500</a:t>
            </a:r>
            <a:endParaRPr lang="en-US" sz="3800" dirty="0"/>
          </a:p>
        </p:txBody>
      </p:sp>
      <p:sp>
        <p:nvSpPr>
          <p:cNvPr id="10" name="Text 7"/>
          <p:cNvSpPr/>
          <p:nvPr/>
        </p:nvSpPr>
        <p:spPr>
          <a:xfrm>
            <a:off x="777240" y="2880360"/>
            <a:ext cx="2144954" cy="502920"/>
          </a:xfrm>
          <a:prstGeom prst="rect">
            <a:avLst/>
          </a:prstGeom>
          <a:noFill/>
          <a:ln/>
        </p:spPr>
        <p:txBody>
          <a:bodyPr wrap="square" lIns="0" tIns="0" rIns="0" bIns="0" rtlCol="0" anchor="t"/>
          <a:lstStyle/>
          <a:p>
            <a:pPr indent="0" marL="0">
              <a:buNone/>
            </a:pPr>
            <a:r>
              <a:rPr lang="en-US" sz="1250" dirty="0">
                <a:solidFill>
                  <a:srgbClr val="111417"/>
                </a:solidFill>
                <a:latin typeface="Franklin Gothic Book" pitchFamily="34" charset="0"/>
                <a:ea typeface="Franklin Gothic Book" pitchFamily="34" charset="-122"/>
                <a:cs typeface="Franklin Gothic Book" pitchFamily="34" charset="-120"/>
              </a:rPr>
              <a:t>cameras · 1 district · 2 departments</a:t>
            </a:r>
            <a:endParaRPr lang="en-US" sz="1250" dirty="0"/>
          </a:p>
        </p:txBody>
      </p:sp>
      <p:sp>
        <p:nvSpPr>
          <p:cNvPr id="11" name="Shape 8"/>
          <p:cNvSpPr/>
          <p:nvPr/>
        </p:nvSpPr>
        <p:spPr>
          <a:xfrm>
            <a:off x="3379394" y="1737360"/>
            <a:ext cx="2602154" cy="1783080"/>
          </a:xfrm>
          <a:prstGeom prst="rect">
            <a:avLst/>
          </a:prstGeom>
          <a:solidFill>
            <a:srgbClr val="16191C"/>
          </a:solidFill>
          <a:ln w="9525">
            <a:solidFill>
              <a:srgbClr val="2E3338"/>
            </a:solidFill>
            <a:prstDash val="solid"/>
          </a:ln>
        </p:spPr>
      </p:sp>
      <p:sp>
        <p:nvSpPr>
          <p:cNvPr id="12" name="Text 9"/>
          <p:cNvSpPr/>
          <p:nvPr/>
        </p:nvSpPr>
        <p:spPr>
          <a:xfrm>
            <a:off x="3607994" y="1874520"/>
            <a:ext cx="2144954" cy="274320"/>
          </a:xfrm>
          <a:prstGeom prst="rect">
            <a:avLst/>
          </a:prstGeom>
          <a:noFill/>
          <a:ln/>
        </p:spPr>
        <p:txBody>
          <a:bodyPr wrap="square" lIns="0" tIns="0" rIns="0" bIns="0" rtlCol="0" anchor="t"/>
          <a:lstStyle/>
          <a:p>
            <a:pPr indent="0" marL="0">
              <a:buNone/>
            </a:pPr>
            <a:r>
              <a:rPr lang="en-US" sz="1100" b="1" dirty="0">
                <a:solidFill>
                  <a:srgbClr val="FFB000"/>
                </a:solidFill>
                <a:latin typeface="Consolas" pitchFamily="34" charset="0"/>
                <a:ea typeface="Consolas" pitchFamily="34" charset="-122"/>
                <a:cs typeface="Consolas" pitchFamily="34" charset="-120"/>
              </a:rPr>
              <a:t>EXPAND · 3–9 months</a:t>
            </a:r>
            <a:endParaRPr lang="en-US" sz="1100" dirty="0"/>
          </a:p>
        </p:txBody>
      </p:sp>
      <p:sp>
        <p:nvSpPr>
          <p:cNvPr id="13" name="Text 10"/>
          <p:cNvSpPr/>
          <p:nvPr/>
        </p:nvSpPr>
        <p:spPr>
          <a:xfrm>
            <a:off x="3607994" y="2212848"/>
            <a:ext cx="2144954" cy="640080"/>
          </a:xfrm>
          <a:prstGeom prst="rect">
            <a:avLst/>
          </a:prstGeom>
          <a:noFill/>
          <a:ln/>
        </p:spPr>
        <p:txBody>
          <a:bodyPr wrap="square" lIns="0" tIns="0" rIns="0" bIns="0" rtlCol="0" anchor="t"/>
          <a:lstStyle/>
          <a:p>
            <a:pPr indent="0" marL="0">
              <a:buNone/>
            </a:pPr>
            <a:r>
              <a:rPr lang="en-US" sz="3800" dirty="0">
                <a:solidFill>
                  <a:srgbClr val="EEF0EC"/>
                </a:solidFill>
                <a:latin typeface="Franklin Gothic Demi Cond" pitchFamily="34" charset="0"/>
                <a:ea typeface="Franklin Gothic Demi Cond" pitchFamily="34" charset="-122"/>
                <a:cs typeface="Franklin Gothic Demi Cond" pitchFamily="34" charset="-120"/>
              </a:rPr>
              <a:t>≈5,000</a:t>
            </a:r>
            <a:endParaRPr lang="en-US" sz="3800" dirty="0"/>
          </a:p>
        </p:txBody>
      </p:sp>
      <p:sp>
        <p:nvSpPr>
          <p:cNvPr id="14" name="Text 11"/>
          <p:cNvSpPr/>
          <p:nvPr/>
        </p:nvSpPr>
        <p:spPr>
          <a:xfrm>
            <a:off x="3607994" y="2880360"/>
            <a:ext cx="2144954" cy="502920"/>
          </a:xfrm>
          <a:prstGeom prst="rect">
            <a:avLst/>
          </a:prstGeom>
          <a:noFill/>
          <a:ln/>
        </p:spPr>
        <p:txBody>
          <a:bodyPr wrap="square" lIns="0" tIns="0" rIns="0" bIns="0" rtlCol="0" anchor="t"/>
          <a:lstStyle/>
          <a:p>
            <a:pPr indent="0" marL="0">
              <a:buNone/>
            </a:pPr>
            <a:r>
              <a:rPr lang="en-US" sz="1250" dirty="0">
                <a:solidFill>
                  <a:srgbClr val="A9AFB5"/>
                </a:solidFill>
                <a:latin typeface="Franklin Gothic Book" pitchFamily="34" charset="0"/>
                <a:ea typeface="Franklin Gothic Book" pitchFamily="34" charset="-122"/>
                <a:cs typeface="Franklin Gothic Book" pitchFamily="34" charset="-120"/>
              </a:rPr>
              <a:t>cameras · 4 districts · main VMS vendors</a:t>
            </a:r>
            <a:endParaRPr lang="en-US" sz="1250" dirty="0"/>
          </a:p>
        </p:txBody>
      </p:sp>
      <p:sp>
        <p:nvSpPr>
          <p:cNvPr id="15" name="Shape 12"/>
          <p:cNvSpPr/>
          <p:nvPr/>
        </p:nvSpPr>
        <p:spPr>
          <a:xfrm>
            <a:off x="6210148" y="1737360"/>
            <a:ext cx="2602154" cy="1783080"/>
          </a:xfrm>
          <a:prstGeom prst="rect">
            <a:avLst/>
          </a:prstGeom>
          <a:solidFill>
            <a:srgbClr val="16191C"/>
          </a:solidFill>
          <a:ln w="9525">
            <a:solidFill>
              <a:srgbClr val="2E3338"/>
            </a:solidFill>
            <a:prstDash val="solid"/>
          </a:ln>
        </p:spPr>
      </p:sp>
      <p:sp>
        <p:nvSpPr>
          <p:cNvPr id="16" name="Text 13"/>
          <p:cNvSpPr/>
          <p:nvPr/>
        </p:nvSpPr>
        <p:spPr>
          <a:xfrm>
            <a:off x="6438748" y="1874520"/>
            <a:ext cx="2144954" cy="274320"/>
          </a:xfrm>
          <a:prstGeom prst="rect">
            <a:avLst/>
          </a:prstGeom>
          <a:noFill/>
          <a:ln/>
        </p:spPr>
        <p:txBody>
          <a:bodyPr wrap="square" lIns="0" tIns="0" rIns="0" bIns="0" rtlCol="0" anchor="t"/>
          <a:lstStyle/>
          <a:p>
            <a:pPr indent="0" marL="0">
              <a:buNone/>
            </a:pPr>
            <a:r>
              <a:rPr lang="en-US" sz="1100" b="1" dirty="0">
                <a:solidFill>
                  <a:srgbClr val="FFB000"/>
                </a:solidFill>
                <a:latin typeface="Consolas" pitchFamily="34" charset="0"/>
                <a:ea typeface="Consolas" pitchFamily="34" charset="-122"/>
                <a:cs typeface="Consolas" pitchFamily="34" charset="-120"/>
              </a:rPr>
              <a:t>STATEWIDE · 9–21 months</a:t>
            </a:r>
            <a:endParaRPr lang="en-US" sz="1100" dirty="0"/>
          </a:p>
        </p:txBody>
      </p:sp>
      <p:sp>
        <p:nvSpPr>
          <p:cNvPr id="17" name="Text 14"/>
          <p:cNvSpPr/>
          <p:nvPr/>
        </p:nvSpPr>
        <p:spPr>
          <a:xfrm>
            <a:off x="6438748" y="2212848"/>
            <a:ext cx="2144954" cy="640080"/>
          </a:xfrm>
          <a:prstGeom prst="rect">
            <a:avLst/>
          </a:prstGeom>
          <a:noFill/>
          <a:ln/>
        </p:spPr>
        <p:txBody>
          <a:bodyPr wrap="square" lIns="0" tIns="0" rIns="0" bIns="0" rtlCol="0" anchor="t"/>
          <a:lstStyle/>
          <a:p>
            <a:pPr indent="0" marL="0">
              <a:buNone/>
            </a:pPr>
            <a:r>
              <a:rPr lang="en-US" sz="3800" dirty="0">
                <a:solidFill>
                  <a:srgbClr val="EEF0EC"/>
                </a:solidFill>
                <a:latin typeface="Franklin Gothic Demi Cond" pitchFamily="34" charset="0"/>
                <a:ea typeface="Franklin Gothic Demi Cond" pitchFamily="34" charset="-122"/>
                <a:cs typeface="Franklin Gothic Demi Cond" pitchFamily="34" charset="-120"/>
              </a:rPr>
              <a:t>≈30,000</a:t>
            </a:r>
            <a:endParaRPr lang="en-US" sz="3800" dirty="0"/>
          </a:p>
        </p:txBody>
      </p:sp>
      <p:sp>
        <p:nvSpPr>
          <p:cNvPr id="18" name="Text 15"/>
          <p:cNvSpPr/>
          <p:nvPr/>
        </p:nvSpPr>
        <p:spPr>
          <a:xfrm>
            <a:off x="6438748" y="2880360"/>
            <a:ext cx="2144954" cy="502920"/>
          </a:xfrm>
          <a:prstGeom prst="rect">
            <a:avLst/>
          </a:prstGeom>
          <a:noFill/>
          <a:ln/>
        </p:spPr>
        <p:txBody>
          <a:bodyPr wrap="square" lIns="0" tIns="0" rIns="0" bIns="0" rtlCol="0" anchor="t"/>
          <a:lstStyle/>
          <a:p>
            <a:pPr indent="0" marL="0">
              <a:buNone/>
            </a:pPr>
            <a:r>
              <a:rPr lang="en-US" sz="1250" dirty="0">
                <a:solidFill>
                  <a:srgbClr val="A9AFB5"/>
                </a:solidFill>
                <a:latin typeface="Franklin Gothic Book" pitchFamily="34" charset="0"/>
                <a:ea typeface="Franklin Gothic Book" pitchFamily="34" charset="-122"/>
                <a:cs typeface="Franklin Gothic Book" pitchFamily="34" charset="-120"/>
              </a:rPr>
              <a:t>cameras · All 34 districts</a:t>
            </a:r>
            <a:endParaRPr lang="en-US" sz="1250" dirty="0"/>
          </a:p>
        </p:txBody>
      </p:sp>
      <p:sp>
        <p:nvSpPr>
          <p:cNvPr id="19" name="Shape 16"/>
          <p:cNvSpPr/>
          <p:nvPr/>
        </p:nvSpPr>
        <p:spPr>
          <a:xfrm>
            <a:off x="9040901" y="1737360"/>
            <a:ext cx="2602154" cy="1783080"/>
          </a:xfrm>
          <a:prstGeom prst="rect">
            <a:avLst/>
          </a:prstGeom>
          <a:solidFill>
            <a:srgbClr val="16191C"/>
          </a:solidFill>
          <a:ln w="9525">
            <a:solidFill>
              <a:srgbClr val="2E3338"/>
            </a:solidFill>
            <a:prstDash val="solid"/>
          </a:ln>
        </p:spPr>
      </p:sp>
      <p:sp>
        <p:nvSpPr>
          <p:cNvPr id="20" name="Text 17"/>
          <p:cNvSpPr/>
          <p:nvPr/>
        </p:nvSpPr>
        <p:spPr>
          <a:xfrm>
            <a:off x="9269501" y="1874520"/>
            <a:ext cx="2144954" cy="274320"/>
          </a:xfrm>
          <a:prstGeom prst="rect">
            <a:avLst/>
          </a:prstGeom>
          <a:noFill/>
          <a:ln/>
        </p:spPr>
        <p:txBody>
          <a:bodyPr wrap="square" lIns="0" tIns="0" rIns="0" bIns="0" rtlCol="0" anchor="t"/>
          <a:lstStyle/>
          <a:p>
            <a:pPr indent="0" marL="0">
              <a:buNone/>
            </a:pPr>
            <a:r>
              <a:rPr lang="en-US" sz="1100" b="1" dirty="0">
                <a:solidFill>
                  <a:srgbClr val="FFB000"/>
                </a:solidFill>
                <a:latin typeface="Consolas" pitchFamily="34" charset="0"/>
                <a:ea typeface="Consolas" pitchFamily="34" charset="-122"/>
                <a:cs typeface="Consolas" pitchFamily="34" charset="-120"/>
              </a:rPr>
              <a:t>COMPLETE · 21–36 months</a:t>
            </a:r>
            <a:endParaRPr lang="en-US" sz="1100" dirty="0"/>
          </a:p>
        </p:txBody>
      </p:sp>
      <p:sp>
        <p:nvSpPr>
          <p:cNvPr id="21" name="Text 18"/>
          <p:cNvSpPr/>
          <p:nvPr/>
        </p:nvSpPr>
        <p:spPr>
          <a:xfrm>
            <a:off x="9269501" y="2212848"/>
            <a:ext cx="2144954" cy="640080"/>
          </a:xfrm>
          <a:prstGeom prst="rect">
            <a:avLst/>
          </a:prstGeom>
          <a:noFill/>
          <a:ln/>
        </p:spPr>
        <p:txBody>
          <a:bodyPr wrap="square" lIns="0" tIns="0" rIns="0" bIns="0" rtlCol="0" anchor="t"/>
          <a:lstStyle/>
          <a:p>
            <a:pPr indent="0" marL="0">
              <a:buNone/>
            </a:pPr>
            <a:r>
              <a:rPr lang="en-US" sz="3800" dirty="0">
                <a:solidFill>
                  <a:srgbClr val="EEF0EC"/>
                </a:solidFill>
                <a:latin typeface="Franklin Gothic Demi Cond" pitchFamily="34" charset="0"/>
                <a:ea typeface="Franklin Gothic Demi Cond" pitchFamily="34" charset="-122"/>
                <a:cs typeface="Franklin Gothic Demi Cond" pitchFamily="34" charset="-120"/>
              </a:rPr>
              <a:t>80,000</a:t>
            </a:r>
            <a:endParaRPr lang="en-US" sz="3800" dirty="0"/>
          </a:p>
        </p:txBody>
      </p:sp>
      <p:sp>
        <p:nvSpPr>
          <p:cNvPr id="22" name="Text 19"/>
          <p:cNvSpPr/>
          <p:nvPr/>
        </p:nvSpPr>
        <p:spPr>
          <a:xfrm>
            <a:off x="9269501" y="2880360"/>
            <a:ext cx="2144954" cy="502920"/>
          </a:xfrm>
          <a:prstGeom prst="rect">
            <a:avLst/>
          </a:prstGeom>
          <a:noFill/>
          <a:ln/>
        </p:spPr>
        <p:txBody>
          <a:bodyPr wrap="square" lIns="0" tIns="0" rIns="0" bIns="0" rtlCol="0" anchor="t"/>
          <a:lstStyle/>
          <a:p>
            <a:pPr indent="0" marL="0">
              <a:buNone/>
            </a:pPr>
            <a:r>
              <a:rPr lang="en-US" sz="1250" dirty="0">
                <a:solidFill>
                  <a:srgbClr val="A9AFB5"/>
                </a:solidFill>
                <a:latin typeface="Franklin Gothic Book" pitchFamily="34" charset="0"/>
                <a:ea typeface="Franklin Gothic Book" pitchFamily="34" charset="-122"/>
                <a:cs typeface="Franklin Gothic Book" pitchFamily="34" charset="-120"/>
              </a:rPr>
              <a:t>cameras · Plus consented private cameras</a:t>
            </a:r>
            <a:endParaRPr lang="en-US" sz="1250" dirty="0"/>
          </a:p>
        </p:txBody>
      </p:sp>
      <p:sp>
        <p:nvSpPr>
          <p:cNvPr id="23" name="Text 20"/>
          <p:cNvSpPr/>
          <p:nvPr/>
        </p:nvSpPr>
        <p:spPr>
          <a:xfrm>
            <a:off x="548640" y="3840480"/>
            <a:ext cx="4572000" cy="329184"/>
          </a:xfrm>
          <a:prstGeom prst="rect">
            <a:avLst/>
          </a:prstGeom>
          <a:noFill/>
          <a:ln/>
        </p:spPr>
        <p:txBody>
          <a:bodyPr wrap="square" lIns="0" tIns="0" rIns="0" bIns="0" rtlCol="0" anchor="t"/>
          <a:lstStyle/>
          <a:p>
            <a:pPr indent="0" marL="0">
              <a:buNone/>
            </a:pPr>
            <a:r>
              <a:rPr lang="en-US" sz="1600" dirty="0">
                <a:solidFill>
                  <a:srgbClr val="EEF0EC"/>
                </a:solidFill>
                <a:latin typeface="Franklin Gothic Demi" pitchFamily="34" charset="0"/>
                <a:ea typeface="Franklin Gothic Demi" pitchFamily="34" charset="-122"/>
                <a:cs typeface="Franklin Gothic Demi" pitchFamily="34" charset="-120"/>
              </a:rPr>
              <a:t>To begin, we need</a:t>
            </a:r>
            <a:endParaRPr lang="en-US" sz="1600" dirty="0"/>
          </a:p>
        </p:txBody>
      </p:sp>
      <p:sp>
        <p:nvSpPr>
          <p:cNvPr id="24" name="Shape 21"/>
          <p:cNvSpPr/>
          <p:nvPr/>
        </p:nvSpPr>
        <p:spPr>
          <a:xfrm>
            <a:off x="548640" y="4251960"/>
            <a:ext cx="3515258" cy="658368"/>
          </a:xfrm>
          <a:prstGeom prst="rect">
            <a:avLst/>
          </a:prstGeom>
          <a:solidFill>
            <a:srgbClr val="16191C"/>
          </a:solidFill>
          <a:ln w="9525">
            <a:solidFill>
              <a:srgbClr val="2E3338"/>
            </a:solidFill>
            <a:prstDash val="solid"/>
          </a:ln>
        </p:spPr>
      </p:sp>
      <p:pic>
        <p:nvPicPr>
          <p:cNvPr id="25" name="Image 0" descr="preencoded.png">    </p:cNvPr>
          <p:cNvPicPr>
            <a:picLocks noChangeAspect="1"/>
          </p:cNvPicPr>
          <p:nvPr/>
        </p:nvPicPr>
        <p:blipFill>
          <a:blip r:embed="rId1"/>
          <a:stretch>
            <a:fillRect/>
          </a:stretch>
        </p:blipFill>
        <p:spPr>
          <a:xfrm>
            <a:off x="731520" y="4416552"/>
            <a:ext cx="329184" cy="329184"/>
          </a:xfrm>
          <a:prstGeom prst="rect">
            <a:avLst/>
          </a:prstGeom>
        </p:spPr>
      </p:pic>
      <p:sp>
        <p:nvSpPr>
          <p:cNvPr id="26" name="Text 22"/>
          <p:cNvSpPr/>
          <p:nvPr/>
        </p:nvSpPr>
        <p:spPr>
          <a:xfrm>
            <a:off x="1207008" y="4251960"/>
            <a:ext cx="2692298" cy="658368"/>
          </a:xfrm>
          <a:prstGeom prst="rect">
            <a:avLst/>
          </a:prstGeom>
          <a:noFill/>
          <a:ln/>
        </p:spPr>
        <p:txBody>
          <a:bodyPr wrap="square" lIns="0" tIns="0" rIns="0" bIns="0" rtlCol="0" anchor="ctr"/>
          <a:lstStyle/>
          <a:p>
            <a:pPr indent="0" marL="0">
              <a:buNone/>
            </a:pPr>
            <a:r>
              <a:rPr lang="en-US" sz="1400" dirty="0">
                <a:solidFill>
                  <a:srgbClr val="EEF0EC"/>
                </a:solidFill>
                <a:latin typeface="Franklin Gothic Book" pitchFamily="34" charset="0"/>
                <a:ea typeface="Franklin Gothic Book" pitchFamily="34" charset="-122"/>
                <a:cs typeface="Franklin Gothic Book" pitchFamily="34" charset="-120"/>
              </a:rPr>
              <a:t>Each department’s camera inventory</a:t>
            </a:r>
            <a:endParaRPr lang="en-US" sz="1400" dirty="0"/>
          </a:p>
        </p:txBody>
      </p:sp>
      <p:sp>
        <p:nvSpPr>
          <p:cNvPr id="27" name="Shape 23"/>
          <p:cNvSpPr/>
          <p:nvPr/>
        </p:nvSpPr>
        <p:spPr>
          <a:xfrm>
            <a:off x="4338218" y="4251960"/>
            <a:ext cx="3515258" cy="658368"/>
          </a:xfrm>
          <a:prstGeom prst="rect">
            <a:avLst/>
          </a:prstGeom>
          <a:solidFill>
            <a:srgbClr val="16191C"/>
          </a:solidFill>
          <a:ln w="9525">
            <a:solidFill>
              <a:srgbClr val="2E3338"/>
            </a:solidFill>
            <a:prstDash val="solid"/>
          </a:ln>
        </p:spPr>
      </p:sp>
      <p:pic>
        <p:nvPicPr>
          <p:cNvPr id="28" name="Image 1" descr="preencoded.png">    </p:cNvPr>
          <p:cNvPicPr>
            <a:picLocks noChangeAspect="1"/>
          </p:cNvPicPr>
          <p:nvPr/>
        </p:nvPicPr>
        <p:blipFill>
          <a:blip r:embed="rId2"/>
          <a:stretch>
            <a:fillRect/>
          </a:stretch>
        </p:blipFill>
        <p:spPr>
          <a:xfrm>
            <a:off x="4521098" y="4416552"/>
            <a:ext cx="329184" cy="329184"/>
          </a:xfrm>
          <a:prstGeom prst="rect">
            <a:avLst/>
          </a:prstGeom>
        </p:spPr>
      </p:pic>
      <p:sp>
        <p:nvSpPr>
          <p:cNvPr id="29" name="Text 24"/>
          <p:cNvSpPr/>
          <p:nvPr/>
        </p:nvSpPr>
        <p:spPr>
          <a:xfrm>
            <a:off x="4996586" y="4251960"/>
            <a:ext cx="2692298" cy="658368"/>
          </a:xfrm>
          <a:prstGeom prst="rect">
            <a:avLst/>
          </a:prstGeom>
          <a:noFill/>
          <a:ln/>
        </p:spPr>
        <p:txBody>
          <a:bodyPr wrap="square" lIns="0" tIns="0" rIns="0" bIns="0" rtlCol="0" anchor="ctr"/>
          <a:lstStyle/>
          <a:p>
            <a:pPr indent="0" marL="0">
              <a:buNone/>
            </a:pPr>
            <a:r>
              <a:rPr lang="en-US" sz="1400" dirty="0">
                <a:solidFill>
                  <a:srgbClr val="EEF0EC"/>
                </a:solidFill>
                <a:latin typeface="Franklin Gothic Book" pitchFamily="34" charset="0"/>
                <a:ea typeface="Franklin Gothic Book" pitchFamily="34" charset="-122"/>
                <a:cs typeface="Franklin Gothic Book" pitchFamily="34" charset="-120"/>
              </a:rPr>
              <a:t>Read-only access to its streams or VMS</a:t>
            </a:r>
            <a:endParaRPr lang="en-US" sz="1400" dirty="0"/>
          </a:p>
        </p:txBody>
      </p:sp>
      <p:sp>
        <p:nvSpPr>
          <p:cNvPr id="30" name="Shape 25"/>
          <p:cNvSpPr/>
          <p:nvPr/>
        </p:nvSpPr>
        <p:spPr>
          <a:xfrm>
            <a:off x="8127797" y="4251960"/>
            <a:ext cx="3515258" cy="658368"/>
          </a:xfrm>
          <a:prstGeom prst="rect">
            <a:avLst/>
          </a:prstGeom>
          <a:solidFill>
            <a:srgbClr val="16191C"/>
          </a:solidFill>
          <a:ln w="9525">
            <a:solidFill>
              <a:srgbClr val="2E3338"/>
            </a:solidFill>
            <a:prstDash val="solid"/>
          </a:ln>
        </p:spPr>
      </p:sp>
      <p:pic>
        <p:nvPicPr>
          <p:cNvPr id="31" name="Image 2" descr="preencoded.png">    </p:cNvPr>
          <p:cNvPicPr>
            <a:picLocks noChangeAspect="1"/>
          </p:cNvPicPr>
          <p:nvPr/>
        </p:nvPicPr>
        <p:blipFill>
          <a:blip r:embed="rId3"/>
          <a:stretch>
            <a:fillRect/>
          </a:stretch>
        </p:blipFill>
        <p:spPr>
          <a:xfrm>
            <a:off x="8310677" y="4416552"/>
            <a:ext cx="329184" cy="329184"/>
          </a:xfrm>
          <a:prstGeom prst="rect">
            <a:avLst/>
          </a:prstGeom>
        </p:spPr>
      </p:pic>
      <p:sp>
        <p:nvSpPr>
          <p:cNvPr id="32" name="Text 26"/>
          <p:cNvSpPr/>
          <p:nvPr/>
        </p:nvSpPr>
        <p:spPr>
          <a:xfrm>
            <a:off x="8786165" y="4251960"/>
            <a:ext cx="2692298" cy="658368"/>
          </a:xfrm>
          <a:prstGeom prst="rect">
            <a:avLst/>
          </a:prstGeom>
          <a:noFill/>
          <a:ln/>
        </p:spPr>
        <p:txBody>
          <a:bodyPr wrap="square" lIns="0" tIns="0" rIns="0" bIns="0" rtlCol="0" anchor="ctr"/>
          <a:lstStyle/>
          <a:p>
            <a:pPr indent="0" marL="0">
              <a:buNone/>
            </a:pPr>
            <a:r>
              <a:rPr lang="en-US" sz="1400" dirty="0">
                <a:solidFill>
                  <a:srgbClr val="EEF0EC"/>
                </a:solidFill>
                <a:latin typeface="Franklin Gothic Book" pitchFamily="34" charset="0"/>
                <a:ea typeface="Franklin Gothic Book" pitchFamily="34" charset="-122"/>
                <a:cs typeface="Franklin Gothic Book" pitchFamily="34" charset="-120"/>
              </a:rPr>
              <a:t>VAHAN and eGujCop access, when ready</a:t>
            </a:r>
            <a:endParaRPr lang="en-US" sz="1400" dirty="0"/>
          </a:p>
        </p:txBody>
      </p:sp>
      <p:sp>
        <p:nvSpPr>
          <p:cNvPr id="33" name="Text 27"/>
          <p:cNvSpPr/>
          <p:nvPr/>
        </p:nvSpPr>
        <p:spPr>
          <a:xfrm>
            <a:off x="548640" y="5257800"/>
            <a:ext cx="7315200" cy="640080"/>
          </a:xfrm>
          <a:prstGeom prst="rect">
            <a:avLst/>
          </a:prstGeom>
          <a:noFill/>
          <a:ln/>
        </p:spPr>
        <p:txBody>
          <a:bodyPr wrap="square" lIns="0" tIns="0" rIns="0" bIns="0" rtlCol="0" anchor="t"/>
          <a:lstStyle/>
          <a:p>
            <a:pPr indent="0" marL="0">
              <a:buNone/>
            </a:pPr>
            <a:r>
              <a:rPr lang="en-US" sz="3600" dirty="0">
                <a:solidFill>
                  <a:srgbClr val="EEF0EC"/>
                </a:solidFill>
                <a:latin typeface="Franklin Gothic Demi Cond" pitchFamily="34" charset="0"/>
                <a:ea typeface="Franklin Gothic Demi Cond" pitchFamily="34" charset="-122"/>
                <a:cs typeface="Franklin Gothic Demi Cond" pitchFamily="34" charset="-120"/>
              </a:rPr>
              <a:t>Type a plate. See where it went.</a:t>
            </a:r>
            <a:endParaRPr lang="en-US" sz="3600" dirty="0"/>
          </a:p>
        </p:txBody>
      </p:sp>
      <p:sp>
        <p:nvSpPr>
          <p:cNvPr id="34" name="Text 28"/>
          <p:cNvSpPr/>
          <p:nvPr/>
        </p:nvSpPr>
        <p:spPr>
          <a:xfrm>
            <a:off x="548640" y="5897880"/>
            <a:ext cx="5486400" cy="320040"/>
          </a:xfrm>
          <a:prstGeom prst="rect">
            <a:avLst/>
          </a:prstGeom>
          <a:noFill/>
          <a:ln/>
        </p:spPr>
        <p:txBody>
          <a:bodyPr wrap="square" lIns="0" tIns="0" rIns="0" bIns="0" rtlCol="0" anchor="t"/>
          <a:lstStyle/>
          <a:p>
            <a:pPr indent="0" marL="0">
              <a:buNone/>
            </a:pPr>
            <a:r>
              <a:rPr lang="en-US" sz="1500" dirty="0">
                <a:solidFill>
                  <a:srgbClr val="A9AFB5"/>
                </a:solidFill>
                <a:latin typeface="Franklin Gothic Book" pitchFamily="34" charset="0"/>
                <a:ea typeface="Franklin Gothic Book" pitchFamily="34" charset="-122"/>
                <a:cs typeface="Franklin Gothic Book" pitchFamily="34" charset="-120"/>
              </a:rPr>
              <a:t>Thank you — questions welcome.</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012"/>
        </a:solidFill>
      </p:bgPr>
    </p:bg>
    <p:spTree>
      <p:nvGrpSpPr>
        <p:cNvPr id="1" name=""/>
        <p:cNvGrpSpPr/>
        <p:nvPr/>
      </p:nvGrpSpPr>
      <p:grpSpPr>
        <a:xfrm>
          <a:off x="0" y="0"/>
          <a:ext cx="0" cy="0"/>
          <a:chOff x="0" y="0"/>
          <a:chExt cx="0" cy="0"/>
        </a:xfrm>
      </p:grpSpPr>
      <p:sp>
        <p:nvSpPr>
          <p:cNvPr id="2" name="Text 0"/>
          <p:cNvSpPr/>
          <p:nvPr/>
        </p:nvSpPr>
        <p:spPr>
          <a:xfrm>
            <a:off x="548640" y="548640"/>
            <a:ext cx="5486400" cy="274320"/>
          </a:xfrm>
          <a:prstGeom prst="rect">
            <a:avLst/>
          </a:prstGeom>
          <a:noFill/>
          <a:ln/>
        </p:spPr>
        <p:txBody>
          <a:bodyPr wrap="square" lIns="0" tIns="0" rIns="0" bIns="0" rtlCol="0" anchor="t"/>
          <a:lstStyle/>
          <a:p>
            <a:pPr indent="0" marL="0">
              <a:buNone/>
            </a:pPr>
            <a:r>
              <a:rPr lang="en-US" sz="1100" b="1" spc="100" kern="0" dirty="0">
                <a:solidFill>
                  <a:srgbClr val="FFB000"/>
                </a:solidFill>
                <a:latin typeface="Consolas" pitchFamily="34" charset="0"/>
                <a:ea typeface="Consolas" pitchFamily="34" charset="-122"/>
                <a:cs typeface="Consolas" pitchFamily="34" charset="-120"/>
              </a:rPr>
              <a:t>APPENDIX</a:t>
            </a:r>
            <a:endParaRPr lang="en-US" sz="1100" dirty="0"/>
          </a:p>
        </p:txBody>
      </p:sp>
      <p:sp>
        <p:nvSpPr>
          <p:cNvPr id="3" name="Text 1"/>
          <p:cNvSpPr/>
          <p:nvPr/>
        </p:nvSpPr>
        <p:spPr>
          <a:xfrm>
            <a:off x="548640" y="868680"/>
            <a:ext cx="7315200" cy="822960"/>
          </a:xfrm>
          <a:prstGeom prst="rect">
            <a:avLst/>
          </a:prstGeom>
          <a:noFill/>
          <a:ln/>
        </p:spPr>
        <p:txBody>
          <a:bodyPr wrap="square" lIns="0" tIns="0" rIns="0" bIns="0" rtlCol="0" anchor="t"/>
          <a:lstStyle/>
          <a:p>
            <a:pPr indent="0" marL="0">
              <a:buNone/>
            </a:pPr>
            <a:r>
              <a:rPr lang="en-US" sz="4400" dirty="0">
                <a:solidFill>
                  <a:srgbClr val="EEF0EC"/>
                </a:solidFill>
                <a:latin typeface="Franklin Gothic Demi Cond" pitchFamily="34" charset="0"/>
                <a:ea typeface="Franklin Gothic Demi Cond" pitchFamily="34" charset="-122"/>
                <a:cs typeface="Franklin Gothic Demi Cond" pitchFamily="34" charset="-120"/>
              </a:rPr>
              <a:t>For questions</a:t>
            </a:r>
            <a:endParaRPr lang="en-US" sz="4400" dirty="0"/>
          </a:p>
        </p:txBody>
      </p:sp>
      <p:sp>
        <p:nvSpPr>
          <p:cNvPr id="4" name="Shape 2"/>
          <p:cNvSpPr/>
          <p:nvPr/>
        </p:nvSpPr>
        <p:spPr>
          <a:xfrm>
            <a:off x="548640" y="1965960"/>
            <a:ext cx="5410048" cy="658368"/>
          </a:xfrm>
          <a:prstGeom prst="rect">
            <a:avLst/>
          </a:prstGeom>
          <a:solidFill>
            <a:srgbClr val="16191C"/>
          </a:solidFill>
          <a:ln w="9525">
            <a:solidFill>
              <a:srgbClr val="2E3338"/>
            </a:solidFill>
            <a:prstDash val="solid"/>
          </a:ln>
        </p:spPr>
      </p:sp>
      <p:sp>
        <p:nvSpPr>
          <p:cNvPr id="5" name="Text 3"/>
          <p:cNvSpPr/>
          <p:nvPr/>
        </p:nvSpPr>
        <p:spPr>
          <a:xfrm>
            <a:off x="731520" y="1965960"/>
            <a:ext cx="548640" cy="658368"/>
          </a:xfrm>
          <a:prstGeom prst="rect">
            <a:avLst/>
          </a:prstGeom>
          <a:noFill/>
          <a:ln/>
        </p:spPr>
        <p:txBody>
          <a:bodyPr wrap="square" lIns="0" tIns="0" rIns="0" bIns="0" rtlCol="0" anchor="ctr"/>
          <a:lstStyle/>
          <a:p>
            <a:pPr indent="0" marL="0">
              <a:buNone/>
            </a:pPr>
            <a:r>
              <a:rPr lang="en-US" sz="1400" b="1" dirty="0">
                <a:solidFill>
                  <a:srgbClr val="FFB000"/>
                </a:solidFill>
                <a:latin typeface="Consolas" pitchFamily="34" charset="0"/>
                <a:ea typeface="Consolas" pitchFamily="34" charset="-122"/>
                <a:cs typeface="Consolas" pitchFamily="34" charset="-120"/>
              </a:rPr>
              <a:t>A1</a:t>
            </a:r>
            <a:endParaRPr lang="en-US" sz="1400" dirty="0"/>
          </a:p>
        </p:txBody>
      </p:sp>
      <p:sp>
        <p:nvSpPr>
          <p:cNvPr id="6" name="Text 4"/>
          <p:cNvSpPr/>
          <p:nvPr/>
        </p:nvSpPr>
        <p:spPr>
          <a:xfrm>
            <a:off x="1325880" y="2057400"/>
            <a:ext cx="4495648" cy="274320"/>
          </a:xfrm>
          <a:prstGeom prst="rect">
            <a:avLst/>
          </a:prstGeom>
          <a:noFill/>
          <a:ln/>
        </p:spPr>
        <p:txBody>
          <a:bodyPr wrap="square" lIns="0" tIns="0" rIns="0" bIns="0" rtlCol="0" anchor="t"/>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Tech stack</a:t>
            </a:r>
            <a:endParaRPr lang="en-US" sz="1500" dirty="0"/>
          </a:p>
        </p:txBody>
      </p:sp>
      <p:sp>
        <p:nvSpPr>
          <p:cNvPr id="7" name="Text 5"/>
          <p:cNvSpPr/>
          <p:nvPr/>
        </p:nvSpPr>
        <p:spPr>
          <a:xfrm>
            <a:off x="1325880" y="2331720"/>
            <a:ext cx="4495648" cy="237744"/>
          </a:xfrm>
          <a:prstGeom prst="rect">
            <a:avLst/>
          </a:prstGeom>
          <a:noFill/>
          <a:ln/>
        </p:spPr>
        <p:txBody>
          <a:bodyPr wrap="square" lIns="0" tIns="0" rIns="0" bIns="0" rtlCol="0" anchor="t"/>
          <a:lstStyle/>
          <a:p>
            <a:pPr indent="0" marL="0">
              <a:buNone/>
            </a:pPr>
            <a:r>
              <a:rPr lang="en-US" sz="1200" dirty="0">
                <a:solidFill>
                  <a:srgbClr val="A9AFB5"/>
                </a:solidFill>
                <a:latin typeface="Franklin Gothic Book" pitchFamily="34" charset="0"/>
                <a:ea typeface="Franklin Gothic Book" pitchFamily="34" charset="-122"/>
                <a:cs typeface="Franklin Gothic Book" pitchFamily="34" charset="-120"/>
              </a:rPr>
              <a:t>Every part, and why it was chosen</a:t>
            </a:r>
            <a:endParaRPr lang="en-US" sz="1200" dirty="0"/>
          </a:p>
        </p:txBody>
      </p:sp>
      <p:sp>
        <p:nvSpPr>
          <p:cNvPr id="8" name="Shape 6"/>
          <p:cNvSpPr/>
          <p:nvPr/>
        </p:nvSpPr>
        <p:spPr>
          <a:xfrm>
            <a:off x="6233008" y="1965960"/>
            <a:ext cx="5410048" cy="658368"/>
          </a:xfrm>
          <a:prstGeom prst="rect">
            <a:avLst/>
          </a:prstGeom>
          <a:solidFill>
            <a:srgbClr val="16191C"/>
          </a:solidFill>
          <a:ln w="9525">
            <a:solidFill>
              <a:srgbClr val="2E3338"/>
            </a:solidFill>
            <a:prstDash val="solid"/>
          </a:ln>
        </p:spPr>
      </p:sp>
      <p:sp>
        <p:nvSpPr>
          <p:cNvPr id="9" name="Text 7"/>
          <p:cNvSpPr/>
          <p:nvPr/>
        </p:nvSpPr>
        <p:spPr>
          <a:xfrm>
            <a:off x="6415888" y="1965960"/>
            <a:ext cx="548640" cy="658368"/>
          </a:xfrm>
          <a:prstGeom prst="rect">
            <a:avLst/>
          </a:prstGeom>
          <a:noFill/>
          <a:ln/>
        </p:spPr>
        <p:txBody>
          <a:bodyPr wrap="square" lIns="0" tIns="0" rIns="0" bIns="0" rtlCol="0" anchor="ctr"/>
          <a:lstStyle/>
          <a:p>
            <a:pPr indent="0" marL="0">
              <a:buNone/>
            </a:pPr>
            <a:r>
              <a:rPr lang="en-US" sz="1400" b="1" dirty="0">
                <a:solidFill>
                  <a:srgbClr val="FFB000"/>
                </a:solidFill>
                <a:latin typeface="Consolas" pitchFamily="34" charset="0"/>
                <a:ea typeface="Consolas" pitchFamily="34" charset="-122"/>
                <a:cs typeface="Consolas" pitchFamily="34" charset="-120"/>
              </a:rPr>
              <a:t>A2</a:t>
            </a:r>
            <a:endParaRPr lang="en-US" sz="1400" dirty="0"/>
          </a:p>
        </p:txBody>
      </p:sp>
      <p:sp>
        <p:nvSpPr>
          <p:cNvPr id="10" name="Text 8"/>
          <p:cNvSpPr/>
          <p:nvPr/>
        </p:nvSpPr>
        <p:spPr>
          <a:xfrm>
            <a:off x="7010248" y="2057400"/>
            <a:ext cx="4495648" cy="274320"/>
          </a:xfrm>
          <a:prstGeom prst="rect">
            <a:avLst/>
          </a:prstGeom>
          <a:noFill/>
          <a:ln/>
        </p:spPr>
        <p:txBody>
          <a:bodyPr wrap="square" lIns="0" tIns="0" rIns="0" bIns="0" rtlCol="0" anchor="t"/>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Our approach</a:t>
            </a:r>
            <a:endParaRPr lang="en-US" sz="1500" dirty="0"/>
          </a:p>
        </p:txBody>
      </p:sp>
      <p:sp>
        <p:nvSpPr>
          <p:cNvPr id="11" name="Text 9"/>
          <p:cNvSpPr/>
          <p:nvPr/>
        </p:nvSpPr>
        <p:spPr>
          <a:xfrm>
            <a:off x="7010248" y="2331720"/>
            <a:ext cx="4495648" cy="237744"/>
          </a:xfrm>
          <a:prstGeom prst="rect">
            <a:avLst/>
          </a:prstGeom>
          <a:noFill/>
          <a:ln/>
        </p:spPr>
        <p:txBody>
          <a:bodyPr wrap="square" lIns="0" tIns="0" rIns="0" bIns="0" rtlCol="0" anchor="t"/>
          <a:lstStyle/>
          <a:p>
            <a:pPr indent="0" marL="0">
              <a:buNone/>
            </a:pPr>
            <a:r>
              <a:rPr lang="en-US" sz="1200" dirty="0">
                <a:solidFill>
                  <a:srgbClr val="A9AFB5"/>
                </a:solidFill>
                <a:latin typeface="Franklin Gothic Book" pitchFamily="34" charset="0"/>
                <a:ea typeface="Franklin Gothic Book" pitchFamily="34" charset="-122"/>
                <a:cs typeface="Franklin Gothic Book" pitchFamily="34" charset="-120"/>
              </a:rPr>
              <a:t>A hybrid of the four reference models</a:t>
            </a:r>
            <a:endParaRPr lang="en-US" sz="1200" dirty="0"/>
          </a:p>
        </p:txBody>
      </p:sp>
      <p:sp>
        <p:nvSpPr>
          <p:cNvPr id="12" name="Shape 10"/>
          <p:cNvSpPr/>
          <p:nvPr/>
        </p:nvSpPr>
        <p:spPr>
          <a:xfrm>
            <a:off x="548640" y="2770632"/>
            <a:ext cx="5410048" cy="658368"/>
          </a:xfrm>
          <a:prstGeom prst="rect">
            <a:avLst/>
          </a:prstGeom>
          <a:solidFill>
            <a:srgbClr val="16191C"/>
          </a:solidFill>
          <a:ln w="9525">
            <a:solidFill>
              <a:srgbClr val="2E3338"/>
            </a:solidFill>
            <a:prstDash val="solid"/>
          </a:ln>
        </p:spPr>
      </p:sp>
      <p:sp>
        <p:nvSpPr>
          <p:cNvPr id="13" name="Text 11"/>
          <p:cNvSpPr/>
          <p:nvPr/>
        </p:nvSpPr>
        <p:spPr>
          <a:xfrm>
            <a:off x="731520" y="2770632"/>
            <a:ext cx="548640" cy="658368"/>
          </a:xfrm>
          <a:prstGeom prst="rect">
            <a:avLst/>
          </a:prstGeom>
          <a:noFill/>
          <a:ln/>
        </p:spPr>
        <p:txBody>
          <a:bodyPr wrap="square" lIns="0" tIns="0" rIns="0" bIns="0" rtlCol="0" anchor="ctr"/>
          <a:lstStyle/>
          <a:p>
            <a:pPr indent="0" marL="0">
              <a:buNone/>
            </a:pPr>
            <a:r>
              <a:rPr lang="en-US" sz="1400" b="1" dirty="0">
                <a:solidFill>
                  <a:srgbClr val="FFB000"/>
                </a:solidFill>
                <a:latin typeface="Consolas" pitchFamily="34" charset="0"/>
                <a:ea typeface="Consolas" pitchFamily="34" charset="-122"/>
                <a:cs typeface="Consolas" pitchFamily="34" charset="-120"/>
              </a:rPr>
              <a:t>A3</a:t>
            </a:r>
            <a:endParaRPr lang="en-US" sz="1400" dirty="0"/>
          </a:p>
        </p:txBody>
      </p:sp>
      <p:sp>
        <p:nvSpPr>
          <p:cNvPr id="14" name="Text 12"/>
          <p:cNvSpPr/>
          <p:nvPr/>
        </p:nvSpPr>
        <p:spPr>
          <a:xfrm>
            <a:off x="1325880" y="2862072"/>
            <a:ext cx="4495648" cy="274320"/>
          </a:xfrm>
          <a:prstGeom prst="rect">
            <a:avLst/>
          </a:prstGeom>
          <a:noFill/>
          <a:ln/>
        </p:spPr>
        <p:txBody>
          <a:bodyPr wrap="square" lIns="0" tIns="0" rIns="0" bIns="0" rtlCol="0" anchor="t"/>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Camera tiers</a:t>
            </a:r>
            <a:endParaRPr lang="en-US" sz="1500" dirty="0"/>
          </a:p>
        </p:txBody>
      </p:sp>
      <p:sp>
        <p:nvSpPr>
          <p:cNvPr id="15" name="Text 13"/>
          <p:cNvSpPr/>
          <p:nvPr/>
        </p:nvSpPr>
        <p:spPr>
          <a:xfrm>
            <a:off x="1325880" y="3136392"/>
            <a:ext cx="4495648" cy="237744"/>
          </a:xfrm>
          <a:prstGeom prst="rect">
            <a:avLst/>
          </a:prstGeom>
          <a:noFill/>
          <a:ln/>
        </p:spPr>
        <p:txBody>
          <a:bodyPr wrap="square" lIns="0" tIns="0" rIns="0" bIns="0" rtlCol="0" anchor="t"/>
          <a:lstStyle/>
          <a:p>
            <a:pPr indent="0" marL="0">
              <a:buNone/>
            </a:pPr>
            <a:r>
              <a:rPr lang="en-US" sz="1200" dirty="0">
                <a:solidFill>
                  <a:srgbClr val="A9AFB5"/>
                </a:solidFill>
                <a:latin typeface="Franklin Gothic Book" pitchFamily="34" charset="0"/>
                <a:ea typeface="Franklin Gothic Book" pitchFamily="34" charset="-122"/>
                <a:cs typeface="Franklin Gothic Book" pitchFamily="34" charset="-120"/>
              </a:rPr>
              <a:t>How 80,000 cameras are sized</a:t>
            </a:r>
            <a:endParaRPr lang="en-US" sz="1200" dirty="0"/>
          </a:p>
        </p:txBody>
      </p:sp>
      <p:sp>
        <p:nvSpPr>
          <p:cNvPr id="16" name="Shape 14"/>
          <p:cNvSpPr/>
          <p:nvPr/>
        </p:nvSpPr>
        <p:spPr>
          <a:xfrm>
            <a:off x="6233008" y="2770632"/>
            <a:ext cx="5410048" cy="658368"/>
          </a:xfrm>
          <a:prstGeom prst="rect">
            <a:avLst/>
          </a:prstGeom>
          <a:solidFill>
            <a:srgbClr val="16191C"/>
          </a:solidFill>
          <a:ln w="9525">
            <a:solidFill>
              <a:srgbClr val="2E3338"/>
            </a:solidFill>
            <a:prstDash val="solid"/>
          </a:ln>
        </p:spPr>
      </p:sp>
      <p:sp>
        <p:nvSpPr>
          <p:cNvPr id="17" name="Text 15"/>
          <p:cNvSpPr/>
          <p:nvPr/>
        </p:nvSpPr>
        <p:spPr>
          <a:xfrm>
            <a:off x="6415888" y="2770632"/>
            <a:ext cx="548640" cy="658368"/>
          </a:xfrm>
          <a:prstGeom prst="rect">
            <a:avLst/>
          </a:prstGeom>
          <a:noFill/>
          <a:ln/>
        </p:spPr>
        <p:txBody>
          <a:bodyPr wrap="square" lIns="0" tIns="0" rIns="0" bIns="0" rtlCol="0" anchor="ctr"/>
          <a:lstStyle/>
          <a:p>
            <a:pPr indent="0" marL="0">
              <a:buNone/>
            </a:pPr>
            <a:r>
              <a:rPr lang="en-US" sz="1400" b="1" dirty="0">
                <a:solidFill>
                  <a:srgbClr val="FFB000"/>
                </a:solidFill>
                <a:latin typeface="Consolas" pitchFamily="34" charset="0"/>
                <a:ea typeface="Consolas" pitchFamily="34" charset="-122"/>
                <a:cs typeface="Consolas" pitchFamily="34" charset="-120"/>
              </a:rPr>
              <a:t>A4</a:t>
            </a:r>
            <a:endParaRPr lang="en-US" sz="1400" dirty="0"/>
          </a:p>
        </p:txBody>
      </p:sp>
      <p:sp>
        <p:nvSpPr>
          <p:cNvPr id="18" name="Text 16"/>
          <p:cNvSpPr/>
          <p:nvPr/>
        </p:nvSpPr>
        <p:spPr>
          <a:xfrm>
            <a:off x="7010248" y="2862072"/>
            <a:ext cx="4495648" cy="274320"/>
          </a:xfrm>
          <a:prstGeom prst="rect">
            <a:avLst/>
          </a:prstGeom>
          <a:noFill/>
          <a:ln/>
        </p:spPr>
        <p:txBody>
          <a:bodyPr wrap="square" lIns="0" tIns="0" rIns="0" bIns="0" rtlCol="0" anchor="t"/>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Cost, line by line</a:t>
            </a:r>
            <a:endParaRPr lang="en-US" sz="1500" dirty="0"/>
          </a:p>
        </p:txBody>
      </p:sp>
      <p:sp>
        <p:nvSpPr>
          <p:cNvPr id="19" name="Text 17"/>
          <p:cNvSpPr/>
          <p:nvPr/>
        </p:nvSpPr>
        <p:spPr>
          <a:xfrm>
            <a:off x="7010248" y="3136392"/>
            <a:ext cx="4495648" cy="237744"/>
          </a:xfrm>
          <a:prstGeom prst="rect">
            <a:avLst/>
          </a:prstGeom>
          <a:noFill/>
          <a:ln/>
        </p:spPr>
        <p:txBody>
          <a:bodyPr wrap="square" lIns="0" tIns="0" rIns="0" bIns="0" rtlCol="0" anchor="t"/>
          <a:lstStyle/>
          <a:p>
            <a:pPr indent="0" marL="0">
              <a:buNone/>
            </a:pPr>
            <a:r>
              <a:rPr lang="en-US" sz="1200" dirty="0">
                <a:solidFill>
                  <a:srgbClr val="A9AFB5"/>
                </a:solidFill>
                <a:latin typeface="Franklin Gothic Book" pitchFamily="34" charset="0"/>
                <a:ea typeface="Franklin Gothic Book" pitchFamily="34" charset="-122"/>
                <a:cs typeface="Franklin Gothic Book" pitchFamily="34" charset="-120"/>
              </a:rPr>
              <a:t>Build and run</a:t>
            </a:r>
            <a:endParaRPr lang="en-US" sz="1200" dirty="0"/>
          </a:p>
        </p:txBody>
      </p:sp>
      <p:sp>
        <p:nvSpPr>
          <p:cNvPr id="20" name="Shape 18"/>
          <p:cNvSpPr/>
          <p:nvPr/>
        </p:nvSpPr>
        <p:spPr>
          <a:xfrm>
            <a:off x="548640" y="3575304"/>
            <a:ext cx="5410048" cy="658368"/>
          </a:xfrm>
          <a:prstGeom prst="rect">
            <a:avLst/>
          </a:prstGeom>
          <a:solidFill>
            <a:srgbClr val="16191C"/>
          </a:solidFill>
          <a:ln w="9525">
            <a:solidFill>
              <a:srgbClr val="2E3338"/>
            </a:solidFill>
            <a:prstDash val="solid"/>
          </a:ln>
        </p:spPr>
      </p:sp>
      <p:sp>
        <p:nvSpPr>
          <p:cNvPr id="21" name="Text 19"/>
          <p:cNvSpPr/>
          <p:nvPr/>
        </p:nvSpPr>
        <p:spPr>
          <a:xfrm>
            <a:off x="731520" y="3575304"/>
            <a:ext cx="548640" cy="658368"/>
          </a:xfrm>
          <a:prstGeom prst="rect">
            <a:avLst/>
          </a:prstGeom>
          <a:noFill/>
          <a:ln/>
        </p:spPr>
        <p:txBody>
          <a:bodyPr wrap="square" lIns="0" tIns="0" rIns="0" bIns="0" rtlCol="0" anchor="ctr"/>
          <a:lstStyle/>
          <a:p>
            <a:pPr indent="0" marL="0">
              <a:buNone/>
            </a:pPr>
            <a:r>
              <a:rPr lang="en-US" sz="1400" b="1" dirty="0">
                <a:solidFill>
                  <a:srgbClr val="FFB000"/>
                </a:solidFill>
                <a:latin typeface="Consolas" pitchFamily="34" charset="0"/>
                <a:ea typeface="Consolas" pitchFamily="34" charset="-122"/>
                <a:cs typeface="Consolas" pitchFamily="34" charset="-120"/>
              </a:rPr>
              <a:t>A5</a:t>
            </a:r>
            <a:endParaRPr lang="en-US" sz="1400" dirty="0"/>
          </a:p>
        </p:txBody>
      </p:sp>
      <p:sp>
        <p:nvSpPr>
          <p:cNvPr id="22" name="Text 20"/>
          <p:cNvSpPr/>
          <p:nvPr/>
        </p:nvSpPr>
        <p:spPr>
          <a:xfrm>
            <a:off x="1325880" y="3666744"/>
            <a:ext cx="4495648" cy="274320"/>
          </a:xfrm>
          <a:prstGeom prst="rect">
            <a:avLst/>
          </a:prstGeom>
          <a:noFill/>
          <a:ln/>
        </p:spPr>
        <p:txBody>
          <a:bodyPr wrap="square" lIns="0" tIns="0" rIns="0" bIns="0" rtlCol="0" anchor="t"/>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Beyond number plates</a:t>
            </a:r>
            <a:endParaRPr lang="en-US" sz="1500" dirty="0"/>
          </a:p>
        </p:txBody>
      </p:sp>
      <p:sp>
        <p:nvSpPr>
          <p:cNvPr id="23" name="Text 21"/>
          <p:cNvSpPr/>
          <p:nvPr/>
        </p:nvSpPr>
        <p:spPr>
          <a:xfrm>
            <a:off x="1325880" y="3941064"/>
            <a:ext cx="4495648" cy="237744"/>
          </a:xfrm>
          <a:prstGeom prst="rect">
            <a:avLst/>
          </a:prstGeom>
          <a:noFill/>
          <a:ln/>
        </p:spPr>
        <p:txBody>
          <a:bodyPr wrap="square" lIns="0" tIns="0" rIns="0" bIns="0" rtlCol="0" anchor="t"/>
          <a:lstStyle/>
          <a:p>
            <a:pPr indent="0" marL="0">
              <a:buNone/>
            </a:pPr>
            <a:r>
              <a:rPr lang="en-US" sz="1200" dirty="0">
                <a:solidFill>
                  <a:srgbClr val="A9AFB5"/>
                </a:solidFill>
                <a:latin typeface="Franklin Gothic Book" pitchFamily="34" charset="0"/>
                <a:ea typeface="Franklin Gothic Book" pitchFamily="34" charset="-122"/>
                <a:cs typeface="Franklin Gothic Book" pitchFamily="34" charset="-120"/>
              </a:rPr>
              <a:t>Vehicles, people, zones, tamper</a:t>
            </a:r>
            <a:endParaRPr lang="en-US" sz="1200" dirty="0"/>
          </a:p>
        </p:txBody>
      </p:sp>
      <p:sp>
        <p:nvSpPr>
          <p:cNvPr id="24" name="Shape 22"/>
          <p:cNvSpPr/>
          <p:nvPr/>
        </p:nvSpPr>
        <p:spPr>
          <a:xfrm>
            <a:off x="6233008" y="3575304"/>
            <a:ext cx="5410048" cy="658368"/>
          </a:xfrm>
          <a:prstGeom prst="rect">
            <a:avLst/>
          </a:prstGeom>
          <a:solidFill>
            <a:srgbClr val="16191C"/>
          </a:solidFill>
          <a:ln w="9525">
            <a:solidFill>
              <a:srgbClr val="2E3338"/>
            </a:solidFill>
            <a:prstDash val="solid"/>
          </a:ln>
        </p:spPr>
      </p:sp>
      <p:sp>
        <p:nvSpPr>
          <p:cNvPr id="25" name="Text 23"/>
          <p:cNvSpPr/>
          <p:nvPr/>
        </p:nvSpPr>
        <p:spPr>
          <a:xfrm>
            <a:off x="6415888" y="3575304"/>
            <a:ext cx="548640" cy="658368"/>
          </a:xfrm>
          <a:prstGeom prst="rect">
            <a:avLst/>
          </a:prstGeom>
          <a:noFill/>
          <a:ln/>
        </p:spPr>
        <p:txBody>
          <a:bodyPr wrap="square" lIns="0" tIns="0" rIns="0" bIns="0" rtlCol="0" anchor="ctr"/>
          <a:lstStyle/>
          <a:p>
            <a:pPr indent="0" marL="0">
              <a:buNone/>
            </a:pPr>
            <a:r>
              <a:rPr lang="en-US" sz="1400" b="1" dirty="0">
                <a:solidFill>
                  <a:srgbClr val="FFB000"/>
                </a:solidFill>
                <a:latin typeface="Consolas" pitchFamily="34" charset="0"/>
                <a:ea typeface="Consolas" pitchFamily="34" charset="-122"/>
                <a:cs typeface="Consolas" pitchFamily="34" charset="-120"/>
              </a:rPr>
              <a:t>A6</a:t>
            </a:r>
            <a:endParaRPr lang="en-US" sz="1400" dirty="0"/>
          </a:p>
        </p:txBody>
      </p:sp>
      <p:sp>
        <p:nvSpPr>
          <p:cNvPr id="26" name="Text 24"/>
          <p:cNvSpPr/>
          <p:nvPr/>
        </p:nvSpPr>
        <p:spPr>
          <a:xfrm>
            <a:off x="7010248" y="3666744"/>
            <a:ext cx="4495648" cy="274320"/>
          </a:xfrm>
          <a:prstGeom prst="rect">
            <a:avLst/>
          </a:prstGeom>
          <a:noFill/>
          <a:ln/>
        </p:spPr>
        <p:txBody>
          <a:bodyPr wrap="square" lIns="0" tIns="0" rIns="0" bIns="0" rtlCol="0" anchor="t"/>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Field app and languages</a:t>
            </a:r>
            <a:endParaRPr lang="en-US" sz="1500" dirty="0"/>
          </a:p>
        </p:txBody>
      </p:sp>
      <p:sp>
        <p:nvSpPr>
          <p:cNvPr id="27" name="Text 25"/>
          <p:cNvSpPr/>
          <p:nvPr/>
        </p:nvSpPr>
        <p:spPr>
          <a:xfrm>
            <a:off x="7010248" y="3941064"/>
            <a:ext cx="4495648" cy="237744"/>
          </a:xfrm>
          <a:prstGeom prst="rect">
            <a:avLst/>
          </a:prstGeom>
          <a:noFill/>
          <a:ln/>
        </p:spPr>
        <p:txBody>
          <a:bodyPr wrap="square" lIns="0" tIns="0" rIns="0" bIns="0" rtlCol="0" anchor="t"/>
          <a:lstStyle/>
          <a:p>
            <a:pPr indent="0" marL="0">
              <a:buNone/>
            </a:pPr>
            <a:r>
              <a:rPr lang="en-US" sz="1200" dirty="0">
                <a:solidFill>
                  <a:srgbClr val="A9AFB5"/>
                </a:solidFill>
                <a:latin typeface="Franklin Gothic Book" pitchFamily="34" charset="0"/>
                <a:ea typeface="Franklin Gothic Book" pitchFamily="34" charset="-122"/>
                <a:cs typeface="Franklin Gothic Book" pitchFamily="34" charset="-120"/>
              </a:rPr>
              <a:t>Phones, Hindi and Gujarati</a:t>
            </a:r>
            <a:endParaRPr lang="en-US" sz="1200" dirty="0"/>
          </a:p>
        </p:txBody>
      </p:sp>
      <p:sp>
        <p:nvSpPr>
          <p:cNvPr id="28" name="Shape 26"/>
          <p:cNvSpPr/>
          <p:nvPr/>
        </p:nvSpPr>
        <p:spPr>
          <a:xfrm>
            <a:off x="548640" y="4379976"/>
            <a:ext cx="5410048" cy="658368"/>
          </a:xfrm>
          <a:prstGeom prst="rect">
            <a:avLst/>
          </a:prstGeom>
          <a:solidFill>
            <a:srgbClr val="16191C"/>
          </a:solidFill>
          <a:ln w="9525">
            <a:solidFill>
              <a:srgbClr val="2E3338"/>
            </a:solidFill>
            <a:prstDash val="solid"/>
          </a:ln>
        </p:spPr>
      </p:sp>
      <p:sp>
        <p:nvSpPr>
          <p:cNvPr id="29" name="Text 27"/>
          <p:cNvSpPr/>
          <p:nvPr/>
        </p:nvSpPr>
        <p:spPr>
          <a:xfrm>
            <a:off x="731520" y="4379976"/>
            <a:ext cx="548640" cy="658368"/>
          </a:xfrm>
          <a:prstGeom prst="rect">
            <a:avLst/>
          </a:prstGeom>
          <a:noFill/>
          <a:ln/>
        </p:spPr>
        <p:txBody>
          <a:bodyPr wrap="square" lIns="0" tIns="0" rIns="0" bIns="0" rtlCol="0" anchor="ctr"/>
          <a:lstStyle/>
          <a:p>
            <a:pPr indent="0" marL="0">
              <a:buNone/>
            </a:pPr>
            <a:r>
              <a:rPr lang="en-US" sz="1400" b="1" dirty="0">
                <a:solidFill>
                  <a:srgbClr val="FFB000"/>
                </a:solidFill>
                <a:latin typeface="Consolas" pitchFamily="34" charset="0"/>
                <a:ea typeface="Consolas" pitchFamily="34" charset="-122"/>
                <a:cs typeface="Consolas" pitchFamily="34" charset="-120"/>
              </a:rPr>
              <a:t>A7</a:t>
            </a:r>
            <a:endParaRPr lang="en-US" sz="1400" dirty="0"/>
          </a:p>
        </p:txBody>
      </p:sp>
      <p:sp>
        <p:nvSpPr>
          <p:cNvPr id="30" name="Text 28"/>
          <p:cNvSpPr/>
          <p:nvPr/>
        </p:nvSpPr>
        <p:spPr>
          <a:xfrm>
            <a:off x="1325880" y="4471416"/>
            <a:ext cx="4495648" cy="274320"/>
          </a:xfrm>
          <a:prstGeom prst="rect">
            <a:avLst/>
          </a:prstGeom>
          <a:noFill/>
          <a:ln/>
        </p:spPr>
        <p:txBody>
          <a:bodyPr wrap="square" lIns="0" tIns="0" rIns="0" bIns="0" rtlCol="0" anchor="t"/>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Operations</a:t>
            </a:r>
            <a:endParaRPr lang="en-US" sz="1500" dirty="0"/>
          </a:p>
        </p:txBody>
      </p:sp>
      <p:sp>
        <p:nvSpPr>
          <p:cNvPr id="31" name="Text 29"/>
          <p:cNvSpPr/>
          <p:nvPr/>
        </p:nvSpPr>
        <p:spPr>
          <a:xfrm>
            <a:off x="1325880" y="4745736"/>
            <a:ext cx="4495648" cy="237744"/>
          </a:xfrm>
          <a:prstGeom prst="rect">
            <a:avLst/>
          </a:prstGeom>
          <a:noFill/>
          <a:ln/>
        </p:spPr>
        <p:txBody>
          <a:bodyPr wrap="square" lIns="0" tIns="0" rIns="0" bIns="0" rtlCol="0" anchor="t"/>
          <a:lstStyle/>
          <a:p>
            <a:pPr indent="0" marL="0">
              <a:buNone/>
            </a:pPr>
            <a:r>
              <a:rPr lang="en-US" sz="1200" dirty="0">
                <a:solidFill>
                  <a:srgbClr val="A9AFB5"/>
                </a:solidFill>
                <a:latin typeface="Franklin Gothic Book" pitchFamily="34" charset="0"/>
                <a:ea typeface="Franklin Gothic Book" pitchFamily="34" charset="-122"/>
                <a:cs typeface="Franklin Gothic Book" pitchFamily="34" charset="-120"/>
              </a:rPr>
              <a:t>Health checks and integrations</a:t>
            </a:r>
            <a:endParaRPr lang="en-US" sz="1200" dirty="0"/>
          </a:p>
        </p:txBody>
      </p:sp>
      <p:sp>
        <p:nvSpPr>
          <p:cNvPr id="32" name="Shape 30"/>
          <p:cNvSpPr/>
          <p:nvPr/>
        </p:nvSpPr>
        <p:spPr>
          <a:xfrm>
            <a:off x="6233008" y="4379976"/>
            <a:ext cx="5410048" cy="658368"/>
          </a:xfrm>
          <a:prstGeom prst="rect">
            <a:avLst/>
          </a:prstGeom>
          <a:solidFill>
            <a:srgbClr val="16191C"/>
          </a:solidFill>
          <a:ln w="9525">
            <a:solidFill>
              <a:srgbClr val="2E3338"/>
            </a:solidFill>
            <a:prstDash val="solid"/>
          </a:ln>
        </p:spPr>
      </p:sp>
      <p:sp>
        <p:nvSpPr>
          <p:cNvPr id="33" name="Text 31"/>
          <p:cNvSpPr/>
          <p:nvPr/>
        </p:nvSpPr>
        <p:spPr>
          <a:xfrm>
            <a:off x="6415888" y="4379976"/>
            <a:ext cx="548640" cy="658368"/>
          </a:xfrm>
          <a:prstGeom prst="rect">
            <a:avLst/>
          </a:prstGeom>
          <a:noFill/>
          <a:ln/>
        </p:spPr>
        <p:txBody>
          <a:bodyPr wrap="square" lIns="0" tIns="0" rIns="0" bIns="0" rtlCol="0" anchor="ctr"/>
          <a:lstStyle/>
          <a:p>
            <a:pPr indent="0" marL="0">
              <a:buNone/>
            </a:pPr>
            <a:r>
              <a:rPr lang="en-US" sz="1400" b="1" dirty="0">
                <a:solidFill>
                  <a:srgbClr val="FFB000"/>
                </a:solidFill>
                <a:latin typeface="Consolas" pitchFamily="34" charset="0"/>
                <a:ea typeface="Consolas" pitchFamily="34" charset="-122"/>
                <a:cs typeface="Consolas" pitchFamily="34" charset="-120"/>
              </a:rPr>
              <a:t>A8</a:t>
            </a:r>
            <a:endParaRPr lang="en-US" sz="1400" dirty="0"/>
          </a:p>
        </p:txBody>
      </p:sp>
      <p:sp>
        <p:nvSpPr>
          <p:cNvPr id="34" name="Text 32"/>
          <p:cNvSpPr/>
          <p:nvPr/>
        </p:nvSpPr>
        <p:spPr>
          <a:xfrm>
            <a:off x="7010248" y="4471416"/>
            <a:ext cx="4495648" cy="274320"/>
          </a:xfrm>
          <a:prstGeom prst="rect">
            <a:avLst/>
          </a:prstGeom>
          <a:noFill/>
          <a:ln/>
        </p:spPr>
        <p:txBody>
          <a:bodyPr wrap="square" lIns="0" tIns="0" rIns="0" bIns="0" rtlCol="0" anchor="t"/>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Approaches compared</a:t>
            </a:r>
            <a:endParaRPr lang="en-US" sz="1500" dirty="0"/>
          </a:p>
        </p:txBody>
      </p:sp>
      <p:sp>
        <p:nvSpPr>
          <p:cNvPr id="35" name="Text 33"/>
          <p:cNvSpPr/>
          <p:nvPr/>
        </p:nvSpPr>
        <p:spPr>
          <a:xfrm>
            <a:off x="7010248" y="4745736"/>
            <a:ext cx="4495648" cy="237744"/>
          </a:xfrm>
          <a:prstGeom prst="rect">
            <a:avLst/>
          </a:prstGeom>
          <a:noFill/>
          <a:ln/>
        </p:spPr>
        <p:txBody>
          <a:bodyPr wrap="square" lIns="0" tIns="0" rIns="0" bIns="0" rtlCol="0" anchor="t"/>
          <a:lstStyle/>
          <a:p>
            <a:pPr indent="0" marL="0">
              <a:buNone/>
            </a:pPr>
            <a:r>
              <a:rPr lang="en-US" sz="1200" dirty="0">
                <a:solidFill>
                  <a:srgbClr val="A9AFB5"/>
                </a:solidFill>
                <a:latin typeface="Franklin Gothic Book" pitchFamily="34" charset="0"/>
                <a:ea typeface="Franklin Gothic Book" pitchFamily="34" charset="-122"/>
                <a:cs typeface="Franklin Gothic Book" pitchFamily="34" charset="-120"/>
              </a:rPr>
              <a:t>Separate, centralised, Sentinel</a:t>
            </a:r>
            <a:endParaRPr lang="en-US" sz="1200" dirty="0"/>
          </a:p>
        </p:txBody>
      </p:sp>
      <p:sp>
        <p:nvSpPr>
          <p:cNvPr id="36" name="Shape 34"/>
          <p:cNvSpPr/>
          <p:nvPr/>
        </p:nvSpPr>
        <p:spPr>
          <a:xfrm>
            <a:off x="548640" y="5184648"/>
            <a:ext cx="5410048" cy="658368"/>
          </a:xfrm>
          <a:prstGeom prst="rect">
            <a:avLst/>
          </a:prstGeom>
          <a:solidFill>
            <a:srgbClr val="16191C"/>
          </a:solidFill>
          <a:ln w="9525">
            <a:solidFill>
              <a:srgbClr val="2E3338"/>
            </a:solidFill>
            <a:prstDash val="solid"/>
          </a:ln>
        </p:spPr>
      </p:sp>
      <p:sp>
        <p:nvSpPr>
          <p:cNvPr id="37" name="Text 35"/>
          <p:cNvSpPr/>
          <p:nvPr/>
        </p:nvSpPr>
        <p:spPr>
          <a:xfrm>
            <a:off x="731520" y="5184648"/>
            <a:ext cx="548640" cy="658368"/>
          </a:xfrm>
          <a:prstGeom prst="rect">
            <a:avLst/>
          </a:prstGeom>
          <a:noFill/>
          <a:ln/>
        </p:spPr>
        <p:txBody>
          <a:bodyPr wrap="square" lIns="0" tIns="0" rIns="0" bIns="0" rtlCol="0" anchor="ctr"/>
          <a:lstStyle/>
          <a:p>
            <a:pPr indent="0" marL="0">
              <a:buNone/>
            </a:pPr>
            <a:r>
              <a:rPr lang="en-US" sz="1400" b="1" dirty="0">
                <a:solidFill>
                  <a:srgbClr val="FFB000"/>
                </a:solidFill>
                <a:latin typeface="Consolas" pitchFamily="34" charset="0"/>
                <a:ea typeface="Consolas" pitchFamily="34" charset="-122"/>
                <a:cs typeface="Consolas" pitchFamily="34" charset="-120"/>
              </a:rPr>
              <a:t>A9</a:t>
            </a:r>
            <a:endParaRPr lang="en-US" sz="1400" dirty="0"/>
          </a:p>
        </p:txBody>
      </p:sp>
      <p:sp>
        <p:nvSpPr>
          <p:cNvPr id="38" name="Text 36"/>
          <p:cNvSpPr/>
          <p:nvPr/>
        </p:nvSpPr>
        <p:spPr>
          <a:xfrm>
            <a:off x="1325880" y="5276088"/>
            <a:ext cx="4495648" cy="274320"/>
          </a:xfrm>
          <a:prstGeom prst="rect">
            <a:avLst/>
          </a:prstGeom>
          <a:noFill/>
          <a:ln/>
        </p:spPr>
        <p:txBody>
          <a:bodyPr wrap="square" lIns="0" tIns="0" rIns="0" bIns="0" rtlCol="0" anchor="t"/>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When the plate is unreadable</a:t>
            </a:r>
            <a:endParaRPr lang="en-US" sz="1500" dirty="0"/>
          </a:p>
        </p:txBody>
      </p:sp>
      <p:sp>
        <p:nvSpPr>
          <p:cNvPr id="39" name="Text 37"/>
          <p:cNvSpPr/>
          <p:nvPr/>
        </p:nvSpPr>
        <p:spPr>
          <a:xfrm>
            <a:off x="1325880" y="5550408"/>
            <a:ext cx="4495648" cy="237744"/>
          </a:xfrm>
          <a:prstGeom prst="rect">
            <a:avLst/>
          </a:prstGeom>
          <a:noFill/>
          <a:ln/>
        </p:spPr>
        <p:txBody>
          <a:bodyPr wrap="square" lIns="0" tIns="0" rIns="0" bIns="0" rtlCol="0" anchor="t"/>
          <a:lstStyle/>
          <a:p>
            <a:pPr indent="0" marL="0">
              <a:buNone/>
            </a:pPr>
            <a:r>
              <a:rPr lang="en-US" sz="1200" dirty="0">
                <a:solidFill>
                  <a:srgbClr val="A9AFB5"/>
                </a:solidFill>
                <a:latin typeface="Franklin Gothic Book" pitchFamily="34" charset="0"/>
                <a:ea typeface="Franklin Gothic Book" pitchFamily="34" charset="-122"/>
                <a:cs typeface="Franklin Gothic Book" pitchFamily="34" charset="-120"/>
              </a:rPr>
              <a:t>What exists, what is designed</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A1 · TECH STACK</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t"/>
          <a:lstStyle/>
          <a:p>
            <a:pPr algn="r" indent="0" marL="0">
              <a:buNone/>
            </a:pPr>
            <a:r>
              <a:rPr lang="en-US" sz="1000" dirty="0">
                <a:solidFill>
                  <a:srgbClr val="4C5157"/>
                </a:solidFill>
                <a:latin typeface="Consolas" pitchFamily="34" charset="0"/>
                <a:ea typeface="Consolas" pitchFamily="34" charset="-122"/>
                <a:cs typeface="Consolas" pitchFamily="34" charset="-120"/>
              </a:rPr>
              <a:t>APPENDIX · FOR QUESTIONS</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Open, proven parts, each chosen for one job</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A1</a:t>
            </a:r>
            <a:endParaRPr lang="en-US" sz="900" dirty="0"/>
          </a:p>
        </p:txBody>
      </p:sp>
      <p:sp>
        <p:nvSpPr>
          <p:cNvPr id="7" name="Shape 4"/>
          <p:cNvSpPr/>
          <p:nvPr/>
        </p:nvSpPr>
        <p:spPr>
          <a:xfrm>
            <a:off x="548640" y="1600200"/>
            <a:ext cx="11094415" cy="768096"/>
          </a:xfrm>
          <a:prstGeom prst="roundRect">
            <a:avLst>
              <a:gd name="adj" fmla="val 4762"/>
            </a:avLst>
          </a:prstGeom>
          <a:solidFill>
            <a:srgbClr val="FBFBF9"/>
          </a:solidFill>
          <a:ln w="9525">
            <a:solidFill>
              <a:srgbClr val="D5D7D2"/>
            </a:solidFill>
            <a:prstDash val="solid"/>
          </a:ln>
        </p:spPr>
      </p:sp>
      <p:pic>
        <p:nvPicPr>
          <p:cNvPr id="8" name="Image 0" descr="preencoded.png">    </p:cNvPr>
          <p:cNvPicPr>
            <a:picLocks noChangeAspect="1"/>
          </p:cNvPicPr>
          <p:nvPr/>
        </p:nvPicPr>
        <p:blipFill>
          <a:blip r:embed="rId1"/>
          <a:stretch>
            <a:fillRect/>
          </a:stretch>
        </p:blipFill>
        <p:spPr>
          <a:xfrm>
            <a:off x="749808" y="1819656"/>
            <a:ext cx="329184" cy="329184"/>
          </a:xfrm>
          <a:prstGeom prst="rect">
            <a:avLst/>
          </a:prstGeom>
        </p:spPr>
      </p:pic>
      <p:sp>
        <p:nvSpPr>
          <p:cNvPr id="9" name="Text 5"/>
          <p:cNvSpPr/>
          <p:nvPr/>
        </p:nvSpPr>
        <p:spPr>
          <a:xfrm>
            <a:off x="1280160" y="1600200"/>
            <a:ext cx="2103120" cy="768096"/>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Edge analytics</a:t>
            </a:r>
            <a:endParaRPr lang="en-US" sz="1400" dirty="0"/>
          </a:p>
        </p:txBody>
      </p:sp>
      <p:sp>
        <p:nvSpPr>
          <p:cNvPr id="10" name="Text 6"/>
          <p:cNvSpPr/>
          <p:nvPr/>
        </p:nvSpPr>
        <p:spPr>
          <a:xfrm>
            <a:off x="3429000" y="1600200"/>
            <a:ext cx="5577840" cy="768096"/>
          </a:xfrm>
          <a:prstGeom prst="rect">
            <a:avLst/>
          </a:prstGeom>
          <a:noFill/>
          <a:ln/>
        </p:spPr>
        <p:txBody>
          <a:bodyPr wrap="square" lIns="0" tIns="0" rIns="0" bIns="0" rtlCol="0" anchor="ctr"/>
          <a:lstStyle/>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Python 3.13 · OpenCV · ONNX Runtime · Kalman tracker on video timestamps</a:t>
            </a:r>
            <a:endParaRPr lang="en-US" sz="1150" dirty="0"/>
          </a:p>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YOLO11n vehicles · YOLOv9-t plates · CCT-XS plate OCR · YuNet faces · PP-OCRv6 clock</a:t>
            </a:r>
            <a:endParaRPr lang="en-US" sz="1150" dirty="0"/>
          </a:p>
        </p:txBody>
      </p:sp>
      <p:sp>
        <p:nvSpPr>
          <p:cNvPr id="11" name="Text 7"/>
          <p:cNvSpPr/>
          <p:nvPr/>
        </p:nvSpPr>
        <p:spPr>
          <a:xfrm>
            <a:off x="9189720" y="1600200"/>
            <a:ext cx="2270455" cy="768096"/>
          </a:xfrm>
          <a:prstGeom prst="rect">
            <a:avLst/>
          </a:prstGeom>
          <a:noFill/>
          <a:ln/>
        </p:spPr>
        <p:txBody>
          <a:bodyPr wrap="square" lIns="0" tIns="0" rIns="0" bIns="0" rtlCol="0" anchor="ctr"/>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Same models on a laptop or a district GPU; no internet</a:t>
            </a:r>
            <a:endParaRPr lang="en-US" sz="1150" dirty="0"/>
          </a:p>
        </p:txBody>
      </p:sp>
      <p:sp>
        <p:nvSpPr>
          <p:cNvPr id="12" name="Shape 8"/>
          <p:cNvSpPr/>
          <p:nvPr/>
        </p:nvSpPr>
        <p:spPr>
          <a:xfrm>
            <a:off x="548640" y="2441448"/>
            <a:ext cx="11094415" cy="768096"/>
          </a:xfrm>
          <a:prstGeom prst="roundRect">
            <a:avLst>
              <a:gd name="adj" fmla="val 4762"/>
            </a:avLst>
          </a:prstGeom>
          <a:solidFill>
            <a:srgbClr val="FBFBF9"/>
          </a:solidFill>
          <a:ln w="9525">
            <a:solidFill>
              <a:srgbClr val="D5D7D2"/>
            </a:solidFill>
            <a:prstDash val="solid"/>
          </a:ln>
        </p:spPr>
      </p:sp>
      <p:pic>
        <p:nvPicPr>
          <p:cNvPr id="13" name="Image 1" descr="preencoded.png">    </p:cNvPr>
          <p:cNvPicPr>
            <a:picLocks noChangeAspect="1"/>
          </p:cNvPicPr>
          <p:nvPr/>
        </p:nvPicPr>
        <p:blipFill>
          <a:blip r:embed="rId2"/>
          <a:stretch>
            <a:fillRect/>
          </a:stretch>
        </p:blipFill>
        <p:spPr>
          <a:xfrm>
            <a:off x="749808" y="2660904"/>
            <a:ext cx="329184" cy="329184"/>
          </a:xfrm>
          <a:prstGeom prst="rect">
            <a:avLst/>
          </a:prstGeom>
        </p:spPr>
      </p:pic>
      <p:sp>
        <p:nvSpPr>
          <p:cNvPr id="14" name="Text 9"/>
          <p:cNvSpPr/>
          <p:nvPr/>
        </p:nvSpPr>
        <p:spPr>
          <a:xfrm>
            <a:off x="1280160" y="2441448"/>
            <a:ext cx="2103120" cy="768096"/>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Video relay</a:t>
            </a:r>
            <a:endParaRPr lang="en-US" sz="1400" dirty="0"/>
          </a:p>
        </p:txBody>
      </p:sp>
      <p:sp>
        <p:nvSpPr>
          <p:cNvPr id="15" name="Text 10"/>
          <p:cNvSpPr/>
          <p:nvPr/>
        </p:nvSpPr>
        <p:spPr>
          <a:xfrm>
            <a:off x="3429000" y="2441448"/>
            <a:ext cx="5577840" cy="768096"/>
          </a:xfrm>
          <a:prstGeom prst="rect">
            <a:avLst/>
          </a:prstGeom>
          <a:noFill/>
          <a:ln/>
        </p:spPr>
        <p:txBody>
          <a:bodyPr wrap="square" lIns="0" tIns="0" rIns="0" bIns="0" rtlCol="0" anchor="ctr"/>
          <a:lstStyle/>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MediaMTX: one pull per camera</a:t>
            </a:r>
            <a:endParaRPr lang="en-US" sz="1150" dirty="0"/>
          </a:p>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RTSP to analytics · HLS and WebRTC to browsers</a:t>
            </a:r>
            <a:endParaRPr lang="en-US" sz="1150" dirty="0"/>
          </a:p>
        </p:txBody>
      </p:sp>
      <p:sp>
        <p:nvSpPr>
          <p:cNvPr id="16" name="Text 11"/>
          <p:cNvSpPr/>
          <p:nvPr/>
        </p:nvSpPr>
        <p:spPr>
          <a:xfrm>
            <a:off x="9189720" y="2441448"/>
            <a:ext cx="2270455" cy="768096"/>
          </a:xfrm>
          <a:prstGeom prst="rect">
            <a:avLst/>
          </a:prstGeom>
          <a:noFill/>
          <a:ln/>
        </p:spPr>
        <p:txBody>
          <a:bodyPr wrap="square" lIns="0" tIns="0" rIns="0" bIns="0" rtlCol="0" anchor="ctr"/>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One connection, however many watch</a:t>
            </a:r>
            <a:endParaRPr lang="en-US" sz="1150" dirty="0"/>
          </a:p>
        </p:txBody>
      </p:sp>
      <p:sp>
        <p:nvSpPr>
          <p:cNvPr id="17" name="Shape 12"/>
          <p:cNvSpPr/>
          <p:nvPr/>
        </p:nvSpPr>
        <p:spPr>
          <a:xfrm>
            <a:off x="548640" y="3282696"/>
            <a:ext cx="11094415" cy="768096"/>
          </a:xfrm>
          <a:prstGeom prst="roundRect">
            <a:avLst>
              <a:gd name="adj" fmla="val 4762"/>
            </a:avLst>
          </a:prstGeom>
          <a:solidFill>
            <a:srgbClr val="FBFBF9"/>
          </a:solidFill>
          <a:ln w="9525">
            <a:solidFill>
              <a:srgbClr val="D5D7D2"/>
            </a:solidFill>
            <a:prstDash val="solid"/>
          </a:ln>
        </p:spPr>
      </p:sp>
      <p:pic>
        <p:nvPicPr>
          <p:cNvPr id="18" name="Image 2" descr="preencoded.png">    </p:cNvPr>
          <p:cNvPicPr>
            <a:picLocks noChangeAspect="1"/>
          </p:cNvPicPr>
          <p:nvPr/>
        </p:nvPicPr>
        <p:blipFill>
          <a:blip r:embed="rId3"/>
          <a:stretch>
            <a:fillRect/>
          </a:stretch>
        </p:blipFill>
        <p:spPr>
          <a:xfrm>
            <a:off x="749808" y="3502152"/>
            <a:ext cx="329184" cy="329184"/>
          </a:xfrm>
          <a:prstGeom prst="rect">
            <a:avLst/>
          </a:prstGeom>
        </p:spPr>
      </p:pic>
      <p:sp>
        <p:nvSpPr>
          <p:cNvPr id="19" name="Text 13"/>
          <p:cNvSpPr/>
          <p:nvPr/>
        </p:nvSpPr>
        <p:spPr>
          <a:xfrm>
            <a:off x="1280160" y="3282696"/>
            <a:ext cx="2103120" cy="768096"/>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Core platform</a:t>
            </a:r>
            <a:endParaRPr lang="en-US" sz="1400" dirty="0"/>
          </a:p>
        </p:txBody>
      </p:sp>
      <p:sp>
        <p:nvSpPr>
          <p:cNvPr id="20" name="Text 14"/>
          <p:cNvSpPr/>
          <p:nvPr/>
        </p:nvSpPr>
        <p:spPr>
          <a:xfrm>
            <a:off x="3429000" y="3282696"/>
            <a:ext cx="5577840" cy="768096"/>
          </a:xfrm>
          <a:prstGeom prst="rect">
            <a:avLst/>
          </a:prstGeom>
          <a:noFill/>
          <a:ln/>
        </p:spPr>
        <p:txBody>
          <a:bodyPr wrap="square" lIns="0" tIns="0" rIns="0" bIns="0" rtlCol="0" anchor="ctr"/>
          <a:lstStyle/>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FastAPI · async SQLAlchemy · NATS JetStream</a:t>
            </a:r>
            <a:endParaRPr lang="en-US" sz="1150" dirty="0"/>
          </a:p>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PostgreSQL 17 + PostGIS · TimescaleDB · pg_trgm</a:t>
            </a:r>
            <a:endParaRPr lang="en-US" sz="1150" dirty="0"/>
          </a:p>
        </p:txBody>
      </p:sp>
      <p:sp>
        <p:nvSpPr>
          <p:cNvPr id="21" name="Text 15"/>
          <p:cNvSpPr/>
          <p:nvPr/>
        </p:nvSpPr>
        <p:spPr>
          <a:xfrm>
            <a:off x="9189720" y="3282696"/>
            <a:ext cx="2270455" cy="768096"/>
          </a:xfrm>
          <a:prstGeom prst="rect">
            <a:avLst/>
          </a:prstGeom>
          <a:noFill/>
          <a:ln/>
        </p:spPr>
        <p:txBody>
          <a:bodyPr wrap="square" lIns="0" tIns="0" rIns="0" bIns="0" rtlCol="0" anchor="ctr"/>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One database for map, time and misread search</a:t>
            </a:r>
            <a:endParaRPr lang="en-US" sz="1150" dirty="0"/>
          </a:p>
        </p:txBody>
      </p:sp>
      <p:sp>
        <p:nvSpPr>
          <p:cNvPr id="22" name="Shape 16"/>
          <p:cNvSpPr/>
          <p:nvPr/>
        </p:nvSpPr>
        <p:spPr>
          <a:xfrm>
            <a:off x="548640" y="4123944"/>
            <a:ext cx="11094415" cy="768096"/>
          </a:xfrm>
          <a:prstGeom prst="roundRect">
            <a:avLst>
              <a:gd name="adj" fmla="val 4762"/>
            </a:avLst>
          </a:prstGeom>
          <a:solidFill>
            <a:srgbClr val="FBFBF9"/>
          </a:solidFill>
          <a:ln w="9525">
            <a:solidFill>
              <a:srgbClr val="D5D7D2"/>
            </a:solidFill>
            <a:prstDash val="solid"/>
          </a:ln>
        </p:spPr>
      </p:sp>
      <p:pic>
        <p:nvPicPr>
          <p:cNvPr id="23" name="Image 3" descr="preencoded.png">    </p:cNvPr>
          <p:cNvPicPr>
            <a:picLocks noChangeAspect="1"/>
          </p:cNvPicPr>
          <p:nvPr/>
        </p:nvPicPr>
        <p:blipFill>
          <a:blip r:embed="rId4"/>
          <a:stretch>
            <a:fillRect/>
          </a:stretch>
        </p:blipFill>
        <p:spPr>
          <a:xfrm>
            <a:off x="749808" y="4343400"/>
            <a:ext cx="329184" cy="329184"/>
          </a:xfrm>
          <a:prstGeom prst="rect">
            <a:avLst/>
          </a:prstGeom>
        </p:spPr>
      </p:pic>
      <p:sp>
        <p:nvSpPr>
          <p:cNvPr id="24" name="Text 17"/>
          <p:cNvSpPr/>
          <p:nvPr/>
        </p:nvSpPr>
        <p:spPr>
          <a:xfrm>
            <a:off x="1280160" y="4123944"/>
            <a:ext cx="2103120" cy="768096"/>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Console and field app</a:t>
            </a:r>
            <a:endParaRPr lang="en-US" sz="1400" dirty="0"/>
          </a:p>
        </p:txBody>
      </p:sp>
      <p:sp>
        <p:nvSpPr>
          <p:cNvPr id="25" name="Text 18"/>
          <p:cNvSpPr/>
          <p:nvPr/>
        </p:nvSpPr>
        <p:spPr>
          <a:xfrm>
            <a:off x="3429000" y="4123944"/>
            <a:ext cx="5577840" cy="768096"/>
          </a:xfrm>
          <a:prstGeom prst="rect">
            <a:avLst/>
          </a:prstGeom>
          <a:noFill/>
          <a:ln/>
        </p:spPr>
        <p:txBody>
          <a:bodyPr wrap="square" lIns="0" tIns="0" rIns="0" bIns="0" rtlCol="0" anchor="ctr"/>
          <a:lstStyle/>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React 19 + TypeScript · Vite · MapLibre GL · hls.js</a:t>
            </a:r>
            <a:endParaRPr lang="en-US" sz="1150" dirty="0"/>
          </a:p>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Installable PWA · English · हिन्दी · ગુજરાતી</a:t>
            </a:r>
            <a:endParaRPr lang="en-US" sz="1150" dirty="0"/>
          </a:p>
        </p:txBody>
      </p:sp>
      <p:sp>
        <p:nvSpPr>
          <p:cNvPr id="26" name="Text 19"/>
          <p:cNvSpPr/>
          <p:nvPr/>
        </p:nvSpPr>
        <p:spPr>
          <a:xfrm>
            <a:off x="9189720" y="4123944"/>
            <a:ext cx="2270455" cy="768096"/>
          </a:xfrm>
          <a:prstGeom prst="rect">
            <a:avLst/>
          </a:prstGeom>
          <a:noFill/>
          <a:ln/>
        </p:spPr>
        <p:txBody>
          <a:bodyPr wrap="square" lIns="0" tIns="0" rIns="0" bIns="0" rtlCol="0" anchor="ctr"/>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Any browser; installs on a phone</a:t>
            </a:r>
            <a:endParaRPr lang="en-US" sz="1150" dirty="0"/>
          </a:p>
        </p:txBody>
      </p:sp>
      <p:sp>
        <p:nvSpPr>
          <p:cNvPr id="27" name="Shape 20"/>
          <p:cNvSpPr/>
          <p:nvPr/>
        </p:nvSpPr>
        <p:spPr>
          <a:xfrm>
            <a:off x="548640" y="4965192"/>
            <a:ext cx="11094415" cy="768096"/>
          </a:xfrm>
          <a:prstGeom prst="roundRect">
            <a:avLst>
              <a:gd name="adj" fmla="val 4762"/>
            </a:avLst>
          </a:prstGeom>
          <a:solidFill>
            <a:srgbClr val="FBFBF9"/>
          </a:solidFill>
          <a:ln w="9525">
            <a:solidFill>
              <a:srgbClr val="D5D7D2"/>
            </a:solidFill>
            <a:prstDash val="solid"/>
          </a:ln>
        </p:spPr>
      </p:sp>
      <p:pic>
        <p:nvPicPr>
          <p:cNvPr id="28" name="Image 4" descr="preencoded.png">    </p:cNvPr>
          <p:cNvPicPr>
            <a:picLocks noChangeAspect="1"/>
          </p:cNvPicPr>
          <p:nvPr/>
        </p:nvPicPr>
        <p:blipFill>
          <a:blip r:embed="rId5"/>
          <a:stretch>
            <a:fillRect/>
          </a:stretch>
        </p:blipFill>
        <p:spPr>
          <a:xfrm>
            <a:off x="749808" y="5184648"/>
            <a:ext cx="329184" cy="329184"/>
          </a:xfrm>
          <a:prstGeom prst="rect">
            <a:avLst/>
          </a:prstGeom>
        </p:spPr>
      </p:pic>
      <p:sp>
        <p:nvSpPr>
          <p:cNvPr id="29" name="Text 21"/>
          <p:cNvSpPr/>
          <p:nvPr/>
        </p:nvSpPr>
        <p:spPr>
          <a:xfrm>
            <a:off x="1280160" y="4965192"/>
            <a:ext cx="2103120" cy="768096"/>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Security and engineering</a:t>
            </a:r>
            <a:endParaRPr lang="en-US" sz="1400" dirty="0"/>
          </a:p>
        </p:txBody>
      </p:sp>
      <p:sp>
        <p:nvSpPr>
          <p:cNvPr id="30" name="Text 22"/>
          <p:cNvSpPr/>
          <p:nvPr/>
        </p:nvSpPr>
        <p:spPr>
          <a:xfrm>
            <a:off x="3429000" y="4965192"/>
            <a:ext cx="5577840" cy="768096"/>
          </a:xfrm>
          <a:prstGeom prst="rect">
            <a:avLst/>
          </a:prstGeom>
          <a:noFill/>
          <a:ln/>
        </p:spPr>
        <p:txBody>
          <a:bodyPr wrap="square" lIns="0" tIns="0" rIns="0" bIns="0" rtlCol="0" anchor="ctr"/>
          <a:lstStyle/>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JWT + bcrypt · row-level security per department · nginx mTLS · hash-chained audit</a:t>
            </a:r>
            <a:endParaRPr lang="en-US" sz="1150" dirty="0"/>
          </a:p>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Docker · uv · ruff · mypy · pytest · Playwright</a:t>
            </a:r>
            <a:endParaRPr lang="en-US" sz="1150" dirty="0"/>
          </a:p>
        </p:txBody>
      </p:sp>
      <p:sp>
        <p:nvSpPr>
          <p:cNvPr id="31" name="Text 23"/>
          <p:cNvSpPr/>
          <p:nvPr/>
        </p:nvSpPr>
        <p:spPr>
          <a:xfrm>
            <a:off x="9189720" y="4965192"/>
            <a:ext cx="2270455" cy="768096"/>
          </a:xfrm>
          <a:prstGeom prst="rect">
            <a:avLst/>
          </a:prstGeom>
          <a:noFill/>
          <a:ln/>
        </p:spPr>
        <p:txBody>
          <a:bodyPr wrap="square" lIns="0" tIns="0" rIns="0" bIns="0" rtlCol="0" anchor="ctr"/>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Every change linted, type-checked and tested</a:t>
            </a:r>
            <a:endParaRPr lang="en-US" sz="1150" dirty="0"/>
          </a:p>
        </p:txBody>
      </p:sp>
      <p:sp>
        <p:nvSpPr>
          <p:cNvPr id="32" name="Text 24"/>
          <p:cNvSpPr/>
          <p:nvPr/>
        </p:nvSpPr>
        <p:spPr>
          <a:xfrm>
            <a:off x="548640" y="5897880"/>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All open source, no licence fees. One copyleft part: the YOLO11n vehicle detector (AGPL-3.0), with an Apache-2.0 swap (RF-DETR) identified.</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A2 · OUR APPROACH</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t"/>
          <a:lstStyle/>
          <a:p>
            <a:pPr algn="r" indent="0" marL="0">
              <a:buNone/>
            </a:pPr>
            <a:r>
              <a:rPr lang="en-US" sz="1000" dirty="0">
                <a:solidFill>
                  <a:srgbClr val="4C5157"/>
                </a:solidFill>
                <a:latin typeface="Consolas" pitchFamily="34" charset="0"/>
                <a:ea typeface="Consolas" pitchFamily="34" charset="-122"/>
                <a:cs typeface="Consolas" pitchFamily="34" charset="-120"/>
              </a:rPr>
              <a:t>APPENDIX · FOR QUESTIONS</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A hybrid of the four reference models</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A2</a:t>
            </a:r>
            <a:endParaRPr lang="en-US" sz="900" dirty="0"/>
          </a:p>
        </p:txBody>
      </p:sp>
      <p:sp>
        <p:nvSpPr>
          <p:cNvPr id="7" name="Shape 4"/>
          <p:cNvSpPr/>
          <p:nvPr/>
        </p:nvSpPr>
        <p:spPr>
          <a:xfrm>
            <a:off x="548640" y="1645920"/>
            <a:ext cx="2567864" cy="3840480"/>
          </a:xfrm>
          <a:prstGeom prst="roundRect">
            <a:avLst>
              <a:gd name="adj" fmla="val 2849"/>
            </a:avLst>
          </a:prstGeom>
          <a:solidFill>
            <a:srgbClr val="FBFBF9"/>
          </a:solidFill>
          <a:ln w="9525">
            <a:solidFill>
              <a:srgbClr val="D5D7D2"/>
            </a:solidFill>
            <a:prstDash val="solid"/>
          </a:ln>
        </p:spPr>
      </p:sp>
      <p:sp>
        <p:nvSpPr>
          <p:cNvPr id="8" name="Shape 5"/>
          <p:cNvSpPr/>
          <p:nvPr/>
        </p:nvSpPr>
        <p:spPr>
          <a:xfrm>
            <a:off x="777240" y="4617720"/>
            <a:ext cx="2110664" cy="0"/>
          </a:xfrm>
          <a:prstGeom prst="line">
            <a:avLst/>
          </a:prstGeom>
          <a:noFill/>
          <a:ln w="9525">
            <a:solidFill>
              <a:srgbClr val="D5D7D2"/>
            </a:solidFill>
            <a:prstDash val="solid"/>
          </a:ln>
        </p:spPr>
      </p:sp>
      <p:sp>
        <p:nvSpPr>
          <p:cNvPr id="9" name="Text 6"/>
          <p:cNvSpPr/>
          <p:nvPr/>
        </p:nvSpPr>
        <p:spPr>
          <a:xfrm>
            <a:off x="777240" y="4709160"/>
            <a:ext cx="2110664" cy="685800"/>
          </a:xfrm>
          <a:prstGeom prst="rect">
            <a:avLst/>
          </a:prstGeom>
          <a:noFill/>
          <a:ln/>
        </p:spPr>
        <p:txBody>
          <a:bodyPr wrap="square" lIns="0" tIns="0" rIns="0" bIns="0" rtlCol="0" anchor="t"/>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Everything else stands on it.</a:t>
            </a:r>
            <a:endParaRPr lang="en-US" sz="1300" dirty="0"/>
          </a:p>
        </p:txBody>
      </p:sp>
      <p:sp>
        <p:nvSpPr>
          <p:cNvPr id="10" name="Shape 7"/>
          <p:cNvSpPr/>
          <p:nvPr/>
        </p:nvSpPr>
        <p:spPr>
          <a:xfrm>
            <a:off x="777240" y="1874520"/>
            <a:ext cx="1325880" cy="292608"/>
          </a:xfrm>
          <a:prstGeom prst="rect">
            <a:avLst/>
          </a:prstGeom>
          <a:solidFill>
            <a:srgbClr val="111417"/>
          </a:solidFill>
          <a:ln w="12700">
            <a:solidFill>
              <a:srgbClr val="111417"/>
            </a:solidFill>
            <a:prstDash val="solid"/>
          </a:ln>
        </p:spPr>
      </p:sp>
      <p:sp>
        <p:nvSpPr>
          <p:cNvPr id="11" name="Text 8"/>
          <p:cNvSpPr/>
          <p:nvPr/>
        </p:nvSpPr>
        <p:spPr>
          <a:xfrm>
            <a:off x="777240" y="1874520"/>
            <a:ext cx="132588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FOUNDATION</a:t>
            </a:r>
            <a:endParaRPr lang="en-US" sz="1000" dirty="0"/>
          </a:p>
        </p:txBody>
      </p:sp>
      <p:sp>
        <p:nvSpPr>
          <p:cNvPr id="12" name="Text 9"/>
          <p:cNvSpPr/>
          <p:nvPr/>
        </p:nvSpPr>
        <p:spPr>
          <a:xfrm>
            <a:off x="777240" y="2377440"/>
            <a:ext cx="2110664" cy="256032"/>
          </a:xfrm>
          <a:prstGeom prst="rect">
            <a:avLst/>
          </a:prstGeom>
          <a:noFill/>
          <a:ln/>
        </p:spPr>
        <p:txBody>
          <a:bodyPr wrap="square" lIns="0" tIns="0" rIns="0" bIns="0" rtlCol="0" anchor="t"/>
          <a:lstStyle/>
          <a:p>
            <a:pPr indent="0" marL="0">
              <a:buNone/>
            </a:pPr>
            <a:r>
              <a:rPr lang="en-US" sz="1100" dirty="0">
                <a:solidFill>
                  <a:srgbClr val="4C5157"/>
                </a:solidFill>
                <a:latin typeface="Consolas" pitchFamily="34" charset="0"/>
                <a:ea typeface="Consolas" pitchFamily="34" charset="-122"/>
                <a:cs typeface="Consolas" pitchFamily="34" charset="-120"/>
              </a:rPr>
              <a:t>MODEL 1</a:t>
            </a:r>
            <a:endParaRPr lang="en-US" sz="1100" dirty="0"/>
          </a:p>
        </p:txBody>
      </p:sp>
      <p:sp>
        <p:nvSpPr>
          <p:cNvPr id="13" name="Text 10"/>
          <p:cNvSpPr/>
          <p:nvPr/>
        </p:nvSpPr>
        <p:spPr>
          <a:xfrm>
            <a:off x="777240" y="2670048"/>
            <a:ext cx="2110664" cy="777240"/>
          </a:xfrm>
          <a:prstGeom prst="rect">
            <a:avLst/>
          </a:prstGeom>
          <a:noFill/>
          <a:ln/>
        </p:spPr>
        <p:txBody>
          <a:bodyPr wrap="square" lIns="0" tIns="0" rIns="0" bIns="0" rtlCol="0" anchor="t"/>
          <a:lstStyle/>
          <a:p>
            <a:pPr indent="0" marL="0">
              <a:buNone/>
            </a:pPr>
            <a:r>
              <a:rPr lang="en-US" sz="2200" dirty="0">
                <a:solidFill>
                  <a:srgbClr val="111417"/>
                </a:solidFill>
                <a:latin typeface="Franklin Gothic Demi Cond" pitchFamily="34" charset="0"/>
                <a:ea typeface="Franklin Gothic Demi Cond" pitchFamily="34" charset="-122"/>
                <a:cs typeface="Franklin Gothic Demi Cond" pitchFamily="34" charset="-120"/>
              </a:rPr>
              <a:t>Registry and GIS</a:t>
            </a:r>
            <a:endParaRPr lang="en-US" sz="2200" dirty="0"/>
          </a:p>
        </p:txBody>
      </p:sp>
      <p:sp>
        <p:nvSpPr>
          <p:cNvPr id="14" name="Text 11"/>
          <p:cNvSpPr/>
          <p:nvPr/>
        </p:nvSpPr>
        <p:spPr>
          <a:xfrm>
            <a:off x="777240" y="3520440"/>
            <a:ext cx="2110664" cy="100584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Every camera on one map, with health, coverage gaps and an ageing-asset work list.</a:t>
            </a:r>
            <a:endParaRPr lang="en-US" sz="1350" dirty="0"/>
          </a:p>
        </p:txBody>
      </p:sp>
      <p:sp>
        <p:nvSpPr>
          <p:cNvPr id="15" name="Shape 12"/>
          <p:cNvSpPr/>
          <p:nvPr/>
        </p:nvSpPr>
        <p:spPr>
          <a:xfrm>
            <a:off x="3390824" y="1645920"/>
            <a:ext cx="2567864" cy="3840480"/>
          </a:xfrm>
          <a:prstGeom prst="roundRect">
            <a:avLst>
              <a:gd name="adj" fmla="val 2849"/>
            </a:avLst>
          </a:prstGeom>
          <a:solidFill>
            <a:srgbClr val="FBFBF9"/>
          </a:solidFill>
          <a:ln w="9525">
            <a:solidFill>
              <a:srgbClr val="D5D7D2"/>
            </a:solidFill>
            <a:prstDash val="solid"/>
          </a:ln>
        </p:spPr>
      </p:sp>
      <p:sp>
        <p:nvSpPr>
          <p:cNvPr id="16" name="Shape 13"/>
          <p:cNvSpPr/>
          <p:nvPr/>
        </p:nvSpPr>
        <p:spPr>
          <a:xfrm>
            <a:off x="3619424" y="4617720"/>
            <a:ext cx="2110664" cy="0"/>
          </a:xfrm>
          <a:prstGeom prst="line">
            <a:avLst/>
          </a:prstGeom>
          <a:noFill/>
          <a:ln w="9525">
            <a:solidFill>
              <a:srgbClr val="D5D7D2"/>
            </a:solidFill>
            <a:prstDash val="solid"/>
          </a:ln>
        </p:spPr>
      </p:sp>
      <p:sp>
        <p:nvSpPr>
          <p:cNvPr id="17" name="Text 14"/>
          <p:cNvSpPr/>
          <p:nvPr/>
        </p:nvSpPr>
        <p:spPr>
          <a:xfrm>
            <a:off x="3619424" y="4709160"/>
            <a:ext cx="2110664" cy="685800"/>
          </a:xfrm>
          <a:prstGeom prst="rect">
            <a:avLst/>
          </a:prstGeom>
          <a:noFill/>
          <a:ln/>
        </p:spPr>
        <p:txBody>
          <a:bodyPr wrap="square" lIns="0" tIns="0" rIns="0" bIns="0" rtlCol="0" anchor="t"/>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One console, not one per department.</a:t>
            </a:r>
            <a:endParaRPr lang="en-US" sz="1300" dirty="0"/>
          </a:p>
        </p:txBody>
      </p:sp>
      <p:sp>
        <p:nvSpPr>
          <p:cNvPr id="18" name="Shape 15"/>
          <p:cNvSpPr/>
          <p:nvPr/>
        </p:nvSpPr>
        <p:spPr>
          <a:xfrm>
            <a:off x="3619424" y="1874520"/>
            <a:ext cx="1325880" cy="292608"/>
          </a:xfrm>
          <a:prstGeom prst="rect">
            <a:avLst/>
          </a:prstGeom>
          <a:solidFill>
            <a:srgbClr val="111417"/>
          </a:solidFill>
          <a:ln w="12700">
            <a:solidFill>
              <a:srgbClr val="111417"/>
            </a:solidFill>
            <a:prstDash val="solid"/>
          </a:ln>
        </p:spPr>
      </p:sp>
      <p:sp>
        <p:nvSpPr>
          <p:cNvPr id="19" name="Text 16"/>
          <p:cNvSpPr/>
          <p:nvPr/>
        </p:nvSpPr>
        <p:spPr>
          <a:xfrm>
            <a:off x="3619424" y="1874520"/>
            <a:ext cx="132588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ADOPTED</a:t>
            </a:r>
            <a:endParaRPr lang="en-US" sz="1000" dirty="0"/>
          </a:p>
        </p:txBody>
      </p:sp>
      <p:sp>
        <p:nvSpPr>
          <p:cNvPr id="20" name="Text 17"/>
          <p:cNvSpPr/>
          <p:nvPr/>
        </p:nvSpPr>
        <p:spPr>
          <a:xfrm>
            <a:off x="3619424" y="2377440"/>
            <a:ext cx="2110664" cy="256032"/>
          </a:xfrm>
          <a:prstGeom prst="rect">
            <a:avLst/>
          </a:prstGeom>
          <a:noFill/>
          <a:ln/>
        </p:spPr>
        <p:txBody>
          <a:bodyPr wrap="square" lIns="0" tIns="0" rIns="0" bIns="0" rtlCol="0" anchor="t"/>
          <a:lstStyle/>
          <a:p>
            <a:pPr indent="0" marL="0">
              <a:buNone/>
            </a:pPr>
            <a:r>
              <a:rPr lang="en-US" sz="1100" dirty="0">
                <a:solidFill>
                  <a:srgbClr val="4C5157"/>
                </a:solidFill>
                <a:latin typeface="Consolas" pitchFamily="34" charset="0"/>
                <a:ea typeface="Consolas" pitchFamily="34" charset="-122"/>
                <a:cs typeface="Consolas" pitchFamily="34" charset="-120"/>
              </a:rPr>
              <a:t>MODEL 2</a:t>
            </a:r>
            <a:endParaRPr lang="en-US" sz="1100" dirty="0"/>
          </a:p>
        </p:txBody>
      </p:sp>
      <p:sp>
        <p:nvSpPr>
          <p:cNvPr id="21" name="Text 18"/>
          <p:cNvSpPr/>
          <p:nvPr/>
        </p:nvSpPr>
        <p:spPr>
          <a:xfrm>
            <a:off x="3619424" y="2670048"/>
            <a:ext cx="2110664" cy="777240"/>
          </a:xfrm>
          <a:prstGeom prst="rect">
            <a:avLst/>
          </a:prstGeom>
          <a:noFill/>
          <a:ln/>
        </p:spPr>
        <p:txBody>
          <a:bodyPr wrap="square" lIns="0" tIns="0" rIns="0" bIns="0" rtlCol="0" anchor="t"/>
          <a:lstStyle/>
          <a:p>
            <a:pPr indent="0" marL="0">
              <a:buNone/>
            </a:pPr>
            <a:r>
              <a:rPr lang="en-US" sz="2200" dirty="0">
                <a:solidFill>
                  <a:srgbClr val="111417"/>
                </a:solidFill>
                <a:latin typeface="Franklin Gothic Demi Cond" pitchFamily="34" charset="0"/>
                <a:ea typeface="Franklin Gothic Demi Cond" pitchFamily="34" charset="-122"/>
                <a:cs typeface="Franklin Gothic Demi Cond" pitchFamily="34" charset="-120"/>
              </a:rPr>
              <a:t>Unified viewing and analytics</a:t>
            </a:r>
            <a:endParaRPr lang="en-US" sz="2200" dirty="0"/>
          </a:p>
        </p:txBody>
      </p:sp>
      <p:sp>
        <p:nvSpPr>
          <p:cNvPr id="22" name="Text 19"/>
          <p:cNvSpPr/>
          <p:nvPr/>
        </p:nvSpPr>
        <p:spPr>
          <a:xfrm>
            <a:off x="3619424" y="3520440"/>
            <a:ext cx="2110664" cy="100584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One live wall, and plate reading on every accessible stream.</a:t>
            </a:r>
            <a:endParaRPr lang="en-US" sz="1350" dirty="0"/>
          </a:p>
        </p:txBody>
      </p:sp>
      <p:sp>
        <p:nvSpPr>
          <p:cNvPr id="23" name="Shape 20"/>
          <p:cNvSpPr/>
          <p:nvPr/>
        </p:nvSpPr>
        <p:spPr>
          <a:xfrm>
            <a:off x="6233008" y="1645920"/>
            <a:ext cx="2567864" cy="3840480"/>
          </a:xfrm>
          <a:prstGeom prst="roundRect">
            <a:avLst>
              <a:gd name="adj" fmla="val 2849"/>
            </a:avLst>
          </a:prstGeom>
          <a:solidFill>
            <a:srgbClr val="FBFBF9"/>
          </a:solidFill>
          <a:ln w="9525">
            <a:solidFill>
              <a:srgbClr val="D5D7D2"/>
            </a:solidFill>
            <a:prstDash val="solid"/>
          </a:ln>
        </p:spPr>
      </p:sp>
      <p:sp>
        <p:nvSpPr>
          <p:cNvPr id="24" name="Shape 21"/>
          <p:cNvSpPr/>
          <p:nvPr/>
        </p:nvSpPr>
        <p:spPr>
          <a:xfrm>
            <a:off x="6461608" y="4617720"/>
            <a:ext cx="2110664" cy="0"/>
          </a:xfrm>
          <a:prstGeom prst="line">
            <a:avLst/>
          </a:prstGeom>
          <a:noFill/>
          <a:ln w="9525">
            <a:solidFill>
              <a:srgbClr val="D5D7D2"/>
            </a:solidFill>
            <a:prstDash val="solid"/>
          </a:ln>
        </p:spPr>
      </p:sp>
      <p:sp>
        <p:nvSpPr>
          <p:cNvPr id="25" name="Text 22"/>
          <p:cNvSpPr/>
          <p:nvPr/>
        </p:nvSpPr>
        <p:spPr>
          <a:xfrm>
            <a:off x="6461608" y="4709160"/>
            <a:ext cx="2110664" cy="685800"/>
          </a:xfrm>
          <a:prstGeom prst="rect">
            <a:avLst/>
          </a:prstGeom>
          <a:noFill/>
          <a:ln/>
        </p:spPr>
        <p:txBody>
          <a:bodyPr wrap="square" lIns="0" tIns="0" rIns="0" bIns="0" rtlCol="0" anchor="t"/>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A new vendor is a driver, not a rebuild.</a:t>
            </a:r>
            <a:endParaRPr lang="en-US" sz="1300" dirty="0"/>
          </a:p>
        </p:txBody>
      </p:sp>
      <p:sp>
        <p:nvSpPr>
          <p:cNvPr id="26" name="Shape 23"/>
          <p:cNvSpPr/>
          <p:nvPr/>
        </p:nvSpPr>
        <p:spPr>
          <a:xfrm>
            <a:off x="6461608" y="1874520"/>
            <a:ext cx="1325880" cy="292608"/>
          </a:xfrm>
          <a:prstGeom prst="rect">
            <a:avLst/>
          </a:prstGeom>
          <a:solidFill>
            <a:srgbClr val="111417"/>
          </a:solidFill>
          <a:ln w="12700">
            <a:solidFill>
              <a:srgbClr val="111417"/>
            </a:solidFill>
            <a:prstDash val="solid"/>
          </a:ln>
        </p:spPr>
      </p:sp>
      <p:sp>
        <p:nvSpPr>
          <p:cNvPr id="27" name="Text 24"/>
          <p:cNvSpPr/>
          <p:nvPr/>
        </p:nvSpPr>
        <p:spPr>
          <a:xfrm>
            <a:off x="6461608" y="1874520"/>
            <a:ext cx="132588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ADOPTED</a:t>
            </a:r>
            <a:endParaRPr lang="en-US" sz="1000" dirty="0"/>
          </a:p>
        </p:txBody>
      </p:sp>
      <p:sp>
        <p:nvSpPr>
          <p:cNvPr id="28" name="Text 25"/>
          <p:cNvSpPr/>
          <p:nvPr/>
        </p:nvSpPr>
        <p:spPr>
          <a:xfrm>
            <a:off x="6461608" y="2377440"/>
            <a:ext cx="2110664" cy="256032"/>
          </a:xfrm>
          <a:prstGeom prst="rect">
            <a:avLst/>
          </a:prstGeom>
          <a:noFill/>
          <a:ln/>
        </p:spPr>
        <p:txBody>
          <a:bodyPr wrap="square" lIns="0" tIns="0" rIns="0" bIns="0" rtlCol="0" anchor="t"/>
          <a:lstStyle/>
          <a:p>
            <a:pPr indent="0" marL="0">
              <a:buNone/>
            </a:pPr>
            <a:r>
              <a:rPr lang="en-US" sz="1100" dirty="0">
                <a:solidFill>
                  <a:srgbClr val="4C5157"/>
                </a:solidFill>
                <a:latin typeface="Consolas" pitchFamily="34" charset="0"/>
                <a:ea typeface="Consolas" pitchFamily="34" charset="-122"/>
                <a:cs typeface="Consolas" pitchFamily="34" charset="-120"/>
              </a:rPr>
              <a:t>MODEL 3</a:t>
            </a:r>
            <a:endParaRPr lang="en-US" sz="1100" dirty="0"/>
          </a:p>
        </p:txBody>
      </p:sp>
      <p:sp>
        <p:nvSpPr>
          <p:cNvPr id="29" name="Text 26"/>
          <p:cNvSpPr/>
          <p:nvPr/>
        </p:nvSpPr>
        <p:spPr>
          <a:xfrm>
            <a:off x="6461608" y="2670048"/>
            <a:ext cx="2110664" cy="777240"/>
          </a:xfrm>
          <a:prstGeom prst="rect">
            <a:avLst/>
          </a:prstGeom>
          <a:noFill/>
          <a:ln/>
        </p:spPr>
        <p:txBody>
          <a:bodyPr wrap="square" lIns="0" tIns="0" rIns="0" bIns="0" rtlCol="0" anchor="t"/>
          <a:lstStyle/>
          <a:p>
            <a:pPr indent="0" marL="0">
              <a:buNone/>
            </a:pPr>
            <a:r>
              <a:rPr lang="en-US" sz="2200" dirty="0">
                <a:solidFill>
                  <a:srgbClr val="111417"/>
                </a:solidFill>
                <a:latin typeface="Franklin Gothic Demi Cond" pitchFamily="34" charset="0"/>
                <a:ea typeface="Franklin Gothic Demi Cond" pitchFamily="34" charset="-122"/>
                <a:cs typeface="Franklin Gothic Demi Cond" pitchFamily="34" charset="-120"/>
              </a:rPr>
              <a:t>Federation adapters</a:t>
            </a:r>
            <a:endParaRPr lang="en-US" sz="2200" dirty="0"/>
          </a:p>
        </p:txBody>
      </p:sp>
      <p:sp>
        <p:nvSpPr>
          <p:cNvPr id="30" name="Text 27"/>
          <p:cNvSpPr/>
          <p:nvPr/>
        </p:nvSpPr>
        <p:spPr>
          <a:xfrm>
            <a:off x="6461608" y="3520440"/>
            <a:ext cx="2110664" cy="100584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RTSP, ONVIF, Hikvision, Dahua, Genetec and Milestone drivers behind one interface.</a:t>
            </a:r>
            <a:endParaRPr lang="en-US" sz="1350" dirty="0"/>
          </a:p>
        </p:txBody>
      </p:sp>
      <p:sp>
        <p:nvSpPr>
          <p:cNvPr id="31" name="Shape 28"/>
          <p:cNvSpPr/>
          <p:nvPr/>
        </p:nvSpPr>
        <p:spPr>
          <a:xfrm>
            <a:off x="9075191" y="1645920"/>
            <a:ext cx="2567864" cy="3840480"/>
          </a:xfrm>
          <a:prstGeom prst="roundRect">
            <a:avLst>
              <a:gd name="adj" fmla="val 2849"/>
            </a:avLst>
          </a:prstGeom>
          <a:solidFill>
            <a:srgbClr val="FBFBF9"/>
          </a:solidFill>
          <a:ln w="9525">
            <a:solidFill>
              <a:srgbClr val="D5D7D2"/>
            </a:solidFill>
            <a:prstDash val="solid"/>
          </a:ln>
        </p:spPr>
      </p:sp>
      <p:sp>
        <p:nvSpPr>
          <p:cNvPr id="32" name="Shape 29"/>
          <p:cNvSpPr/>
          <p:nvPr/>
        </p:nvSpPr>
        <p:spPr>
          <a:xfrm>
            <a:off x="9303791" y="4617720"/>
            <a:ext cx="2110664" cy="0"/>
          </a:xfrm>
          <a:prstGeom prst="line">
            <a:avLst/>
          </a:prstGeom>
          <a:noFill/>
          <a:ln w="9525">
            <a:solidFill>
              <a:srgbClr val="D5D7D2"/>
            </a:solidFill>
            <a:prstDash val="solid"/>
          </a:ln>
        </p:spPr>
      </p:sp>
      <p:sp>
        <p:nvSpPr>
          <p:cNvPr id="33" name="Text 30"/>
          <p:cNvSpPr/>
          <p:nvPr/>
        </p:nvSpPr>
        <p:spPr>
          <a:xfrm>
            <a:off x="9303791" y="4709160"/>
            <a:ext cx="2110664" cy="685800"/>
          </a:xfrm>
          <a:prstGeom prst="rect">
            <a:avLst/>
          </a:prstGeom>
          <a:noFill/>
          <a:ln/>
        </p:spPr>
        <p:txBody>
          <a:bodyPr wrap="square" lIns="0" tIns="0" rIns="0" bIns="0" rtlCol="0" anchor="t"/>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All of it needs a backbone the State lacks.</a:t>
            </a:r>
            <a:endParaRPr lang="en-US" sz="1300" dirty="0"/>
          </a:p>
        </p:txBody>
      </p:sp>
      <p:sp>
        <p:nvSpPr>
          <p:cNvPr id="34" name="Shape 31"/>
          <p:cNvSpPr/>
          <p:nvPr/>
        </p:nvSpPr>
        <p:spPr>
          <a:xfrm>
            <a:off x="9303791" y="1874520"/>
            <a:ext cx="1325880" cy="292608"/>
          </a:xfrm>
          <a:prstGeom prst="rect">
            <a:avLst/>
          </a:prstGeom>
          <a:solidFill>
            <a:srgbClr val="F3F4F0"/>
          </a:solidFill>
          <a:ln w="12700">
            <a:solidFill>
              <a:srgbClr val="D5D7D2"/>
            </a:solidFill>
            <a:prstDash val="solid"/>
          </a:ln>
        </p:spPr>
      </p:sp>
      <p:sp>
        <p:nvSpPr>
          <p:cNvPr id="35" name="Text 32"/>
          <p:cNvSpPr/>
          <p:nvPr/>
        </p:nvSpPr>
        <p:spPr>
          <a:xfrm>
            <a:off x="9303791" y="1874520"/>
            <a:ext cx="1325880" cy="292608"/>
          </a:xfrm>
          <a:prstGeom prst="rect">
            <a:avLst/>
          </a:prstGeom>
          <a:noFill/>
          <a:ln/>
        </p:spPr>
        <p:txBody>
          <a:bodyPr wrap="square" lIns="0" tIns="0" rIns="0" bIns="0" rtlCol="0" anchor="ctr"/>
          <a:lstStyle/>
          <a:p>
            <a:pPr algn="ctr" indent="0" marL="0">
              <a:buNone/>
            </a:pPr>
            <a:r>
              <a:rPr lang="en-US" sz="1000" b="1" dirty="0">
                <a:solidFill>
                  <a:srgbClr val="4C5157"/>
                </a:solidFill>
                <a:latin typeface="Consolas" pitchFamily="34" charset="0"/>
                <a:ea typeface="Consolas" pitchFamily="34" charset="-122"/>
                <a:cs typeface="Consolas" pitchFamily="34" charset="-120"/>
              </a:rPr>
              <a:t>SELECTIVE</a:t>
            </a:r>
            <a:endParaRPr lang="en-US" sz="1000" dirty="0"/>
          </a:p>
        </p:txBody>
      </p:sp>
      <p:sp>
        <p:nvSpPr>
          <p:cNvPr id="36" name="Text 33"/>
          <p:cNvSpPr/>
          <p:nvPr/>
        </p:nvSpPr>
        <p:spPr>
          <a:xfrm>
            <a:off x="9303791" y="2377440"/>
            <a:ext cx="2110664" cy="256032"/>
          </a:xfrm>
          <a:prstGeom prst="rect">
            <a:avLst/>
          </a:prstGeom>
          <a:noFill/>
          <a:ln/>
        </p:spPr>
        <p:txBody>
          <a:bodyPr wrap="square" lIns="0" tIns="0" rIns="0" bIns="0" rtlCol="0" anchor="t"/>
          <a:lstStyle/>
          <a:p>
            <a:pPr indent="0" marL="0">
              <a:buNone/>
            </a:pPr>
            <a:r>
              <a:rPr lang="en-US" sz="1100" dirty="0">
                <a:solidFill>
                  <a:srgbClr val="4C5157"/>
                </a:solidFill>
                <a:latin typeface="Consolas" pitchFamily="34" charset="0"/>
                <a:ea typeface="Consolas" pitchFamily="34" charset="-122"/>
                <a:cs typeface="Consolas" pitchFamily="34" charset="-120"/>
              </a:rPr>
              <a:t>MODEL 4</a:t>
            </a:r>
            <a:endParaRPr lang="en-US" sz="1100" dirty="0"/>
          </a:p>
        </p:txBody>
      </p:sp>
      <p:sp>
        <p:nvSpPr>
          <p:cNvPr id="37" name="Text 34"/>
          <p:cNvSpPr/>
          <p:nvPr/>
        </p:nvSpPr>
        <p:spPr>
          <a:xfrm>
            <a:off x="9303791" y="2670048"/>
            <a:ext cx="2110664" cy="777240"/>
          </a:xfrm>
          <a:prstGeom prst="rect">
            <a:avLst/>
          </a:prstGeom>
          <a:noFill/>
          <a:ln/>
        </p:spPr>
        <p:txBody>
          <a:bodyPr wrap="square" lIns="0" tIns="0" rIns="0" bIns="0" rtlCol="0" anchor="t"/>
          <a:lstStyle/>
          <a:p>
            <a:pPr indent="0" marL="0">
              <a:buNone/>
            </a:pPr>
            <a:r>
              <a:rPr lang="en-US" sz="2200" dirty="0">
                <a:solidFill>
                  <a:srgbClr val="111417"/>
                </a:solidFill>
                <a:latin typeface="Franklin Gothic Demi Cond" pitchFamily="34" charset="0"/>
                <a:ea typeface="Franklin Gothic Demi Cond" pitchFamily="34" charset="-122"/>
                <a:cs typeface="Franklin Gothic Demi Cond" pitchFamily="34" charset="-120"/>
              </a:rPr>
              <a:t>Central recording</a:t>
            </a:r>
            <a:endParaRPr lang="en-US" sz="2200" dirty="0"/>
          </a:p>
        </p:txBody>
      </p:sp>
      <p:sp>
        <p:nvSpPr>
          <p:cNvPr id="38" name="Text 35"/>
          <p:cNvSpPr/>
          <p:nvPr/>
        </p:nvSpPr>
        <p:spPr>
          <a:xfrm>
            <a:off x="9303791" y="3520440"/>
            <a:ext cx="2110664" cy="100584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Only critical cameras and alert clips are recorded centrally.</a:t>
            </a:r>
            <a:endParaRPr lang="en-US" sz="1350" dirty="0"/>
          </a:p>
        </p:txBody>
      </p:sp>
      <p:sp>
        <p:nvSpPr>
          <p:cNvPr id="39" name="Text 36"/>
          <p:cNvSpPr/>
          <p:nvPr/>
        </p:nvSpPr>
        <p:spPr>
          <a:xfrm>
            <a:off x="548640" y="5760720"/>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Read-only and pull-based throughout: nothing is installed on a department’s cameras or VMS.</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A3 · CAMERA TIERS</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t"/>
          <a:lstStyle/>
          <a:p>
            <a:pPr algn="r" indent="0" marL="0">
              <a:buNone/>
            </a:pPr>
            <a:r>
              <a:rPr lang="en-US" sz="1000" dirty="0">
                <a:solidFill>
                  <a:srgbClr val="4C5157"/>
                </a:solidFill>
                <a:latin typeface="Consolas" pitchFamily="34" charset="0"/>
                <a:ea typeface="Consolas" pitchFamily="34" charset="-122"/>
                <a:cs typeface="Consolas" pitchFamily="34" charset="-120"/>
              </a:rPr>
              <a:t>APPENDIX · FOR QUESTIONS</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Not every camera needs the same attention</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A3</a:t>
            </a:r>
            <a:endParaRPr lang="en-US" sz="900" dirty="0"/>
          </a:p>
        </p:txBody>
      </p:sp>
      <p:graphicFrame>
        <p:nvGraphicFramePr>
          <p:cNvPr id="7" name="Chart 0" descr=""/>
          <p:cNvGraphicFramePr/>
          <p:nvPr/>
        </p:nvGraphicFramePr>
        <p:xfrm>
          <a:off x="548640" y="1600200"/>
          <a:ext cx="4389120" cy="4389120"/>
        </p:xfrm>
        <a:graphic xmlns:a="http://schemas.openxmlformats.org/drawingml/2006/main">
          <a:graphicData uri="http://schemas.openxmlformats.org/drawingml/2006/chart">
            <c:chart xmlns:c="http://schemas.openxmlformats.org/drawingml/2006/chart" r:id="rId1"/>
          </a:graphicData>
        </a:graphic>
      </p:graphicFrame>
      <p:sp>
        <p:nvSpPr>
          <p:cNvPr id="8" name="Text 4"/>
          <p:cNvSpPr/>
          <p:nvPr/>
        </p:nvSpPr>
        <p:spPr>
          <a:xfrm>
            <a:off x="1828800" y="3429000"/>
            <a:ext cx="1828800" cy="502920"/>
          </a:xfrm>
          <a:prstGeom prst="rect">
            <a:avLst/>
          </a:prstGeom>
          <a:noFill/>
          <a:ln/>
        </p:spPr>
        <p:txBody>
          <a:bodyPr wrap="square" lIns="0" tIns="0" rIns="0" bIns="0" rtlCol="0" anchor="t"/>
          <a:lstStyle/>
          <a:p>
            <a:pPr algn="ctr" indent="0" marL="0">
              <a:buNone/>
            </a:pPr>
            <a:r>
              <a:rPr lang="en-US" sz="3000" dirty="0">
                <a:solidFill>
                  <a:srgbClr val="111417"/>
                </a:solidFill>
                <a:latin typeface="Franklin Gothic Demi Cond" pitchFamily="34" charset="0"/>
                <a:ea typeface="Franklin Gothic Demi Cond" pitchFamily="34" charset="-122"/>
                <a:cs typeface="Franklin Gothic Demi Cond" pitchFamily="34" charset="-120"/>
              </a:rPr>
              <a:t>80,000</a:t>
            </a:r>
            <a:endParaRPr lang="en-US" sz="3000" dirty="0"/>
          </a:p>
        </p:txBody>
      </p:sp>
      <p:sp>
        <p:nvSpPr>
          <p:cNvPr id="9" name="Text 5"/>
          <p:cNvSpPr/>
          <p:nvPr/>
        </p:nvSpPr>
        <p:spPr>
          <a:xfrm>
            <a:off x="1828800" y="3931920"/>
            <a:ext cx="1828800" cy="274320"/>
          </a:xfrm>
          <a:prstGeom prst="rect">
            <a:avLst/>
          </a:prstGeom>
          <a:noFill/>
          <a:ln/>
        </p:spPr>
        <p:txBody>
          <a:bodyPr wrap="square" lIns="0" tIns="0" rIns="0" bIns="0" rtlCol="0" anchor="t"/>
          <a:lstStyle/>
          <a:p>
            <a:pPr algn="ct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cameras</a:t>
            </a:r>
            <a:endParaRPr lang="en-US" sz="1300" dirty="0"/>
          </a:p>
        </p:txBody>
      </p:sp>
      <p:sp>
        <p:nvSpPr>
          <p:cNvPr id="10" name="Shape 6"/>
          <p:cNvSpPr/>
          <p:nvPr/>
        </p:nvSpPr>
        <p:spPr>
          <a:xfrm>
            <a:off x="5394960" y="1737360"/>
            <a:ext cx="6248095" cy="731520"/>
          </a:xfrm>
          <a:prstGeom prst="roundRect">
            <a:avLst>
              <a:gd name="adj" fmla="val 5000"/>
            </a:avLst>
          </a:prstGeom>
          <a:solidFill>
            <a:srgbClr val="FBFBF9"/>
          </a:solidFill>
          <a:ln w="9525">
            <a:solidFill>
              <a:srgbClr val="D5D7D2"/>
            </a:solidFill>
            <a:prstDash val="solid"/>
          </a:ln>
        </p:spPr>
      </p:sp>
      <p:sp>
        <p:nvSpPr>
          <p:cNvPr id="11" name="Shape 7"/>
          <p:cNvSpPr/>
          <p:nvPr/>
        </p:nvSpPr>
        <p:spPr>
          <a:xfrm>
            <a:off x="5623560" y="1984248"/>
            <a:ext cx="237744" cy="237744"/>
          </a:xfrm>
          <a:prstGeom prst="rect">
            <a:avLst/>
          </a:prstGeom>
          <a:solidFill>
            <a:srgbClr val="FFB000"/>
          </a:solidFill>
          <a:ln w="6350">
            <a:solidFill>
              <a:srgbClr val="8A8F95"/>
            </a:solidFill>
            <a:prstDash val="solid"/>
          </a:ln>
        </p:spPr>
      </p:sp>
      <p:sp>
        <p:nvSpPr>
          <p:cNvPr id="12" name="Text 8"/>
          <p:cNvSpPr/>
          <p:nvPr/>
        </p:nvSpPr>
        <p:spPr>
          <a:xfrm>
            <a:off x="6035040" y="1737360"/>
            <a:ext cx="2011680" cy="731520"/>
          </a:xfrm>
          <a:prstGeom prst="rect">
            <a:avLst/>
          </a:prstGeom>
          <a:noFill/>
          <a:ln/>
        </p:spPr>
        <p:txBody>
          <a:bodyPr wrap="square" lIns="0" tIns="0" rIns="0" bIns="0" rtlCol="0" anchor="ctr"/>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Continuous</a:t>
            </a:r>
            <a:endParaRPr lang="en-US" sz="1500" dirty="0"/>
          </a:p>
        </p:txBody>
      </p:sp>
      <p:sp>
        <p:nvSpPr>
          <p:cNvPr id="13" name="Text 9"/>
          <p:cNvSpPr/>
          <p:nvPr/>
        </p:nvSpPr>
        <p:spPr>
          <a:xfrm>
            <a:off x="8092440" y="1737360"/>
            <a:ext cx="2133295" cy="731520"/>
          </a:xfrm>
          <a:prstGeom prst="rect">
            <a:avLst/>
          </a:prstGeom>
          <a:noFill/>
          <a:ln/>
        </p:spPr>
        <p:txBody>
          <a:bodyPr wrap="square" lIns="0" tIns="0" rIns="0" bIns="0" rtlCol="0" anchor="ctr"/>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Check-posts, highways, city entry points</a:t>
            </a:r>
            <a:endParaRPr lang="en-US" sz="1250" dirty="0"/>
          </a:p>
        </p:txBody>
      </p:sp>
      <p:sp>
        <p:nvSpPr>
          <p:cNvPr id="14" name="Text 10"/>
          <p:cNvSpPr/>
          <p:nvPr/>
        </p:nvSpPr>
        <p:spPr>
          <a:xfrm>
            <a:off x="10317175" y="1737360"/>
            <a:ext cx="1097280" cy="731520"/>
          </a:xfrm>
          <a:prstGeom prst="rect">
            <a:avLst/>
          </a:prstGeom>
          <a:noFill/>
          <a:ln/>
        </p:spPr>
        <p:txBody>
          <a:bodyPr wrap="square" lIns="0" tIns="0" rIns="0" bIns="0" rtlCol="0" anchor="ctr"/>
          <a:lstStyle/>
          <a:p>
            <a:pPr algn="r" indent="0" marL="0">
              <a:buNone/>
            </a:pPr>
            <a:r>
              <a:rPr lang="en-US" sz="2000" dirty="0">
                <a:solidFill>
                  <a:srgbClr val="111417"/>
                </a:solidFill>
                <a:latin typeface="Franklin Gothic Demi Cond" pitchFamily="34" charset="0"/>
                <a:ea typeface="Franklin Gothic Demi Cond" pitchFamily="34" charset="-122"/>
                <a:cs typeface="Franklin Gothic Demi Cond" pitchFamily="34" charset="-120"/>
              </a:rPr>
              <a:t>9,600</a:t>
            </a:r>
            <a:endParaRPr lang="en-US" sz="2000" dirty="0"/>
          </a:p>
        </p:txBody>
      </p:sp>
      <p:sp>
        <p:nvSpPr>
          <p:cNvPr id="15" name="Shape 11"/>
          <p:cNvSpPr/>
          <p:nvPr/>
        </p:nvSpPr>
        <p:spPr>
          <a:xfrm>
            <a:off x="5394960" y="2606040"/>
            <a:ext cx="6248095" cy="731520"/>
          </a:xfrm>
          <a:prstGeom prst="roundRect">
            <a:avLst>
              <a:gd name="adj" fmla="val 5000"/>
            </a:avLst>
          </a:prstGeom>
          <a:solidFill>
            <a:srgbClr val="FBFBF9"/>
          </a:solidFill>
          <a:ln w="9525">
            <a:solidFill>
              <a:srgbClr val="D5D7D2"/>
            </a:solidFill>
            <a:prstDash val="solid"/>
          </a:ln>
        </p:spPr>
      </p:sp>
      <p:sp>
        <p:nvSpPr>
          <p:cNvPr id="16" name="Shape 12"/>
          <p:cNvSpPr/>
          <p:nvPr/>
        </p:nvSpPr>
        <p:spPr>
          <a:xfrm>
            <a:off x="5623560" y="2852928"/>
            <a:ext cx="237744" cy="237744"/>
          </a:xfrm>
          <a:prstGeom prst="rect">
            <a:avLst/>
          </a:prstGeom>
          <a:solidFill>
            <a:srgbClr val="2F353B"/>
          </a:solidFill>
          <a:ln w="6350">
            <a:solidFill>
              <a:srgbClr val="8A8F95"/>
            </a:solidFill>
            <a:prstDash val="solid"/>
          </a:ln>
        </p:spPr>
      </p:sp>
      <p:sp>
        <p:nvSpPr>
          <p:cNvPr id="17" name="Text 13"/>
          <p:cNvSpPr/>
          <p:nvPr/>
        </p:nvSpPr>
        <p:spPr>
          <a:xfrm>
            <a:off x="6035040" y="2606040"/>
            <a:ext cx="2011680" cy="731520"/>
          </a:xfrm>
          <a:prstGeom prst="rect">
            <a:avLst/>
          </a:prstGeom>
          <a:noFill/>
          <a:ln/>
        </p:spPr>
        <p:txBody>
          <a:bodyPr wrap="square" lIns="0" tIns="0" rIns="0" bIns="0" rtlCol="0" anchor="ctr"/>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Sampled</a:t>
            </a:r>
            <a:endParaRPr lang="en-US" sz="1500" dirty="0"/>
          </a:p>
        </p:txBody>
      </p:sp>
      <p:sp>
        <p:nvSpPr>
          <p:cNvPr id="18" name="Text 14"/>
          <p:cNvSpPr/>
          <p:nvPr/>
        </p:nvSpPr>
        <p:spPr>
          <a:xfrm>
            <a:off x="8092440" y="2606040"/>
            <a:ext cx="2133295" cy="731520"/>
          </a:xfrm>
          <a:prstGeom prst="rect">
            <a:avLst/>
          </a:prstGeom>
          <a:noFill/>
          <a:ln/>
        </p:spPr>
        <p:txBody>
          <a:bodyPr wrap="square" lIns="0" tIns="0" rIns="0" bIns="0" rtlCol="0" anchor="ctr"/>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Junctions, markets and public spaces</a:t>
            </a:r>
            <a:endParaRPr lang="en-US" sz="1250" dirty="0"/>
          </a:p>
        </p:txBody>
      </p:sp>
      <p:sp>
        <p:nvSpPr>
          <p:cNvPr id="19" name="Text 15"/>
          <p:cNvSpPr/>
          <p:nvPr/>
        </p:nvSpPr>
        <p:spPr>
          <a:xfrm>
            <a:off x="10317175" y="2606040"/>
            <a:ext cx="1097280" cy="731520"/>
          </a:xfrm>
          <a:prstGeom prst="rect">
            <a:avLst/>
          </a:prstGeom>
          <a:noFill/>
          <a:ln/>
        </p:spPr>
        <p:txBody>
          <a:bodyPr wrap="square" lIns="0" tIns="0" rIns="0" bIns="0" rtlCol="0" anchor="ctr"/>
          <a:lstStyle/>
          <a:p>
            <a:pPr algn="r" indent="0" marL="0">
              <a:buNone/>
            </a:pPr>
            <a:r>
              <a:rPr lang="en-US" sz="2000" dirty="0">
                <a:solidFill>
                  <a:srgbClr val="111417"/>
                </a:solidFill>
                <a:latin typeface="Franklin Gothic Demi Cond" pitchFamily="34" charset="0"/>
                <a:ea typeface="Franklin Gothic Demi Cond" pitchFamily="34" charset="-122"/>
                <a:cs typeface="Franklin Gothic Demi Cond" pitchFamily="34" charset="-120"/>
              </a:rPr>
              <a:t>22,400</a:t>
            </a:r>
            <a:endParaRPr lang="en-US" sz="2000" dirty="0"/>
          </a:p>
        </p:txBody>
      </p:sp>
      <p:sp>
        <p:nvSpPr>
          <p:cNvPr id="20" name="Shape 16"/>
          <p:cNvSpPr/>
          <p:nvPr/>
        </p:nvSpPr>
        <p:spPr>
          <a:xfrm>
            <a:off x="5394960" y="3474720"/>
            <a:ext cx="6248095" cy="731520"/>
          </a:xfrm>
          <a:prstGeom prst="roundRect">
            <a:avLst>
              <a:gd name="adj" fmla="val 5000"/>
            </a:avLst>
          </a:prstGeom>
          <a:solidFill>
            <a:srgbClr val="FBFBF9"/>
          </a:solidFill>
          <a:ln w="9525">
            <a:solidFill>
              <a:srgbClr val="D5D7D2"/>
            </a:solidFill>
            <a:prstDash val="solid"/>
          </a:ln>
        </p:spPr>
      </p:sp>
      <p:sp>
        <p:nvSpPr>
          <p:cNvPr id="21" name="Shape 17"/>
          <p:cNvSpPr/>
          <p:nvPr/>
        </p:nvSpPr>
        <p:spPr>
          <a:xfrm>
            <a:off x="5623560" y="3721608"/>
            <a:ext cx="237744" cy="237744"/>
          </a:xfrm>
          <a:prstGeom prst="rect">
            <a:avLst/>
          </a:prstGeom>
          <a:solidFill>
            <a:srgbClr val="8A8F95"/>
          </a:solidFill>
          <a:ln w="6350">
            <a:solidFill>
              <a:srgbClr val="8A8F95"/>
            </a:solidFill>
            <a:prstDash val="solid"/>
          </a:ln>
        </p:spPr>
      </p:sp>
      <p:sp>
        <p:nvSpPr>
          <p:cNvPr id="22" name="Text 18"/>
          <p:cNvSpPr/>
          <p:nvPr/>
        </p:nvSpPr>
        <p:spPr>
          <a:xfrm>
            <a:off x="6035040" y="3474720"/>
            <a:ext cx="2011680" cy="731520"/>
          </a:xfrm>
          <a:prstGeom prst="rect">
            <a:avLst/>
          </a:prstGeom>
          <a:noFill/>
          <a:ln/>
        </p:spPr>
        <p:txBody>
          <a:bodyPr wrap="square" lIns="0" tIns="0" rIns="0" bIns="0" rtlCol="0" anchor="ctr"/>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Motion-triggered</a:t>
            </a:r>
            <a:endParaRPr lang="en-US" sz="1500" dirty="0"/>
          </a:p>
        </p:txBody>
      </p:sp>
      <p:sp>
        <p:nvSpPr>
          <p:cNvPr id="23" name="Text 19"/>
          <p:cNvSpPr/>
          <p:nvPr/>
        </p:nvSpPr>
        <p:spPr>
          <a:xfrm>
            <a:off x="8092440" y="3474720"/>
            <a:ext cx="2133295" cy="731520"/>
          </a:xfrm>
          <a:prstGeom prst="rect">
            <a:avLst/>
          </a:prstGeom>
          <a:noFill/>
          <a:ln/>
        </p:spPr>
        <p:txBody>
          <a:bodyPr wrap="square" lIns="0" tIns="0" rIns="0" bIns="0" rtlCol="0" anchor="ctr"/>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Godowns, offices and quiet premises</a:t>
            </a:r>
            <a:endParaRPr lang="en-US" sz="1250" dirty="0"/>
          </a:p>
        </p:txBody>
      </p:sp>
      <p:sp>
        <p:nvSpPr>
          <p:cNvPr id="24" name="Text 20"/>
          <p:cNvSpPr/>
          <p:nvPr/>
        </p:nvSpPr>
        <p:spPr>
          <a:xfrm>
            <a:off x="10317175" y="3474720"/>
            <a:ext cx="1097280" cy="731520"/>
          </a:xfrm>
          <a:prstGeom prst="rect">
            <a:avLst/>
          </a:prstGeom>
          <a:noFill/>
          <a:ln/>
        </p:spPr>
        <p:txBody>
          <a:bodyPr wrap="square" lIns="0" tIns="0" rIns="0" bIns="0" rtlCol="0" anchor="ctr"/>
          <a:lstStyle/>
          <a:p>
            <a:pPr algn="r" indent="0" marL="0">
              <a:buNone/>
            </a:pPr>
            <a:r>
              <a:rPr lang="en-US" sz="2000" dirty="0">
                <a:solidFill>
                  <a:srgbClr val="111417"/>
                </a:solidFill>
                <a:latin typeface="Franklin Gothic Demi Cond" pitchFamily="34" charset="0"/>
                <a:ea typeface="Franklin Gothic Demi Cond" pitchFamily="34" charset="-122"/>
                <a:cs typeface="Franklin Gothic Demi Cond" pitchFamily="34" charset="-120"/>
              </a:rPr>
              <a:t>28,000</a:t>
            </a:r>
            <a:endParaRPr lang="en-US" sz="2000" dirty="0"/>
          </a:p>
        </p:txBody>
      </p:sp>
      <p:sp>
        <p:nvSpPr>
          <p:cNvPr id="25" name="Shape 21"/>
          <p:cNvSpPr/>
          <p:nvPr/>
        </p:nvSpPr>
        <p:spPr>
          <a:xfrm>
            <a:off x="5394960" y="4343400"/>
            <a:ext cx="6248095" cy="731520"/>
          </a:xfrm>
          <a:prstGeom prst="roundRect">
            <a:avLst>
              <a:gd name="adj" fmla="val 5000"/>
            </a:avLst>
          </a:prstGeom>
          <a:solidFill>
            <a:srgbClr val="FBFBF9"/>
          </a:solidFill>
          <a:ln w="9525">
            <a:solidFill>
              <a:srgbClr val="D5D7D2"/>
            </a:solidFill>
            <a:prstDash val="solid"/>
          </a:ln>
        </p:spPr>
      </p:sp>
      <p:sp>
        <p:nvSpPr>
          <p:cNvPr id="26" name="Shape 22"/>
          <p:cNvSpPr/>
          <p:nvPr/>
        </p:nvSpPr>
        <p:spPr>
          <a:xfrm>
            <a:off x="5623560" y="4590288"/>
            <a:ext cx="237744" cy="237744"/>
          </a:xfrm>
          <a:prstGeom prst="rect">
            <a:avLst/>
          </a:prstGeom>
          <a:solidFill>
            <a:srgbClr val="D5D7D2"/>
          </a:solidFill>
          <a:ln w="6350">
            <a:solidFill>
              <a:srgbClr val="8A8F95"/>
            </a:solidFill>
            <a:prstDash val="solid"/>
          </a:ln>
        </p:spPr>
      </p:sp>
      <p:sp>
        <p:nvSpPr>
          <p:cNvPr id="27" name="Text 23"/>
          <p:cNvSpPr/>
          <p:nvPr/>
        </p:nvSpPr>
        <p:spPr>
          <a:xfrm>
            <a:off x="6035040" y="4343400"/>
            <a:ext cx="2011680" cy="731520"/>
          </a:xfrm>
          <a:prstGeom prst="rect">
            <a:avLst/>
          </a:prstGeom>
          <a:noFill/>
          <a:ln/>
        </p:spPr>
        <p:txBody>
          <a:bodyPr wrap="square" lIns="0" tIns="0" rIns="0" bIns="0" rtlCol="0" anchor="ctr"/>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View only</a:t>
            </a:r>
            <a:endParaRPr lang="en-US" sz="1500" dirty="0"/>
          </a:p>
        </p:txBody>
      </p:sp>
      <p:sp>
        <p:nvSpPr>
          <p:cNvPr id="28" name="Text 24"/>
          <p:cNvSpPr/>
          <p:nvPr/>
        </p:nvSpPr>
        <p:spPr>
          <a:xfrm>
            <a:off x="8092440" y="4343400"/>
            <a:ext cx="2133295" cy="731520"/>
          </a:xfrm>
          <a:prstGeom prst="rect">
            <a:avLst/>
          </a:prstGeom>
          <a:noFill/>
          <a:ln/>
        </p:spPr>
        <p:txBody>
          <a:bodyPr wrap="square" lIns="0" tIns="0" rIns="0" bIns="0" rtlCol="0" anchor="ctr"/>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Indoor, admin and consented private feeds</a:t>
            </a:r>
            <a:endParaRPr lang="en-US" sz="1250" dirty="0"/>
          </a:p>
        </p:txBody>
      </p:sp>
      <p:sp>
        <p:nvSpPr>
          <p:cNvPr id="29" name="Text 25"/>
          <p:cNvSpPr/>
          <p:nvPr/>
        </p:nvSpPr>
        <p:spPr>
          <a:xfrm>
            <a:off x="10317175" y="4343400"/>
            <a:ext cx="1097280" cy="731520"/>
          </a:xfrm>
          <a:prstGeom prst="rect">
            <a:avLst/>
          </a:prstGeom>
          <a:noFill/>
          <a:ln/>
        </p:spPr>
        <p:txBody>
          <a:bodyPr wrap="square" lIns="0" tIns="0" rIns="0" bIns="0" rtlCol="0" anchor="ctr"/>
          <a:lstStyle/>
          <a:p>
            <a:pPr algn="r" indent="0" marL="0">
              <a:buNone/>
            </a:pPr>
            <a:r>
              <a:rPr lang="en-US" sz="2000" dirty="0">
                <a:solidFill>
                  <a:srgbClr val="111417"/>
                </a:solidFill>
                <a:latin typeface="Franklin Gothic Demi Cond" pitchFamily="34" charset="0"/>
                <a:ea typeface="Franklin Gothic Demi Cond" pitchFamily="34" charset="-122"/>
                <a:cs typeface="Franklin Gothic Demi Cond" pitchFamily="34" charset="-120"/>
              </a:rPr>
              <a:t>20,000</a:t>
            </a:r>
            <a:endParaRPr lang="en-US" sz="2000" dirty="0"/>
          </a:p>
        </p:txBody>
      </p:sp>
      <p:sp>
        <p:nvSpPr>
          <p:cNvPr id="30" name="Shape 26"/>
          <p:cNvSpPr/>
          <p:nvPr/>
        </p:nvSpPr>
        <p:spPr>
          <a:xfrm>
            <a:off x="5394960" y="5303520"/>
            <a:ext cx="6248095" cy="685800"/>
          </a:xfrm>
          <a:prstGeom prst="roundRect">
            <a:avLst>
              <a:gd name="adj" fmla="val 10667"/>
            </a:avLst>
          </a:prstGeom>
          <a:solidFill>
            <a:srgbClr val="FFF4DA"/>
          </a:solidFill>
          <a:ln w="9525">
            <a:solidFill>
              <a:srgbClr val="ECCB78"/>
            </a:solidFill>
            <a:prstDash val="solid"/>
          </a:ln>
        </p:spPr>
      </p:sp>
      <p:sp>
        <p:nvSpPr>
          <p:cNvPr id="31" name="Text 27"/>
          <p:cNvSpPr/>
          <p:nvPr/>
        </p:nvSpPr>
        <p:spPr>
          <a:xfrm>
            <a:off x="5623560" y="5303520"/>
            <a:ext cx="5790895" cy="685800"/>
          </a:xfrm>
          <a:prstGeom prst="rect">
            <a:avLst/>
          </a:prstGeom>
          <a:noFill/>
          <a:ln/>
        </p:spPr>
        <p:txBody>
          <a:bodyPr wrap="square" lIns="0" tIns="0" rIns="0" bIns="0" rtlCol="0" anchor="ctr"/>
          <a:lstStyle/>
          <a:p>
            <a:pPr indent="0" marL="0">
              <a:buNone/>
            </a:pPr>
            <a:r>
              <a:rPr lang="en-US" sz="1350" dirty="0">
                <a:solidFill>
                  <a:srgbClr val="111417"/>
                </a:solidFill>
                <a:latin typeface="Franklin Gothic Book" pitchFamily="34" charset="0"/>
                <a:ea typeface="Franklin Gothic Book" pitchFamily="34" charset="-122"/>
                <a:cs typeface="Franklin Gothic Book" pitchFamily="34" charset="-120"/>
              </a:rPr>
              <a:t>Each department sets the tier and can change it live — continuous for a bandobast, back afterwards.</a:t>
            </a:r>
            <a:endParaRPr lang="en-US" sz="1350" dirty="0"/>
          </a:p>
        </p:txBody>
      </p:sp>
      <p:sp>
        <p:nvSpPr>
          <p:cNvPr id="32" name="Text 28"/>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Planning assumption, not a survey: the ~80,000 total is from the brief; the split is our estimate. Department inventories replace it in the pilot.</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A4 · COST, LINE BY LINE</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t"/>
          <a:lstStyle/>
          <a:p>
            <a:pPr algn="r" indent="0" marL="0">
              <a:buNone/>
            </a:pPr>
            <a:r>
              <a:rPr lang="en-US" sz="1000" dirty="0">
                <a:solidFill>
                  <a:srgbClr val="4C5157"/>
                </a:solidFill>
                <a:latin typeface="Consolas" pitchFamily="34" charset="0"/>
                <a:ea typeface="Consolas" pitchFamily="34" charset="-122"/>
                <a:cs typeface="Consolas" pitchFamily="34" charset="-120"/>
              </a:rPr>
              <a:t>APPENDIX · FOR QUESTIONS</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Build ≈₹80 crore · run ≈₹24 crore a year</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A4</a:t>
            </a:r>
            <a:endParaRPr lang="en-US" sz="900" dirty="0"/>
          </a:p>
        </p:txBody>
      </p:sp>
      <p:sp>
        <p:nvSpPr>
          <p:cNvPr id="7" name="Text 4"/>
          <p:cNvSpPr/>
          <p:nvPr/>
        </p:nvSpPr>
        <p:spPr>
          <a:xfrm>
            <a:off x="548640" y="1627632"/>
            <a:ext cx="4267048" cy="256032"/>
          </a:xfrm>
          <a:prstGeom prst="rect">
            <a:avLst/>
          </a:prstGeom>
          <a:noFill/>
          <a:ln/>
        </p:spPr>
        <p:txBody>
          <a:bodyPr wrap="square" lIns="0" tIns="0" rIns="0" bIns="0" rtlCol="0" anchor="t"/>
          <a:lstStyle/>
          <a:p>
            <a:pPr indent="0" marL="0">
              <a:buNone/>
            </a:pPr>
            <a:r>
              <a:rPr lang="en-US" sz="1050" dirty="0">
                <a:solidFill>
                  <a:srgbClr val="4C5157"/>
                </a:solidFill>
                <a:latin typeface="Consolas" pitchFamily="34" charset="0"/>
                <a:ea typeface="Consolas" pitchFamily="34" charset="-122"/>
                <a:cs typeface="Consolas" pitchFamily="34" charset="-120"/>
              </a:rPr>
              <a:t>BUILD (CAPEX)</a:t>
            </a:r>
            <a:endParaRPr lang="en-US" sz="1050" dirty="0"/>
          </a:p>
        </p:txBody>
      </p:sp>
      <p:sp>
        <p:nvSpPr>
          <p:cNvPr id="8" name="Text 5"/>
          <p:cNvSpPr/>
          <p:nvPr/>
        </p:nvSpPr>
        <p:spPr>
          <a:xfrm>
            <a:off x="4815688" y="1627632"/>
            <a:ext cx="914400" cy="256032"/>
          </a:xfrm>
          <a:prstGeom prst="rect">
            <a:avLst/>
          </a:prstGeom>
          <a:noFill/>
          <a:ln/>
        </p:spPr>
        <p:txBody>
          <a:bodyPr wrap="square" lIns="0" tIns="0" rIns="0" bIns="0" rtlCol="0" anchor="t"/>
          <a:lstStyle/>
          <a:p>
            <a:pPr algn="r" indent="0" marL="0">
              <a:buNone/>
            </a:pPr>
            <a:r>
              <a:rPr lang="en-US" sz="1050" dirty="0">
                <a:solidFill>
                  <a:srgbClr val="4C5157"/>
                </a:solidFill>
                <a:latin typeface="Consolas" pitchFamily="34" charset="0"/>
                <a:ea typeface="Consolas" pitchFamily="34" charset="-122"/>
                <a:cs typeface="Consolas" pitchFamily="34" charset="-120"/>
              </a:rPr>
              <a:t>₹ CR</a:t>
            </a:r>
            <a:endParaRPr lang="en-US" sz="1050" dirty="0"/>
          </a:p>
        </p:txBody>
      </p:sp>
      <p:sp>
        <p:nvSpPr>
          <p:cNvPr id="9" name="Shape 6"/>
          <p:cNvSpPr/>
          <p:nvPr/>
        </p:nvSpPr>
        <p:spPr>
          <a:xfrm>
            <a:off x="548640" y="1938528"/>
            <a:ext cx="5364328" cy="438912"/>
          </a:xfrm>
          <a:prstGeom prst="roundRect">
            <a:avLst>
              <a:gd name="adj" fmla="val 6250"/>
            </a:avLst>
          </a:prstGeom>
          <a:solidFill>
            <a:srgbClr val="FBFBF9"/>
          </a:solidFill>
          <a:ln w="9525">
            <a:solidFill>
              <a:srgbClr val="D5D7D2"/>
            </a:solidFill>
            <a:prstDash val="solid"/>
          </a:ln>
        </p:spPr>
      </p:sp>
      <p:sp>
        <p:nvSpPr>
          <p:cNvPr id="10" name="Text 7"/>
          <p:cNvSpPr/>
          <p:nvPr/>
        </p:nvSpPr>
        <p:spPr>
          <a:xfrm>
            <a:off x="731520" y="1938528"/>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District analysis servers (140 × 4 L4 GPUs)</a:t>
            </a:r>
            <a:endParaRPr lang="en-US" sz="1300" dirty="0"/>
          </a:p>
        </p:txBody>
      </p:sp>
      <p:sp>
        <p:nvSpPr>
          <p:cNvPr id="11" name="Text 8"/>
          <p:cNvSpPr/>
          <p:nvPr/>
        </p:nvSpPr>
        <p:spPr>
          <a:xfrm>
            <a:off x="4815688" y="1938528"/>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28</a:t>
            </a:r>
            <a:endParaRPr lang="en-US" sz="1800" dirty="0"/>
          </a:p>
        </p:txBody>
      </p:sp>
      <p:sp>
        <p:nvSpPr>
          <p:cNvPr id="12" name="Shape 9"/>
          <p:cNvSpPr/>
          <p:nvPr/>
        </p:nvSpPr>
        <p:spPr>
          <a:xfrm>
            <a:off x="548640" y="2450592"/>
            <a:ext cx="5364328" cy="438912"/>
          </a:xfrm>
          <a:prstGeom prst="roundRect">
            <a:avLst>
              <a:gd name="adj" fmla="val 6250"/>
            </a:avLst>
          </a:prstGeom>
          <a:solidFill>
            <a:srgbClr val="FBFBF9"/>
          </a:solidFill>
          <a:ln w="9525">
            <a:solidFill>
              <a:srgbClr val="D5D7D2"/>
            </a:solidFill>
            <a:prstDash val="solid"/>
          </a:ln>
        </p:spPr>
      </p:sp>
      <p:sp>
        <p:nvSpPr>
          <p:cNvPr id="13" name="Text 10"/>
          <p:cNvSpPr/>
          <p:nvPr/>
        </p:nvSpPr>
        <p:spPr>
          <a:xfrm>
            <a:off x="731520" y="2450592"/>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State data centre (compute, 600 TB, network, HA)</a:t>
            </a:r>
            <a:endParaRPr lang="en-US" sz="1300" dirty="0"/>
          </a:p>
        </p:txBody>
      </p:sp>
      <p:sp>
        <p:nvSpPr>
          <p:cNvPr id="14" name="Text 11"/>
          <p:cNvSpPr/>
          <p:nvPr/>
        </p:nvSpPr>
        <p:spPr>
          <a:xfrm>
            <a:off x="4815688" y="2450592"/>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14</a:t>
            </a:r>
            <a:endParaRPr lang="en-US" sz="1800" dirty="0"/>
          </a:p>
        </p:txBody>
      </p:sp>
      <p:sp>
        <p:nvSpPr>
          <p:cNvPr id="15" name="Shape 12"/>
          <p:cNvSpPr/>
          <p:nvPr/>
        </p:nvSpPr>
        <p:spPr>
          <a:xfrm>
            <a:off x="548640" y="2962656"/>
            <a:ext cx="5364328" cy="438912"/>
          </a:xfrm>
          <a:prstGeom prst="roundRect">
            <a:avLst>
              <a:gd name="adj" fmla="val 6250"/>
            </a:avLst>
          </a:prstGeom>
          <a:solidFill>
            <a:srgbClr val="FBFBF9"/>
          </a:solidFill>
          <a:ln w="9525">
            <a:solidFill>
              <a:srgbClr val="D5D7D2"/>
            </a:solidFill>
            <a:prstDash val="solid"/>
          </a:ln>
        </p:spPr>
      </p:sp>
      <p:sp>
        <p:nvSpPr>
          <p:cNvPr id="16" name="Text 13"/>
          <p:cNvSpPr/>
          <p:nvPr/>
        </p:nvSpPr>
        <p:spPr>
          <a:xfrm>
            <a:off x="731520" y="2962656"/>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Integration, migration, training, rollout</a:t>
            </a:r>
            <a:endParaRPr lang="en-US" sz="1300" dirty="0"/>
          </a:p>
        </p:txBody>
      </p:sp>
      <p:sp>
        <p:nvSpPr>
          <p:cNvPr id="17" name="Text 14"/>
          <p:cNvSpPr/>
          <p:nvPr/>
        </p:nvSpPr>
        <p:spPr>
          <a:xfrm>
            <a:off x="4815688" y="2962656"/>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12</a:t>
            </a:r>
            <a:endParaRPr lang="en-US" sz="1800" dirty="0"/>
          </a:p>
        </p:txBody>
      </p:sp>
      <p:sp>
        <p:nvSpPr>
          <p:cNvPr id="18" name="Shape 15"/>
          <p:cNvSpPr/>
          <p:nvPr/>
        </p:nvSpPr>
        <p:spPr>
          <a:xfrm>
            <a:off x="548640" y="3474720"/>
            <a:ext cx="5364328" cy="438912"/>
          </a:xfrm>
          <a:prstGeom prst="roundRect">
            <a:avLst>
              <a:gd name="adj" fmla="val 6250"/>
            </a:avLst>
          </a:prstGeom>
          <a:solidFill>
            <a:srgbClr val="FBFBF9"/>
          </a:solidFill>
          <a:ln w="9525">
            <a:solidFill>
              <a:srgbClr val="D5D7D2"/>
            </a:solidFill>
            <a:prstDash val="solid"/>
          </a:ln>
        </p:spPr>
      </p:sp>
      <p:sp>
        <p:nvSpPr>
          <p:cNvPr id="19" name="Text 16"/>
          <p:cNvSpPr/>
          <p:nvPr/>
        </p:nvSpPr>
        <p:spPr>
          <a:xfrm>
            <a:off x="731520" y="3474720"/>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Remote edge boxes (≈1,500)</a:t>
            </a:r>
            <a:endParaRPr lang="en-US" sz="1300" dirty="0"/>
          </a:p>
        </p:txBody>
      </p:sp>
      <p:sp>
        <p:nvSpPr>
          <p:cNvPr id="20" name="Text 17"/>
          <p:cNvSpPr/>
          <p:nvPr/>
        </p:nvSpPr>
        <p:spPr>
          <a:xfrm>
            <a:off x="4815688" y="3474720"/>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10.5</a:t>
            </a:r>
            <a:endParaRPr lang="en-US" sz="1800" dirty="0"/>
          </a:p>
        </p:txBody>
      </p:sp>
      <p:sp>
        <p:nvSpPr>
          <p:cNvPr id="21" name="Shape 18"/>
          <p:cNvSpPr/>
          <p:nvPr/>
        </p:nvSpPr>
        <p:spPr>
          <a:xfrm>
            <a:off x="548640" y="3986784"/>
            <a:ext cx="5364328" cy="438912"/>
          </a:xfrm>
          <a:prstGeom prst="roundRect">
            <a:avLst>
              <a:gd name="adj" fmla="val 6250"/>
            </a:avLst>
          </a:prstGeom>
          <a:solidFill>
            <a:srgbClr val="FBFBF9"/>
          </a:solidFill>
          <a:ln w="9525">
            <a:solidFill>
              <a:srgbClr val="D5D7D2"/>
            </a:solidFill>
            <a:prstDash val="solid"/>
          </a:ln>
        </p:spPr>
      </p:sp>
      <p:sp>
        <p:nvSpPr>
          <p:cNvPr id="22" name="Text 19"/>
          <p:cNvSpPr/>
          <p:nvPr/>
        </p:nvSpPr>
        <p:spPr>
          <a:xfrm>
            <a:off x="731520" y="3986784"/>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District uplink upgrades (GSWAN reused)</a:t>
            </a:r>
            <a:endParaRPr lang="en-US" sz="1300" dirty="0"/>
          </a:p>
        </p:txBody>
      </p:sp>
      <p:sp>
        <p:nvSpPr>
          <p:cNvPr id="23" name="Text 20"/>
          <p:cNvSpPr/>
          <p:nvPr/>
        </p:nvSpPr>
        <p:spPr>
          <a:xfrm>
            <a:off x="4815688" y="3986784"/>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9</a:t>
            </a:r>
            <a:endParaRPr lang="en-US" sz="1800" dirty="0"/>
          </a:p>
        </p:txBody>
      </p:sp>
      <p:sp>
        <p:nvSpPr>
          <p:cNvPr id="24" name="Shape 21"/>
          <p:cNvSpPr/>
          <p:nvPr/>
        </p:nvSpPr>
        <p:spPr>
          <a:xfrm>
            <a:off x="548640" y="4498848"/>
            <a:ext cx="5364328" cy="438912"/>
          </a:xfrm>
          <a:prstGeom prst="roundRect">
            <a:avLst>
              <a:gd name="adj" fmla="val 6250"/>
            </a:avLst>
          </a:prstGeom>
          <a:solidFill>
            <a:srgbClr val="FBFBF9"/>
          </a:solidFill>
          <a:ln w="9525">
            <a:solidFill>
              <a:srgbClr val="D5D7D2"/>
            </a:solidFill>
            <a:prstDash val="solid"/>
          </a:ln>
        </p:spPr>
      </p:sp>
      <p:sp>
        <p:nvSpPr>
          <p:cNvPr id="25" name="Text 22"/>
          <p:cNvSpPr/>
          <p:nvPr/>
        </p:nvSpPr>
        <p:spPr>
          <a:xfrm>
            <a:off x="731520" y="4498848"/>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Disaster-recovery site (warm standby)</a:t>
            </a:r>
            <a:endParaRPr lang="en-US" sz="1300" dirty="0"/>
          </a:p>
        </p:txBody>
      </p:sp>
      <p:sp>
        <p:nvSpPr>
          <p:cNvPr id="26" name="Text 23"/>
          <p:cNvSpPr/>
          <p:nvPr/>
        </p:nvSpPr>
        <p:spPr>
          <a:xfrm>
            <a:off x="4815688" y="4498848"/>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7</a:t>
            </a:r>
            <a:endParaRPr lang="en-US" sz="1800" dirty="0"/>
          </a:p>
        </p:txBody>
      </p:sp>
      <p:sp>
        <p:nvSpPr>
          <p:cNvPr id="27" name="Shape 24"/>
          <p:cNvSpPr/>
          <p:nvPr/>
        </p:nvSpPr>
        <p:spPr>
          <a:xfrm>
            <a:off x="548640" y="5010912"/>
            <a:ext cx="5364328" cy="438912"/>
          </a:xfrm>
          <a:prstGeom prst="roundRect">
            <a:avLst>
              <a:gd name="adj" fmla="val 6250"/>
            </a:avLst>
          </a:prstGeom>
          <a:solidFill>
            <a:srgbClr val="FBFBF9"/>
          </a:solidFill>
          <a:ln w="9525">
            <a:solidFill>
              <a:srgbClr val="D5D7D2"/>
            </a:solidFill>
            <a:prstDash val="solid"/>
          </a:ln>
        </p:spPr>
      </p:sp>
      <p:sp>
        <p:nvSpPr>
          <p:cNvPr id="28" name="Text 25"/>
          <p:cNvSpPr/>
          <p:nvPr/>
        </p:nvSpPr>
        <p:spPr>
          <a:xfrm>
            <a:off x="731520" y="5010912"/>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Software licences</a:t>
            </a:r>
            <a:endParaRPr lang="en-US" sz="1300" dirty="0"/>
          </a:p>
        </p:txBody>
      </p:sp>
      <p:sp>
        <p:nvSpPr>
          <p:cNvPr id="29" name="Text 26"/>
          <p:cNvSpPr/>
          <p:nvPr/>
        </p:nvSpPr>
        <p:spPr>
          <a:xfrm>
            <a:off x="4815688" y="5010912"/>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0</a:t>
            </a:r>
            <a:endParaRPr lang="en-US" sz="1800" dirty="0"/>
          </a:p>
        </p:txBody>
      </p:sp>
      <p:sp>
        <p:nvSpPr>
          <p:cNvPr id="30" name="Shape 27"/>
          <p:cNvSpPr/>
          <p:nvPr/>
        </p:nvSpPr>
        <p:spPr>
          <a:xfrm>
            <a:off x="548640" y="5522976"/>
            <a:ext cx="5364328" cy="438912"/>
          </a:xfrm>
          <a:prstGeom prst="roundRect">
            <a:avLst>
              <a:gd name="adj" fmla="val 6250"/>
            </a:avLst>
          </a:prstGeom>
          <a:solidFill>
            <a:srgbClr val="FFF4DA"/>
          </a:solidFill>
          <a:ln w="9525">
            <a:solidFill>
              <a:srgbClr val="ECCB78"/>
            </a:solidFill>
            <a:prstDash val="solid"/>
          </a:ln>
        </p:spPr>
      </p:sp>
      <p:sp>
        <p:nvSpPr>
          <p:cNvPr id="31" name="Text 28"/>
          <p:cNvSpPr/>
          <p:nvPr/>
        </p:nvSpPr>
        <p:spPr>
          <a:xfrm>
            <a:off x="731520" y="5522976"/>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Total</a:t>
            </a:r>
            <a:endParaRPr lang="en-US" sz="1300" dirty="0"/>
          </a:p>
        </p:txBody>
      </p:sp>
      <p:sp>
        <p:nvSpPr>
          <p:cNvPr id="32" name="Text 29"/>
          <p:cNvSpPr/>
          <p:nvPr/>
        </p:nvSpPr>
        <p:spPr>
          <a:xfrm>
            <a:off x="4815688" y="5522976"/>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≈80</a:t>
            </a:r>
            <a:endParaRPr lang="en-US" sz="1800" dirty="0"/>
          </a:p>
        </p:txBody>
      </p:sp>
      <p:sp>
        <p:nvSpPr>
          <p:cNvPr id="33" name="Text 30"/>
          <p:cNvSpPr/>
          <p:nvPr/>
        </p:nvSpPr>
        <p:spPr>
          <a:xfrm>
            <a:off x="6278728" y="1627632"/>
            <a:ext cx="4267048" cy="256032"/>
          </a:xfrm>
          <a:prstGeom prst="rect">
            <a:avLst/>
          </a:prstGeom>
          <a:noFill/>
          <a:ln/>
        </p:spPr>
        <p:txBody>
          <a:bodyPr wrap="square" lIns="0" tIns="0" rIns="0" bIns="0" rtlCol="0" anchor="t"/>
          <a:lstStyle/>
          <a:p>
            <a:pPr indent="0" marL="0">
              <a:buNone/>
            </a:pPr>
            <a:r>
              <a:rPr lang="en-US" sz="1050" dirty="0">
                <a:solidFill>
                  <a:srgbClr val="4C5157"/>
                </a:solidFill>
                <a:latin typeface="Consolas" pitchFamily="34" charset="0"/>
                <a:ea typeface="Consolas" pitchFamily="34" charset="-122"/>
                <a:cs typeface="Consolas" pitchFamily="34" charset="-120"/>
              </a:rPr>
              <a:t>RUN (OPEX, A YEAR)</a:t>
            </a:r>
            <a:endParaRPr lang="en-US" sz="1050" dirty="0"/>
          </a:p>
        </p:txBody>
      </p:sp>
      <p:sp>
        <p:nvSpPr>
          <p:cNvPr id="34" name="Text 31"/>
          <p:cNvSpPr/>
          <p:nvPr/>
        </p:nvSpPr>
        <p:spPr>
          <a:xfrm>
            <a:off x="10545775" y="1627632"/>
            <a:ext cx="914400" cy="256032"/>
          </a:xfrm>
          <a:prstGeom prst="rect">
            <a:avLst/>
          </a:prstGeom>
          <a:noFill/>
          <a:ln/>
        </p:spPr>
        <p:txBody>
          <a:bodyPr wrap="square" lIns="0" tIns="0" rIns="0" bIns="0" rtlCol="0" anchor="t"/>
          <a:lstStyle/>
          <a:p>
            <a:pPr algn="r" indent="0" marL="0">
              <a:buNone/>
            </a:pPr>
            <a:r>
              <a:rPr lang="en-US" sz="1050" dirty="0">
                <a:solidFill>
                  <a:srgbClr val="4C5157"/>
                </a:solidFill>
                <a:latin typeface="Consolas" pitchFamily="34" charset="0"/>
                <a:ea typeface="Consolas" pitchFamily="34" charset="-122"/>
                <a:cs typeface="Consolas" pitchFamily="34" charset="-120"/>
              </a:rPr>
              <a:t>₹ CR</a:t>
            </a:r>
            <a:endParaRPr lang="en-US" sz="1050" dirty="0"/>
          </a:p>
        </p:txBody>
      </p:sp>
      <p:sp>
        <p:nvSpPr>
          <p:cNvPr id="35" name="Shape 32"/>
          <p:cNvSpPr/>
          <p:nvPr/>
        </p:nvSpPr>
        <p:spPr>
          <a:xfrm>
            <a:off x="6278728" y="1938528"/>
            <a:ext cx="5364328" cy="438912"/>
          </a:xfrm>
          <a:prstGeom prst="roundRect">
            <a:avLst>
              <a:gd name="adj" fmla="val 6250"/>
            </a:avLst>
          </a:prstGeom>
          <a:solidFill>
            <a:srgbClr val="FBFBF9"/>
          </a:solidFill>
          <a:ln w="9525">
            <a:solidFill>
              <a:srgbClr val="D5D7D2"/>
            </a:solidFill>
            <a:prstDash val="solid"/>
          </a:ln>
        </p:spPr>
      </p:sp>
      <p:sp>
        <p:nvSpPr>
          <p:cNvPr id="36" name="Text 33"/>
          <p:cNvSpPr/>
          <p:nvPr/>
        </p:nvSpPr>
        <p:spPr>
          <a:xfrm>
            <a:off x="6461608" y="1938528"/>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Power, cooling, data-centre space</a:t>
            </a:r>
            <a:endParaRPr lang="en-US" sz="1300" dirty="0"/>
          </a:p>
        </p:txBody>
      </p:sp>
      <p:sp>
        <p:nvSpPr>
          <p:cNvPr id="37" name="Text 34"/>
          <p:cNvSpPr/>
          <p:nvPr/>
        </p:nvSpPr>
        <p:spPr>
          <a:xfrm>
            <a:off x="10545775" y="1938528"/>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5</a:t>
            </a:r>
            <a:endParaRPr lang="en-US" sz="1800" dirty="0"/>
          </a:p>
        </p:txBody>
      </p:sp>
      <p:sp>
        <p:nvSpPr>
          <p:cNvPr id="38" name="Shape 35"/>
          <p:cNvSpPr/>
          <p:nvPr/>
        </p:nvSpPr>
        <p:spPr>
          <a:xfrm>
            <a:off x="6278728" y="2450592"/>
            <a:ext cx="5364328" cy="438912"/>
          </a:xfrm>
          <a:prstGeom prst="roundRect">
            <a:avLst>
              <a:gd name="adj" fmla="val 6250"/>
            </a:avLst>
          </a:prstGeom>
          <a:solidFill>
            <a:srgbClr val="FBFBF9"/>
          </a:solidFill>
          <a:ln w="9525">
            <a:solidFill>
              <a:srgbClr val="D5D7D2"/>
            </a:solidFill>
            <a:prstDash val="solid"/>
          </a:ln>
        </p:spPr>
      </p:sp>
      <p:sp>
        <p:nvSpPr>
          <p:cNvPr id="39" name="Text 36"/>
          <p:cNvSpPr/>
          <p:nvPr/>
        </p:nvSpPr>
        <p:spPr>
          <a:xfrm>
            <a:off x="6461608" y="2450592"/>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Network and bandwidth</a:t>
            </a:r>
            <a:endParaRPr lang="en-US" sz="1300" dirty="0"/>
          </a:p>
        </p:txBody>
      </p:sp>
      <p:sp>
        <p:nvSpPr>
          <p:cNvPr id="40" name="Text 37"/>
          <p:cNvSpPr/>
          <p:nvPr/>
        </p:nvSpPr>
        <p:spPr>
          <a:xfrm>
            <a:off x="10545775" y="2450592"/>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7</a:t>
            </a:r>
            <a:endParaRPr lang="en-US" sz="1800" dirty="0"/>
          </a:p>
        </p:txBody>
      </p:sp>
      <p:sp>
        <p:nvSpPr>
          <p:cNvPr id="41" name="Shape 38"/>
          <p:cNvSpPr/>
          <p:nvPr/>
        </p:nvSpPr>
        <p:spPr>
          <a:xfrm>
            <a:off x="6278728" y="2962656"/>
            <a:ext cx="5364328" cy="438912"/>
          </a:xfrm>
          <a:prstGeom prst="roundRect">
            <a:avLst>
              <a:gd name="adj" fmla="val 6250"/>
            </a:avLst>
          </a:prstGeom>
          <a:solidFill>
            <a:srgbClr val="FBFBF9"/>
          </a:solidFill>
          <a:ln w="9525">
            <a:solidFill>
              <a:srgbClr val="D5D7D2"/>
            </a:solidFill>
            <a:prstDash val="solid"/>
          </a:ln>
        </p:spPr>
      </p:sp>
      <p:sp>
        <p:nvSpPr>
          <p:cNvPr id="42" name="Text 39"/>
          <p:cNvSpPr/>
          <p:nvPr/>
        </p:nvSpPr>
        <p:spPr>
          <a:xfrm>
            <a:off x="6461608" y="2962656"/>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AMC and support (≈12% of hardware)</a:t>
            </a:r>
            <a:endParaRPr lang="en-US" sz="1300" dirty="0"/>
          </a:p>
        </p:txBody>
      </p:sp>
      <p:sp>
        <p:nvSpPr>
          <p:cNvPr id="43" name="Text 40"/>
          <p:cNvSpPr/>
          <p:nvPr/>
        </p:nvSpPr>
        <p:spPr>
          <a:xfrm>
            <a:off x="10545775" y="2962656"/>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8</a:t>
            </a:r>
            <a:endParaRPr lang="en-US" sz="1800" dirty="0"/>
          </a:p>
        </p:txBody>
      </p:sp>
      <p:sp>
        <p:nvSpPr>
          <p:cNvPr id="44" name="Shape 41"/>
          <p:cNvSpPr/>
          <p:nvPr/>
        </p:nvSpPr>
        <p:spPr>
          <a:xfrm>
            <a:off x="6278728" y="3474720"/>
            <a:ext cx="5364328" cy="438912"/>
          </a:xfrm>
          <a:prstGeom prst="roundRect">
            <a:avLst>
              <a:gd name="adj" fmla="val 6250"/>
            </a:avLst>
          </a:prstGeom>
          <a:solidFill>
            <a:srgbClr val="FBFBF9"/>
          </a:solidFill>
          <a:ln w="9525">
            <a:solidFill>
              <a:srgbClr val="D5D7D2"/>
            </a:solidFill>
            <a:prstDash val="solid"/>
          </a:ln>
        </p:spPr>
      </p:sp>
      <p:sp>
        <p:nvSpPr>
          <p:cNvPr id="45" name="Text 42"/>
          <p:cNvSpPr/>
          <p:nvPr/>
        </p:nvSpPr>
        <p:spPr>
          <a:xfrm>
            <a:off x="6461608" y="3474720"/>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Operations team (NOC, L1–L3)</a:t>
            </a:r>
            <a:endParaRPr lang="en-US" sz="1300" dirty="0"/>
          </a:p>
        </p:txBody>
      </p:sp>
      <p:sp>
        <p:nvSpPr>
          <p:cNvPr id="46" name="Text 43"/>
          <p:cNvSpPr/>
          <p:nvPr/>
        </p:nvSpPr>
        <p:spPr>
          <a:xfrm>
            <a:off x="10545775" y="3474720"/>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4</a:t>
            </a:r>
            <a:endParaRPr lang="en-US" sz="1800" dirty="0"/>
          </a:p>
        </p:txBody>
      </p:sp>
      <p:sp>
        <p:nvSpPr>
          <p:cNvPr id="47" name="Shape 44"/>
          <p:cNvSpPr/>
          <p:nvPr/>
        </p:nvSpPr>
        <p:spPr>
          <a:xfrm>
            <a:off x="6278728" y="3986784"/>
            <a:ext cx="5364328" cy="438912"/>
          </a:xfrm>
          <a:prstGeom prst="roundRect">
            <a:avLst>
              <a:gd name="adj" fmla="val 6250"/>
            </a:avLst>
          </a:prstGeom>
          <a:solidFill>
            <a:srgbClr val="FFF4DA"/>
          </a:solidFill>
          <a:ln w="9525">
            <a:solidFill>
              <a:srgbClr val="ECCB78"/>
            </a:solidFill>
            <a:prstDash val="solid"/>
          </a:ln>
        </p:spPr>
      </p:sp>
      <p:sp>
        <p:nvSpPr>
          <p:cNvPr id="48" name="Text 45"/>
          <p:cNvSpPr/>
          <p:nvPr/>
        </p:nvSpPr>
        <p:spPr>
          <a:xfrm>
            <a:off x="6461608" y="3986784"/>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Total</a:t>
            </a:r>
            <a:endParaRPr lang="en-US" sz="1300" dirty="0"/>
          </a:p>
        </p:txBody>
      </p:sp>
      <p:sp>
        <p:nvSpPr>
          <p:cNvPr id="49" name="Text 46"/>
          <p:cNvSpPr/>
          <p:nvPr/>
        </p:nvSpPr>
        <p:spPr>
          <a:xfrm>
            <a:off x="10545775" y="3986784"/>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≈24</a:t>
            </a:r>
            <a:endParaRPr lang="en-US" sz="1800" dirty="0"/>
          </a:p>
        </p:txBody>
      </p:sp>
      <p:sp>
        <p:nvSpPr>
          <p:cNvPr id="50" name="Text 47"/>
          <p:cNvSpPr/>
          <p:nvPr/>
        </p:nvSpPr>
        <p:spPr>
          <a:xfrm>
            <a:off x="548640" y="6172200"/>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Order of magnitude for comparing approaches, not a tender. docs/04-SCALE-PLAN.md §6.</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A5 · BEYOND NUMBER PLATES</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t"/>
          <a:lstStyle/>
          <a:p>
            <a:pPr algn="r" indent="0" marL="0">
              <a:buNone/>
            </a:pPr>
            <a:r>
              <a:rPr lang="en-US" sz="1000" dirty="0">
                <a:solidFill>
                  <a:srgbClr val="4C5157"/>
                </a:solidFill>
                <a:latin typeface="Consolas" pitchFamily="34" charset="0"/>
                <a:ea typeface="Consolas" pitchFamily="34" charset="-122"/>
                <a:cs typeface="Consolas" pitchFamily="34" charset="-120"/>
              </a:rPr>
              <a:t>APPENDIX · FOR QUESTIONS</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More than plates — never identities</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A5</a:t>
            </a:r>
            <a:endParaRPr lang="en-US" sz="900" dirty="0"/>
          </a:p>
        </p:txBody>
      </p:sp>
      <p:sp>
        <p:nvSpPr>
          <p:cNvPr id="7" name="Shape 4"/>
          <p:cNvSpPr/>
          <p:nvPr/>
        </p:nvSpPr>
        <p:spPr>
          <a:xfrm>
            <a:off x="548640" y="1609344"/>
            <a:ext cx="11094415" cy="1980678"/>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8" name="Image 0" descr="preencoded.png">    </p:cNvPr>
          <p:cNvPicPr>
            <a:picLocks noChangeAspect="1"/>
          </p:cNvPicPr>
          <p:nvPr/>
        </p:nvPicPr>
        <p:blipFill>
          <a:blip r:embed="rId1"/>
          <a:stretch>
            <a:fillRect/>
          </a:stretch>
        </p:blipFill>
        <p:spPr>
          <a:xfrm>
            <a:off x="585216" y="1645920"/>
            <a:ext cx="11021263" cy="1907526"/>
          </a:xfrm>
          <a:prstGeom prst="rect">
            <a:avLst/>
          </a:prstGeom>
        </p:spPr>
      </p:pic>
      <p:pic>
        <p:nvPicPr>
          <p:cNvPr id="9" name="Image 1" descr="preencoded.png">    </p:cNvPr>
          <p:cNvPicPr>
            <a:picLocks noChangeAspect="1"/>
          </p:cNvPicPr>
          <p:nvPr/>
        </p:nvPicPr>
        <p:blipFill>
          <a:blip r:embed="rId2"/>
          <a:stretch>
            <a:fillRect/>
          </a:stretch>
        </p:blipFill>
        <p:spPr>
          <a:xfrm>
            <a:off x="548640" y="3937494"/>
            <a:ext cx="329184" cy="329184"/>
          </a:xfrm>
          <a:prstGeom prst="rect">
            <a:avLst/>
          </a:prstGeom>
        </p:spPr>
      </p:pic>
      <p:sp>
        <p:nvSpPr>
          <p:cNvPr id="10" name="Text 5"/>
          <p:cNvSpPr/>
          <p:nvPr/>
        </p:nvSpPr>
        <p:spPr>
          <a:xfrm>
            <a:off x="1060704" y="3919206"/>
            <a:ext cx="2055800"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Vehicle type and colour</a:t>
            </a:r>
            <a:endParaRPr lang="en-US" sz="1500" dirty="0"/>
          </a:p>
        </p:txBody>
      </p:sp>
      <p:sp>
        <p:nvSpPr>
          <p:cNvPr id="11" name="Text 6"/>
          <p:cNvSpPr/>
          <p:nvPr/>
        </p:nvSpPr>
        <p:spPr>
          <a:xfrm>
            <a:off x="1060704" y="4202670"/>
            <a:ext cx="2055800" cy="1905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On every read.</a:t>
            </a:r>
            <a:endParaRPr lang="en-US" sz="1250" dirty="0"/>
          </a:p>
        </p:txBody>
      </p:sp>
      <p:pic>
        <p:nvPicPr>
          <p:cNvPr id="12" name="Image 2" descr="preencoded.png">    </p:cNvPr>
          <p:cNvPicPr>
            <a:picLocks noChangeAspect="1"/>
          </p:cNvPicPr>
          <p:nvPr/>
        </p:nvPicPr>
        <p:blipFill>
          <a:blip r:embed="rId3"/>
          <a:stretch>
            <a:fillRect/>
          </a:stretch>
        </p:blipFill>
        <p:spPr>
          <a:xfrm>
            <a:off x="3390824" y="3937494"/>
            <a:ext cx="329184" cy="329184"/>
          </a:xfrm>
          <a:prstGeom prst="rect">
            <a:avLst/>
          </a:prstGeom>
        </p:spPr>
      </p:pic>
      <p:sp>
        <p:nvSpPr>
          <p:cNvPr id="13" name="Text 7"/>
          <p:cNvSpPr/>
          <p:nvPr/>
        </p:nvSpPr>
        <p:spPr>
          <a:xfrm>
            <a:off x="3902888" y="3919206"/>
            <a:ext cx="2055800"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People counted</a:t>
            </a:r>
            <a:endParaRPr lang="en-US" sz="1500" dirty="0"/>
          </a:p>
        </p:txBody>
      </p:sp>
      <p:sp>
        <p:nvSpPr>
          <p:cNvPr id="14" name="Text 8"/>
          <p:cNvSpPr/>
          <p:nvPr/>
        </p:nvSpPr>
        <p:spPr>
          <a:xfrm>
            <a:off x="3902888" y="4202670"/>
            <a:ext cx="2055800"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Held to zones; never identified.</a:t>
            </a:r>
            <a:endParaRPr lang="en-US" sz="1250" dirty="0"/>
          </a:p>
        </p:txBody>
      </p:sp>
      <p:pic>
        <p:nvPicPr>
          <p:cNvPr id="15" name="Image 3" descr="preencoded.png">    </p:cNvPr>
          <p:cNvPicPr>
            <a:picLocks noChangeAspect="1"/>
          </p:cNvPicPr>
          <p:nvPr/>
        </p:nvPicPr>
        <p:blipFill>
          <a:blip r:embed="rId4"/>
          <a:stretch>
            <a:fillRect/>
          </a:stretch>
        </p:blipFill>
        <p:spPr>
          <a:xfrm>
            <a:off x="6233008" y="3937494"/>
            <a:ext cx="329184" cy="329184"/>
          </a:xfrm>
          <a:prstGeom prst="rect">
            <a:avLst/>
          </a:prstGeom>
        </p:spPr>
      </p:pic>
      <p:sp>
        <p:nvSpPr>
          <p:cNvPr id="16" name="Text 9"/>
          <p:cNvSpPr/>
          <p:nvPr/>
        </p:nvSpPr>
        <p:spPr>
          <a:xfrm>
            <a:off x="6745072" y="3919206"/>
            <a:ext cx="2055800"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Zones</a:t>
            </a:r>
            <a:endParaRPr lang="en-US" sz="1500" dirty="0"/>
          </a:p>
        </p:txBody>
      </p:sp>
      <p:sp>
        <p:nvSpPr>
          <p:cNvPr id="17" name="Text 10"/>
          <p:cNvSpPr/>
          <p:nvPr/>
        </p:nvSpPr>
        <p:spPr>
          <a:xfrm>
            <a:off x="6745072" y="4202670"/>
            <a:ext cx="2055800"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Intrusion, loitering, wrong-way, stopped.</a:t>
            </a:r>
            <a:endParaRPr lang="en-US" sz="1250" dirty="0"/>
          </a:p>
        </p:txBody>
      </p:sp>
      <p:pic>
        <p:nvPicPr>
          <p:cNvPr id="18" name="Image 4" descr="preencoded.png">    </p:cNvPr>
          <p:cNvPicPr>
            <a:picLocks noChangeAspect="1"/>
          </p:cNvPicPr>
          <p:nvPr/>
        </p:nvPicPr>
        <p:blipFill>
          <a:blip r:embed="rId5"/>
          <a:stretch>
            <a:fillRect/>
          </a:stretch>
        </p:blipFill>
        <p:spPr>
          <a:xfrm>
            <a:off x="9075191" y="3937494"/>
            <a:ext cx="329184" cy="329184"/>
          </a:xfrm>
          <a:prstGeom prst="rect">
            <a:avLst/>
          </a:prstGeom>
        </p:spPr>
      </p:pic>
      <p:sp>
        <p:nvSpPr>
          <p:cNvPr id="19" name="Text 11"/>
          <p:cNvSpPr/>
          <p:nvPr/>
        </p:nvSpPr>
        <p:spPr>
          <a:xfrm>
            <a:off x="9587255" y="3919206"/>
            <a:ext cx="2055800"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Camera tamper</a:t>
            </a:r>
            <a:endParaRPr lang="en-US" sz="1500" dirty="0"/>
          </a:p>
        </p:txBody>
      </p:sp>
      <p:sp>
        <p:nvSpPr>
          <p:cNvPr id="20" name="Text 12"/>
          <p:cNvSpPr/>
          <p:nvPr/>
        </p:nvSpPr>
        <p:spPr>
          <a:xfrm>
            <a:off x="9587255" y="4202670"/>
            <a:ext cx="2055800"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Covered, blurred or moved: raised and closed itself.</a:t>
            </a:r>
            <a:endParaRPr lang="en-US" sz="1250" dirty="0"/>
          </a:p>
        </p:txBody>
      </p:sp>
      <p:sp>
        <p:nvSpPr>
          <p:cNvPr id="21" name="Text 13"/>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Shown: the camera table — tier, analysis rate, people and vehicles in view, and tamper state per camera.</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A6 · FIELD APP AND LANGUAGES</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t"/>
          <a:lstStyle/>
          <a:p>
            <a:pPr algn="r" indent="0" marL="0">
              <a:buNone/>
            </a:pPr>
            <a:r>
              <a:rPr lang="en-US" sz="1000" dirty="0">
                <a:solidFill>
                  <a:srgbClr val="4C5157"/>
                </a:solidFill>
                <a:latin typeface="Consolas" pitchFamily="34" charset="0"/>
                <a:ea typeface="Consolas" pitchFamily="34" charset="-122"/>
                <a:cs typeface="Consolas" pitchFamily="34" charset="-120"/>
              </a:rPr>
              <a:t>APPENDIX · FOR QUESTIONS</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On an officer’s phone, in their language</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A6</a:t>
            </a:r>
            <a:endParaRPr lang="en-US" sz="900" dirty="0"/>
          </a:p>
        </p:txBody>
      </p:sp>
      <p:sp>
        <p:nvSpPr>
          <p:cNvPr id="7" name="Shape 4"/>
          <p:cNvSpPr/>
          <p:nvPr/>
        </p:nvSpPr>
        <p:spPr>
          <a:xfrm>
            <a:off x="713232" y="1536192"/>
            <a:ext cx="2310840" cy="4745736"/>
          </a:xfrm>
          <a:prstGeom prst="roundRect">
            <a:avLst>
              <a:gd name="adj" fmla="val 11080"/>
            </a:avLst>
          </a:prstGeom>
          <a:solidFill>
            <a:srgbClr val="111417"/>
          </a:solidFill>
          <a:ln w="12700">
            <a:solidFill>
              <a:srgbClr val="111417"/>
            </a:solidFill>
            <a:prstDash val="solid"/>
          </a:ln>
        </p:spPr>
      </p:sp>
      <p:pic>
        <p:nvPicPr>
          <p:cNvPr id="8" name="Image 0" descr="preencoded.png">    </p:cNvPr>
          <p:cNvPicPr>
            <a:picLocks noChangeAspect="1"/>
          </p:cNvPicPr>
          <p:nvPr/>
        </p:nvPicPr>
        <p:blipFill>
          <a:blip r:embed="rId1"/>
          <a:stretch>
            <a:fillRect/>
          </a:stretch>
        </p:blipFill>
        <p:spPr>
          <a:xfrm>
            <a:off x="822960" y="1645920"/>
            <a:ext cx="2091384" cy="4526280"/>
          </a:xfrm>
          <a:prstGeom prst="rect">
            <a:avLst/>
          </a:prstGeom>
        </p:spPr>
      </p:pic>
      <p:sp>
        <p:nvSpPr>
          <p:cNvPr id="9" name="Shape 5"/>
          <p:cNvSpPr/>
          <p:nvPr/>
        </p:nvSpPr>
        <p:spPr>
          <a:xfrm>
            <a:off x="3517848" y="1609344"/>
            <a:ext cx="8125207" cy="4451457"/>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10" name="Image 1" descr="preencoded.png">    </p:cNvPr>
          <p:cNvPicPr>
            <a:picLocks noChangeAspect="1"/>
          </p:cNvPicPr>
          <p:nvPr/>
        </p:nvPicPr>
        <p:blipFill>
          <a:blip r:embed="rId2"/>
          <a:stretch>
            <a:fillRect/>
          </a:stretch>
        </p:blipFill>
        <p:spPr>
          <a:xfrm>
            <a:off x="3554424" y="1645920"/>
            <a:ext cx="8052055" cy="4378305"/>
          </a:xfrm>
          <a:prstGeom prst="rect">
            <a:avLst/>
          </a:prstGeom>
        </p:spPr>
      </p:pic>
      <p:sp>
        <p:nvSpPr>
          <p:cNvPr id="11" name="Text 6"/>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Left: the field app on a phone. Right: the operations overview in Gujarati.</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A7 · OPERATIONS</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t"/>
          <a:lstStyle/>
          <a:p>
            <a:pPr algn="r" indent="0" marL="0">
              <a:buNone/>
            </a:pPr>
            <a:r>
              <a:rPr lang="en-US" sz="1000" dirty="0">
                <a:solidFill>
                  <a:srgbClr val="4C5157"/>
                </a:solidFill>
                <a:latin typeface="Consolas" pitchFamily="34" charset="0"/>
                <a:ea typeface="Consolas" pitchFamily="34" charset="-122"/>
                <a:cs typeface="Consolas" pitchFamily="34" charset="-120"/>
              </a:rPr>
              <a:t>APPENDIX · FOR QUESTIONS</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Checked, and honest about what is a mock</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A7</a:t>
            </a:r>
            <a:endParaRPr lang="en-US" sz="900" dirty="0"/>
          </a:p>
        </p:txBody>
      </p:sp>
      <p:sp>
        <p:nvSpPr>
          <p:cNvPr id="7" name="Shape 4"/>
          <p:cNvSpPr/>
          <p:nvPr/>
        </p:nvSpPr>
        <p:spPr>
          <a:xfrm>
            <a:off x="548640" y="1609344"/>
            <a:ext cx="5364328" cy="2879078"/>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8" name="Image 0" descr="preencoded.png">    </p:cNvPr>
          <p:cNvPicPr>
            <a:picLocks noChangeAspect="1"/>
          </p:cNvPicPr>
          <p:nvPr/>
        </p:nvPicPr>
        <p:blipFill>
          <a:blip r:embed="rId1"/>
          <a:stretch>
            <a:fillRect/>
          </a:stretch>
        </p:blipFill>
        <p:spPr>
          <a:xfrm>
            <a:off x="585216" y="1645920"/>
            <a:ext cx="5291176" cy="2805926"/>
          </a:xfrm>
          <a:prstGeom prst="rect">
            <a:avLst/>
          </a:prstGeom>
        </p:spPr>
      </p:pic>
      <p:sp>
        <p:nvSpPr>
          <p:cNvPr id="9" name="Shape 5"/>
          <p:cNvSpPr/>
          <p:nvPr/>
        </p:nvSpPr>
        <p:spPr>
          <a:xfrm>
            <a:off x="6242152" y="1609344"/>
            <a:ext cx="5400904" cy="2137656"/>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10" name="Image 1" descr="preencoded.png">    </p:cNvPr>
          <p:cNvPicPr>
            <a:picLocks noChangeAspect="1"/>
          </p:cNvPicPr>
          <p:nvPr/>
        </p:nvPicPr>
        <p:blipFill>
          <a:blip r:embed="rId2"/>
          <a:stretch>
            <a:fillRect/>
          </a:stretch>
        </p:blipFill>
        <p:spPr>
          <a:xfrm>
            <a:off x="6278728" y="1645920"/>
            <a:ext cx="5327752" cy="2064504"/>
          </a:xfrm>
          <a:prstGeom prst="rect">
            <a:avLst/>
          </a:prstGeom>
        </p:spPr>
      </p:pic>
      <p:sp>
        <p:nvSpPr>
          <p:cNvPr id="11" name="Text 6"/>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Left: integrator compliance on the Health screen. Right: government connectors — VAHAN, SARTHI, eGujCop, AFIS, NAFIS — tested against mocks.</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A8 · APPROACHES COMPARED</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t"/>
          <a:lstStyle/>
          <a:p>
            <a:pPr algn="r" indent="0" marL="0">
              <a:buNone/>
            </a:pPr>
            <a:r>
              <a:rPr lang="en-US" sz="1000" dirty="0">
                <a:solidFill>
                  <a:srgbClr val="4C5157"/>
                </a:solidFill>
                <a:latin typeface="Consolas" pitchFamily="34" charset="0"/>
                <a:ea typeface="Consolas" pitchFamily="34" charset="-122"/>
                <a:cs typeface="Consolas" pitchFamily="34" charset="-120"/>
              </a:rPr>
              <a:t>APPENDIX · FOR QUESTIONS</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Why not leave it, or centralise it?</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A8</a:t>
            </a:r>
            <a:endParaRPr lang="en-US" sz="900" dirty="0"/>
          </a:p>
        </p:txBody>
      </p:sp>
      <p:sp>
        <p:nvSpPr>
          <p:cNvPr id="7" name="Shape 4"/>
          <p:cNvSpPr/>
          <p:nvPr/>
        </p:nvSpPr>
        <p:spPr>
          <a:xfrm>
            <a:off x="8981237" y="1645920"/>
            <a:ext cx="2661818" cy="4224528"/>
          </a:xfrm>
          <a:prstGeom prst="roundRect">
            <a:avLst>
              <a:gd name="adj" fmla="val 2748"/>
            </a:avLst>
          </a:prstGeom>
          <a:solidFill>
            <a:srgbClr val="FFF4DA"/>
          </a:solidFill>
          <a:ln w="9525">
            <a:solidFill>
              <a:srgbClr val="ECCB78"/>
            </a:solidFill>
            <a:prstDash val="solid"/>
          </a:ln>
        </p:spPr>
      </p:sp>
      <p:sp>
        <p:nvSpPr>
          <p:cNvPr id="8" name="Text 5"/>
          <p:cNvSpPr/>
          <p:nvPr/>
        </p:nvSpPr>
        <p:spPr>
          <a:xfrm>
            <a:off x="3886200" y="1691640"/>
            <a:ext cx="2204618" cy="502920"/>
          </a:xfrm>
          <a:prstGeom prst="rect">
            <a:avLst/>
          </a:prstGeom>
          <a:noFill/>
          <a:ln/>
        </p:spPr>
        <p:txBody>
          <a:bodyPr wrap="square" lIns="0" tIns="0" rIns="0" bIns="0" rtlCol="0" anchor="ctr"/>
          <a:lstStyle/>
          <a:p>
            <a:pPr indent="0" marL="0">
              <a:buNone/>
            </a:pPr>
            <a:r>
              <a:rPr lang="en-US" sz="1400" dirty="0">
                <a:solidFill>
                  <a:srgbClr val="4C5157"/>
                </a:solidFill>
                <a:latin typeface="Franklin Gothic Demi" pitchFamily="34" charset="0"/>
                <a:ea typeface="Franklin Gothic Demi" pitchFamily="34" charset="-122"/>
                <a:cs typeface="Franklin Gothic Demi" pitchFamily="34" charset="-120"/>
              </a:rPr>
              <a:t>Separate systems</a:t>
            </a:r>
            <a:endParaRPr lang="en-US" sz="1400" dirty="0"/>
          </a:p>
        </p:txBody>
      </p:sp>
      <p:sp>
        <p:nvSpPr>
          <p:cNvPr id="9" name="Text 6"/>
          <p:cNvSpPr/>
          <p:nvPr/>
        </p:nvSpPr>
        <p:spPr>
          <a:xfrm>
            <a:off x="6548018" y="1691640"/>
            <a:ext cx="2204618" cy="502920"/>
          </a:xfrm>
          <a:prstGeom prst="rect">
            <a:avLst/>
          </a:prstGeom>
          <a:noFill/>
          <a:ln/>
        </p:spPr>
        <p:txBody>
          <a:bodyPr wrap="square" lIns="0" tIns="0" rIns="0" bIns="0" rtlCol="0" anchor="ctr"/>
          <a:lstStyle/>
          <a:p>
            <a:pPr indent="0" marL="0">
              <a:buNone/>
            </a:pPr>
            <a:r>
              <a:rPr lang="en-US" sz="1400" dirty="0">
                <a:solidFill>
                  <a:srgbClr val="4C5157"/>
                </a:solidFill>
                <a:latin typeface="Franklin Gothic Demi" pitchFamily="34" charset="0"/>
                <a:ea typeface="Franklin Gothic Demi" pitchFamily="34" charset="-122"/>
                <a:cs typeface="Franklin Gothic Demi" pitchFamily="34" charset="-120"/>
              </a:rPr>
              <a:t>Centralise every camera</a:t>
            </a:r>
            <a:endParaRPr lang="en-US" sz="1400" dirty="0"/>
          </a:p>
        </p:txBody>
      </p:sp>
      <p:sp>
        <p:nvSpPr>
          <p:cNvPr id="10" name="Text 7"/>
          <p:cNvSpPr/>
          <p:nvPr/>
        </p:nvSpPr>
        <p:spPr>
          <a:xfrm>
            <a:off x="9209837" y="1691640"/>
            <a:ext cx="2204618" cy="502920"/>
          </a:xfrm>
          <a:prstGeom prst="rect">
            <a:avLst/>
          </a:prstGeom>
          <a:noFill/>
          <a:ln/>
        </p:spPr>
        <p:txBody>
          <a:bodyPr wrap="square" lIns="0" tIns="0" rIns="0" bIns="0" rtlCol="0" anchor="ctr"/>
          <a:lstStyle/>
          <a:p>
            <a:pPr indent="0" marL="0">
              <a:buNone/>
            </a:pPr>
            <a:r>
              <a:rPr lang="en-US" sz="2200" dirty="0">
                <a:solidFill>
                  <a:srgbClr val="111417"/>
                </a:solidFill>
                <a:latin typeface="Franklin Gothic Demi Cond" pitchFamily="34" charset="0"/>
                <a:ea typeface="Franklin Gothic Demi Cond" pitchFamily="34" charset="-122"/>
                <a:cs typeface="Franklin Gothic Demi Cond" pitchFamily="34" charset="-120"/>
              </a:rPr>
              <a:t>Sentinel</a:t>
            </a:r>
            <a:endParaRPr lang="en-US" sz="2200" dirty="0"/>
          </a:p>
        </p:txBody>
      </p:sp>
      <p:sp>
        <p:nvSpPr>
          <p:cNvPr id="11" name="Shape 8"/>
          <p:cNvSpPr/>
          <p:nvPr/>
        </p:nvSpPr>
        <p:spPr>
          <a:xfrm>
            <a:off x="548640" y="2258568"/>
            <a:ext cx="11094415" cy="0"/>
          </a:xfrm>
          <a:prstGeom prst="line">
            <a:avLst/>
          </a:prstGeom>
          <a:noFill/>
          <a:ln w="9525">
            <a:solidFill>
              <a:srgbClr val="D5D7D2"/>
            </a:solidFill>
            <a:prstDash val="solid"/>
          </a:ln>
        </p:spPr>
      </p:sp>
      <p:sp>
        <p:nvSpPr>
          <p:cNvPr id="12" name="Text 9"/>
          <p:cNvSpPr/>
          <p:nvPr/>
        </p:nvSpPr>
        <p:spPr>
          <a:xfrm>
            <a:off x="548640" y="2258568"/>
            <a:ext cx="2926080" cy="713232"/>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Trace a vehicle across departments</a:t>
            </a:r>
            <a:endParaRPr lang="en-US" sz="1400" dirty="0"/>
          </a:p>
        </p:txBody>
      </p:sp>
      <p:sp>
        <p:nvSpPr>
          <p:cNvPr id="13" name="Text 10"/>
          <p:cNvSpPr/>
          <p:nvPr/>
        </p:nvSpPr>
        <p:spPr>
          <a:xfrm>
            <a:off x="3886200" y="2258568"/>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Phone calls, manual review</a:t>
            </a:r>
            <a:endParaRPr lang="en-US" sz="1350" dirty="0"/>
          </a:p>
        </p:txBody>
      </p:sp>
      <p:sp>
        <p:nvSpPr>
          <p:cNvPr id="14" name="Text 11"/>
          <p:cNvSpPr/>
          <p:nvPr/>
        </p:nvSpPr>
        <p:spPr>
          <a:xfrm>
            <a:off x="6548018" y="2258568"/>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Yes</a:t>
            </a:r>
            <a:endParaRPr lang="en-US" sz="1350" dirty="0"/>
          </a:p>
        </p:txBody>
      </p:sp>
      <p:sp>
        <p:nvSpPr>
          <p:cNvPr id="15" name="Text 12"/>
          <p:cNvSpPr/>
          <p:nvPr/>
        </p:nvSpPr>
        <p:spPr>
          <a:xfrm>
            <a:off x="9209837" y="2258568"/>
            <a:ext cx="2204618" cy="713232"/>
          </a:xfrm>
          <a:prstGeom prst="rect">
            <a:avLst/>
          </a:prstGeom>
          <a:noFill/>
          <a:ln/>
        </p:spPr>
        <p:txBody>
          <a:bodyPr wrap="square" lIns="0" tIns="0" rIns="0" bIns="0" rtlCol="0" anchor="ctr"/>
          <a:lstStyle/>
          <a:p>
            <a:pPr indent="0" marL="0">
              <a:buNone/>
            </a:pPr>
            <a:r>
              <a:rPr lang="en-US" sz="1350" dirty="0">
                <a:solidFill>
                  <a:srgbClr val="111417"/>
                </a:solidFill>
                <a:latin typeface="Franklin Gothic Demi" pitchFamily="34" charset="0"/>
                <a:ea typeface="Franklin Gothic Demi" pitchFamily="34" charset="-122"/>
                <a:cs typeface="Franklin Gothic Demi" pitchFamily="34" charset="-120"/>
              </a:rPr>
              <a:t>One search</a:t>
            </a:r>
            <a:endParaRPr lang="en-US" sz="1350" dirty="0"/>
          </a:p>
        </p:txBody>
      </p:sp>
      <p:sp>
        <p:nvSpPr>
          <p:cNvPr id="16" name="Shape 13"/>
          <p:cNvSpPr/>
          <p:nvPr/>
        </p:nvSpPr>
        <p:spPr>
          <a:xfrm>
            <a:off x="548640" y="2971800"/>
            <a:ext cx="11094415" cy="0"/>
          </a:xfrm>
          <a:prstGeom prst="line">
            <a:avLst/>
          </a:prstGeom>
          <a:noFill/>
          <a:ln w="9525">
            <a:solidFill>
              <a:srgbClr val="D5D7D2"/>
            </a:solidFill>
            <a:prstDash val="solid"/>
          </a:ln>
        </p:spPr>
      </p:sp>
      <p:sp>
        <p:nvSpPr>
          <p:cNvPr id="17" name="Text 14"/>
          <p:cNvSpPr/>
          <p:nvPr/>
        </p:nvSpPr>
        <p:spPr>
          <a:xfrm>
            <a:off x="548640" y="2971800"/>
            <a:ext cx="2926080" cy="713232"/>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Watchlist alerts statewide</a:t>
            </a:r>
            <a:endParaRPr lang="en-US" sz="1400" dirty="0"/>
          </a:p>
        </p:txBody>
      </p:sp>
      <p:sp>
        <p:nvSpPr>
          <p:cNvPr id="18" name="Text 15"/>
          <p:cNvSpPr/>
          <p:nvPr/>
        </p:nvSpPr>
        <p:spPr>
          <a:xfrm>
            <a:off x="3886200" y="2971800"/>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Each system on its own</a:t>
            </a:r>
            <a:endParaRPr lang="en-US" sz="1350" dirty="0"/>
          </a:p>
        </p:txBody>
      </p:sp>
      <p:sp>
        <p:nvSpPr>
          <p:cNvPr id="19" name="Text 16"/>
          <p:cNvSpPr/>
          <p:nvPr/>
        </p:nvSpPr>
        <p:spPr>
          <a:xfrm>
            <a:off x="6548018" y="2971800"/>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Yes</a:t>
            </a:r>
            <a:endParaRPr lang="en-US" sz="1350" dirty="0"/>
          </a:p>
        </p:txBody>
      </p:sp>
      <p:sp>
        <p:nvSpPr>
          <p:cNvPr id="20" name="Text 17"/>
          <p:cNvSpPr/>
          <p:nvPr/>
        </p:nvSpPr>
        <p:spPr>
          <a:xfrm>
            <a:off x="9209837" y="2971800"/>
            <a:ext cx="2204618" cy="713232"/>
          </a:xfrm>
          <a:prstGeom prst="rect">
            <a:avLst/>
          </a:prstGeom>
          <a:noFill/>
          <a:ln/>
        </p:spPr>
        <p:txBody>
          <a:bodyPr wrap="square" lIns="0" tIns="0" rIns="0" bIns="0" rtlCol="0" anchor="ctr"/>
          <a:lstStyle/>
          <a:p>
            <a:pPr indent="0" marL="0">
              <a:buNone/>
            </a:pPr>
            <a:r>
              <a:rPr lang="en-US" sz="1350" dirty="0">
                <a:solidFill>
                  <a:srgbClr val="111417"/>
                </a:solidFill>
                <a:latin typeface="Franklin Gothic Demi" pitchFamily="34" charset="0"/>
                <a:ea typeface="Franklin Gothic Demi" pitchFamily="34" charset="-122"/>
                <a:cs typeface="Franklin Gothic Demi" pitchFamily="34" charset="-120"/>
              </a:rPr>
              <a:t>Every read, automatically</a:t>
            </a:r>
            <a:endParaRPr lang="en-US" sz="1350" dirty="0"/>
          </a:p>
        </p:txBody>
      </p:sp>
      <p:sp>
        <p:nvSpPr>
          <p:cNvPr id="21" name="Shape 18"/>
          <p:cNvSpPr/>
          <p:nvPr/>
        </p:nvSpPr>
        <p:spPr>
          <a:xfrm>
            <a:off x="548640" y="3685032"/>
            <a:ext cx="11094415" cy="0"/>
          </a:xfrm>
          <a:prstGeom prst="line">
            <a:avLst/>
          </a:prstGeom>
          <a:noFill/>
          <a:ln w="9525">
            <a:solidFill>
              <a:srgbClr val="D5D7D2"/>
            </a:solidFill>
            <a:prstDash val="solid"/>
          </a:ln>
        </p:spPr>
      </p:sp>
      <p:sp>
        <p:nvSpPr>
          <p:cNvPr id="22" name="Text 19"/>
          <p:cNvSpPr/>
          <p:nvPr/>
        </p:nvSpPr>
        <p:spPr>
          <a:xfrm>
            <a:off x="548640" y="3685032"/>
            <a:ext cx="2926080" cy="713232"/>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Department systems untouched</a:t>
            </a:r>
            <a:endParaRPr lang="en-US" sz="1400" dirty="0"/>
          </a:p>
        </p:txBody>
      </p:sp>
      <p:sp>
        <p:nvSpPr>
          <p:cNvPr id="23" name="Text 20"/>
          <p:cNvSpPr/>
          <p:nvPr/>
        </p:nvSpPr>
        <p:spPr>
          <a:xfrm>
            <a:off x="3886200" y="3685032"/>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Untouched, but isolated</a:t>
            </a:r>
            <a:endParaRPr lang="en-US" sz="1350" dirty="0"/>
          </a:p>
        </p:txBody>
      </p:sp>
      <p:sp>
        <p:nvSpPr>
          <p:cNvPr id="24" name="Text 21"/>
          <p:cNvSpPr/>
          <p:nvPr/>
        </p:nvSpPr>
        <p:spPr>
          <a:xfrm>
            <a:off x="6548018" y="3685032"/>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All video re-routed</a:t>
            </a:r>
            <a:endParaRPr lang="en-US" sz="1350" dirty="0"/>
          </a:p>
        </p:txBody>
      </p:sp>
      <p:sp>
        <p:nvSpPr>
          <p:cNvPr id="25" name="Text 22"/>
          <p:cNvSpPr/>
          <p:nvPr/>
        </p:nvSpPr>
        <p:spPr>
          <a:xfrm>
            <a:off x="9209837" y="3685032"/>
            <a:ext cx="2204618" cy="713232"/>
          </a:xfrm>
          <a:prstGeom prst="rect">
            <a:avLst/>
          </a:prstGeom>
          <a:noFill/>
          <a:ln/>
        </p:spPr>
        <p:txBody>
          <a:bodyPr wrap="square" lIns="0" tIns="0" rIns="0" bIns="0" rtlCol="0" anchor="ctr"/>
          <a:lstStyle/>
          <a:p>
            <a:pPr indent="0" marL="0">
              <a:buNone/>
            </a:pPr>
            <a:r>
              <a:rPr lang="en-US" sz="1350" dirty="0">
                <a:solidFill>
                  <a:srgbClr val="111417"/>
                </a:solidFill>
                <a:latin typeface="Franklin Gothic Demi" pitchFamily="34" charset="0"/>
                <a:ea typeface="Franklin Gothic Demi" pitchFamily="34" charset="-122"/>
                <a:cs typeface="Franklin Gothic Demi" pitchFamily="34" charset="-120"/>
              </a:rPr>
              <a:t>Read-only access</a:t>
            </a:r>
            <a:endParaRPr lang="en-US" sz="1350" dirty="0"/>
          </a:p>
        </p:txBody>
      </p:sp>
      <p:sp>
        <p:nvSpPr>
          <p:cNvPr id="26" name="Shape 23"/>
          <p:cNvSpPr/>
          <p:nvPr/>
        </p:nvSpPr>
        <p:spPr>
          <a:xfrm>
            <a:off x="548640" y="4398264"/>
            <a:ext cx="11094415" cy="0"/>
          </a:xfrm>
          <a:prstGeom prst="line">
            <a:avLst/>
          </a:prstGeom>
          <a:noFill/>
          <a:ln w="9525">
            <a:solidFill>
              <a:srgbClr val="D5D7D2"/>
            </a:solidFill>
            <a:prstDash val="solid"/>
          </a:ln>
        </p:spPr>
      </p:sp>
      <p:sp>
        <p:nvSpPr>
          <p:cNvPr id="27" name="Text 24"/>
          <p:cNvSpPr/>
          <p:nvPr/>
        </p:nvSpPr>
        <p:spPr>
          <a:xfrm>
            <a:off x="548640" y="4398264"/>
            <a:ext cx="2926080" cy="713232"/>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Network the State must provide</a:t>
            </a:r>
            <a:endParaRPr lang="en-US" sz="1400" dirty="0"/>
          </a:p>
        </p:txBody>
      </p:sp>
      <p:sp>
        <p:nvSpPr>
          <p:cNvPr id="28" name="Text 25"/>
          <p:cNvSpPr/>
          <p:nvPr/>
        </p:nvSpPr>
        <p:spPr>
          <a:xfrm>
            <a:off x="3886200" y="4398264"/>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Little</a:t>
            </a:r>
            <a:endParaRPr lang="en-US" sz="1350" dirty="0"/>
          </a:p>
        </p:txBody>
      </p:sp>
      <p:sp>
        <p:nvSpPr>
          <p:cNvPr id="29" name="Text 26"/>
          <p:cNvSpPr/>
          <p:nvPr/>
        </p:nvSpPr>
        <p:spPr>
          <a:xfrm>
            <a:off x="6548018" y="4398264"/>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≈160 Gbps sustained</a:t>
            </a:r>
            <a:endParaRPr lang="en-US" sz="1350" dirty="0"/>
          </a:p>
        </p:txBody>
      </p:sp>
      <p:sp>
        <p:nvSpPr>
          <p:cNvPr id="30" name="Text 27"/>
          <p:cNvSpPr/>
          <p:nvPr/>
        </p:nvSpPr>
        <p:spPr>
          <a:xfrm>
            <a:off x="9209837" y="4398264"/>
            <a:ext cx="2204618" cy="713232"/>
          </a:xfrm>
          <a:prstGeom prst="rect">
            <a:avLst/>
          </a:prstGeom>
          <a:noFill/>
          <a:ln/>
        </p:spPr>
        <p:txBody>
          <a:bodyPr wrap="square" lIns="0" tIns="0" rIns="0" bIns="0" rtlCol="0" anchor="ctr"/>
          <a:lstStyle/>
          <a:p>
            <a:pPr indent="0" marL="0">
              <a:buNone/>
            </a:pPr>
            <a:r>
              <a:rPr lang="en-US" sz="1350" dirty="0">
                <a:solidFill>
                  <a:srgbClr val="111417"/>
                </a:solidFill>
                <a:latin typeface="Franklin Gothic Demi" pitchFamily="34" charset="0"/>
                <a:ea typeface="Franklin Gothic Demi" pitchFamily="34" charset="-122"/>
                <a:cs typeface="Franklin Gothic Demi" pitchFamily="34" charset="-120"/>
              </a:rPr>
              <a:t>≈140 Mbps</a:t>
            </a:r>
            <a:endParaRPr lang="en-US" sz="1350" dirty="0"/>
          </a:p>
        </p:txBody>
      </p:sp>
      <p:sp>
        <p:nvSpPr>
          <p:cNvPr id="31" name="Shape 28"/>
          <p:cNvSpPr/>
          <p:nvPr/>
        </p:nvSpPr>
        <p:spPr>
          <a:xfrm>
            <a:off x="548640" y="5111496"/>
            <a:ext cx="11094415" cy="0"/>
          </a:xfrm>
          <a:prstGeom prst="line">
            <a:avLst/>
          </a:prstGeom>
          <a:noFill/>
          <a:ln w="9525">
            <a:solidFill>
              <a:srgbClr val="D5D7D2"/>
            </a:solidFill>
            <a:prstDash val="solid"/>
          </a:ln>
        </p:spPr>
      </p:sp>
      <p:sp>
        <p:nvSpPr>
          <p:cNvPr id="32" name="Text 29"/>
          <p:cNvSpPr/>
          <p:nvPr/>
        </p:nvSpPr>
        <p:spPr>
          <a:xfrm>
            <a:off x="548640" y="5111496"/>
            <a:ext cx="2926080" cy="713232"/>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When a district link drops</a:t>
            </a:r>
            <a:endParaRPr lang="en-US" sz="1400" dirty="0"/>
          </a:p>
        </p:txBody>
      </p:sp>
      <p:sp>
        <p:nvSpPr>
          <p:cNvPr id="33" name="Text 30"/>
          <p:cNvSpPr/>
          <p:nvPr/>
        </p:nvSpPr>
        <p:spPr>
          <a:xfrm>
            <a:off x="3886200" y="5111496"/>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Local only</a:t>
            </a:r>
            <a:endParaRPr lang="en-US" sz="1350" dirty="0"/>
          </a:p>
        </p:txBody>
      </p:sp>
      <p:sp>
        <p:nvSpPr>
          <p:cNvPr id="34" name="Text 31"/>
          <p:cNvSpPr/>
          <p:nvPr/>
        </p:nvSpPr>
        <p:spPr>
          <a:xfrm>
            <a:off x="6548018" y="5111496"/>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Analysis stops</a:t>
            </a:r>
            <a:endParaRPr lang="en-US" sz="1350" dirty="0"/>
          </a:p>
        </p:txBody>
      </p:sp>
      <p:sp>
        <p:nvSpPr>
          <p:cNvPr id="35" name="Text 32"/>
          <p:cNvSpPr/>
          <p:nvPr/>
        </p:nvSpPr>
        <p:spPr>
          <a:xfrm>
            <a:off x="9209837" y="5111496"/>
            <a:ext cx="2204618" cy="713232"/>
          </a:xfrm>
          <a:prstGeom prst="rect">
            <a:avLst/>
          </a:prstGeom>
          <a:noFill/>
          <a:ln/>
        </p:spPr>
        <p:txBody>
          <a:bodyPr wrap="square" lIns="0" tIns="0" rIns="0" bIns="0" rtlCol="0" anchor="ctr"/>
          <a:lstStyle/>
          <a:p>
            <a:pPr indent="0" marL="0">
              <a:buNone/>
            </a:pPr>
            <a:r>
              <a:rPr lang="en-US" sz="1350" dirty="0">
                <a:solidFill>
                  <a:srgbClr val="111417"/>
                </a:solidFill>
                <a:latin typeface="Franklin Gothic Demi" pitchFamily="34" charset="0"/>
                <a:ea typeface="Franklin Gothic Demi" pitchFamily="34" charset="-122"/>
                <a:cs typeface="Franklin Gothic Demi" pitchFamily="34" charset="-120"/>
              </a:rPr>
              <a:t>Keeps reading, 72 h queue</a:t>
            </a:r>
            <a:endParaRPr lang="en-US" sz="1350" dirty="0"/>
          </a:p>
        </p:txBody>
      </p:sp>
      <p:sp>
        <p:nvSpPr>
          <p:cNvPr id="36" name="Text 33"/>
          <p:cNvSpPr/>
          <p:nvPr/>
        </p:nvSpPr>
        <p:spPr>
          <a:xfrm>
            <a:off x="548640" y="6035040"/>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Approaches compared, not products. Network figures are for ~80,000 cameras, from docs/04-SCALE-PLAN.md.</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A9 · WHEN THE PLATE IS UNREADABLE</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t"/>
          <a:lstStyle/>
          <a:p>
            <a:pPr algn="r" indent="0" marL="0">
              <a:buNone/>
            </a:pPr>
            <a:r>
              <a:rPr lang="en-US" sz="1000" dirty="0">
                <a:solidFill>
                  <a:srgbClr val="4C5157"/>
                </a:solidFill>
                <a:latin typeface="Consolas" pitchFamily="34" charset="0"/>
                <a:ea typeface="Consolas" pitchFamily="34" charset="-122"/>
                <a:cs typeface="Consolas" pitchFamily="34" charset="-120"/>
              </a:rPr>
              <a:t>APPENDIX · FOR QUESTIONS</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What exists today, and what is only designed</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A9</a:t>
            </a:r>
            <a:endParaRPr lang="en-US" sz="900" dirty="0"/>
          </a:p>
        </p:txBody>
      </p:sp>
      <p:sp>
        <p:nvSpPr>
          <p:cNvPr id="7" name="Shape 4"/>
          <p:cNvSpPr/>
          <p:nvPr/>
        </p:nvSpPr>
        <p:spPr>
          <a:xfrm>
            <a:off x="548640" y="1645920"/>
            <a:ext cx="11094415" cy="603504"/>
          </a:xfrm>
          <a:prstGeom prst="roundRect">
            <a:avLst>
              <a:gd name="adj" fmla="val 6061"/>
            </a:avLst>
          </a:prstGeom>
          <a:solidFill>
            <a:srgbClr val="FBFBF9"/>
          </a:solidFill>
          <a:ln w="9525">
            <a:solidFill>
              <a:srgbClr val="D5D7D2"/>
            </a:solidFill>
            <a:prstDash val="solid"/>
          </a:ln>
        </p:spPr>
      </p:sp>
      <p:sp>
        <p:nvSpPr>
          <p:cNvPr id="8" name="Shape 5"/>
          <p:cNvSpPr/>
          <p:nvPr/>
        </p:nvSpPr>
        <p:spPr>
          <a:xfrm>
            <a:off x="731520" y="1801368"/>
            <a:ext cx="960120" cy="292608"/>
          </a:xfrm>
          <a:prstGeom prst="rect">
            <a:avLst/>
          </a:prstGeom>
          <a:solidFill>
            <a:srgbClr val="1F7A4A"/>
          </a:solidFill>
          <a:ln w="12700">
            <a:solidFill>
              <a:srgbClr val="1F7A4A"/>
            </a:solidFill>
            <a:prstDash val="solid"/>
          </a:ln>
        </p:spPr>
      </p:sp>
      <p:sp>
        <p:nvSpPr>
          <p:cNvPr id="9" name="Text 6"/>
          <p:cNvSpPr/>
          <p:nvPr/>
        </p:nvSpPr>
        <p:spPr>
          <a:xfrm>
            <a:off x="731520" y="1801368"/>
            <a:ext cx="9601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BUILT</a:t>
            </a:r>
            <a:endParaRPr lang="en-US" sz="1000" dirty="0"/>
          </a:p>
        </p:txBody>
      </p:sp>
      <p:sp>
        <p:nvSpPr>
          <p:cNvPr id="10" name="Text 7"/>
          <p:cNvSpPr/>
          <p:nvPr/>
        </p:nvSpPr>
        <p:spPr>
          <a:xfrm>
            <a:off x="1920240" y="1645920"/>
            <a:ext cx="3108960" cy="603504"/>
          </a:xfrm>
          <a:prstGeom prst="rect">
            <a:avLst/>
          </a:prstGeom>
          <a:noFill/>
          <a:ln/>
        </p:spPr>
        <p:txBody>
          <a:bodyPr wrap="square" lIns="0" tIns="0" rIns="0" bIns="0" rtlCol="0" anchor="ctr"/>
          <a:lstStyle/>
          <a:p>
            <a:pPr indent="0" marL="0">
              <a:buNone/>
            </a:pPr>
            <a:r>
              <a:rPr lang="en-US" sz="1450" dirty="0">
                <a:solidFill>
                  <a:srgbClr val="111417"/>
                </a:solidFill>
                <a:latin typeface="Franklin Gothic Demi" pitchFamily="34" charset="0"/>
                <a:ea typeface="Franklin Gothic Demi" pitchFamily="34" charset="-122"/>
                <a:cs typeface="Franklin Gothic Demi" pitchFamily="34" charset="-120"/>
              </a:rPr>
              <a:t>Exact</a:t>
            </a:r>
            <a:endParaRPr lang="en-US" sz="1450" dirty="0"/>
          </a:p>
        </p:txBody>
      </p:sp>
      <p:sp>
        <p:nvSpPr>
          <p:cNvPr id="11" name="Text 8"/>
          <p:cNvSpPr/>
          <p:nvPr/>
        </p:nvSpPr>
        <p:spPr>
          <a:xfrm>
            <a:off x="5120640" y="1645920"/>
            <a:ext cx="4206240" cy="603504"/>
          </a:xfrm>
          <a:prstGeom prst="rect">
            <a:avLst/>
          </a:prstGeom>
          <a:noFill/>
          <a:ln/>
        </p:spPr>
        <p:txBody>
          <a:bodyPr wrap="square" lIns="0" tIns="0" rIns="0" bIns="0" rtlCol="0" anchor="ctr"/>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A clean read</a:t>
            </a:r>
            <a:endParaRPr lang="en-US" sz="1300" dirty="0"/>
          </a:p>
        </p:txBody>
      </p:sp>
      <p:sp>
        <p:nvSpPr>
          <p:cNvPr id="12" name="Text 9"/>
          <p:cNvSpPr/>
          <p:nvPr/>
        </p:nvSpPr>
        <p:spPr>
          <a:xfrm>
            <a:off x="9418320" y="1645920"/>
            <a:ext cx="2041855" cy="603504"/>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Solid stop</a:t>
            </a:r>
            <a:endParaRPr lang="en-US" sz="1300" dirty="0"/>
          </a:p>
        </p:txBody>
      </p:sp>
      <p:sp>
        <p:nvSpPr>
          <p:cNvPr id="13" name="Shape 10"/>
          <p:cNvSpPr/>
          <p:nvPr/>
        </p:nvSpPr>
        <p:spPr>
          <a:xfrm>
            <a:off x="548640" y="2340864"/>
            <a:ext cx="11094415" cy="603504"/>
          </a:xfrm>
          <a:prstGeom prst="roundRect">
            <a:avLst>
              <a:gd name="adj" fmla="val 6061"/>
            </a:avLst>
          </a:prstGeom>
          <a:solidFill>
            <a:srgbClr val="FBFBF9"/>
          </a:solidFill>
          <a:ln w="9525">
            <a:solidFill>
              <a:srgbClr val="D5D7D2"/>
            </a:solidFill>
            <a:prstDash val="solid"/>
          </a:ln>
        </p:spPr>
      </p:sp>
      <p:sp>
        <p:nvSpPr>
          <p:cNvPr id="14" name="Shape 11"/>
          <p:cNvSpPr/>
          <p:nvPr/>
        </p:nvSpPr>
        <p:spPr>
          <a:xfrm>
            <a:off x="731520" y="2496312"/>
            <a:ext cx="960120" cy="292608"/>
          </a:xfrm>
          <a:prstGeom prst="rect">
            <a:avLst/>
          </a:prstGeom>
          <a:solidFill>
            <a:srgbClr val="1F7A4A"/>
          </a:solidFill>
          <a:ln w="12700">
            <a:solidFill>
              <a:srgbClr val="1F7A4A"/>
            </a:solidFill>
            <a:prstDash val="solid"/>
          </a:ln>
        </p:spPr>
      </p:sp>
      <p:sp>
        <p:nvSpPr>
          <p:cNvPr id="15" name="Text 12"/>
          <p:cNvSpPr/>
          <p:nvPr/>
        </p:nvSpPr>
        <p:spPr>
          <a:xfrm>
            <a:off x="731520" y="2496312"/>
            <a:ext cx="9601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BUILT</a:t>
            </a:r>
            <a:endParaRPr lang="en-US" sz="1000" dirty="0"/>
          </a:p>
        </p:txBody>
      </p:sp>
      <p:sp>
        <p:nvSpPr>
          <p:cNvPr id="16" name="Text 13"/>
          <p:cNvSpPr/>
          <p:nvPr/>
        </p:nvSpPr>
        <p:spPr>
          <a:xfrm>
            <a:off x="1920240" y="2340864"/>
            <a:ext cx="3108960" cy="603504"/>
          </a:xfrm>
          <a:prstGeom prst="rect">
            <a:avLst/>
          </a:prstGeom>
          <a:noFill/>
          <a:ln/>
        </p:spPr>
        <p:txBody>
          <a:bodyPr wrap="square" lIns="0" tIns="0" rIns="0" bIns="0" rtlCol="0" anchor="ctr"/>
          <a:lstStyle/>
          <a:p>
            <a:pPr indent="0" marL="0">
              <a:buNone/>
            </a:pPr>
            <a:r>
              <a:rPr lang="en-US" sz="1450" dirty="0">
                <a:solidFill>
                  <a:srgbClr val="111417"/>
                </a:solidFill>
                <a:latin typeface="Franklin Gothic Demi" pitchFamily="34" charset="0"/>
                <a:ea typeface="Franklin Gothic Demi" pitchFamily="34" charset="-122"/>
                <a:cs typeface="Franklin Gothic Demi" pitchFamily="34" charset="-120"/>
              </a:rPr>
              <a:t>Look-alike characters</a:t>
            </a:r>
            <a:endParaRPr lang="en-US" sz="1450" dirty="0"/>
          </a:p>
        </p:txBody>
      </p:sp>
      <p:sp>
        <p:nvSpPr>
          <p:cNvPr id="17" name="Text 14"/>
          <p:cNvSpPr/>
          <p:nvPr/>
        </p:nvSpPr>
        <p:spPr>
          <a:xfrm>
            <a:off x="5120640" y="2340864"/>
            <a:ext cx="4206240" cy="603504"/>
          </a:xfrm>
          <a:prstGeom prst="rect">
            <a:avLst/>
          </a:prstGeom>
          <a:noFill/>
          <a:ln/>
        </p:spPr>
        <p:txBody>
          <a:bodyPr wrap="square" lIns="0" tIns="0" rIns="0" bIns="0" rtlCol="0" anchor="ctr"/>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0↔O, 1↔I, 8↔B, 5↔S, 2↔Z</a:t>
            </a:r>
            <a:endParaRPr lang="en-US" sz="1300" dirty="0"/>
          </a:p>
        </p:txBody>
      </p:sp>
      <p:sp>
        <p:nvSpPr>
          <p:cNvPr id="18" name="Text 15"/>
          <p:cNvSpPr/>
          <p:nvPr/>
        </p:nvSpPr>
        <p:spPr>
          <a:xfrm>
            <a:off x="9418320" y="2340864"/>
            <a:ext cx="2041855" cy="603504"/>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Solid stop</a:t>
            </a:r>
            <a:endParaRPr lang="en-US" sz="1300" dirty="0"/>
          </a:p>
        </p:txBody>
      </p:sp>
      <p:sp>
        <p:nvSpPr>
          <p:cNvPr id="19" name="Shape 16"/>
          <p:cNvSpPr/>
          <p:nvPr/>
        </p:nvSpPr>
        <p:spPr>
          <a:xfrm>
            <a:off x="548640" y="3035808"/>
            <a:ext cx="11094415" cy="603504"/>
          </a:xfrm>
          <a:prstGeom prst="roundRect">
            <a:avLst>
              <a:gd name="adj" fmla="val 6061"/>
            </a:avLst>
          </a:prstGeom>
          <a:solidFill>
            <a:srgbClr val="FBFBF9"/>
          </a:solidFill>
          <a:ln w="9525">
            <a:solidFill>
              <a:srgbClr val="D5D7D2"/>
            </a:solidFill>
            <a:prstDash val="solid"/>
          </a:ln>
        </p:spPr>
      </p:sp>
      <p:sp>
        <p:nvSpPr>
          <p:cNvPr id="20" name="Shape 17"/>
          <p:cNvSpPr/>
          <p:nvPr/>
        </p:nvSpPr>
        <p:spPr>
          <a:xfrm>
            <a:off x="731520" y="3191256"/>
            <a:ext cx="960120" cy="292608"/>
          </a:xfrm>
          <a:prstGeom prst="rect">
            <a:avLst/>
          </a:prstGeom>
          <a:solidFill>
            <a:srgbClr val="1F7A4A"/>
          </a:solidFill>
          <a:ln w="12700">
            <a:solidFill>
              <a:srgbClr val="1F7A4A"/>
            </a:solidFill>
            <a:prstDash val="solid"/>
          </a:ln>
        </p:spPr>
      </p:sp>
      <p:sp>
        <p:nvSpPr>
          <p:cNvPr id="21" name="Text 18"/>
          <p:cNvSpPr/>
          <p:nvPr/>
        </p:nvSpPr>
        <p:spPr>
          <a:xfrm>
            <a:off x="731520" y="3191256"/>
            <a:ext cx="9601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BUILT</a:t>
            </a:r>
            <a:endParaRPr lang="en-US" sz="1000" dirty="0"/>
          </a:p>
        </p:txBody>
      </p:sp>
      <p:sp>
        <p:nvSpPr>
          <p:cNvPr id="22" name="Text 19"/>
          <p:cNvSpPr/>
          <p:nvPr/>
        </p:nvSpPr>
        <p:spPr>
          <a:xfrm>
            <a:off x="1920240" y="3035808"/>
            <a:ext cx="3108960" cy="603504"/>
          </a:xfrm>
          <a:prstGeom prst="rect">
            <a:avLst/>
          </a:prstGeom>
          <a:noFill/>
          <a:ln/>
        </p:spPr>
        <p:txBody>
          <a:bodyPr wrap="square" lIns="0" tIns="0" rIns="0" bIns="0" rtlCol="0" anchor="ctr"/>
          <a:lstStyle/>
          <a:p>
            <a:pPr indent="0" marL="0">
              <a:buNone/>
            </a:pPr>
            <a:r>
              <a:rPr lang="en-US" sz="1450" dirty="0">
                <a:solidFill>
                  <a:srgbClr val="111417"/>
                </a:solidFill>
                <a:latin typeface="Franklin Gothic Demi" pitchFamily="34" charset="0"/>
                <a:ea typeface="Franklin Gothic Demi" pitchFamily="34" charset="-122"/>
                <a:cs typeface="Franklin Gothic Demi" pitchFamily="34" charset="-120"/>
              </a:rPr>
              <a:t>One character off</a:t>
            </a:r>
            <a:endParaRPr lang="en-US" sz="1450" dirty="0"/>
          </a:p>
        </p:txBody>
      </p:sp>
      <p:sp>
        <p:nvSpPr>
          <p:cNvPr id="23" name="Text 20"/>
          <p:cNvSpPr/>
          <p:nvPr/>
        </p:nvSpPr>
        <p:spPr>
          <a:xfrm>
            <a:off x="5120640" y="3035808"/>
            <a:ext cx="4206240" cy="603504"/>
          </a:xfrm>
          <a:prstGeom prst="rect">
            <a:avLst/>
          </a:prstGeom>
          <a:noFill/>
          <a:ln/>
        </p:spPr>
        <p:txBody>
          <a:bodyPr wrap="square" lIns="0" tIns="0" rIns="0" bIns="0" rtlCol="0" anchor="ctr"/>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A single misread character</a:t>
            </a:r>
            <a:endParaRPr lang="en-US" sz="1300" dirty="0"/>
          </a:p>
        </p:txBody>
      </p:sp>
      <p:sp>
        <p:nvSpPr>
          <p:cNvPr id="24" name="Text 21"/>
          <p:cNvSpPr/>
          <p:nvPr/>
        </p:nvSpPr>
        <p:spPr>
          <a:xfrm>
            <a:off x="9418320" y="3035808"/>
            <a:ext cx="2041855" cy="603504"/>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Dashed “probable” stop</a:t>
            </a:r>
            <a:endParaRPr lang="en-US" sz="1300" dirty="0"/>
          </a:p>
        </p:txBody>
      </p:sp>
      <p:sp>
        <p:nvSpPr>
          <p:cNvPr id="25" name="Shape 22"/>
          <p:cNvSpPr/>
          <p:nvPr/>
        </p:nvSpPr>
        <p:spPr>
          <a:xfrm>
            <a:off x="548640" y="3730752"/>
            <a:ext cx="11094415" cy="603504"/>
          </a:xfrm>
          <a:prstGeom prst="roundRect">
            <a:avLst>
              <a:gd name="adj" fmla="val 6061"/>
            </a:avLst>
          </a:prstGeom>
          <a:solidFill>
            <a:srgbClr val="FBFBF9"/>
          </a:solidFill>
          <a:ln w="9525">
            <a:solidFill>
              <a:srgbClr val="D5D7D2"/>
            </a:solidFill>
            <a:prstDash val="solid"/>
          </a:ln>
        </p:spPr>
      </p:sp>
      <p:sp>
        <p:nvSpPr>
          <p:cNvPr id="26" name="Shape 23"/>
          <p:cNvSpPr/>
          <p:nvPr/>
        </p:nvSpPr>
        <p:spPr>
          <a:xfrm>
            <a:off x="731520" y="3886200"/>
            <a:ext cx="960120" cy="292608"/>
          </a:xfrm>
          <a:prstGeom prst="rect">
            <a:avLst/>
          </a:prstGeom>
          <a:solidFill>
            <a:srgbClr val="1F7A4A"/>
          </a:solidFill>
          <a:ln w="12700">
            <a:solidFill>
              <a:srgbClr val="1F7A4A"/>
            </a:solidFill>
            <a:prstDash val="solid"/>
          </a:ln>
        </p:spPr>
      </p:sp>
      <p:sp>
        <p:nvSpPr>
          <p:cNvPr id="27" name="Text 24"/>
          <p:cNvSpPr/>
          <p:nvPr/>
        </p:nvSpPr>
        <p:spPr>
          <a:xfrm>
            <a:off x="731520" y="3886200"/>
            <a:ext cx="9601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BUILT</a:t>
            </a:r>
            <a:endParaRPr lang="en-US" sz="1000" dirty="0"/>
          </a:p>
        </p:txBody>
      </p:sp>
      <p:sp>
        <p:nvSpPr>
          <p:cNvPr id="28" name="Text 25"/>
          <p:cNvSpPr/>
          <p:nvPr/>
        </p:nvSpPr>
        <p:spPr>
          <a:xfrm>
            <a:off x="1920240" y="3730752"/>
            <a:ext cx="3108960" cy="603504"/>
          </a:xfrm>
          <a:prstGeom prst="rect">
            <a:avLst/>
          </a:prstGeom>
          <a:noFill/>
          <a:ln/>
        </p:spPr>
        <p:txBody>
          <a:bodyPr wrap="square" lIns="0" tIns="0" rIns="0" bIns="0" rtlCol="0" anchor="ctr"/>
          <a:lstStyle/>
          <a:p>
            <a:pPr indent="0" marL="0">
              <a:buNone/>
            </a:pPr>
            <a:r>
              <a:rPr lang="en-US" sz="1450" dirty="0">
                <a:solidFill>
                  <a:srgbClr val="111417"/>
                </a:solidFill>
                <a:latin typeface="Franklin Gothic Demi" pitchFamily="34" charset="0"/>
                <a:ea typeface="Franklin Gothic Demi" pitchFamily="34" charset="-122"/>
                <a:cs typeface="Franklin Gothic Demi" pitchFamily="34" charset="-120"/>
              </a:rPr>
              <a:t>Appearance-gated bridge</a:t>
            </a:r>
            <a:endParaRPr lang="en-US" sz="1450" dirty="0"/>
          </a:p>
        </p:txBody>
      </p:sp>
      <p:sp>
        <p:nvSpPr>
          <p:cNvPr id="29" name="Text 26"/>
          <p:cNvSpPr/>
          <p:nvPr/>
        </p:nvSpPr>
        <p:spPr>
          <a:xfrm>
            <a:off x="5120640" y="3730752"/>
            <a:ext cx="4206240" cy="603504"/>
          </a:xfrm>
          <a:prstGeom prst="rect">
            <a:avLst/>
          </a:prstGeom>
          <a:noFill/>
          <a:ln/>
        </p:spPr>
        <p:txBody>
          <a:bodyPr wrap="square" lIns="0" tIns="0" rIns="0" bIns="0" rtlCol="0" anchor="ctr"/>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Same last four characters, class and colour, reachable at road speed</a:t>
            </a:r>
            <a:endParaRPr lang="en-US" sz="1300" dirty="0"/>
          </a:p>
        </p:txBody>
      </p:sp>
      <p:sp>
        <p:nvSpPr>
          <p:cNvPr id="30" name="Text 27"/>
          <p:cNvSpPr/>
          <p:nvPr/>
        </p:nvSpPr>
        <p:spPr>
          <a:xfrm>
            <a:off x="9418320" y="3730752"/>
            <a:ext cx="2041855" cy="603504"/>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Dashed “probable” stop</a:t>
            </a:r>
            <a:endParaRPr lang="en-US" sz="1300" dirty="0"/>
          </a:p>
        </p:txBody>
      </p:sp>
      <p:sp>
        <p:nvSpPr>
          <p:cNvPr id="31" name="Shape 28"/>
          <p:cNvSpPr/>
          <p:nvPr/>
        </p:nvSpPr>
        <p:spPr>
          <a:xfrm>
            <a:off x="548640" y="4425696"/>
            <a:ext cx="11094415" cy="603504"/>
          </a:xfrm>
          <a:prstGeom prst="roundRect">
            <a:avLst>
              <a:gd name="adj" fmla="val 6061"/>
            </a:avLst>
          </a:prstGeom>
          <a:solidFill>
            <a:srgbClr val="FBFBF9"/>
          </a:solidFill>
          <a:ln w="9525">
            <a:solidFill>
              <a:srgbClr val="D5D7D2"/>
            </a:solidFill>
            <a:prstDash val="solid"/>
          </a:ln>
        </p:spPr>
      </p:sp>
      <p:sp>
        <p:nvSpPr>
          <p:cNvPr id="32" name="Shape 29"/>
          <p:cNvSpPr/>
          <p:nvPr/>
        </p:nvSpPr>
        <p:spPr>
          <a:xfrm>
            <a:off x="731520" y="4581144"/>
            <a:ext cx="960120" cy="292608"/>
          </a:xfrm>
          <a:prstGeom prst="rect">
            <a:avLst/>
          </a:prstGeom>
          <a:solidFill>
            <a:srgbClr val="1F7A4A"/>
          </a:solidFill>
          <a:ln w="12700">
            <a:solidFill>
              <a:srgbClr val="1F7A4A"/>
            </a:solidFill>
            <a:prstDash val="solid"/>
          </a:ln>
        </p:spPr>
      </p:sp>
      <p:sp>
        <p:nvSpPr>
          <p:cNvPr id="33" name="Text 30"/>
          <p:cNvSpPr/>
          <p:nvPr/>
        </p:nvSpPr>
        <p:spPr>
          <a:xfrm>
            <a:off x="731520" y="4581144"/>
            <a:ext cx="9601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BUILT</a:t>
            </a:r>
            <a:endParaRPr lang="en-US" sz="1000" dirty="0"/>
          </a:p>
        </p:txBody>
      </p:sp>
      <p:sp>
        <p:nvSpPr>
          <p:cNvPr id="34" name="Text 31"/>
          <p:cNvSpPr/>
          <p:nvPr/>
        </p:nvSpPr>
        <p:spPr>
          <a:xfrm>
            <a:off x="1920240" y="4425696"/>
            <a:ext cx="3108960" cy="603504"/>
          </a:xfrm>
          <a:prstGeom prst="rect">
            <a:avLst/>
          </a:prstGeom>
          <a:noFill/>
          <a:ln/>
        </p:spPr>
        <p:txBody>
          <a:bodyPr wrap="square" lIns="0" tIns="0" rIns="0" bIns="0" rtlCol="0" anchor="ctr"/>
          <a:lstStyle/>
          <a:p>
            <a:pPr indent="0" marL="0">
              <a:buNone/>
            </a:pPr>
            <a:r>
              <a:rPr lang="en-US" sz="1450" dirty="0">
                <a:solidFill>
                  <a:srgbClr val="111417"/>
                </a:solidFill>
                <a:latin typeface="Franklin Gothic Demi" pitchFamily="34" charset="0"/>
                <a:ea typeface="Franklin Gothic Demi" pitchFamily="34" charset="-122"/>
                <a:cs typeface="Franklin Gothic Demi" pitchFamily="34" charset="-120"/>
              </a:rPr>
              <a:t>Feasibility gate</a:t>
            </a:r>
            <a:endParaRPr lang="en-US" sz="1450" dirty="0"/>
          </a:p>
        </p:txBody>
      </p:sp>
      <p:sp>
        <p:nvSpPr>
          <p:cNvPr id="35" name="Text 32"/>
          <p:cNvSpPr/>
          <p:nvPr/>
        </p:nvSpPr>
        <p:spPr>
          <a:xfrm>
            <a:off x="5120640" y="4425696"/>
            <a:ext cx="4206240" cy="603504"/>
          </a:xfrm>
          <a:prstGeom prst="rect">
            <a:avLst/>
          </a:prstGeom>
          <a:noFill/>
          <a:ln/>
        </p:spPr>
        <p:txBody>
          <a:bodyPr wrap="square" lIns="0" tIns="0" rIns="0" bIns="0" rtlCol="0" anchor="ctr"/>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Two stops implying more than 150 km/h</a:t>
            </a:r>
            <a:endParaRPr lang="en-US" sz="1300" dirty="0"/>
          </a:p>
        </p:txBody>
      </p:sp>
      <p:sp>
        <p:nvSpPr>
          <p:cNvPr id="36" name="Text 33"/>
          <p:cNvSpPr/>
          <p:nvPr/>
        </p:nvSpPr>
        <p:spPr>
          <a:xfrm>
            <a:off x="9418320" y="4425696"/>
            <a:ext cx="2041855" cy="603504"/>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Flagged, not drawn</a:t>
            </a:r>
            <a:endParaRPr lang="en-US" sz="1300" dirty="0"/>
          </a:p>
        </p:txBody>
      </p:sp>
      <p:sp>
        <p:nvSpPr>
          <p:cNvPr id="37" name="Shape 34"/>
          <p:cNvSpPr/>
          <p:nvPr/>
        </p:nvSpPr>
        <p:spPr>
          <a:xfrm>
            <a:off x="548640" y="5120640"/>
            <a:ext cx="11094415" cy="603504"/>
          </a:xfrm>
          <a:prstGeom prst="roundRect">
            <a:avLst>
              <a:gd name="adj" fmla="val 6061"/>
            </a:avLst>
          </a:prstGeom>
          <a:solidFill>
            <a:srgbClr val="F3F4F0"/>
          </a:solidFill>
          <a:ln w="9525">
            <a:solidFill>
              <a:srgbClr val="D5D7D2"/>
            </a:solidFill>
            <a:prstDash val="solid"/>
          </a:ln>
        </p:spPr>
      </p:sp>
      <p:sp>
        <p:nvSpPr>
          <p:cNvPr id="38" name="Shape 35"/>
          <p:cNvSpPr/>
          <p:nvPr/>
        </p:nvSpPr>
        <p:spPr>
          <a:xfrm>
            <a:off x="731520" y="5276088"/>
            <a:ext cx="960120" cy="292608"/>
          </a:xfrm>
          <a:prstGeom prst="rect">
            <a:avLst/>
          </a:prstGeom>
          <a:solidFill>
            <a:srgbClr val="F3F4F0"/>
          </a:solidFill>
          <a:ln w="12700">
            <a:solidFill>
              <a:srgbClr val="8A8F95"/>
            </a:solidFill>
            <a:prstDash val="solid"/>
          </a:ln>
        </p:spPr>
      </p:sp>
      <p:sp>
        <p:nvSpPr>
          <p:cNvPr id="39" name="Text 36"/>
          <p:cNvSpPr/>
          <p:nvPr/>
        </p:nvSpPr>
        <p:spPr>
          <a:xfrm>
            <a:off x="731520" y="5276088"/>
            <a:ext cx="960120" cy="292608"/>
          </a:xfrm>
          <a:prstGeom prst="rect">
            <a:avLst/>
          </a:prstGeom>
          <a:noFill/>
          <a:ln/>
        </p:spPr>
        <p:txBody>
          <a:bodyPr wrap="square" lIns="0" tIns="0" rIns="0" bIns="0" rtlCol="0" anchor="ctr"/>
          <a:lstStyle/>
          <a:p>
            <a:pPr algn="ctr" indent="0" marL="0">
              <a:buNone/>
            </a:pPr>
            <a:r>
              <a:rPr lang="en-US" sz="1000" b="1" dirty="0">
                <a:solidFill>
                  <a:srgbClr val="4C5157"/>
                </a:solidFill>
                <a:latin typeface="Consolas" pitchFamily="34" charset="0"/>
                <a:ea typeface="Consolas" pitchFamily="34" charset="-122"/>
                <a:cs typeface="Consolas" pitchFamily="34" charset="-120"/>
              </a:rPr>
              <a:t>DESIGN</a:t>
            </a:r>
            <a:endParaRPr lang="en-US" sz="1000" dirty="0"/>
          </a:p>
        </p:txBody>
      </p:sp>
      <p:sp>
        <p:nvSpPr>
          <p:cNvPr id="40" name="Text 37"/>
          <p:cNvSpPr/>
          <p:nvPr/>
        </p:nvSpPr>
        <p:spPr>
          <a:xfrm>
            <a:off x="1920240" y="5120640"/>
            <a:ext cx="3108960" cy="603504"/>
          </a:xfrm>
          <a:prstGeom prst="rect">
            <a:avLst/>
          </a:prstGeom>
          <a:noFill/>
          <a:ln/>
        </p:spPr>
        <p:txBody>
          <a:bodyPr wrap="square" lIns="0" tIns="0" rIns="0" bIns="0" rtlCol="0" anchor="ctr"/>
          <a:lstStyle/>
          <a:p>
            <a:pPr indent="0" marL="0">
              <a:buNone/>
            </a:pPr>
            <a:r>
              <a:rPr lang="en-US" sz="1450" dirty="0">
                <a:solidFill>
                  <a:srgbClr val="111417"/>
                </a:solidFill>
                <a:latin typeface="Franklin Gothic Demi" pitchFamily="34" charset="0"/>
                <a:ea typeface="Franklin Gothic Demi" pitchFamily="34" charset="-122"/>
                <a:cs typeface="Franklin Gothic Demi" pitchFamily="34" charset="-120"/>
              </a:rPr>
              <a:t>Appearance re-identification</a:t>
            </a:r>
            <a:endParaRPr lang="en-US" sz="1450" dirty="0"/>
          </a:p>
        </p:txBody>
      </p:sp>
      <p:sp>
        <p:nvSpPr>
          <p:cNvPr id="41" name="Text 38"/>
          <p:cNvSpPr/>
          <p:nvPr/>
        </p:nvSpPr>
        <p:spPr>
          <a:xfrm>
            <a:off x="5120640" y="5120640"/>
            <a:ext cx="4206240" cy="603504"/>
          </a:xfrm>
          <a:prstGeom prst="rect">
            <a:avLst/>
          </a:prstGeom>
          <a:noFill/>
          <a:ln/>
        </p:spPr>
        <p:txBody>
          <a:bodyPr wrap="square" lIns="0" tIns="0" rIns="0" bIns="0" rtlCol="0" anchor="ctr"/>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A vehicle whose plate is never read</a:t>
            </a:r>
            <a:endParaRPr lang="en-US" sz="1300" dirty="0"/>
          </a:p>
        </p:txBody>
      </p:sp>
      <p:sp>
        <p:nvSpPr>
          <p:cNvPr id="42" name="Text 39"/>
          <p:cNvSpPr/>
          <p:nvPr/>
        </p:nvSpPr>
        <p:spPr>
          <a:xfrm>
            <a:off x="9418320" y="5120640"/>
            <a:ext cx="2041855" cy="603504"/>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Designed and costed</a:t>
            </a:r>
            <a:endParaRPr lang="en-US" sz="1300" dirty="0"/>
          </a:p>
        </p:txBody>
      </p:sp>
      <p:sp>
        <p:nvSpPr>
          <p:cNvPr id="43" name="Text 40"/>
          <p:cNvSpPr/>
          <p:nvPr/>
        </p:nvSpPr>
        <p:spPr>
          <a:xfrm>
            <a:off x="548640" y="5943600"/>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Built rungs: services/core_api/src/core_api/detections/service.py. Design: docs/14-APPEARANCE-REID-DESIGN.md.</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Invental Data Labs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Sentinel — type a plate, see where it went</dc:title>
  <dc:subject>PptxGenJS Presentation</dc:subject>
  <dc:creator>Invental Data Labs</dc:creator>
  <cp:lastModifiedBy>Invental Data Labs</cp:lastModifiedBy>
  <cp:revision>1</cp:revision>
  <dcterms:created xsi:type="dcterms:W3CDTF">2026-10-12T14:10:07Z</dcterms:created>
  <dcterms:modified xsi:type="dcterms:W3CDTF">2026-10-12T14:10:07Z</dcterms:modified>
</cp:coreProperties>
</file>