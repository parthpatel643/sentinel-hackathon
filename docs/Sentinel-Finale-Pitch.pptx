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Cameras by tier</c:v>
                </c:pt>
              </c:strCache>
            </c:strRef>
          </c:tx>
          <c:spPr>
            <a:solidFill>
              <a:schemeClr val="accent1"/>
            </a:solidFill>
            <a:ln w="9525" cap="flat">
              <a:solidFill>
                <a:srgbClr val="F9F9F9"/>
              </a:solidFill>
              <a:prstDash val="solid"/>
              <a:round/>
            </a:ln>
            <a:effectLst/>
          </c:spPr>
          <c:dPt>
            <c:idx val="0"/>
            <c:bubble3D val="0"/>
            <c:spPr>
              <a:solidFill>
                <a:srgbClr val="F5A524"/>
              </a:solidFill>
              <a:effectLst/>
            </c:spPr>
          </c:dPt>
          <c:dPt>
            <c:idx val="1"/>
            <c:bubble3D val="0"/>
            <c:spPr>
              <a:solidFill>
                <a:srgbClr val="C98A2B"/>
              </a:solidFill>
              <a:effectLst/>
            </c:spPr>
          </c:dPt>
          <c:dPt>
            <c:idx val="2"/>
            <c:bubble3D val="0"/>
            <c:spPr>
              <a:solidFill>
                <a:srgbClr val="7A6A4C"/>
              </a:solidFill>
              <a:effectLst/>
            </c:spPr>
          </c:dPt>
          <c:dPt>
            <c:idx val="3"/>
            <c:bubble3D val="0"/>
            <c:spPr>
              <a:solidFill>
                <a:srgbClr val="3B4560"/>
              </a:solidFill>
              <a:effectLst/>
            </c:spPr>
          </c:dPt>
          <c:dLbls>
            <c:dLbl>
              <c:idx val="0"/>
              <c:numFmt formatCode="0%" sourceLinked="0"/>
              <c:spPr/>
              <c:txPr>
                <a:bodyPr/>
                <a:lstStyle/>
                <a:p>
                  <a:pPr>
                    <a:defRPr sz="1300" b="1" i="0" u="none" strike="noStrike">
                      <a:solidFill>
                        <a:srgbClr val="F2F5FA"/>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2F5FA"/>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2F5FA"/>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2F5FA"/>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 — continuous</c:v>
                </c:pt>
                <c:pt idx="1">
                  <c:v>B — sampled</c:v>
                </c:pt>
                <c:pt idx="2">
                  <c:v>C — motion-gated</c:v>
                </c:pt>
                <c:pt idx="3">
                  <c:v>D — view only</c:v>
                </c:pt>
              </c:strCache>
            </c:strRef>
          </c:cat>
          <c:val>
            <c:numRef>
              <c:f>Sheet1!$B$2:$B$5</c:f>
              <c:numCache>
                <c:ptCount val="4"/>
                <c:pt idx="0">
                  <c:v>9600</c:v>
                </c:pt>
                <c:pt idx="1">
                  <c:v>22400</c:v>
                </c:pt>
                <c:pt idx="2">
                  <c:v>28000</c:v>
                </c:pt>
                <c:pt idx="3">
                  <c:v>20000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A9B6CB"/>
                </a:solidFill>
                <a:latin typeface="Arial"/>
              </a:defRPr>
            </a:pPr>
            <a:r>
              <a:rPr sz="1300" b="0" i="0" u="none" strike="noStrike">
                <a:solidFill>
                  <a:srgbClr val="A9B6CB"/>
                </a:solidFill>
                <a:latin typeface="Arial"/>
              </a:rPr>
              <a:t>Capex, ₹ crore (order of magnitude)</a:t>
            </a:r>
          </a:p>
        </c:rich>
      </c:tx>
      <c:layout/>
      <c:overlay val="0"/>
    </c:title>
    <c:autoTitleDeleted val="0"/>
    <c:plotArea>
      <c:layout/>
      <c:barChart>
        <c:barDir val="bar"/>
        <c:grouping val="clustered"/>
        <c:varyColors val="0"/>
        <c:ser>
          <c:idx val="0"/>
          <c:order val="0"/>
          <c:tx>
            <c:strRef>
              <c:f>Sheet1!$B$1</c:f>
              <c:strCache>
                <c:ptCount val="1"/>
                <c:pt idx="0">
                  <c:v>Capex (₹ crore)</c:v>
                </c:pt>
              </c:strCache>
            </c:strRef>
          </c:tx>
          <c:spPr>
            <a:solidFill>
              <a:srgbClr val="F2706B"/>
            </a:solidFill>
            <a:effectLst/>
          </c:spPr>
          <c:invertIfNegative val="0"/>
          <c:dLbls>
            <c:numFmt formatCode="&quot;₹&quot;#,##0&quot; cr&quot;" sourceLinked="0"/>
            <c:txPr>
              <a:bodyPr/>
              <a:lstStyle/>
              <a:p>
                <a:pPr>
                  <a:defRPr b="1" i="0" strike="noStrike" sz="1600" u="none">
                    <a:solidFill>
                      <a:srgbClr val="F2F5FA"/>
                    </a:solidFill>
                    <a:latin typeface="Arial"/>
                  </a:defRPr>
                </a:pPr>
              </a:p>
            </c:txPr>
            <c:showLegendKey val="0"/>
            <c:showVal val="1"/>
            <c:showCatName val="0"/>
            <c:showSerName val="0"/>
            <c:showPercent val="0"/>
            <c:showBubbleSize val="0"/>
            <c:showLeaderLines val="0"/>
          </c:dLbls>
          <c:dPt>
            <c:idx val="0"/>
            <c:invertIfNegative val="0"/>
            <c:bubble3D val="0"/>
            <c:spPr>
              <a:solidFill>
                <a:srgbClr val="F2706B"/>
              </a:solidFill>
              <a:effectLst/>
            </c:spPr>
          </c:dPt>
          <c:dPt>
            <c:idx val="1"/>
            <c:invertIfNegative val="0"/>
            <c:bubble3D val="0"/>
            <c:spPr>
              <a:solidFill>
                <a:srgbClr val="34D3B4"/>
              </a:solidFill>
              <a:effectLst/>
            </c:spPr>
          </c:dPt>
          <c:cat>
            <c:multiLvlStrRef>
              <c:f>Sheet1!$A$2:$A$3</c:f>
              <c:multiLvlStrCache>
                <c:ptCount val="2"/>
                <c:lvl>
                  <c:pt idx="0">
                    <c:v>Central VMS (Model 4)</c:v>
                  </c:pt>
                  <c:pt idx="1">
                    <c:v>Sentinel hybrid</c:v>
                  </c:pt>
                </c:lvl>
              </c:multiLvlStrCache>
            </c:multiLvlStrRef>
          </c:cat>
          <c:val>
            <c:numRef>
              <c:f>Sheet1!$B$2:$B$3</c:f>
              <c:numCache>
                <c:formatCode>General</c:formatCode>
                <c:ptCount val="2"/>
                <c:pt idx="0">
                  <c:v>400</c:v>
                </c:pt>
                <c:pt idx="1">
                  <c:v>80</c:v>
                </c:pt>
              </c:numCache>
            </c:numRef>
          </c:val>
        </c:ser>
        <c:dLbls>
          <c:numFmt formatCode="&quot;₹&quot;#,##0&quot; cr&quot;" sourceLinked="0"/>
          <c:txPr>
            <a:bodyPr/>
            <a:lstStyle/>
            <a:p>
              <a:pPr>
                <a:defRPr b="1" i="0" strike="noStrike" sz="1600" u="none">
                  <a:solidFill>
                    <a:srgbClr val="F2F5F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2F5FA"/>
                </a:solidFill>
                <a:latin typeface="Arial"/>
              </a:defRPr>
            </a:pPr>
            <a:endParaRPr lang="en-US"/>
          </a:p>
        </c:txPr>
        <c:crossAx val="2094734552"/>
        <c:crosses val="autoZero"/>
        <c:auto val="1"/>
        <c:lblAlgn val="ctr"/>
        <c:noMultiLvlLbl val="1"/>
      </c:catAx>
      <c:valAx>
        <c:axId val="2094734552"/>
        <c:scaling>
          <c:orientation val="minMax"/>
          <c:max val="5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problem, not the product. "Today, if a stolen car leaves Ahmedabad for Rajkot, tracing it means phone calls to several departments, each with its own CCTV system, its own viewer, its own retention. Sentinel turns that into one search box." If the jury gives the vehicle number now, go straight to the demo (slide 5) and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Twenty-six departments, about eighty thousand cameras, no shared map. Each department runs its own VMS with its own retention. Tracing one vehicle across them is phone calls and hours, not a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a hybrid: Model 1’s registry and GIS as the foundation, Model 2’s unified viewing and analytics, Model 3’s adapter federation so no department changes its system — and Model 4’s central storage only for the few cameras that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Eighty thousand cameras at 2 Mbps is 160 gigabits per second sustained, from sites up to a thousand kilometres apart, and 12 petabytes of storage for one week. We analyse at the edge and send meaning, not video: about 140 megabits per second statewide — over a thousand times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you will do before you do it. Narrator faces the jury; the driver only clicks. If the number was already given, run step 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cameras we were given, onboarded from a CSV, ONVIF discovery or a catalogue. Each is in the registry with its department and location; Health shows each one live with its measured analysis rate; the live wall plays any of them — credentials never reach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number — spacing and case do not matter. Every read is searched, ordered by the cameras’ own clocks, and drawn as a route. Each stop: camera, department, the time printed on the frame, confidence, the plate as read, the snapshot with faces blurred. Then arm a watch, and export the Movement Report and hand it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Watchlist correlation is continuous. A confirmed read is matched down a ladder — exact first, then OCR-ambiguity classes — and raises a prioritised, deduplicated alert on every open console, with a sound. Acknowledging or resolving it is audited. Registry adapters for VAHAN, SARTHI, eGujCop, AFIS and NAFIS are built against contract mocks: on the day access is granted, a configuration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plate is partly readable, the ladder recovers it and marks the hop as probable, never confirmed — an officer checks it against the snapshot. We already use vehicle class and colour plus road-speed feasibility to bridge gaps. Full appearance re-identification is designed and costed; it is not running today,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sighting is reported only with the clock the camera burned into its own frame, confirmed by a second reading. If that clock cannot be read, the sighting says “time unknown” — it stays searchable, but it is never given a time it does not have. Every search, export and reveal is in a hash-chained audit log; edit one row and verification fails. We do no face recognition: faces are detected only to be blurred.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beyond ANPR run on the same frames at no extra inference cost: class and colour, people counted, zone rules for intrusion, loitering, wrong-way and stopped vehicles, and camera tamper detection. Excluded by decision: face recognition.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one number each. Cameras, tiered. Department systems stay — we pull read-only. Each district decodes and analyses its own video; if its link drops it keeps reading plates and alerting locally for up to 72 hours. The state core is about search and storage, not throughput. What you saw today is the district layer on a laptop: the same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highway check-post and a PDS godown are different jobs. Twelve percent run continuous ANPR; a quarter are view-only. Tier is a registry field a department changes live — a camera goes to tier A for a bandobast. That is about 560 L4 GPUs with redundancy, in about 140 four-GPU district servers. The per-GPU throughput is a benchmark estimate; Phase 0 measures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camera, NVR or VMS is replaced; department retention is reused rather than re-stored; GSWAN carries the backhaul. Indicative figures for comparing architectures, not for tendering. Propose minutes-to-trace as the pilot KPI.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measured that” and point at the artefact. The accuracy number is below our own target and we say so: it was 8.6% before the measurement drove the fixes. The GPU throughput behind the cost is a vendor estimate; Phase 0 replaces it with a measured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useful at five hundred cameras and never needs a big-bang cutover: one district pilot in three months, then four districts, then statewide, then consented private cameras. Each phase is independently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then the line. Hand over the Movement Report from the demo if it has not been handed over already. Questions: see docs/13-SHOWCASE-PREP.md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76695" y="2009775"/>
            <a:ext cx="5715000" cy="2838450"/>
          </a:xfrm>
          <a:prstGeom prst="rect">
            <a:avLst/>
          </a:prstGeom>
        </p:spPr>
      </p:pic>
      <p:sp>
        <p:nvSpPr>
          <p:cNvPr id="3" name="Shape 0"/>
          <p:cNvSpPr/>
          <p:nvPr/>
        </p:nvSpPr>
        <p:spPr>
          <a:xfrm>
            <a:off x="6476695" y="2009775"/>
            <a:ext cx="5715000" cy="2838450"/>
          </a:xfrm>
          <a:prstGeom prst="rect">
            <a:avLst/>
          </a:prstGeom>
          <a:solidFill>
            <a:srgbClr val="0A1020">
              <a:alpha val="28000"/>
            </a:srgbClr>
          </a:solidFill>
          <a:ln w="12700">
            <a:solidFill>
              <a:srgbClr val="0A1020">
                <a:alpha val="0"/>
              </a:srgbClr>
            </a:solidFill>
            <a:prstDash val="solid"/>
          </a:ln>
        </p:spPr>
      </p:sp>
      <p:sp>
        <p:nvSpPr>
          <p:cNvPr id="4" name="Text 1"/>
          <p:cNvSpPr/>
          <p:nvPr/>
        </p:nvSpPr>
        <p:spPr>
          <a:xfrm>
            <a:off x="548640" y="1097280"/>
            <a:ext cx="5669280" cy="274320"/>
          </a:xfrm>
          <a:prstGeom prst="rect">
            <a:avLst/>
          </a:prstGeom>
          <a:noFill/>
          <a:ln/>
        </p:spPr>
        <p:txBody>
          <a:bodyPr wrap="square" lIns="0" tIns="0" rIns="0" bIns="0" rtlCol="0" anchor="t"/>
          <a:lstStyle/>
          <a:p>
            <a:pPr indent="0" marL="0">
              <a:buNone/>
            </a:pPr>
            <a:r>
              <a:rPr lang="en-US" sz="1050" b="1" spc="200" kern="0" dirty="0">
                <a:solidFill>
                  <a:srgbClr val="F5A524"/>
                </a:solidFill>
                <a:latin typeface="Arial" pitchFamily="34" charset="0"/>
                <a:ea typeface="Arial" pitchFamily="34" charset="-122"/>
                <a:cs typeface="Arial" pitchFamily="34" charset="-120"/>
              </a:rPr>
              <a:t>GUJARAT POLICE INNOVATION CHALLENGE 2026</a:t>
            </a:r>
            <a:endParaRPr lang="en-US" sz="1050" dirty="0"/>
          </a:p>
        </p:txBody>
      </p:sp>
      <p:sp>
        <p:nvSpPr>
          <p:cNvPr id="5" name="Text 2"/>
          <p:cNvSpPr/>
          <p:nvPr/>
        </p:nvSpPr>
        <p:spPr>
          <a:xfrm>
            <a:off x="548640" y="1600200"/>
            <a:ext cx="5669280" cy="1188720"/>
          </a:xfrm>
          <a:prstGeom prst="rect">
            <a:avLst/>
          </a:prstGeom>
          <a:noFill/>
          <a:ln/>
        </p:spPr>
        <p:txBody>
          <a:bodyPr wrap="square" lIns="0" tIns="0" rIns="0" bIns="0" rtlCol="0" anchor="t"/>
          <a:lstStyle/>
          <a:p>
            <a:pPr indent="0" marL="0">
              <a:buNone/>
            </a:pPr>
            <a:r>
              <a:rPr lang="en-US" sz="7200" b="1" dirty="0">
                <a:solidFill>
                  <a:srgbClr val="F2F5FA"/>
                </a:solidFill>
                <a:latin typeface="Arial" pitchFamily="34" charset="0"/>
                <a:ea typeface="Arial" pitchFamily="34" charset="-122"/>
                <a:cs typeface="Arial" pitchFamily="34" charset="-120"/>
              </a:rPr>
              <a:t>Sentinel</a:t>
            </a:r>
            <a:endParaRPr lang="en-US" sz="7200" dirty="0"/>
          </a:p>
        </p:txBody>
      </p:sp>
      <p:sp>
        <p:nvSpPr>
          <p:cNvPr id="6" name="Text 3"/>
          <p:cNvSpPr/>
          <p:nvPr/>
        </p:nvSpPr>
        <p:spPr>
          <a:xfrm>
            <a:off x="548640" y="2880360"/>
            <a:ext cx="5394960" cy="1005840"/>
          </a:xfrm>
          <a:prstGeom prst="rect">
            <a:avLst/>
          </a:prstGeom>
          <a:noFill/>
          <a:ln/>
        </p:spPr>
        <p:txBody>
          <a:bodyPr wrap="square" lIns="0" tIns="0" rIns="0" bIns="0" rtlCol="0" anchor="t"/>
          <a:lstStyle/>
          <a:p>
            <a:pPr indent="0" marL="0">
              <a:buNone/>
            </a:pPr>
            <a:r>
              <a:rPr lang="en-US" sz="2600" dirty="0">
                <a:solidFill>
                  <a:srgbClr val="F2F5FA"/>
                </a:solidFill>
                <a:latin typeface="Arial" pitchFamily="34" charset="0"/>
                <a:ea typeface="Arial" pitchFamily="34" charset="-122"/>
                <a:cs typeface="Arial" pitchFamily="34" charset="-120"/>
              </a:rPr>
              <a:t>One search box for every government camera in Gujarat.</a:t>
            </a:r>
            <a:endParaRPr lang="en-US" sz="2600" dirty="0"/>
          </a:p>
        </p:txBody>
      </p:sp>
      <p:sp>
        <p:nvSpPr>
          <p:cNvPr id="7" name="Text 4"/>
          <p:cNvSpPr/>
          <p:nvPr/>
        </p:nvSpPr>
        <p:spPr>
          <a:xfrm>
            <a:off x="548640" y="4023360"/>
            <a:ext cx="5212080" cy="914400"/>
          </a:xfrm>
          <a:prstGeom prst="rect">
            <a:avLst/>
          </a:prstGeom>
          <a:noFill/>
          <a:ln/>
        </p:spPr>
        <p:txBody>
          <a:bodyPr wrap="square" lIns="0" tIns="0" rIns="0" bIns="0" rtlCol="0" anchor="t"/>
          <a:lstStyle/>
          <a:p>
            <a:pPr indent="0" marL="0">
              <a:buNone/>
            </a:pPr>
            <a:r>
              <a:rPr lang="en-US" sz="1500" dirty="0">
                <a:solidFill>
                  <a:srgbClr val="A9B6CB"/>
                </a:solidFill>
                <a:latin typeface="Calibri" pitchFamily="34" charset="0"/>
                <a:ea typeface="Calibri" pitchFamily="34" charset="-122"/>
                <a:cs typeface="Calibri" pitchFamily="34" charset="-120"/>
              </a:rPr>
              <a:t>Unified CCTV integration and AI video analytics: type a registration number, see where the vehicle went — camera by camera, on a map, with the evidence.</a:t>
            </a:r>
            <a:endParaRPr lang="en-US" sz="1500" dirty="0"/>
          </a:p>
        </p:txBody>
      </p:sp>
      <p:sp>
        <p:nvSpPr>
          <p:cNvPr id="8" name="Shape 5"/>
          <p:cNvSpPr/>
          <p:nvPr/>
        </p:nvSpPr>
        <p:spPr>
          <a:xfrm>
            <a:off x="548640" y="5715000"/>
            <a:ext cx="384048" cy="384048"/>
          </a:xfrm>
          <a:prstGeom prst="ellipse">
            <a:avLst/>
          </a:prstGeom>
          <a:solidFill>
            <a:srgbClr val="F5A524"/>
          </a:solidFill>
          <a:ln w="12700">
            <a:solidFill>
              <a:srgbClr val="F5A524"/>
            </a:solidFill>
            <a:prstDash val="solid"/>
          </a:ln>
        </p:spPr>
      </p:sp>
      <p:pic>
        <p:nvPicPr>
          <p:cNvPr id="9" name="Image 1" descr="preencoded.png">    </p:cNvPr>
          <p:cNvPicPr>
            <a:picLocks noChangeAspect="1"/>
          </p:cNvPicPr>
          <p:nvPr/>
        </p:nvPicPr>
        <p:blipFill>
          <a:blip r:embed="rId2"/>
          <a:stretch>
            <a:fillRect/>
          </a:stretch>
        </p:blipFill>
        <p:spPr>
          <a:xfrm>
            <a:off x="633131" y="5799491"/>
            <a:ext cx="215067" cy="215067"/>
          </a:xfrm>
          <a:prstGeom prst="rect">
            <a:avLst/>
          </a:prstGeom>
        </p:spPr>
      </p:pic>
      <p:sp>
        <p:nvSpPr>
          <p:cNvPr id="10" name="Text 6"/>
          <p:cNvSpPr/>
          <p:nvPr/>
        </p:nvSpPr>
        <p:spPr>
          <a:xfrm>
            <a:off x="1097280" y="5788152"/>
            <a:ext cx="5486400" cy="27432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Grand Finale  ·  i-Hub Gujarat, Ahmedabad  ·  12–13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THE PROBLEM</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Twenty-six camera systems. No shared map.</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02</a:t>
            </a:r>
            <a:endParaRPr lang="en-US" sz="900" dirty="0"/>
          </a:p>
        </p:txBody>
      </p:sp>
      <p:sp>
        <p:nvSpPr>
          <p:cNvPr id="6" name="Shape 3"/>
          <p:cNvSpPr/>
          <p:nvPr/>
        </p:nvSpPr>
        <p:spPr>
          <a:xfrm>
            <a:off x="548640" y="1737360"/>
            <a:ext cx="2567864" cy="2331720"/>
          </a:xfrm>
          <a:prstGeom prst="roundRect">
            <a:avLst>
              <a:gd name="adj" fmla="val 4706"/>
            </a:avLst>
          </a:prstGeom>
          <a:solidFill>
            <a:srgbClr val="131C30"/>
          </a:solidFill>
          <a:ln w="9525">
            <a:solidFill>
              <a:srgbClr val="2C3A5C"/>
            </a:solidFill>
            <a:prstDash val="solid"/>
          </a:ln>
        </p:spPr>
      </p:sp>
      <p:sp>
        <p:nvSpPr>
          <p:cNvPr id="7" name="Shape 4"/>
          <p:cNvSpPr/>
          <p:nvPr/>
        </p:nvSpPr>
        <p:spPr>
          <a:xfrm>
            <a:off x="822960" y="1965960"/>
            <a:ext cx="457200" cy="457200"/>
          </a:xfrm>
          <a:prstGeom prst="ellipse">
            <a:avLst/>
          </a:prstGeom>
          <a:solidFill>
            <a:srgbClr val="F5A524"/>
          </a:solidFill>
          <a:ln w="12700">
            <a:solidFill>
              <a:srgbClr val="F5A524"/>
            </a:solidFill>
            <a:prstDash val="solid"/>
          </a:ln>
        </p:spPr>
      </p:sp>
      <p:pic>
        <p:nvPicPr>
          <p:cNvPr id="8" name="Image 0" descr="preencoded.png">    </p:cNvPr>
          <p:cNvPicPr>
            <a:picLocks noChangeAspect="1"/>
          </p:cNvPicPr>
          <p:nvPr/>
        </p:nvPicPr>
        <p:blipFill>
          <a:blip r:embed="rId1"/>
          <a:stretch>
            <a:fillRect/>
          </a:stretch>
        </p:blipFill>
        <p:spPr>
          <a:xfrm>
            <a:off x="923544" y="2066544"/>
            <a:ext cx="256032" cy="256032"/>
          </a:xfrm>
          <a:prstGeom prst="rect">
            <a:avLst/>
          </a:prstGeom>
        </p:spPr>
      </p:pic>
      <p:sp>
        <p:nvSpPr>
          <p:cNvPr id="9" name="Text 5"/>
          <p:cNvSpPr/>
          <p:nvPr/>
        </p:nvSpPr>
        <p:spPr>
          <a:xfrm>
            <a:off x="822960" y="2606040"/>
            <a:ext cx="2019224" cy="731520"/>
          </a:xfrm>
          <a:prstGeom prst="rect">
            <a:avLst/>
          </a:prstGeom>
          <a:noFill/>
          <a:ln/>
        </p:spPr>
        <p:txBody>
          <a:bodyPr wrap="square" lIns="0" tIns="0" rIns="0" bIns="0" rtlCol="0" anchor="t"/>
          <a:lstStyle/>
          <a:p>
            <a:pPr indent="0" marL="0">
              <a:buNone/>
            </a:pPr>
            <a:r>
              <a:rPr lang="en-US" sz="3800" b="1" dirty="0">
                <a:solidFill>
                  <a:srgbClr val="F5A524"/>
                </a:solidFill>
                <a:latin typeface="Arial" pitchFamily="34" charset="0"/>
                <a:ea typeface="Arial" pitchFamily="34" charset="-122"/>
                <a:cs typeface="Arial" pitchFamily="34" charset="-120"/>
              </a:rPr>
              <a:t>~80,000</a:t>
            </a:r>
            <a:endParaRPr lang="en-US" sz="3800" dirty="0"/>
          </a:p>
        </p:txBody>
      </p:sp>
      <p:sp>
        <p:nvSpPr>
          <p:cNvPr id="10" name="Text 6"/>
          <p:cNvSpPr/>
          <p:nvPr/>
        </p:nvSpPr>
        <p:spPr>
          <a:xfrm>
            <a:off x="822960" y="3383280"/>
            <a:ext cx="2019224" cy="54864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cameras across the State</a:t>
            </a:r>
            <a:endParaRPr lang="en-US" sz="1400" dirty="0"/>
          </a:p>
        </p:txBody>
      </p:sp>
      <p:sp>
        <p:nvSpPr>
          <p:cNvPr id="11" name="Shape 7"/>
          <p:cNvSpPr/>
          <p:nvPr/>
        </p:nvSpPr>
        <p:spPr>
          <a:xfrm>
            <a:off x="3390824" y="1737360"/>
            <a:ext cx="2567864" cy="2331720"/>
          </a:xfrm>
          <a:prstGeom prst="roundRect">
            <a:avLst>
              <a:gd name="adj" fmla="val 4706"/>
            </a:avLst>
          </a:prstGeom>
          <a:solidFill>
            <a:srgbClr val="131C30"/>
          </a:solidFill>
          <a:ln w="9525">
            <a:solidFill>
              <a:srgbClr val="2C3A5C"/>
            </a:solidFill>
            <a:prstDash val="solid"/>
          </a:ln>
        </p:spPr>
      </p:sp>
      <p:sp>
        <p:nvSpPr>
          <p:cNvPr id="12" name="Shape 8"/>
          <p:cNvSpPr/>
          <p:nvPr/>
        </p:nvSpPr>
        <p:spPr>
          <a:xfrm>
            <a:off x="3665144" y="1965960"/>
            <a:ext cx="457200" cy="457200"/>
          </a:xfrm>
          <a:prstGeom prst="ellipse">
            <a:avLst/>
          </a:prstGeom>
          <a:solidFill>
            <a:srgbClr val="F5A524"/>
          </a:solidFill>
          <a:ln w="12700">
            <a:solidFill>
              <a:srgbClr val="F5A524"/>
            </a:solidFill>
            <a:prstDash val="solid"/>
          </a:ln>
        </p:spPr>
      </p:sp>
      <p:pic>
        <p:nvPicPr>
          <p:cNvPr id="13" name="Image 1" descr="preencoded.png">    </p:cNvPr>
          <p:cNvPicPr>
            <a:picLocks noChangeAspect="1"/>
          </p:cNvPicPr>
          <p:nvPr/>
        </p:nvPicPr>
        <p:blipFill>
          <a:blip r:embed="rId2"/>
          <a:stretch>
            <a:fillRect/>
          </a:stretch>
        </p:blipFill>
        <p:spPr>
          <a:xfrm>
            <a:off x="3765728" y="2066544"/>
            <a:ext cx="256032" cy="256032"/>
          </a:xfrm>
          <a:prstGeom prst="rect">
            <a:avLst/>
          </a:prstGeom>
        </p:spPr>
      </p:pic>
      <p:sp>
        <p:nvSpPr>
          <p:cNvPr id="14" name="Text 9"/>
          <p:cNvSpPr/>
          <p:nvPr/>
        </p:nvSpPr>
        <p:spPr>
          <a:xfrm>
            <a:off x="3665144" y="2606040"/>
            <a:ext cx="2019224" cy="731520"/>
          </a:xfrm>
          <a:prstGeom prst="rect">
            <a:avLst/>
          </a:prstGeom>
          <a:noFill/>
          <a:ln/>
        </p:spPr>
        <p:txBody>
          <a:bodyPr wrap="square" lIns="0" tIns="0" rIns="0" bIns="0" rtlCol="0" anchor="t"/>
          <a:lstStyle/>
          <a:p>
            <a:pPr indent="0" marL="0">
              <a:buNone/>
            </a:pPr>
            <a:r>
              <a:rPr lang="en-US" sz="3800" b="1" dirty="0">
                <a:solidFill>
                  <a:srgbClr val="F5A524"/>
                </a:solidFill>
                <a:latin typeface="Arial" pitchFamily="34" charset="0"/>
                <a:ea typeface="Arial" pitchFamily="34" charset="-122"/>
                <a:cs typeface="Arial" pitchFamily="34" charset="-120"/>
              </a:rPr>
              <a:t>26</a:t>
            </a:r>
            <a:endParaRPr lang="en-US" sz="3800" dirty="0"/>
          </a:p>
        </p:txBody>
      </p:sp>
      <p:sp>
        <p:nvSpPr>
          <p:cNvPr id="15" name="Text 10"/>
          <p:cNvSpPr/>
          <p:nvPr/>
        </p:nvSpPr>
        <p:spPr>
          <a:xfrm>
            <a:off x="3665144" y="3383280"/>
            <a:ext cx="2019224" cy="54864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departments, each with its own VMS</a:t>
            </a:r>
            <a:endParaRPr lang="en-US" sz="1400" dirty="0"/>
          </a:p>
        </p:txBody>
      </p:sp>
      <p:sp>
        <p:nvSpPr>
          <p:cNvPr id="16" name="Shape 11"/>
          <p:cNvSpPr/>
          <p:nvPr/>
        </p:nvSpPr>
        <p:spPr>
          <a:xfrm>
            <a:off x="6233008" y="1737360"/>
            <a:ext cx="2567864" cy="2331720"/>
          </a:xfrm>
          <a:prstGeom prst="roundRect">
            <a:avLst>
              <a:gd name="adj" fmla="val 4706"/>
            </a:avLst>
          </a:prstGeom>
          <a:solidFill>
            <a:srgbClr val="131C30"/>
          </a:solidFill>
          <a:ln w="9525">
            <a:solidFill>
              <a:srgbClr val="2C3A5C"/>
            </a:solidFill>
            <a:prstDash val="solid"/>
          </a:ln>
        </p:spPr>
      </p:sp>
      <p:sp>
        <p:nvSpPr>
          <p:cNvPr id="17" name="Shape 12"/>
          <p:cNvSpPr/>
          <p:nvPr/>
        </p:nvSpPr>
        <p:spPr>
          <a:xfrm>
            <a:off x="6507328" y="1965960"/>
            <a:ext cx="457200" cy="457200"/>
          </a:xfrm>
          <a:prstGeom prst="ellipse">
            <a:avLst/>
          </a:prstGeom>
          <a:solidFill>
            <a:srgbClr val="F5A524"/>
          </a:solidFill>
          <a:ln w="12700">
            <a:solidFill>
              <a:srgbClr val="F5A524"/>
            </a:solidFill>
            <a:prstDash val="solid"/>
          </a:ln>
        </p:spPr>
      </p:sp>
      <p:pic>
        <p:nvPicPr>
          <p:cNvPr id="18" name="Image 2" descr="preencoded.png">    </p:cNvPr>
          <p:cNvPicPr>
            <a:picLocks noChangeAspect="1"/>
          </p:cNvPicPr>
          <p:nvPr/>
        </p:nvPicPr>
        <p:blipFill>
          <a:blip r:embed="rId3"/>
          <a:stretch>
            <a:fillRect/>
          </a:stretch>
        </p:blipFill>
        <p:spPr>
          <a:xfrm>
            <a:off x="6607912" y="2066544"/>
            <a:ext cx="256032" cy="256032"/>
          </a:xfrm>
          <a:prstGeom prst="rect">
            <a:avLst/>
          </a:prstGeom>
        </p:spPr>
      </p:pic>
      <p:sp>
        <p:nvSpPr>
          <p:cNvPr id="19" name="Text 13"/>
          <p:cNvSpPr/>
          <p:nvPr/>
        </p:nvSpPr>
        <p:spPr>
          <a:xfrm>
            <a:off x="6507328" y="2606040"/>
            <a:ext cx="2019224" cy="731520"/>
          </a:xfrm>
          <a:prstGeom prst="rect">
            <a:avLst/>
          </a:prstGeom>
          <a:noFill/>
          <a:ln/>
        </p:spPr>
        <p:txBody>
          <a:bodyPr wrap="square" lIns="0" tIns="0" rIns="0" bIns="0" rtlCol="0" anchor="t"/>
          <a:lstStyle/>
          <a:p>
            <a:pPr indent="0" marL="0">
              <a:buNone/>
            </a:pPr>
            <a:r>
              <a:rPr lang="en-US" sz="3800" b="1" dirty="0">
                <a:solidFill>
                  <a:srgbClr val="F5A524"/>
                </a:solidFill>
                <a:latin typeface="Arial" pitchFamily="34" charset="0"/>
                <a:ea typeface="Arial" pitchFamily="34" charset="-122"/>
                <a:cs typeface="Arial" pitchFamily="34" charset="-120"/>
              </a:rPr>
              <a:t>7–15</a:t>
            </a:r>
            <a:endParaRPr lang="en-US" sz="3800" dirty="0"/>
          </a:p>
        </p:txBody>
      </p:sp>
      <p:sp>
        <p:nvSpPr>
          <p:cNvPr id="20" name="Text 14"/>
          <p:cNvSpPr/>
          <p:nvPr/>
        </p:nvSpPr>
        <p:spPr>
          <a:xfrm>
            <a:off x="6507328" y="3383280"/>
            <a:ext cx="2019224" cy="54864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days of retention, local or cloud, per department</a:t>
            </a:r>
            <a:endParaRPr lang="en-US" sz="1400" dirty="0"/>
          </a:p>
        </p:txBody>
      </p:sp>
      <p:sp>
        <p:nvSpPr>
          <p:cNvPr id="21" name="Shape 15"/>
          <p:cNvSpPr/>
          <p:nvPr/>
        </p:nvSpPr>
        <p:spPr>
          <a:xfrm>
            <a:off x="9075191" y="1737360"/>
            <a:ext cx="2567864" cy="2331720"/>
          </a:xfrm>
          <a:prstGeom prst="roundRect">
            <a:avLst>
              <a:gd name="adj" fmla="val 4706"/>
            </a:avLst>
          </a:prstGeom>
          <a:solidFill>
            <a:srgbClr val="131C30"/>
          </a:solidFill>
          <a:ln w="9525">
            <a:solidFill>
              <a:srgbClr val="2C3A5C"/>
            </a:solidFill>
            <a:prstDash val="solid"/>
          </a:ln>
        </p:spPr>
      </p:sp>
      <p:sp>
        <p:nvSpPr>
          <p:cNvPr id="22" name="Shape 16"/>
          <p:cNvSpPr/>
          <p:nvPr/>
        </p:nvSpPr>
        <p:spPr>
          <a:xfrm>
            <a:off x="9349511" y="1965960"/>
            <a:ext cx="457200" cy="457200"/>
          </a:xfrm>
          <a:prstGeom prst="ellipse">
            <a:avLst/>
          </a:prstGeom>
          <a:solidFill>
            <a:srgbClr val="F5A524"/>
          </a:solidFill>
          <a:ln w="12700">
            <a:solidFill>
              <a:srgbClr val="F5A524"/>
            </a:solidFill>
            <a:prstDash val="solid"/>
          </a:ln>
        </p:spPr>
      </p:sp>
      <p:pic>
        <p:nvPicPr>
          <p:cNvPr id="23" name="Image 3" descr="preencoded.png">    </p:cNvPr>
          <p:cNvPicPr>
            <a:picLocks noChangeAspect="1"/>
          </p:cNvPicPr>
          <p:nvPr/>
        </p:nvPicPr>
        <p:blipFill>
          <a:blip r:embed="rId4"/>
          <a:stretch>
            <a:fillRect/>
          </a:stretch>
        </p:blipFill>
        <p:spPr>
          <a:xfrm>
            <a:off x="9450095" y="2066544"/>
            <a:ext cx="256032" cy="256032"/>
          </a:xfrm>
          <a:prstGeom prst="rect">
            <a:avLst/>
          </a:prstGeom>
        </p:spPr>
      </p:pic>
      <p:sp>
        <p:nvSpPr>
          <p:cNvPr id="24" name="Text 17"/>
          <p:cNvSpPr/>
          <p:nvPr/>
        </p:nvSpPr>
        <p:spPr>
          <a:xfrm>
            <a:off x="9349511" y="2606040"/>
            <a:ext cx="2019224" cy="731520"/>
          </a:xfrm>
          <a:prstGeom prst="rect">
            <a:avLst/>
          </a:prstGeom>
          <a:noFill/>
          <a:ln/>
        </p:spPr>
        <p:txBody>
          <a:bodyPr wrap="square" lIns="0" tIns="0" rIns="0" bIns="0" rtlCol="0" anchor="t"/>
          <a:lstStyle/>
          <a:p>
            <a:pPr indent="0" marL="0">
              <a:buNone/>
            </a:pPr>
            <a:r>
              <a:rPr lang="en-US" sz="3800" b="1" dirty="0">
                <a:solidFill>
                  <a:srgbClr val="F5A524"/>
                </a:solidFill>
                <a:latin typeface="Arial" pitchFamily="34" charset="0"/>
                <a:ea typeface="Arial" pitchFamily="34" charset="-122"/>
                <a:cs typeface="Arial" pitchFamily="34" charset="-120"/>
              </a:rPr>
              <a:t>~1,000</a:t>
            </a:r>
            <a:endParaRPr lang="en-US" sz="3800" dirty="0"/>
          </a:p>
        </p:txBody>
      </p:sp>
      <p:sp>
        <p:nvSpPr>
          <p:cNvPr id="25" name="Text 18"/>
          <p:cNvSpPr/>
          <p:nvPr/>
        </p:nvSpPr>
        <p:spPr>
          <a:xfrm>
            <a:off x="9349511" y="3383280"/>
            <a:ext cx="2019224" cy="54864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km between the farthest camera sites</a:t>
            </a:r>
            <a:endParaRPr lang="en-US" sz="1400" dirty="0"/>
          </a:p>
        </p:txBody>
      </p:sp>
      <p:sp>
        <p:nvSpPr>
          <p:cNvPr id="26" name="Shape 19"/>
          <p:cNvSpPr/>
          <p:nvPr/>
        </p:nvSpPr>
        <p:spPr>
          <a:xfrm>
            <a:off x="548640" y="4434840"/>
            <a:ext cx="11094415" cy="1508760"/>
          </a:xfrm>
          <a:prstGeom prst="roundRect">
            <a:avLst>
              <a:gd name="adj" fmla="val 7273"/>
            </a:avLst>
          </a:prstGeom>
          <a:solidFill>
            <a:srgbClr val="1B2742"/>
          </a:solidFill>
          <a:ln w="9525">
            <a:solidFill>
              <a:srgbClr val="2C3A5C"/>
            </a:solidFill>
            <a:prstDash val="solid"/>
          </a:ln>
        </p:spPr>
      </p:sp>
      <p:sp>
        <p:nvSpPr>
          <p:cNvPr id="27" name="Shape 20"/>
          <p:cNvSpPr/>
          <p:nvPr/>
        </p:nvSpPr>
        <p:spPr>
          <a:xfrm>
            <a:off x="868680" y="4873752"/>
            <a:ext cx="640080" cy="640080"/>
          </a:xfrm>
          <a:prstGeom prst="ellipse">
            <a:avLst/>
          </a:prstGeom>
          <a:solidFill>
            <a:srgbClr val="F2706B"/>
          </a:solidFill>
          <a:ln w="12700">
            <a:solidFill>
              <a:srgbClr val="F2706B"/>
            </a:solidFill>
            <a:prstDash val="solid"/>
          </a:ln>
        </p:spPr>
      </p:sp>
      <p:pic>
        <p:nvPicPr>
          <p:cNvPr id="28" name="Image 4" descr="preencoded.png">    </p:cNvPr>
          <p:cNvPicPr>
            <a:picLocks noChangeAspect="1"/>
          </p:cNvPicPr>
          <p:nvPr/>
        </p:nvPicPr>
        <p:blipFill>
          <a:blip r:embed="rId5"/>
          <a:stretch>
            <a:fillRect/>
          </a:stretch>
        </p:blipFill>
        <p:spPr>
          <a:xfrm>
            <a:off x="1009498" y="5014570"/>
            <a:ext cx="358445" cy="358445"/>
          </a:xfrm>
          <a:prstGeom prst="rect">
            <a:avLst/>
          </a:prstGeom>
        </p:spPr>
      </p:pic>
      <p:sp>
        <p:nvSpPr>
          <p:cNvPr id="29" name="Text 21"/>
          <p:cNvSpPr/>
          <p:nvPr/>
        </p:nvSpPr>
        <p:spPr>
          <a:xfrm>
            <a:off x="1737360" y="4709160"/>
            <a:ext cx="9631375" cy="411480"/>
          </a:xfrm>
          <a:prstGeom prst="rect">
            <a:avLst/>
          </a:prstGeom>
          <a:noFill/>
          <a:ln/>
        </p:spPr>
        <p:txBody>
          <a:bodyPr wrap="square" lIns="0" tIns="0" rIns="0" bIns="0" rtlCol="0" anchor="t"/>
          <a:lstStyle/>
          <a:p>
            <a:pPr indent="0" marL="0">
              <a:buNone/>
            </a:pPr>
            <a:r>
              <a:rPr lang="en-US" sz="2000" b="1" dirty="0">
                <a:solidFill>
                  <a:srgbClr val="F2F5FA"/>
                </a:solidFill>
                <a:latin typeface="Arial" pitchFamily="34" charset="0"/>
                <a:ea typeface="Arial" pitchFamily="34" charset="-122"/>
                <a:cs typeface="Arial" pitchFamily="34" charset="-120"/>
              </a:rPr>
              <a:t>A stolen car leaves Ahmedabad for Rajkot.</a:t>
            </a:r>
            <a:endParaRPr lang="en-US" sz="2000" dirty="0"/>
          </a:p>
        </p:txBody>
      </p:sp>
      <p:sp>
        <p:nvSpPr>
          <p:cNvPr id="30" name="Text 22"/>
          <p:cNvSpPr/>
          <p:nvPr/>
        </p:nvSpPr>
        <p:spPr>
          <a:xfrm>
            <a:off x="1737360" y="5138928"/>
            <a:ext cx="9631375" cy="640080"/>
          </a:xfrm>
          <a:prstGeom prst="rect">
            <a:avLst/>
          </a:prstGeom>
          <a:noFill/>
          <a:ln/>
        </p:spPr>
        <p:txBody>
          <a:bodyPr wrap="square" lIns="0" tIns="0" rIns="0" bIns="0" rtlCol="0" anchor="t"/>
          <a:lstStyle/>
          <a:p>
            <a:pPr indent="0" marL="0">
              <a:buNone/>
            </a:pPr>
            <a:r>
              <a:rPr lang="en-US" sz="1500" dirty="0">
                <a:solidFill>
                  <a:srgbClr val="A9B6CB"/>
                </a:solidFill>
                <a:latin typeface="Calibri" pitchFamily="34" charset="0"/>
                <a:ea typeface="Calibri" pitchFamily="34" charset="-122"/>
                <a:cs typeface="Calibri" pitchFamily="34" charset="-120"/>
              </a:rPr>
              <a:t>Tracing it today means phone calls to several departments — each with its own viewer, its own login and its own retention — while the footage ages out.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OUR APPROACH</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A hybrid that leaves every department’s system running</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03</a:t>
            </a:r>
            <a:endParaRPr lang="en-US" sz="900" dirty="0"/>
          </a:p>
        </p:txBody>
      </p:sp>
      <p:sp>
        <p:nvSpPr>
          <p:cNvPr id="6" name="Shape 3"/>
          <p:cNvSpPr/>
          <p:nvPr/>
        </p:nvSpPr>
        <p:spPr>
          <a:xfrm>
            <a:off x="548640" y="1737360"/>
            <a:ext cx="2567864" cy="3337560"/>
          </a:xfrm>
          <a:prstGeom prst="roundRect">
            <a:avLst>
              <a:gd name="adj" fmla="val 4273"/>
            </a:avLst>
          </a:prstGeom>
          <a:solidFill>
            <a:srgbClr val="1B2742"/>
          </a:solidFill>
          <a:ln w="9525">
            <a:solidFill>
              <a:srgbClr val="2C3A5C"/>
            </a:solidFill>
            <a:prstDash val="solid"/>
          </a:ln>
        </p:spPr>
      </p:sp>
      <p:sp>
        <p:nvSpPr>
          <p:cNvPr id="7" name="Shape 4"/>
          <p:cNvSpPr/>
          <p:nvPr/>
        </p:nvSpPr>
        <p:spPr>
          <a:xfrm>
            <a:off x="822960" y="2011680"/>
            <a:ext cx="566928" cy="566928"/>
          </a:xfrm>
          <a:prstGeom prst="ellipse">
            <a:avLst/>
          </a:prstGeom>
          <a:solidFill>
            <a:srgbClr val="F5A524"/>
          </a:solidFill>
          <a:ln w="12700">
            <a:solidFill>
              <a:srgbClr val="F5A524"/>
            </a:solidFill>
            <a:prstDash val="solid"/>
          </a:ln>
        </p:spPr>
      </p:sp>
      <p:pic>
        <p:nvPicPr>
          <p:cNvPr id="8" name="Image 0" descr="preencoded.png">    </p:cNvPr>
          <p:cNvPicPr>
            <a:picLocks noChangeAspect="1"/>
          </p:cNvPicPr>
          <p:nvPr/>
        </p:nvPicPr>
        <p:blipFill>
          <a:blip r:embed="rId1"/>
          <a:stretch>
            <a:fillRect/>
          </a:stretch>
        </p:blipFill>
        <p:spPr>
          <a:xfrm>
            <a:off x="947684" y="2136404"/>
            <a:ext cx="317480" cy="317480"/>
          </a:xfrm>
          <a:prstGeom prst="rect">
            <a:avLst/>
          </a:prstGeom>
        </p:spPr>
      </p:pic>
      <p:sp>
        <p:nvSpPr>
          <p:cNvPr id="9" name="Shape 5"/>
          <p:cNvSpPr/>
          <p:nvPr/>
        </p:nvSpPr>
        <p:spPr>
          <a:xfrm>
            <a:off x="1790624" y="2121408"/>
            <a:ext cx="1051560" cy="329184"/>
          </a:xfrm>
          <a:prstGeom prst="roundRect">
            <a:avLst>
              <a:gd name="adj" fmla="val 50000"/>
            </a:avLst>
          </a:prstGeom>
          <a:solidFill>
            <a:srgbClr val="F5A524"/>
          </a:solidFill>
          <a:ln w="9525">
            <a:solidFill>
              <a:srgbClr val="F5A524"/>
            </a:solidFill>
            <a:prstDash val="solid"/>
          </a:ln>
        </p:spPr>
      </p:sp>
      <p:sp>
        <p:nvSpPr>
          <p:cNvPr id="10" name="Text 6"/>
          <p:cNvSpPr/>
          <p:nvPr/>
        </p:nvSpPr>
        <p:spPr>
          <a:xfrm>
            <a:off x="1790624" y="2121408"/>
            <a:ext cx="1051560" cy="329184"/>
          </a:xfrm>
          <a:prstGeom prst="rect">
            <a:avLst/>
          </a:prstGeom>
          <a:noFill/>
          <a:ln/>
        </p:spPr>
        <p:txBody>
          <a:bodyPr wrap="square" lIns="0" tIns="0" rIns="0" bIns="0" rtlCol="0" anchor="ctr"/>
          <a:lstStyle/>
          <a:p>
            <a:pPr algn="ctr" indent="0" marL="0">
              <a:buNone/>
            </a:pPr>
            <a:r>
              <a:rPr lang="en-US" sz="1100" b="1" dirty="0">
                <a:solidFill>
                  <a:srgbClr val="0A1020"/>
                </a:solidFill>
                <a:latin typeface="Arial" pitchFamily="34" charset="0"/>
                <a:ea typeface="Arial" pitchFamily="34" charset="-122"/>
                <a:cs typeface="Arial" pitchFamily="34" charset="-120"/>
              </a:rPr>
              <a:t>Foundation</a:t>
            </a:r>
            <a:endParaRPr lang="en-US" sz="1100" dirty="0"/>
          </a:p>
        </p:txBody>
      </p:sp>
      <p:sp>
        <p:nvSpPr>
          <p:cNvPr id="11" name="Text 7"/>
          <p:cNvSpPr/>
          <p:nvPr/>
        </p:nvSpPr>
        <p:spPr>
          <a:xfrm>
            <a:off x="822960" y="2834640"/>
            <a:ext cx="2019224" cy="274320"/>
          </a:xfrm>
          <a:prstGeom prst="rect">
            <a:avLst/>
          </a:prstGeom>
          <a:noFill/>
          <a:ln/>
        </p:spPr>
        <p:txBody>
          <a:bodyPr wrap="square" lIns="0" tIns="0" rIns="0" bIns="0" rtlCol="0" anchor="t"/>
          <a:lstStyle/>
          <a:p>
            <a:pPr indent="0" marL="0">
              <a:buNone/>
            </a:pPr>
            <a:r>
              <a:rPr lang="en-US" sz="1100" b="1" spc="200" kern="0" dirty="0">
                <a:solidFill>
                  <a:srgbClr val="A9B6CB"/>
                </a:solidFill>
                <a:latin typeface="Arial" pitchFamily="34" charset="0"/>
                <a:ea typeface="Arial" pitchFamily="34" charset="-122"/>
                <a:cs typeface="Arial" pitchFamily="34" charset="-120"/>
              </a:rPr>
              <a:t>MODEL 1</a:t>
            </a:r>
            <a:endParaRPr lang="en-US" sz="1100" dirty="0"/>
          </a:p>
        </p:txBody>
      </p:sp>
      <p:sp>
        <p:nvSpPr>
          <p:cNvPr id="12" name="Text 8"/>
          <p:cNvSpPr/>
          <p:nvPr/>
        </p:nvSpPr>
        <p:spPr>
          <a:xfrm>
            <a:off x="822960" y="3127248"/>
            <a:ext cx="2019224" cy="685800"/>
          </a:xfrm>
          <a:prstGeom prst="rect">
            <a:avLst/>
          </a:prstGeom>
          <a:noFill/>
          <a:ln/>
        </p:spPr>
        <p:txBody>
          <a:bodyPr wrap="square" lIns="0" tIns="0" rIns="0" bIns="0" rtlCol="0" anchor="t"/>
          <a:lstStyle/>
          <a:p>
            <a:pPr indent="0" marL="0">
              <a:buNone/>
            </a:pPr>
            <a:r>
              <a:rPr lang="en-US" sz="1900" b="1" dirty="0">
                <a:solidFill>
                  <a:srgbClr val="F2F5FA"/>
                </a:solidFill>
                <a:latin typeface="Arial" pitchFamily="34" charset="0"/>
                <a:ea typeface="Arial" pitchFamily="34" charset="-122"/>
                <a:cs typeface="Arial" pitchFamily="34" charset="-120"/>
              </a:rPr>
              <a:t>Registry &amp; GIS</a:t>
            </a:r>
            <a:endParaRPr lang="en-US" sz="1900" dirty="0"/>
          </a:p>
        </p:txBody>
      </p:sp>
      <p:sp>
        <p:nvSpPr>
          <p:cNvPr id="13" name="Text 9"/>
          <p:cNvSpPr/>
          <p:nvPr/>
        </p:nvSpPr>
        <p:spPr>
          <a:xfrm>
            <a:off x="822960" y="3858768"/>
            <a:ext cx="2019224" cy="109728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Every camera on one map, with coverage gaps and an ageing-asset work list.</a:t>
            </a:r>
            <a:endParaRPr lang="en-US" sz="1400" dirty="0"/>
          </a:p>
        </p:txBody>
      </p:sp>
      <p:sp>
        <p:nvSpPr>
          <p:cNvPr id="14" name="Shape 10"/>
          <p:cNvSpPr/>
          <p:nvPr/>
        </p:nvSpPr>
        <p:spPr>
          <a:xfrm>
            <a:off x="3390824" y="1737360"/>
            <a:ext cx="2567864" cy="3337560"/>
          </a:xfrm>
          <a:prstGeom prst="roundRect">
            <a:avLst>
              <a:gd name="adj" fmla="val 4273"/>
            </a:avLst>
          </a:prstGeom>
          <a:solidFill>
            <a:srgbClr val="1B2742"/>
          </a:solidFill>
          <a:ln w="9525">
            <a:solidFill>
              <a:srgbClr val="2C3A5C"/>
            </a:solidFill>
            <a:prstDash val="solid"/>
          </a:ln>
        </p:spPr>
      </p:sp>
      <p:sp>
        <p:nvSpPr>
          <p:cNvPr id="15" name="Shape 11"/>
          <p:cNvSpPr/>
          <p:nvPr/>
        </p:nvSpPr>
        <p:spPr>
          <a:xfrm>
            <a:off x="3665144" y="2011680"/>
            <a:ext cx="566928" cy="566928"/>
          </a:xfrm>
          <a:prstGeom prst="ellipse">
            <a:avLst/>
          </a:prstGeom>
          <a:solidFill>
            <a:srgbClr val="F5A524"/>
          </a:solidFill>
          <a:ln w="12700">
            <a:solidFill>
              <a:srgbClr val="F5A524"/>
            </a:solidFill>
            <a:prstDash val="solid"/>
          </a:ln>
        </p:spPr>
      </p:sp>
      <p:pic>
        <p:nvPicPr>
          <p:cNvPr id="16" name="Image 1" descr="preencoded.png">    </p:cNvPr>
          <p:cNvPicPr>
            <a:picLocks noChangeAspect="1"/>
          </p:cNvPicPr>
          <p:nvPr/>
        </p:nvPicPr>
        <p:blipFill>
          <a:blip r:embed="rId2"/>
          <a:stretch>
            <a:fillRect/>
          </a:stretch>
        </p:blipFill>
        <p:spPr>
          <a:xfrm>
            <a:off x="3789868" y="2136404"/>
            <a:ext cx="317480" cy="317480"/>
          </a:xfrm>
          <a:prstGeom prst="rect">
            <a:avLst/>
          </a:prstGeom>
        </p:spPr>
      </p:pic>
      <p:sp>
        <p:nvSpPr>
          <p:cNvPr id="17" name="Shape 12"/>
          <p:cNvSpPr/>
          <p:nvPr/>
        </p:nvSpPr>
        <p:spPr>
          <a:xfrm>
            <a:off x="4632808" y="2121408"/>
            <a:ext cx="1051560" cy="329184"/>
          </a:xfrm>
          <a:prstGeom prst="roundRect">
            <a:avLst>
              <a:gd name="adj" fmla="val 50000"/>
            </a:avLst>
          </a:prstGeom>
          <a:solidFill>
            <a:srgbClr val="F5A524"/>
          </a:solidFill>
          <a:ln w="9525">
            <a:solidFill>
              <a:srgbClr val="F5A524"/>
            </a:solidFill>
            <a:prstDash val="solid"/>
          </a:ln>
        </p:spPr>
      </p:sp>
      <p:sp>
        <p:nvSpPr>
          <p:cNvPr id="18" name="Text 13"/>
          <p:cNvSpPr/>
          <p:nvPr/>
        </p:nvSpPr>
        <p:spPr>
          <a:xfrm>
            <a:off x="4632808" y="2121408"/>
            <a:ext cx="1051560" cy="329184"/>
          </a:xfrm>
          <a:prstGeom prst="rect">
            <a:avLst/>
          </a:prstGeom>
          <a:noFill/>
          <a:ln/>
        </p:spPr>
        <p:txBody>
          <a:bodyPr wrap="square" lIns="0" tIns="0" rIns="0" bIns="0" rtlCol="0" anchor="ctr"/>
          <a:lstStyle/>
          <a:p>
            <a:pPr algn="ctr" indent="0" marL="0">
              <a:buNone/>
            </a:pPr>
            <a:r>
              <a:rPr lang="en-US" sz="1100" b="1" dirty="0">
                <a:solidFill>
                  <a:srgbClr val="0A1020"/>
                </a:solidFill>
                <a:latin typeface="Arial" pitchFamily="34" charset="0"/>
                <a:ea typeface="Arial" pitchFamily="34" charset="-122"/>
                <a:cs typeface="Arial" pitchFamily="34" charset="-120"/>
              </a:rPr>
              <a:t>Adopted</a:t>
            </a:r>
            <a:endParaRPr lang="en-US" sz="1100" dirty="0"/>
          </a:p>
        </p:txBody>
      </p:sp>
      <p:sp>
        <p:nvSpPr>
          <p:cNvPr id="19" name="Text 14"/>
          <p:cNvSpPr/>
          <p:nvPr/>
        </p:nvSpPr>
        <p:spPr>
          <a:xfrm>
            <a:off x="3665144" y="2834640"/>
            <a:ext cx="2019224" cy="274320"/>
          </a:xfrm>
          <a:prstGeom prst="rect">
            <a:avLst/>
          </a:prstGeom>
          <a:noFill/>
          <a:ln/>
        </p:spPr>
        <p:txBody>
          <a:bodyPr wrap="square" lIns="0" tIns="0" rIns="0" bIns="0" rtlCol="0" anchor="t"/>
          <a:lstStyle/>
          <a:p>
            <a:pPr indent="0" marL="0">
              <a:buNone/>
            </a:pPr>
            <a:r>
              <a:rPr lang="en-US" sz="1100" b="1" spc="200" kern="0" dirty="0">
                <a:solidFill>
                  <a:srgbClr val="A9B6CB"/>
                </a:solidFill>
                <a:latin typeface="Arial" pitchFamily="34" charset="0"/>
                <a:ea typeface="Arial" pitchFamily="34" charset="-122"/>
                <a:cs typeface="Arial" pitchFamily="34" charset="-120"/>
              </a:rPr>
              <a:t>MODEL 2</a:t>
            </a:r>
            <a:endParaRPr lang="en-US" sz="1100" dirty="0"/>
          </a:p>
        </p:txBody>
      </p:sp>
      <p:sp>
        <p:nvSpPr>
          <p:cNvPr id="20" name="Text 15"/>
          <p:cNvSpPr/>
          <p:nvPr/>
        </p:nvSpPr>
        <p:spPr>
          <a:xfrm>
            <a:off x="3665144" y="3127248"/>
            <a:ext cx="2019224" cy="685800"/>
          </a:xfrm>
          <a:prstGeom prst="rect">
            <a:avLst/>
          </a:prstGeom>
          <a:noFill/>
          <a:ln/>
        </p:spPr>
        <p:txBody>
          <a:bodyPr wrap="square" lIns="0" tIns="0" rIns="0" bIns="0" rtlCol="0" anchor="t"/>
          <a:lstStyle/>
          <a:p>
            <a:pPr indent="0" marL="0">
              <a:buNone/>
            </a:pPr>
            <a:r>
              <a:rPr lang="en-US" sz="1900" b="1" dirty="0">
                <a:solidFill>
                  <a:srgbClr val="F2F5FA"/>
                </a:solidFill>
                <a:latin typeface="Arial" pitchFamily="34" charset="0"/>
                <a:ea typeface="Arial" pitchFamily="34" charset="-122"/>
                <a:cs typeface="Arial" pitchFamily="34" charset="-120"/>
              </a:rPr>
              <a:t>Unified viewing &amp; analytics</a:t>
            </a:r>
            <a:endParaRPr lang="en-US" sz="1900" dirty="0"/>
          </a:p>
        </p:txBody>
      </p:sp>
      <p:sp>
        <p:nvSpPr>
          <p:cNvPr id="21" name="Text 16"/>
          <p:cNvSpPr/>
          <p:nvPr/>
        </p:nvSpPr>
        <p:spPr>
          <a:xfrm>
            <a:off x="3665144" y="3858768"/>
            <a:ext cx="2019224" cy="109728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Live wall and ANPR on every accessible stream, in one console.</a:t>
            </a:r>
            <a:endParaRPr lang="en-US" sz="1400" dirty="0"/>
          </a:p>
        </p:txBody>
      </p:sp>
      <p:sp>
        <p:nvSpPr>
          <p:cNvPr id="22" name="Shape 17"/>
          <p:cNvSpPr/>
          <p:nvPr/>
        </p:nvSpPr>
        <p:spPr>
          <a:xfrm>
            <a:off x="6233008" y="1737360"/>
            <a:ext cx="2567864" cy="3337560"/>
          </a:xfrm>
          <a:prstGeom prst="roundRect">
            <a:avLst>
              <a:gd name="adj" fmla="val 4273"/>
            </a:avLst>
          </a:prstGeom>
          <a:solidFill>
            <a:srgbClr val="1B2742"/>
          </a:solidFill>
          <a:ln w="9525">
            <a:solidFill>
              <a:srgbClr val="2C3A5C"/>
            </a:solidFill>
            <a:prstDash val="solid"/>
          </a:ln>
        </p:spPr>
      </p:sp>
      <p:sp>
        <p:nvSpPr>
          <p:cNvPr id="23" name="Shape 18"/>
          <p:cNvSpPr/>
          <p:nvPr/>
        </p:nvSpPr>
        <p:spPr>
          <a:xfrm>
            <a:off x="6507328" y="2011680"/>
            <a:ext cx="566928" cy="566928"/>
          </a:xfrm>
          <a:prstGeom prst="ellipse">
            <a:avLst/>
          </a:prstGeom>
          <a:solidFill>
            <a:srgbClr val="F5A524"/>
          </a:solidFill>
          <a:ln w="12700">
            <a:solidFill>
              <a:srgbClr val="F5A524"/>
            </a:solidFill>
            <a:prstDash val="solid"/>
          </a:ln>
        </p:spPr>
      </p:sp>
      <p:pic>
        <p:nvPicPr>
          <p:cNvPr id="24" name="Image 2" descr="preencoded.png">    </p:cNvPr>
          <p:cNvPicPr>
            <a:picLocks noChangeAspect="1"/>
          </p:cNvPicPr>
          <p:nvPr/>
        </p:nvPicPr>
        <p:blipFill>
          <a:blip r:embed="rId3"/>
          <a:stretch>
            <a:fillRect/>
          </a:stretch>
        </p:blipFill>
        <p:spPr>
          <a:xfrm>
            <a:off x="6632052" y="2136404"/>
            <a:ext cx="317480" cy="317480"/>
          </a:xfrm>
          <a:prstGeom prst="rect">
            <a:avLst/>
          </a:prstGeom>
        </p:spPr>
      </p:pic>
      <p:sp>
        <p:nvSpPr>
          <p:cNvPr id="25" name="Shape 19"/>
          <p:cNvSpPr/>
          <p:nvPr/>
        </p:nvSpPr>
        <p:spPr>
          <a:xfrm>
            <a:off x="7474991" y="2121408"/>
            <a:ext cx="1051560" cy="329184"/>
          </a:xfrm>
          <a:prstGeom prst="roundRect">
            <a:avLst>
              <a:gd name="adj" fmla="val 50000"/>
            </a:avLst>
          </a:prstGeom>
          <a:solidFill>
            <a:srgbClr val="F5A524"/>
          </a:solidFill>
          <a:ln w="9525">
            <a:solidFill>
              <a:srgbClr val="F5A524"/>
            </a:solidFill>
            <a:prstDash val="solid"/>
          </a:ln>
        </p:spPr>
      </p:sp>
      <p:sp>
        <p:nvSpPr>
          <p:cNvPr id="26" name="Text 20"/>
          <p:cNvSpPr/>
          <p:nvPr/>
        </p:nvSpPr>
        <p:spPr>
          <a:xfrm>
            <a:off x="7474991" y="2121408"/>
            <a:ext cx="1051560" cy="329184"/>
          </a:xfrm>
          <a:prstGeom prst="rect">
            <a:avLst/>
          </a:prstGeom>
          <a:noFill/>
          <a:ln/>
        </p:spPr>
        <p:txBody>
          <a:bodyPr wrap="square" lIns="0" tIns="0" rIns="0" bIns="0" rtlCol="0" anchor="ctr"/>
          <a:lstStyle/>
          <a:p>
            <a:pPr algn="ctr" indent="0" marL="0">
              <a:buNone/>
            </a:pPr>
            <a:r>
              <a:rPr lang="en-US" sz="1100" b="1" dirty="0">
                <a:solidFill>
                  <a:srgbClr val="0A1020"/>
                </a:solidFill>
                <a:latin typeface="Arial" pitchFamily="34" charset="0"/>
                <a:ea typeface="Arial" pitchFamily="34" charset="-122"/>
                <a:cs typeface="Arial" pitchFamily="34" charset="-120"/>
              </a:rPr>
              <a:t>Adopted</a:t>
            </a:r>
            <a:endParaRPr lang="en-US" sz="1100" dirty="0"/>
          </a:p>
        </p:txBody>
      </p:sp>
      <p:sp>
        <p:nvSpPr>
          <p:cNvPr id="27" name="Text 21"/>
          <p:cNvSpPr/>
          <p:nvPr/>
        </p:nvSpPr>
        <p:spPr>
          <a:xfrm>
            <a:off x="6507328" y="2834640"/>
            <a:ext cx="2019224" cy="274320"/>
          </a:xfrm>
          <a:prstGeom prst="rect">
            <a:avLst/>
          </a:prstGeom>
          <a:noFill/>
          <a:ln/>
        </p:spPr>
        <p:txBody>
          <a:bodyPr wrap="square" lIns="0" tIns="0" rIns="0" bIns="0" rtlCol="0" anchor="t"/>
          <a:lstStyle/>
          <a:p>
            <a:pPr indent="0" marL="0">
              <a:buNone/>
            </a:pPr>
            <a:r>
              <a:rPr lang="en-US" sz="1100" b="1" spc="200" kern="0" dirty="0">
                <a:solidFill>
                  <a:srgbClr val="A9B6CB"/>
                </a:solidFill>
                <a:latin typeface="Arial" pitchFamily="34" charset="0"/>
                <a:ea typeface="Arial" pitchFamily="34" charset="-122"/>
                <a:cs typeface="Arial" pitchFamily="34" charset="-120"/>
              </a:rPr>
              <a:t>MODEL 3</a:t>
            </a:r>
            <a:endParaRPr lang="en-US" sz="1100" dirty="0"/>
          </a:p>
        </p:txBody>
      </p:sp>
      <p:sp>
        <p:nvSpPr>
          <p:cNvPr id="28" name="Text 22"/>
          <p:cNvSpPr/>
          <p:nvPr/>
        </p:nvSpPr>
        <p:spPr>
          <a:xfrm>
            <a:off x="6507328" y="3127248"/>
            <a:ext cx="2019224" cy="685800"/>
          </a:xfrm>
          <a:prstGeom prst="rect">
            <a:avLst/>
          </a:prstGeom>
          <a:noFill/>
          <a:ln/>
        </p:spPr>
        <p:txBody>
          <a:bodyPr wrap="square" lIns="0" tIns="0" rIns="0" bIns="0" rtlCol="0" anchor="t"/>
          <a:lstStyle/>
          <a:p>
            <a:pPr indent="0" marL="0">
              <a:buNone/>
            </a:pPr>
            <a:r>
              <a:rPr lang="en-US" sz="1900" b="1" dirty="0">
                <a:solidFill>
                  <a:srgbClr val="F2F5FA"/>
                </a:solidFill>
                <a:latin typeface="Arial" pitchFamily="34" charset="0"/>
                <a:ea typeface="Arial" pitchFamily="34" charset="-122"/>
                <a:cs typeface="Arial" pitchFamily="34" charset="-120"/>
              </a:rPr>
              <a:t>Federation adapters</a:t>
            </a:r>
            <a:endParaRPr lang="en-US" sz="1900" dirty="0"/>
          </a:p>
        </p:txBody>
      </p:sp>
      <p:sp>
        <p:nvSpPr>
          <p:cNvPr id="29" name="Text 23"/>
          <p:cNvSpPr/>
          <p:nvPr/>
        </p:nvSpPr>
        <p:spPr>
          <a:xfrm>
            <a:off x="6507328" y="3858768"/>
            <a:ext cx="2019224" cy="109728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RTSP, ONVIF, Hikvision and Dahua drivers — a driver, not a release.</a:t>
            </a:r>
            <a:endParaRPr lang="en-US" sz="1400" dirty="0"/>
          </a:p>
        </p:txBody>
      </p:sp>
      <p:sp>
        <p:nvSpPr>
          <p:cNvPr id="30" name="Shape 24"/>
          <p:cNvSpPr/>
          <p:nvPr/>
        </p:nvSpPr>
        <p:spPr>
          <a:xfrm>
            <a:off x="9075191" y="1737360"/>
            <a:ext cx="2567864" cy="3337560"/>
          </a:xfrm>
          <a:prstGeom prst="roundRect">
            <a:avLst>
              <a:gd name="adj" fmla="val 4273"/>
            </a:avLst>
          </a:prstGeom>
          <a:solidFill>
            <a:srgbClr val="131C30"/>
          </a:solidFill>
          <a:ln w="9525">
            <a:solidFill>
              <a:srgbClr val="2C3A5C"/>
            </a:solidFill>
            <a:prstDash val="solid"/>
          </a:ln>
        </p:spPr>
      </p:sp>
      <p:sp>
        <p:nvSpPr>
          <p:cNvPr id="31" name="Shape 25"/>
          <p:cNvSpPr/>
          <p:nvPr/>
        </p:nvSpPr>
        <p:spPr>
          <a:xfrm>
            <a:off x="9349511" y="2011680"/>
            <a:ext cx="566928" cy="566928"/>
          </a:xfrm>
          <a:prstGeom prst="ellipse">
            <a:avLst/>
          </a:prstGeom>
          <a:solidFill>
            <a:srgbClr val="A9B6CB"/>
          </a:solidFill>
          <a:ln w="12700">
            <a:solidFill>
              <a:srgbClr val="A9B6CB"/>
            </a:solidFill>
            <a:prstDash val="solid"/>
          </a:ln>
        </p:spPr>
      </p:sp>
      <p:pic>
        <p:nvPicPr>
          <p:cNvPr id="32" name="Image 3" descr="preencoded.png">    </p:cNvPr>
          <p:cNvPicPr>
            <a:picLocks noChangeAspect="1"/>
          </p:cNvPicPr>
          <p:nvPr/>
        </p:nvPicPr>
        <p:blipFill>
          <a:blip r:embed="rId4"/>
          <a:stretch>
            <a:fillRect/>
          </a:stretch>
        </p:blipFill>
        <p:spPr>
          <a:xfrm>
            <a:off x="9474236" y="2136404"/>
            <a:ext cx="317480" cy="317480"/>
          </a:xfrm>
          <a:prstGeom prst="rect">
            <a:avLst/>
          </a:prstGeom>
        </p:spPr>
      </p:pic>
      <p:sp>
        <p:nvSpPr>
          <p:cNvPr id="33" name="Shape 26"/>
          <p:cNvSpPr/>
          <p:nvPr/>
        </p:nvSpPr>
        <p:spPr>
          <a:xfrm>
            <a:off x="10317175" y="2121408"/>
            <a:ext cx="1051560" cy="329184"/>
          </a:xfrm>
          <a:prstGeom prst="roundRect">
            <a:avLst>
              <a:gd name="adj" fmla="val 50000"/>
            </a:avLst>
          </a:prstGeom>
          <a:solidFill>
            <a:srgbClr val="1B2742"/>
          </a:solidFill>
          <a:ln w="9525">
            <a:solidFill>
              <a:srgbClr val="A9B6CB"/>
            </a:solidFill>
            <a:prstDash val="solid"/>
          </a:ln>
        </p:spPr>
      </p:sp>
      <p:sp>
        <p:nvSpPr>
          <p:cNvPr id="34" name="Text 27"/>
          <p:cNvSpPr/>
          <p:nvPr/>
        </p:nvSpPr>
        <p:spPr>
          <a:xfrm>
            <a:off x="10317175" y="2121408"/>
            <a:ext cx="1051560" cy="329184"/>
          </a:xfrm>
          <a:prstGeom prst="rect">
            <a:avLst/>
          </a:prstGeom>
          <a:noFill/>
          <a:ln/>
        </p:spPr>
        <p:txBody>
          <a:bodyPr wrap="square" lIns="0" tIns="0" rIns="0" bIns="0" rtlCol="0" anchor="ctr"/>
          <a:lstStyle/>
          <a:p>
            <a:pPr algn="ctr" indent="0" marL="0">
              <a:buNone/>
            </a:pPr>
            <a:r>
              <a:rPr lang="en-US" sz="1100" b="1" dirty="0">
                <a:solidFill>
                  <a:srgbClr val="A9B6CB"/>
                </a:solidFill>
                <a:latin typeface="Arial" pitchFamily="34" charset="0"/>
                <a:ea typeface="Arial" pitchFamily="34" charset="-122"/>
                <a:cs typeface="Arial" pitchFamily="34" charset="-120"/>
              </a:rPr>
              <a:t>Selective</a:t>
            </a:r>
            <a:endParaRPr lang="en-US" sz="1100" dirty="0"/>
          </a:p>
        </p:txBody>
      </p:sp>
      <p:sp>
        <p:nvSpPr>
          <p:cNvPr id="35" name="Text 28"/>
          <p:cNvSpPr/>
          <p:nvPr/>
        </p:nvSpPr>
        <p:spPr>
          <a:xfrm>
            <a:off x="9349511" y="2834640"/>
            <a:ext cx="2019224" cy="274320"/>
          </a:xfrm>
          <a:prstGeom prst="rect">
            <a:avLst/>
          </a:prstGeom>
          <a:noFill/>
          <a:ln/>
        </p:spPr>
        <p:txBody>
          <a:bodyPr wrap="square" lIns="0" tIns="0" rIns="0" bIns="0" rtlCol="0" anchor="t"/>
          <a:lstStyle/>
          <a:p>
            <a:pPr indent="0" marL="0">
              <a:buNone/>
            </a:pPr>
            <a:r>
              <a:rPr lang="en-US" sz="1100" b="1" spc="200" kern="0" dirty="0">
                <a:solidFill>
                  <a:srgbClr val="A9B6CB"/>
                </a:solidFill>
                <a:latin typeface="Arial" pitchFamily="34" charset="0"/>
                <a:ea typeface="Arial" pitchFamily="34" charset="-122"/>
                <a:cs typeface="Arial" pitchFamily="34" charset="-120"/>
              </a:rPr>
              <a:t>MODEL 4</a:t>
            </a:r>
            <a:endParaRPr lang="en-US" sz="1100" dirty="0"/>
          </a:p>
        </p:txBody>
      </p:sp>
      <p:sp>
        <p:nvSpPr>
          <p:cNvPr id="36" name="Text 29"/>
          <p:cNvSpPr/>
          <p:nvPr/>
        </p:nvSpPr>
        <p:spPr>
          <a:xfrm>
            <a:off x="9349511" y="3127248"/>
            <a:ext cx="2019224" cy="685800"/>
          </a:xfrm>
          <a:prstGeom prst="rect">
            <a:avLst/>
          </a:prstGeom>
          <a:noFill/>
          <a:ln/>
        </p:spPr>
        <p:txBody>
          <a:bodyPr wrap="square" lIns="0" tIns="0" rIns="0" bIns="0" rtlCol="0" anchor="t"/>
          <a:lstStyle/>
          <a:p>
            <a:pPr indent="0" marL="0">
              <a:buNone/>
            </a:pPr>
            <a:r>
              <a:rPr lang="en-US" sz="1900" b="1" dirty="0">
                <a:solidFill>
                  <a:srgbClr val="F2F5FA"/>
                </a:solidFill>
                <a:latin typeface="Arial" pitchFamily="34" charset="0"/>
                <a:ea typeface="Arial" pitchFamily="34" charset="-122"/>
                <a:cs typeface="Arial" pitchFamily="34" charset="-120"/>
              </a:rPr>
              <a:t>Central recording</a:t>
            </a:r>
            <a:endParaRPr lang="en-US" sz="1900" dirty="0"/>
          </a:p>
        </p:txBody>
      </p:sp>
      <p:sp>
        <p:nvSpPr>
          <p:cNvPr id="37" name="Text 30"/>
          <p:cNvSpPr/>
          <p:nvPr/>
        </p:nvSpPr>
        <p:spPr>
          <a:xfrm>
            <a:off x="9349511" y="3858768"/>
            <a:ext cx="2019224" cy="109728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Only for critical cameras and alert clips; the rest stays where it is.</a:t>
            </a:r>
            <a:endParaRPr lang="en-US" sz="1400" dirty="0"/>
          </a:p>
        </p:txBody>
      </p:sp>
      <p:sp>
        <p:nvSpPr>
          <p:cNvPr id="38" name="Shape 31"/>
          <p:cNvSpPr/>
          <p:nvPr/>
        </p:nvSpPr>
        <p:spPr>
          <a:xfrm>
            <a:off x="548640" y="5440680"/>
            <a:ext cx="457200" cy="457200"/>
          </a:xfrm>
          <a:prstGeom prst="ellipse">
            <a:avLst/>
          </a:prstGeom>
          <a:solidFill>
            <a:srgbClr val="34D3B4"/>
          </a:solidFill>
          <a:ln w="12700">
            <a:solidFill>
              <a:srgbClr val="34D3B4"/>
            </a:solidFill>
            <a:prstDash val="solid"/>
          </a:ln>
        </p:spPr>
      </p:sp>
      <p:pic>
        <p:nvPicPr>
          <p:cNvPr id="39" name="Image 4" descr="preencoded.png">    </p:cNvPr>
          <p:cNvPicPr>
            <a:picLocks noChangeAspect="1"/>
          </p:cNvPicPr>
          <p:nvPr/>
        </p:nvPicPr>
        <p:blipFill>
          <a:blip r:embed="rId5"/>
          <a:stretch>
            <a:fillRect/>
          </a:stretch>
        </p:blipFill>
        <p:spPr>
          <a:xfrm>
            <a:off x="649224" y="5541264"/>
            <a:ext cx="256032" cy="256032"/>
          </a:xfrm>
          <a:prstGeom prst="rect">
            <a:avLst/>
          </a:prstGeom>
        </p:spPr>
      </p:pic>
      <p:sp>
        <p:nvSpPr>
          <p:cNvPr id="40" name="Text 32"/>
          <p:cNvSpPr/>
          <p:nvPr/>
        </p:nvSpPr>
        <p:spPr>
          <a:xfrm>
            <a:off x="1188720" y="5468112"/>
            <a:ext cx="10454335" cy="548640"/>
          </a:xfrm>
          <a:prstGeom prst="rect">
            <a:avLst/>
          </a:prstGeom>
          <a:noFill/>
          <a:ln/>
        </p:spPr>
        <p:txBody>
          <a:bodyPr wrap="square" lIns="0" tIns="0" rIns="0" bIns="0" rtlCol="0" anchor="t"/>
          <a:lstStyle/>
          <a:p>
            <a:pPr indent="0" marL="0">
              <a:buNone/>
            </a:pPr>
            <a:r>
              <a:rPr lang="en-US" sz="1600" dirty="0">
                <a:solidFill>
                  <a:srgbClr val="F2F5FA"/>
                </a:solidFill>
                <a:latin typeface="Calibri" pitchFamily="34" charset="0"/>
                <a:ea typeface="Calibri" pitchFamily="34" charset="-122"/>
                <a:cs typeface="Calibri" pitchFamily="34" charset="-120"/>
              </a:rPr>
              <a:t>Read-only and pull-based. Nothing is installed on a department’s cameras or VMS, and their own recording keeps running untouched.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THE NUMBER WE REFUSE TO PAY</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Centralising 80,000 cameras is a physics problem</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04</a:t>
            </a:r>
            <a:endParaRPr lang="en-US" sz="900" dirty="0"/>
          </a:p>
        </p:txBody>
      </p:sp>
      <p:sp>
        <p:nvSpPr>
          <p:cNvPr id="6" name="Text 3"/>
          <p:cNvSpPr/>
          <p:nvPr/>
        </p:nvSpPr>
        <p:spPr>
          <a:xfrm>
            <a:off x="3840480" y="1691640"/>
            <a:ext cx="2743200" cy="320040"/>
          </a:xfrm>
          <a:prstGeom prst="rect">
            <a:avLst/>
          </a:prstGeom>
          <a:noFill/>
          <a:ln/>
        </p:spPr>
        <p:txBody>
          <a:bodyPr wrap="square" lIns="0" tIns="0" rIns="0" bIns="0" rtlCol="0" anchor="t"/>
          <a:lstStyle/>
          <a:p>
            <a:pPr indent="0" marL="0">
              <a:buNone/>
            </a:pPr>
            <a:r>
              <a:rPr lang="en-US" sz="1300" b="1" dirty="0">
                <a:solidFill>
                  <a:srgbClr val="F2706B"/>
                </a:solidFill>
                <a:latin typeface="Arial" pitchFamily="34" charset="0"/>
                <a:ea typeface="Arial" pitchFamily="34" charset="-122"/>
                <a:cs typeface="Arial" pitchFamily="34" charset="-120"/>
              </a:rPr>
              <a:t>Central VMS (Model 4)</a:t>
            </a:r>
            <a:endParaRPr lang="en-US" sz="1300" dirty="0"/>
          </a:p>
        </p:txBody>
      </p:sp>
      <p:sp>
        <p:nvSpPr>
          <p:cNvPr id="7" name="Text 4"/>
          <p:cNvSpPr/>
          <p:nvPr/>
        </p:nvSpPr>
        <p:spPr>
          <a:xfrm>
            <a:off x="6812280" y="1691640"/>
            <a:ext cx="2743200" cy="320040"/>
          </a:xfrm>
          <a:prstGeom prst="rect">
            <a:avLst/>
          </a:prstGeom>
          <a:noFill/>
          <a:ln/>
        </p:spPr>
        <p:txBody>
          <a:bodyPr wrap="square" lIns="0" tIns="0" rIns="0" bIns="0" rtlCol="0" anchor="t"/>
          <a:lstStyle/>
          <a:p>
            <a:pPr indent="0" marL="0">
              <a:buNone/>
            </a:pPr>
            <a:r>
              <a:rPr lang="en-US" sz="1300" b="1" dirty="0">
                <a:solidFill>
                  <a:srgbClr val="34D3B4"/>
                </a:solidFill>
                <a:latin typeface="Arial" pitchFamily="34" charset="0"/>
                <a:ea typeface="Arial" pitchFamily="34" charset="-122"/>
                <a:cs typeface="Arial" pitchFamily="34" charset="-120"/>
              </a:rPr>
              <a:t>Sentinel, edge-first</a:t>
            </a:r>
            <a:endParaRPr lang="en-US" sz="1300" dirty="0"/>
          </a:p>
        </p:txBody>
      </p:sp>
      <p:sp>
        <p:nvSpPr>
          <p:cNvPr id="8" name="Shape 5"/>
          <p:cNvSpPr/>
          <p:nvPr/>
        </p:nvSpPr>
        <p:spPr>
          <a:xfrm>
            <a:off x="548640" y="2148840"/>
            <a:ext cx="11094415" cy="1024128"/>
          </a:xfrm>
          <a:prstGeom prst="roundRect">
            <a:avLst>
              <a:gd name="adj" fmla="val 10714"/>
            </a:avLst>
          </a:prstGeom>
          <a:solidFill>
            <a:srgbClr val="1B2742"/>
          </a:solidFill>
          <a:ln w="9525">
            <a:solidFill>
              <a:srgbClr val="2C3A5C"/>
            </a:solidFill>
            <a:prstDash val="solid"/>
          </a:ln>
        </p:spPr>
      </p:sp>
      <p:sp>
        <p:nvSpPr>
          <p:cNvPr id="9" name="Text 6"/>
          <p:cNvSpPr/>
          <p:nvPr/>
        </p:nvSpPr>
        <p:spPr>
          <a:xfrm>
            <a:off x="822960" y="2478024"/>
            <a:ext cx="2834640" cy="411480"/>
          </a:xfrm>
          <a:prstGeom prst="rect">
            <a:avLst/>
          </a:prstGeom>
          <a:noFill/>
          <a:ln/>
        </p:spPr>
        <p:txBody>
          <a:bodyPr wrap="square" lIns="0" tIns="0" rIns="0" bIns="0" rtlCol="0" anchor="t"/>
          <a:lstStyle/>
          <a:p>
            <a:pPr indent="0" marL="0">
              <a:buNone/>
            </a:pPr>
            <a:r>
              <a:rPr lang="en-US" sz="1600" b="1" dirty="0">
                <a:solidFill>
                  <a:srgbClr val="F2F5FA"/>
                </a:solidFill>
                <a:latin typeface="Arial" pitchFamily="34" charset="0"/>
                <a:ea typeface="Arial" pitchFamily="34" charset="-122"/>
                <a:cs typeface="Arial" pitchFamily="34" charset="-120"/>
              </a:rPr>
              <a:t>Sustained backbone</a:t>
            </a:r>
            <a:endParaRPr lang="en-US" sz="1600" dirty="0"/>
          </a:p>
        </p:txBody>
      </p:sp>
      <p:sp>
        <p:nvSpPr>
          <p:cNvPr id="10" name="Text 7"/>
          <p:cNvSpPr/>
          <p:nvPr/>
        </p:nvSpPr>
        <p:spPr>
          <a:xfrm>
            <a:off x="3840480" y="2331720"/>
            <a:ext cx="2743200" cy="685800"/>
          </a:xfrm>
          <a:prstGeom prst="rect">
            <a:avLst/>
          </a:prstGeom>
          <a:noFill/>
          <a:ln/>
        </p:spPr>
        <p:txBody>
          <a:bodyPr wrap="square" lIns="0" tIns="0" rIns="0" bIns="0" rtlCol="0" anchor="t"/>
          <a:lstStyle/>
          <a:p>
            <a:pPr indent="0" marL="0">
              <a:buNone/>
            </a:pPr>
            <a:r>
              <a:rPr lang="en-US" sz="3400" b="1" dirty="0">
                <a:solidFill>
                  <a:srgbClr val="F2706B"/>
                </a:solidFill>
                <a:latin typeface="Arial" pitchFamily="34" charset="0"/>
                <a:ea typeface="Arial" pitchFamily="34" charset="-122"/>
                <a:cs typeface="Arial" pitchFamily="34" charset="-120"/>
              </a:rPr>
              <a:t>160 Gbps</a:t>
            </a:r>
            <a:endParaRPr lang="en-US" sz="3400" dirty="0"/>
          </a:p>
        </p:txBody>
      </p:sp>
      <p:sp>
        <p:nvSpPr>
          <p:cNvPr id="11" name="Text 8"/>
          <p:cNvSpPr/>
          <p:nvPr/>
        </p:nvSpPr>
        <p:spPr>
          <a:xfrm>
            <a:off x="6812280" y="2331720"/>
            <a:ext cx="2743200" cy="685800"/>
          </a:xfrm>
          <a:prstGeom prst="rect">
            <a:avLst/>
          </a:prstGeom>
          <a:noFill/>
          <a:ln/>
        </p:spPr>
        <p:txBody>
          <a:bodyPr wrap="square" lIns="0" tIns="0" rIns="0" bIns="0" rtlCol="0" anchor="t"/>
          <a:lstStyle/>
          <a:p>
            <a:pPr indent="0" marL="0">
              <a:buNone/>
            </a:pPr>
            <a:r>
              <a:rPr lang="en-US" sz="3400" b="1" dirty="0">
                <a:solidFill>
                  <a:srgbClr val="34D3B4"/>
                </a:solidFill>
                <a:latin typeface="Arial" pitchFamily="34" charset="0"/>
                <a:ea typeface="Arial" pitchFamily="34" charset="-122"/>
                <a:cs typeface="Arial" pitchFamily="34" charset="-120"/>
              </a:rPr>
              <a:t>≈140 Mbps</a:t>
            </a:r>
            <a:endParaRPr lang="en-US" sz="3400" dirty="0"/>
          </a:p>
        </p:txBody>
      </p:sp>
      <p:sp>
        <p:nvSpPr>
          <p:cNvPr id="12" name="Text 9"/>
          <p:cNvSpPr/>
          <p:nvPr/>
        </p:nvSpPr>
        <p:spPr>
          <a:xfrm>
            <a:off x="9692640" y="2478024"/>
            <a:ext cx="1828800" cy="411480"/>
          </a:xfrm>
          <a:prstGeom prst="rect">
            <a:avLst/>
          </a:prstGeom>
          <a:noFill/>
          <a:ln/>
        </p:spPr>
        <p:txBody>
          <a:bodyPr wrap="square" lIns="0" tIns="0" rIns="0" bIns="0" rtlCol="0" anchor="t"/>
          <a:lstStyle/>
          <a:p>
            <a:pPr algn="r" indent="0" marL="0">
              <a:buNone/>
            </a:pPr>
            <a:r>
              <a:rPr lang="en-US" sz="1600" b="1" dirty="0">
                <a:solidFill>
                  <a:srgbClr val="F5A524"/>
                </a:solidFill>
                <a:latin typeface="Arial" pitchFamily="34" charset="0"/>
                <a:ea typeface="Arial" pitchFamily="34" charset="-122"/>
                <a:cs typeface="Arial" pitchFamily="34" charset="-120"/>
              </a:rPr>
              <a:t>≈1,140× less</a:t>
            </a:r>
            <a:endParaRPr lang="en-US" sz="1600" dirty="0"/>
          </a:p>
        </p:txBody>
      </p:sp>
      <p:sp>
        <p:nvSpPr>
          <p:cNvPr id="13" name="Shape 10"/>
          <p:cNvSpPr/>
          <p:nvPr/>
        </p:nvSpPr>
        <p:spPr>
          <a:xfrm>
            <a:off x="548640" y="3355848"/>
            <a:ext cx="11094415" cy="1024128"/>
          </a:xfrm>
          <a:prstGeom prst="roundRect">
            <a:avLst>
              <a:gd name="adj" fmla="val 10714"/>
            </a:avLst>
          </a:prstGeom>
          <a:solidFill>
            <a:srgbClr val="131C30"/>
          </a:solidFill>
          <a:ln w="9525">
            <a:solidFill>
              <a:srgbClr val="2C3A5C"/>
            </a:solidFill>
            <a:prstDash val="solid"/>
          </a:ln>
        </p:spPr>
      </p:sp>
      <p:sp>
        <p:nvSpPr>
          <p:cNvPr id="14" name="Text 11"/>
          <p:cNvSpPr/>
          <p:nvPr/>
        </p:nvSpPr>
        <p:spPr>
          <a:xfrm>
            <a:off x="822960" y="3685032"/>
            <a:ext cx="2834640" cy="411480"/>
          </a:xfrm>
          <a:prstGeom prst="rect">
            <a:avLst/>
          </a:prstGeom>
          <a:noFill/>
          <a:ln/>
        </p:spPr>
        <p:txBody>
          <a:bodyPr wrap="square" lIns="0" tIns="0" rIns="0" bIns="0" rtlCol="0" anchor="t"/>
          <a:lstStyle/>
          <a:p>
            <a:pPr indent="0" marL="0">
              <a:buNone/>
            </a:pPr>
            <a:r>
              <a:rPr lang="en-US" sz="1600" b="1" dirty="0">
                <a:solidFill>
                  <a:srgbClr val="F2F5FA"/>
                </a:solidFill>
                <a:latin typeface="Arial" pitchFamily="34" charset="0"/>
                <a:ea typeface="Arial" pitchFamily="34" charset="-122"/>
                <a:cs typeface="Arial" pitchFamily="34" charset="-120"/>
              </a:rPr>
              <a:t>Hot storage, one week</a:t>
            </a:r>
            <a:endParaRPr lang="en-US" sz="1600" dirty="0"/>
          </a:p>
        </p:txBody>
      </p:sp>
      <p:sp>
        <p:nvSpPr>
          <p:cNvPr id="15" name="Text 12"/>
          <p:cNvSpPr/>
          <p:nvPr/>
        </p:nvSpPr>
        <p:spPr>
          <a:xfrm>
            <a:off x="3840480" y="3538728"/>
            <a:ext cx="2743200" cy="685800"/>
          </a:xfrm>
          <a:prstGeom prst="rect">
            <a:avLst/>
          </a:prstGeom>
          <a:noFill/>
          <a:ln/>
        </p:spPr>
        <p:txBody>
          <a:bodyPr wrap="square" lIns="0" tIns="0" rIns="0" bIns="0" rtlCol="0" anchor="t"/>
          <a:lstStyle/>
          <a:p>
            <a:pPr indent="0" marL="0">
              <a:buNone/>
            </a:pPr>
            <a:r>
              <a:rPr lang="en-US" sz="3400" b="1" dirty="0">
                <a:solidFill>
                  <a:srgbClr val="F2706B"/>
                </a:solidFill>
                <a:latin typeface="Arial" pitchFamily="34" charset="0"/>
                <a:ea typeface="Arial" pitchFamily="34" charset="-122"/>
                <a:cs typeface="Arial" pitchFamily="34" charset="-120"/>
              </a:rPr>
              <a:t>12.1 PB</a:t>
            </a:r>
            <a:endParaRPr lang="en-US" sz="3400" dirty="0"/>
          </a:p>
        </p:txBody>
      </p:sp>
      <p:sp>
        <p:nvSpPr>
          <p:cNvPr id="16" name="Text 13"/>
          <p:cNvSpPr/>
          <p:nvPr/>
        </p:nvSpPr>
        <p:spPr>
          <a:xfrm>
            <a:off x="6812280" y="3538728"/>
            <a:ext cx="2743200" cy="685800"/>
          </a:xfrm>
          <a:prstGeom prst="rect">
            <a:avLst/>
          </a:prstGeom>
          <a:noFill/>
          <a:ln/>
        </p:spPr>
        <p:txBody>
          <a:bodyPr wrap="square" lIns="0" tIns="0" rIns="0" bIns="0" rtlCol="0" anchor="t"/>
          <a:lstStyle/>
          <a:p>
            <a:pPr indent="0" marL="0">
              <a:buNone/>
            </a:pPr>
            <a:r>
              <a:rPr lang="en-US" sz="3400" b="1" dirty="0">
                <a:solidFill>
                  <a:srgbClr val="34D3B4"/>
                </a:solidFill>
                <a:latin typeface="Arial" pitchFamily="34" charset="0"/>
                <a:ea typeface="Arial" pitchFamily="34" charset="-122"/>
                <a:cs typeface="Arial" pitchFamily="34" charset="-120"/>
              </a:rPr>
              <a:t>≈390 TB</a:t>
            </a:r>
            <a:endParaRPr lang="en-US" sz="3400" dirty="0"/>
          </a:p>
        </p:txBody>
      </p:sp>
      <p:sp>
        <p:nvSpPr>
          <p:cNvPr id="17" name="Text 14"/>
          <p:cNvSpPr/>
          <p:nvPr/>
        </p:nvSpPr>
        <p:spPr>
          <a:xfrm>
            <a:off x="9692640" y="3685032"/>
            <a:ext cx="1828800" cy="411480"/>
          </a:xfrm>
          <a:prstGeom prst="rect">
            <a:avLst/>
          </a:prstGeom>
          <a:noFill/>
          <a:ln/>
        </p:spPr>
        <p:txBody>
          <a:bodyPr wrap="square" lIns="0" tIns="0" rIns="0" bIns="0" rtlCol="0" anchor="t"/>
          <a:lstStyle/>
          <a:p>
            <a:pPr algn="r" indent="0" marL="0">
              <a:buNone/>
            </a:pPr>
            <a:r>
              <a:rPr lang="en-US" sz="1600" b="1" dirty="0">
                <a:solidFill>
                  <a:srgbClr val="F5A524"/>
                </a:solidFill>
                <a:latin typeface="Arial" pitchFamily="34" charset="0"/>
                <a:ea typeface="Arial" pitchFamily="34" charset="-122"/>
                <a:cs typeface="Arial" pitchFamily="34" charset="-120"/>
              </a:rPr>
              <a:t>≈31× less</a:t>
            </a:r>
            <a:endParaRPr lang="en-US" sz="1600" dirty="0"/>
          </a:p>
        </p:txBody>
      </p:sp>
      <p:sp>
        <p:nvSpPr>
          <p:cNvPr id="18" name="Shape 15"/>
          <p:cNvSpPr/>
          <p:nvPr/>
        </p:nvSpPr>
        <p:spPr>
          <a:xfrm>
            <a:off x="548640" y="4562856"/>
            <a:ext cx="11094415" cy="1024128"/>
          </a:xfrm>
          <a:prstGeom prst="roundRect">
            <a:avLst>
              <a:gd name="adj" fmla="val 10714"/>
            </a:avLst>
          </a:prstGeom>
          <a:solidFill>
            <a:srgbClr val="1B2742"/>
          </a:solidFill>
          <a:ln w="9525">
            <a:solidFill>
              <a:srgbClr val="2C3A5C"/>
            </a:solidFill>
            <a:prstDash val="solid"/>
          </a:ln>
        </p:spPr>
      </p:sp>
      <p:sp>
        <p:nvSpPr>
          <p:cNvPr id="19" name="Text 16"/>
          <p:cNvSpPr/>
          <p:nvPr/>
        </p:nvSpPr>
        <p:spPr>
          <a:xfrm>
            <a:off x="822960" y="4892040"/>
            <a:ext cx="2834640" cy="411480"/>
          </a:xfrm>
          <a:prstGeom prst="rect">
            <a:avLst/>
          </a:prstGeom>
          <a:noFill/>
          <a:ln/>
        </p:spPr>
        <p:txBody>
          <a:bodyPr wrap="square" lIns="0" tIns="0" rIns="0" bIns="0" rtlCol="0" anchor="t"/>
          <a:lstStyle/>
          <a:p>
            <a:pPr indent="0" marL="0">
              <a:buNone/>
            </a:pPr>
            <a:r>
              <a:rPr lang="en-US" sz="1600" b="1" dirty="0">
                <a:solidFill>
                  <a:srgbClr val="F2F5FA"/>
                </a:solidFill>
                <a:latin typeface="Arial" pitchFamily="34" charset="0"/>
                <a:ea typeface="Arial" pitchFamily="34" charset="-122"/>
                <a:cs typeface="Arial" pitchFamily="34" charset="-120"/>
              </a:rPr>
              <a:t>Capex, order of magnitude</a:t>
            </a:r>
            <a:endParaRPr lang="en-US" sz="1600" dirty="0"/>
          </a:p>
        </p:txBody>
      </p:sp>
      <p:sp>
        <p:nvSpPr>
          <p:cNvPr id="20" name="Text 17"/>
          <p:cNvSpPr/>
          <p:nvPr/>
        </p:nvSpPr>
        <p:spPr>
          <a:xfrm>
            <a:off x="3840480" y="4745736"/>
            <a:ext cx="2743200" cy="685800"/>
          </a:xfrm>
          <a:prstGeom prst="rect">
            <a:avLst/>
          </a:prstGeom>
          <a:noFill/>
          <a:ln/>
        </p:spPr>
        <p:txBody>
          <a:bodyPr wrap="square" lIns="0" tIns="0" rIns="0" bIns="0" rtlCol="0" anchor="t"/>
          <a:lstStyle/>
          <a:p>
            <a:pPr indent="0" marL="0">
              <a:buNone/>
            </a:pPr>
            <a:r>
              <a:rPr lang="en-US" sz="3400" b="1" dirty="0">
                <a:solidFill>
                  <a:srgbClr val="F2706B"/>
                </a:solidFill>
                <a:latin typeface="Arial" pitchFamily="34" charset="0"/>
                <a:ea typeface="Arial" pitchFamily="34" charset="-122"/>
                <a:cs typeface="Arial" pitchFamily="34" charset="-120"/>
              </a:rPr>
              <a:t>₹400 cr+</a:t>
            </a:r>
            <a:endParaRPr lang="en-US" sz="3400" dirty="0"/>
          </a:p>
        </p:txBody>
      </p:sp>
      <p:sp>
        <p:nvSpPr>
          <p:cNvPr id="21" name="Text 18"/>
          <p:cNvSpPr/>
          <p:nvPr/>
        </p:nvSpPr>
        <p:spPr>
          <a:xfrm>
            <a:off x="6812280" y="4745736"/>
            <a:ext cx="2743200" cy="685800"/>
          </a:xfrm>
          <a:prstGeom prst="rect">
            <a:avLst/>
          </a:prstGeom>
          <a:noFill/>
          <a:ln/>
        </p:spPr>
        <p:txBody>
          <a:bodyPr wrap="square" lIns="0" tIns="0" rIns="0" bIns="0" rtlCol="0" anchor="t"/>
          <a:lstStyle/>
          <a:p>
            <a:pPr indent="0" marL="0">
              <a:buNone/>
            </a:pPr>
            <a:r>
              <a:rPr lang="en-US" sz="3400" b="1" dirty="0">
                <a:solidFill>
                  <a:srgbClr val="34D3B4"/>
                </a:solidFill>
                <a:latin typeface="Arial" pitchFamily="34" charset="0"/>
                <a:ea typeface="Arial" pitchFamily="34" charset="-122"/>
                <a:cs typeface="Arial" pitchFamily="34" charset="-120"/>
              </a:rPr>
              <a:t>≈₹80 cr</a:t>
            </a:r>
            <a:endParaRPr lang="en-US" sz="3400" dirty="0"/>
          </a:p>
        </p:txBody>
      </p:sp>
      <p:sp>
        <p:nvSpPr>
          <p:cNvPr id="22" name="Text 19"/>
          <p:cNvSpPr/>
          <p:nvPr/>
        </p:nvSpPr>
        <p:spPr>
          <a:xfrm>
            <a:off x="9692640" y="4892040"/>
            <a:ext cx="1828800" cy="411480"/>
          </a:xfrm>
          <a:prstGeom prst="rect">
            <a:avLst/>
          </a:prstGeom>
          <a:noFill/>
          <a:ln/>
        </p:spPr>
        <p:txBody>
          <a:bodyPr wrap="square" lIns="0" tIns="0" rIns="0" bIns="0" rtlCol="0" anchor="t"/>
          <a:lstStyle/>
          <a:p>
            <a:pPr algn="r" indent="0" marL="0">
              <a:buNone/>
            </a:pPr>
            <a:r>
              <a:rPr lang="en-US" sz="1600" b="1" dirty="0">
                <a:solidFill>
                  <a:srgbClr val="F5A524"/>
                </a:solidFill>
                <a:latin typeface="Arial" pitchFamily="34" charset="0"/>
                <a:ea typeface="Arial" pitchFamily="34" charset="-122"/>
                <a:cs typeface="Arial" pitchFamily="34" charset="-120"/>
              </a:rPr>
              <a:t>≈5× less</a:t>
            </a:r>
            <a:endParaRPr lang="en-US" sz="1600" dirty="0"/>
          </a:p>
        </p:txBody>
      </p:sp>
      <p:sp>
        <p:nvSpPr>
          <p:cNvPr id="23" name="Text 20"/>
          <p:cNvSpPr/>
          <p:nvPr/>
        </p:nvSpPr>
        <p:spPr>
          <a:xfrm>
            <a:off x="548640" y="5852160"/>
            <a:ext cx="11094415" cy="54864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Video stays in the district where it was filmed. What travels is a 1 KB event and a 30 KB snapshot. Every figure re-derives from five formulas in our scale plan.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822960"/>
            <a:ext cx="11094415" cy="320040"/>
          </a:xfrm>
          <a:prstGeom prst="rect">
            <a:avLst/>
          </a:prstGeom>
          <a:noFill/>
          <a:ln/>
        </p:spPr>
        <p:txBody>
          <a:bodyPr wrap="square" lIns="0" tIns="0" rIns="0" bIns="0" rtlCol="0" anchor="t"/>
          <a:lstStyle/>
          <a:p>
            <a:pPr indent="0" marL="0">
              <a:buNone/>
            </a:pPr>
            <a:r>
              <a:rPr lang="en-US" sz="1300" b="1" spc="400" kern="0" dirty="0">
                <a:solidFill>
                  <a:srgbClr val="F5A524"/>
                </a:solidFill>
                <a:latin typeface="Arial" pitchFamily="34" charset="0"/>
                <a:ea typeface="Arial" pitchFamily="34" charset="-122"/>
                <a:cs typeface="Arial" pitchFamily="34" charset="-120"/>
              </a:rPr>
              <a:t>LIVE DEMONSTRATION</a:t>
            </a:r>
            <a:endParaRPr lang="en-US" sz="1300" dirty="0"/>
          </a:p>
        </p:txBody>
      </p:sp>
      <p:sp>
        <p:nvSpPr>
          <p:cNvPr id="3" name="Text 1"/>
          <p:cNvSpPr/>
          <p:nvPr/>
        </p:nvSpPr>
        <p:spPr>
          <a:xfrm>
            <a:off x="548640" y="1188720"/>
            <a:ext cx="11094415" cy="822960"/>
          </a:xfrm>
          <a:prstGeom prst="rect">
            <a:avLst/>
          </a:prstGeom>
          <a:noFill/>
          <a:ln/>
        </p:spPr>
        <p:txBody>
          <a:bodyPr wrap="square" lIns="0" tIns="0" rIns="0" bIns="0" rtlCol="0" anchor="t"/>
          <a:lstStyle/>
          <a:p>
            <a:pPr indent="0" marL="0">
              <a:buNone/>
            </a:pPr>
            <a:r>
              <a:rPr lang="en-US" sz="4000" b="1" dirty="0">
                <a:solidFill>
                  <a:srgbClr val="F2F5FA"/>
                </a:solidFill>
                <a:latin typeface="Arial" pitchFamily="34" charset="0"/>
                <a:ea typeface="Arial" pitchFamily="34" charset="-122"/>
                <a:cs typeface="Arial" pitchFamily="34" charset="-120"/>
              </a:rPr>
              <a:t>On today’s cameras, in front of you</a:t>
            </a:r>
            <a:endParaRPr lang="en-US" sz="4000" dirty="0"/>
          </a:p>
        </p:txBody>
      </p:sp>
      <p:sp>
        <p:nvSpPr>
          <p:cNvPr id="4" name="Shape 2"/>
          <p:cNvSpPr/>
          <p:nvPr/>
        </p:nvSpPr>
        <p:spPr>
          <a:xfrm>
            <a:off x="548640" y="2514600"/>
            <a:ext cx="3454298" cy="3108960"/>
          </a:xfrm>
          <a:prstGeom prst="roundRect">
            <a:avLst>
              <a:gd name="adj" fmla="val 3529"/>
            </a:avLst>
          </a:prstGeom>
          <a:solidFill>
            <a:srgbClr val="131C30"/>
          </a:solidFill>
          <a:ln w="9525">
            <a:solidFill>
              <a:srgbClr val="2C3A5C"/>
            </a:solidFill>
            <a:prstDash val="solid"/>
          </a:ln>
        </p:spPr>
      </p:sp>
      <p:sp>
        <p:nvSpPr>
          <p:cNvPr id="5" name="Text 3"/>
          <p:cNvSpPr/>
          <p:nvPr/>
        </p:nvSpPr>
        <p:spPr>
          <a:xfrm>
            <a:off x="868680" y="2697480"/>
            <a:ext cx="1097280" cy="1097280"/>
          </a:xfrm>
          <a:prstGeom prst="rect">
            <a:avLst/>
          </a:prstGeom>
          <a:noFill/>
          <a:ln/>
        </p:spPr>
        <p:txBody>
          <a:bodyPr wrap="square" lIns="0" tIns="0" rIns="0" bIns="0" rtlCol="0" anchor="t"/>
          <a:lstStyle/>
          <a:p>
            <a:pPr indent="0" marL="0">
              <a:buNone/>
            </a:pPr>
            <a:r>
              <a:rPr lang="en-US" sz="6400" b="1" dirty="0">
                <a:solidFill>
                  <a:srgbClr val="F5A524"/>
                </a:solidFill>
                <a:latin typeface="Arial" pitchFamily="34" charset="0"/>
                <a:ea typeface="Arial" pitchFamily="34" charset="-122"/>
                <a:cs typeface="Arial" pitchFamily="34" charset="-120"/>
              </a:rPr>
              <a:t>1</a:t>
            </a:r>
            <a:endParaRPr lang="en-US" sz="6400" dirty="0"/>
          </a:p>
        </p:txBody>
      </p:sp>
      <p:sp>
        <p:nvSpPr>
          <p:cNvPr id="6" name="Shape 4"/>
          <p:cNvSpPr/>
          <p:nvPr/>
        </p:nvSpPr>
        <p:spPr>
          <a:xfrm>
            <a:off x="3042818" y="2880360"/>
            <a:ext cx="640080" cy="640080"/>
          </a:xfrm>
          <a:prstGeom prst="ellipse">
            <a:avLst/>
          </a:prstGeom>
          <a:solidFill>
            <a:srgbClr val="F5A524"/>
          </a:solidFill>
          <a:ln w="12700">
            <a:solidFill>
              <a:srgbClr val="F5A524"/>
            </a:solidFill>
            <a:prstDash val="solid"/>
          </a:ln>
        </p:spPr>
      </p:sp>
      <p:pic>
        <p:nvPicPr>
          <p:cNvPr id="7" name="Image 0" descr="preencoded.png">    </p:cNvPr>
          <p:cNvPicPr>
            <a:picLocks noChangeAspect="1"/>
          </p:cNvPicPr>
          <p:nvPr/>
        </p:nvPicPr>
        <p:blipFill>
          <a:blip r:embed="rId1"/>
          <a:stretch>
            <a:fillRect/>
          </a:stretch>
        </p:blipFill>
        <p:spPr>
          <a:xfrm>
            <a:off x="3183636" y="3021178"/>
            <a:ext cx="358445" cy="358445"/>
          </a:xfrm>
          <a:prstGeom prst="rect">
            <a:avLst/>
          </a:prstGeom>
        </p:spPr>
      </p:pic>
      <p:sp>
        <p:nvSpPr>
          <p:cNvPr id="8" name="Text 5"/>
          <p:cNvSpPr/>
          <p:nvPr/>
        </p:nvSpPr>
        <p:spPr>
          <a:xfrm>
            <a:off x="868680" y="3886200"/>
            <a:ext cx="2814218" cy="457200"/>
          </a:xfrm>
          <a:prstGeom prst="rect">
            <a:avLst/>
          </a:prstGeom>
          <a:noFill/>
          <a:ln/>
        </p:spPr>
        <p:txBody>
          <a:bodyPr wrap="square" lIns="0" tIns="0" rIns="0" bIns="0" rtlCol="0" anchor="t"/>
          <a:lstStyle/>
          <a:p>
            <a:pPr indent="0" marL="0">
              <a:buNone/>
            </a:pPr>
            <a:r>
              <a:rPr lang="en-US" sz="2000" b="1" dirty="0">
                <a:solidFill>
                  <a:srgbClr val="F2F5FA"/>
                </a:solidFill>
                <a:latin typeface="Arial" pitchFamily="34" charset="0"/>
                <a:ea typeface="Arial" pitchFamily="34" charset="-122"/>
                <a:cs typeface="Arial" pitchFamily="34" charset="-120"/>
              </a:rPr>
              <a:t>Onboard and see</a:t>
            </a:r>
            <a:endParaRPr lang="en-US" sz="2000" dirty="0"/>
          </a:p>
        </p:txBody>
      </p:sp>
      <p:sp>
        <p:nvSpPr>
          <p:cNvPr id="9" name="Text 6"/>
          <p:cNvSpPr/>
          <p:nvPr/>
        </p:nvSpPr>
        <p:spPr>
          <a:xfrm>
            <a:off x="868680" y="4389120"/>
            <a:ext cx="2814218" cy="1097280"/>
          </a:xfrm>
          <a:prstGeom prst="rect">
            <a:avLst/>
          </a:prstGeom>
          <a:noFill/>
          <a:ln/>
        </p:spPr>
        <p:txBody>
          <a:bodyPr wrap="square" lIns="0" tIns="0" rIns="0" bIns="0" rtlCol="0" anchor="t"/>
          <a:lstStyle/>
          <a:p>
            <a:pPr indent="0" marL="0">
              <a:buNone/>
            </a:pPr>
            <a:r>
              <a:rPr lang="en-US" sz="1500" dirty="0">
                <a:solidFill>
                  <a:srgbClr val="A9B6CB"/>
                </a:solidFill>
                <a:latin typeface="Calibri" pitchFamily="34" charset="0"/>
                <a:ea typeface="Calibri" pitchFamily="34" charset="-122"/>
                <a:cs typeface="Calibri" pitchFamily="34" charset="-120"/>
              </a:rPr>
              <a:t>Today’s cameras in the registry, on the map, on the live wall — and their health.</a:t>
            </a:r>
            <a:endParaRPr lang="en-US" sz="1500" dirty="0"/>
          </a:p>
        </p:txBody>
      </p:sp>
      <p:sp>
        <p:nvSpPr>
          <p:cNvPr id="10" name="Shape 7"/>
          <p:cNvSpPr/>
          <p:nvPr/>
        </p:nvSpPr>
        <p:spPr>
          <a:xfrm>
            <a:off x="4368698" y="2514600"/>
            <a:ext cx="3454298" cy="3108960"/>
          </a:xfrm>
          <a:prstGeom prst="roundRect">
            <a:avLst>
              <a:gd name="adj" fmla="val 3529"/>
            </a:avLst>
          </a:prstGeom>
          <a:solidFill>
            <a:srgbClr val="131C30"/>
          </a:solidFill>
          <a:ln w="9525">
            <a:solidFill>
              <a:srgbClr val="2C3A5C"/>
            </a:solidFill>
            <a:prstDash val="solid"/>
          </a:ln>
        </p:spPr>
      </p:sp>
      <p:sp>
        <p:nvSpPr>
          <p:cNvPr id="11" name="Text 8"/>
          <p:cNvSpPr/>
          <p:nvPr/>
        </p:nvSpPr>
        <p:spPr>
          <a:xfrm>
            <a:off x="4688738" y="2697480"/>
            <a:ext cx="1097280" cy="1097280"/>
          </a:xfrm>
          <a:prstGeom prst="rect">
            <a:avLst/>
          </a:prstGeom>
          <a:noFill/>
          <a:ln/>
        </p:spPr>
        <p:txBody>
          <a:bodyPr wrap="square" lIns="0" tIns="0" rIns="0" bIns="0" rtlCol="0" anchor="t"/>
          <a:lstStyle/>
          <a:p>
            <a:pPr indent="0" marL="0">
              <a:buNone/>
            </a:pPr>
            <a:r>
              <a:rPr lang="en-US" sz="6400" b="1" dirty="0">
                <a:solidFill>
                  <a:srgbClr val="F5A524"/>
                </a:solidFill>
                <a:latin typeface="Arial" pitchFamily="34" charset="0"/>
                <a:ea typeface="Arial" pitchFamily="34" charset="-122"/>
                <a:cs typeface="Arial" pitchFamily="34" charset="-120"/>
              </a:rPr>
              <a:t>2</a:t>
            </a:r>
            <a:endParaRPr lang="en-US" sz="6400" dirty="0"/>
          </a:p>
        </p:txBody>
      </p:sp>
      <p:sp>
        <p:nvSpPr>
          <p:cNvPr id="12" name="Shape 9"/>
          <p:cNvSpPr/>
          <p:nvPr/>
        </p:nvSpPr>
        <p:spPr>
          <a:xfrm>
            <a:off x="6862877" y="2880360"/>
            <a:ext cx="640080" cy="640080"/>
          </a:xfrm>
          <a:prstGeom prst="ellipse">
            <a:avLst/>
          </a:prstGeom>
          <a:solidFill>
            <a:srgbClr val="F5A524"/>
          </a:solidFill>
          <a:ln w="12700">
            <a:solidFill>
              <a:srgbClr val="F5A524"/>
            </a:solidFill>
            <a:prstDash val="solid"/>
          </a:ln>
        </p:spPr>
      </p:sp>
      <p:pic>
        <p:nvPicPr>
          <p:cNvPr id="13" name="Image 1" descr="preencoded.png">    </p:cNvPr>
          <p:cNvPicPr>
            <a:picLocks noChangeAspect="1"/>
          </p:cNvPicPr>
          <p:nvPr/>
        </p:nvPicPr>
        <p:blipFill>
          <a:blip r:embed="rId2"/>
          <a:stretch>
            <a:fillRect/>
          </a:stretch>
        </p:blipFill>
        <p:spPr>
          <a:xfrm>
            <a:off x="7003694" y="3021178"/>
            <a:ext cx="358445" cy="358445"/>
          </a:xfrm>
          <a:prstGeom prst="rect">
            <a:avLst/>
          </a:prstGeom>
        </p:spPr>
      </p:pic>
      <p:sp>
        <p:nvSpPr>
          <p:cNvPr id="14" name="Text 10"/>
          <p:cNvSpPr/>
          <p:nvPr/>
        </p:nvSpPr>
        <p:spPr>
          <a:xfrm>
            <a:off x="4688738" y="3886200"/>
            <a:ext cx="2814218" cy="457200"/>
          </a:xfrm>
          <a:prstGeom prst="rect">
            <a:avLst/>
          </a:prstGeom>
          <a:noFill/>
          <a:ln/>
        </p:spPr>
        <p:txBody>
          <a:bodyPr wrap="square" lIns="0" tIns="0" rIns="0" bIns="0" rtlCol="0" anchor="t"/>
          <a:lstStyle/>
          <a:p>
            <a:pPr indent="0" marL="0">
              <a:buNone/>
            </a:pPr>
            <a:r>
              <a:rPr lang="en-US" sz="2000" b="1" dirty="0">
                <a:solidFill>
                  <a:srgbClr val="F2F5FA"/>
                </a:solidFill>
                <a:latin typeface="Arial" pitchFamily="34" charset="0"/>
                <a:ea typeface="Arial" pitchFamily="34" charset="-122"/>
                <a:cs typeface="Arial" pitchFamily="34" charset="-120"/>
              </a:rPr>
              <a:t>Trace the vehicle</a:t>
            </a:r>
            <a:endParaRPr lang="en-US" sz="2000" dirty="0"/>
          </a:p>
        </p:txBody>
      </p:sp>
      <p:sp>
        <p:nvSpPr>
          <p:cNvPr id="15" name="Text 11"/>
          <p:cNvSpPr/>
          <p:nvPr/>
        </p:nvSpPr>
        <p:spPr>
          <a:xfrm>
            <a:off x="4688738" y="4389120"/>
            <a:ext cx="2814218" cy="1097280"/>
          </a:xfrm>
          <a:prstGeom prst="rect">
            <a:avLst/>
          </a:prstGeom>
          <a:noFill/>
          <a:ln/>
        </p:spPr>
        <p:txBody>
          <a:bodyPr wrap="square" lIns="0" tIns="0" rIns="0" bIns="0" rtlCol="0" anchor="t"/>
          <a:lstStyle/>
          <a:p>
            <a:pPr indent="0" marL="0">
              <a:buNone/>
            </a:pPr>
            <a:r>
              <a:rPr lang="en-US" sz="1500" dirty="0">
                <a:solidFill>
                  <a:srgbClr val="A9B6CB"/>
                </a:solidFill>
                <a:latin typeface="Calibri" pitchFamily="34" charset="0"/>
                <a:ea typeface="Calibri" pitchFamily="34" charset="-122"/>
                <a:cs typeface="Calibri" pitchFamily="34" charset="-120"/>
              </a:rPr>
              <a:t>One registration number in; the timestamped route, the evidence and a signed report out.</a:t>
            </a:r>
            <a:endParaRPr lang="en-US" sz="1500" dirty="0"/>
          </a:p>
        </p:txBody>
      </p:sp>
      <p:sp>
        <p:nvSpPr>
          <p:cNvPr id="16" name="Shape 12"/>
          <p:cNvSpPr/>
          <p:nvPr/>
        </p:nvSpPr>
        <p:spPr>
          <a:xfrm>
            <a:off x="8188757" y="2514600"/>
            <a:ext cx="3454298" cy="3108960"/>
          </a:xfrm>
          <a:prstGeom prst="roundRect">
            <a:avLst>
              <a:gd name="adj" fmla="val 3529"/>
            </a:avLst>
          </a:prstGeom>
          <a:solidFill>
            <a:srgbClr val="131C30"/>
          </a:solidFill>
          <a:ln w="9525">
            <a:solidFill>
              <a:srgbClr val="2C3A5C"/>
            </a:solidFill>
            <a:prstDash val="solid"/>
          </a:ln>
        </p:spPr>
      </p:sp>
      <p:sp>
        <p:nvSpPr>
          <p:cNvPr id="17" name="Text 13"/>
          <p:cNvSpPr/>
          <p:nvPr/>
        </p:nvSpPr>
        <p:spPr>
          <a:xfrm>
            <a:off x="8508797" y="2697480"/>
            <a:ext cx="1097280" cy="1097280"/>
          </a:xfrm>
          <a:prstGeom prst="rect">
            <a:avLst/>
          </a:prstGeom>
          <a:noFill/>
          <a:ln/>
        </p:spPr>
        <p:txBody>
          <a:bodyPr wrap="square" lIns="0" tIns="0" rIns="0" bIns="0" rtlCol="0" anchor="t"/>
          <a:lstStyle/>
          <a:p>
            <a:pPr indent="0" marL="0">
              <a:buNone/>
            </a:pPr>
            <a:r>
              <a:rPr lang="en-US" sz="6400" b="1" dirty="0">
                <a:solidFill>
                  <a:srgbClr val="F5A524"/>
                </a:solidFill>
                <a:latin typeface="Arial" pitchFamily="34" charset="0"/>
                <a:ea typeface="Arial" pitchFamily="34" charset="-122"/>
                <a:cs typeface="Arial" pitchFamily="34" charset="-120"/>
              </a:rPr>
              <a:t>3</a:t>
            </a:r>
            <a:endParaRPr lang="en-US" sz="6400" dirty="0"/>
          </a:p>
        </p:txBody>
      </p:sp>
      <p:sp>
        <p:nvSpPr>
          <p:cNvPr id="18" name="Shape 14"/>
          <p:cNvSpPr/>
          <p:nvPr/>
        </p:nvSpPr>
        <p:spPr>
          <a:xfrm>
            <a:off x="10682935" y="2880360"/>
            <a:ext cx="640080" cy="640080"/>
          </a:xfrm>
          <a:prstGeom prst="ellipse">
            <a:avLst/>
          </a:prstGeom>
          <a:solidFill>
            <a:srgbClr val="F5A524"/>
          </a:solidFill>
          <a:ln w="12700">
            <a:solidFill>
              <a:srgbClr val="F5A524"/>
            </a:solidFill>
            <a:prstDash val="solid"/>
          </a:ln>
        </p:spPr>
      </p:sp>
      <p:pic>
        <p:nvPicPr>
          <p:cNvPr id="19" name="Image 2" descr="preencoded.png">    </p:cNvPr>
          <p:cNvPicPr>
            <a:picLocks noChangeAspect="1"/>
          </p:cNvPicPr>
          <p:nvPr/>
        </p:nvPicPr>
        <p:blipFill>
          <a:blip r:embed="rId3"/>
          <a:stretch>
            <a:fillRect/>
          </a:stretch>
        </p:blipFill>
        <p:spPr>
          <a:xfrm>
            <a:off x="10823753" y="3021178"/>
            <a:ext cx="358445" cy="358445"/>
          </a:xfrm>
          <a:prstGeom prst="rect">
            <a:avLst/>
          </a:prstGeom>
        </p:spPr>
      </p:pic>
      <p:sp>
        <p:nvSpPr>
          <p:cNvPr id="20" name="Text 15"/>
          <p:cNvSpPr/>
          <p:nvPr/>
        </p:nvSpPr>
        <p:spPr>
          <a:xfrm>
            <a:off x="8508797" y="3886200"/>
            <a:ext cx="2814218" cy="457200"/>
          </a:xfrm>
          <a:prstGeom prst="rect">
            <a:avLst/>
          </a:prstGeom>
          <a:noFill/>
          <a:ln/>
        </p:spPr>
        <p:txBody>
          <a:bodyPr wrap="square" lIns="0" tIns="0" rIns="0" bIns="0" rtlCol="0" anchor="t"/>
          <a:lstStyle/>
          <a:p>
            <a:pPr indent="0" marL="0">
              <a:buNone/>
            </a:pPr>
            <a:r>
              <a:rPr lang="en-US" sz="2000" b="1" dirty="0">
                <a:solidFill>
                  <a:srgbClr val="F2F5FA"/>
                </a:solidFill>
                <a:latin typeface="Arial" pitchFamily="34" charset="0"/>
                <a:ea typeface="Arial" pitchFamily="34" charset="-122"/>
                <a:cs typeface="Arial" pitchFamily="34" charset="-120"/>
              </a:rPr>
              <a:t>Alerts that find you</a:t>
            </a:r>
            <a:endParaRPr lang="en-US" sz="2000" dirty="0"/>
          </a:p>
        </p:txBody>
      </p:sp>
      <p:sp>
        <p:nvSpPr>
          <p:cNvPr id="21" name="Text 16"/>
          <p:cNvSpPr/>
          <p:nvPr/>
        </p:nvSpPr>
        <p:spPr>
          <a:xfrm>
            <a:off x="8508797" y="4389120"/>
            <a:ext cx="2814218" cy="1097280"/>
          </a:xfrm>
          <a:prstGeom prst="rect">
            <a:avLst/>
          </a:prstGeom>
          <a:noFill/>
          <a:ln/>
        </p:spPr>
        <p:txBody>
          <a:bodyPr wrap="square" lIns="0" tIns="0" rIns="0" bIns="0" rtlCol="0" anchor="t"/>
          <a:lstStyle/>
          <a:p>
            <a:pPr indent="0" marL="0">
              <a:buNone/>
            </a:pPr>
            <a:r>
              <a:rPr lang="en-US" sz="1500" dirty="0">
                <a:solidFill>
                  <a:srgbClr val="A9B6CB"/>
                </a:solidFill>
                <a:latin typeface="Calibri" pitchFamily="34" charset="0"/>
                <a:ea typeface="Calibri" pitchFamily="34" charset="-122"/>
                <a:cs typeface="Calibri" pitchFamily="34" charset="-120"/>
              </a:rPr>
              <a:t>A watchlist hit lands on every open console the moment a confirmed read matches.</a:t>
            </a:r>
            <a:endParaRPr lang="en-US" sz="1500" dirty="0"/>
          </a:p>
        </p:txBody>
      </p:sp>
      <p:sp>
        <p:nvSpPr>
          <p:cNvPr id="22" name="Text 17"/>
          <p:cNvSpPr/>
          <p:nvPr/>
        </p:nvSpPr>
        <p:spPr>
          <a:xfrm>
            <a:off x="548640" y="5943600"/>
            <a:ext cx="11094415" cy="365760"/>
          </a:xfrm>
          <a:prstGeom prst="rect">
            <a:avLst/>
          </a:prstGeom>
          <a:noFill/>
          <a:ln/>
        </p:spPr>
        <p:txBody>
          <a:bodyPr wrap="square" lIns="0" tIns="0" rIns="0" bIns="0" rtlCol="0" anchor="t"/>
          <a:lstStyle/>
          <a:p>
            <a:pPr indent="0" marL="0">
              <a:buNone/>
            </a:pPr>
            <a:r>
              <a:rPr lang="en-US" sz="1300" i="1" dirty="0">
                <a:solidFill>
                  <a:srgbClr val="A9B6CB"/>
                </a:solidFill>
                <a:latin typeface="Calibri" pitchFamily="34" charset="0"/>
                <a:ea typeface="Calibri" pitchFamily="34" charset="-122"/>
                <a:cs typeface="Calibri" pitchFamily="34" charset="-120"/>
              </a:rPr>
              <a:t>If the venue network fails, we say which fallback we are on: our own cameras, then a recorded copy of the government grid.</a:t>
            </a:r>
            <a:endParaRPr lang="en-US" sz="1300" dirty="0"/>
          </a:p>
        </p:txBody>
      </p:sp>
      <p:sp>
        <p:nvSpPr>
          <p:cNvPr id="23" name="Text 18"/>
          <p:cNvSpPr/>
          <p:nvPr/>
        </p:nvSpPr>
        <p:spPr>
          <a:xfrm>
            <a:off x="11094415" y="6446520"/>
            <a:ext cx="548640" cy="228600"/>
          </a:xfrm>
          <a:prstGeom prst="rect">
            <a:avLst/>
          </a:prstGeom>
          <a:noFill/>
          <a:ln/>
        </p:spPr>
        <p:txBody>
          <a:bodyPr wrap="square" lIns="0" tIns="0" rIns="0" bIns="0" rtlCol="0" anchor="t"/>
          <a:lstStyle/>
          <a:p>
            <a:pPr algn="r" indent="0" marL="0">
              <a:buNone/>
            </a:pPr>
            <a:r>
              <a:rPr lang="en-US" sz="900" dirty="0">
                <a:solidFill>
                  <a:srgbClr val="A9B6CB"/>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1 · ONBOARD AND SEE</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Any camera, onboarded in minutes — without touching it</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06</a:t>
            </a:r>
            <a:endParaRPr lang="en-US" sz="900" dirty="0"/>
          </a:p>
        </p:txBody>
      </p:sp>
      <p:sp>
        <p:nvSpPr>
          <p:cNvPr id="6" name="Shape 3"/>
          <p:cNvSpPr/>
          <p:nvPr/>
        </p:nvSpPr>
        <p:spPr>
          <a:xfrm>
            <a:off x="548640" y="1682496"/>
            <a:ext cx="6419088" cy="3874136"/>
          </a:xfrm>
          <a:prstGeom prst="roundRect">
            <a:avLst>
              <a:gd name="adj" fmla="val 2360"/>
            </a:avLst>
          </a:prstGeom>
          <a:solidFill>
            <a:srgbClr val="1B2742"/>
          </a:solidFill>
          <a:ln w="9525">
            <a:solidFill>
              <a:srgbClr val="2C3A5C"/>
            </a:solidFill>
            <a:prstDash val="solid"/>
          </a:ln>
          <a:effectLst>
            <a:outerShdw sx="100000" sy="100000" kx="0" ky="0" algn="bl" rotWithShape="0" blurRad="228600" dist="76200" dir="5400000">
              <a:srgbClr val="000000">
                <a:alpha val="45000"/>
              </a:srgbClr>
            </a:outerShdw>
          </a:effectLst>
        </p:spPr>
      </p:sp>
      <p:pic>
        <p:nvPicPr>
          <p:cNvPr id="7" name="Image 0" descr="preencoded.png">    </p:cNvPr>
          <p:cNvPicPr>
            <a:picLocks noChangeAspect="1"/>
          </p:cNvPicPr>
          <p:nvPr/>
        </p:nvPicPr>
        <p:blipFill>
          <a:blip r:embed="rId1"/>
          <a:stretch>
            <a:fillRect/>
          </a:stretch>
        </p:blipFill>
        <p:spPr>
          <a:xfrm>
            <a:off x="603504" y="1737360"/>
            <a:ext cx="6309360" cy="3764408"/>
          </a:xfrm>
          <a:prstGeom prst="rect">
            <a:avLst/>
          </a:prstGeom>
        </p:spPr>
      </p:pic>
      <p:sp>
        <p:nvSpPr>
          <p:cNvPr id="8" name="Shape 4"/>
          <p:cNvSpPr/>
          <p:nvPr/>
        </p:nvSpPr>
        <p:spPr>
          <a:xfrm>
            <a:off x="7360920" y="1783080"/>
            <a:ext cx="512064" cy="512064"/>
          </a:xfrm>
          <a:prstGeom prst="ellipse">
            <a:avLst/>
          </a:prstGeom>
          <a:solidFill>
            <a:srgbClr val="F5A524"/>
          </a:solidFill>
          <a:ln w="12700">
            <a:solidFill>
              <a:srgbClr val="F5A524"/>
            </a:solidFill>
            <a:prstDash val="solid"/>
          </a:ln>
        </p:spPr>
      </p:sp>
      <p:pic>
        <p:nvPicPr>
          <p:cNvPr id="9" name="Image 1" descr="preencoded.png">    </p:cNvPr>
          <p:cNvPicPr>
            <a:picLocks noChangeAspect="1"/>
          </p:cNvPicPr>
          <p:nvPr/>
        </p:nvPicPr>
        <p:blipFill>
          <a:blip r:embed="rId2"/>
          <a:stretch>
            <a:fillRect/>
          </a:stretch>
        </p:blipFill>
        <p:spPr>
          <a:xfrm>
            <a:off x="7473574" y="1895734"/>
            <a:ext cx="286756" cy="286756"/>
          </a:xfrm>
          <a:prstGeom prst="rect">
            <a:avLst/>
          </a:prstGeom>
        </p:spPr>
      </p:pic>
      <p:sp>
        <p:nvSpPr>
          <p:cNvPr id="10" name="Text 5"/>
          <p:cNvSpPr/>
          <p:nvPr/>
        </p:nvSpPr>
        <p:spPr>
          <a:xfrm>
            <a:off x="8074152" y="1764792"/>
            <a:ext cx="3568903"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Bulk CSV import</a:t>
            </a:r>
            <a:endParaRPr lang="en-US" sz="1500" dirty="0"/>
          </a:p>
        </p:txBody>
      </p:sp>
      <p:sp>
        <p:nvSpPr>
          <p:cNvPr id="11" name="Text 6"/>
          <p:cNvSpPr/>
          <p:nvPr/>
        </p:nvSpPr>
        <p:spPr>
          <a:xfrm>
            <a:off x="8074152" y="2084832"/>
            <a:ext cx="3568903"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A dry run validates every row first; one bad row never blocks the rest.</a:t>
            </a:r>
            <a:endParaRPr lang="en-US" sz="1300" dirty="0"/>
          </a:p>
        </p:txBody>
      </p:sp>
      <p:sp>
        <p:nvSpPr>
          <p:cNvPr id="12" name="Shape 7"/>
          <p:cNvSpPr/>
          <p:nvPr/>
        </p:nvSpPr>
        <p:spPr>
          <a:xfrm>
            <a:off x="7360920" y="2862072"/>
            <a:ext cx="512064" cy="512064"/>
          </a:xfrm>
          <a:prstGeom prst="ellipse">
            <a:avLst/>
          </a:prstGeom>
          <a:solidFill>
            <a:srgbClr val="F5A524"/>
          </a:solidFill>
          <a:ln w="12700">
            <a:solidFill>
              <a:srgbClr val="F5A524"/>
            </a:solidFill>
            <a:prstDash val="solid"/>
          </a:ln>
        </p:spPr>
      </p:sp>
      <p:pic>
        <p:nvPicPr>
          <p:cNvPr id="13" name="Image 2" descr="preencoded.png">    </p:cNvPr>
          <p:cNvPicPr>
            <a:picLocks noChangeAspect="1"/>
          </p:cNvPicPr>
          <p:nvPr/>
        </p:nvPicPr>
        <p:blipFill>
          <a:blip r:embed="rId3"/>
          <a:stretch>
            <a:fillRect/>
          </a:stretch>
        </p:blipFill>
        <p:spPr>
          <a:xfrm>
            <a:off x="7473574" y="2974726"/>
            <a:ext cx="286756" cy="286756"/>
          </a:xfrm>
          <a:prstGeom prst="rect">
            <a:avLst/>
          </a:prstGeom>
        </p:spPr>
      </p:pic>
      <p:sp>
        <p:nvSpPr>
          <p:cNvPr id="14" name="Text 8"/>
          <p:cNvSpPr/>
          <p:nvPr/>
        </p:nvSpPr>
        <p:spPr>
          <a:xfrm>
            <a:off x="8074152" y="2843784"/>
            <a:ext cx="3568903"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ONVIF and NVR discovery</a:t>
            </a:r>
            <a:endParaRPr lang="en-US" sz="1500" dirty="0"/>
          </a:p>
        </p:txBody>
      </p:sp>
      <p:sp>
        <p:nvSpPr>
          <p:cNvPr id="15" name="Text 9"/>
          <p:cNvSpPr/>
          <p:nvPr/>
        </p:nvSpPr>
        <p:spPr>
          <a:xfrm>
            <a:off x="8074152" y="3163824"/>
            <a:ext cx="3568903"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Find a device’s streams and add them. Hikvision and Dahua drivers included.</a:t>
            </a:r>
            <a:endParaRPr lang="en-US" sz="1300" dirty="0"/>
          </a:p>
        </p:txBody>
      </p:sp>
      <p:sp>
        <p:nvSpPr>
          <p:cNvPr id="16" name="Shape 10"/>
          <p:cNvSpPr/>
          <p:nvPr/>
        </p:nvSpPr>
        <p:spPr>
          <a:xfrm>
            <a:off x="7360920" y="3941064"/>
            <a:ext cx="512064" cy="512064"/>
          </a:xfrm>
          <a:prstGeom prst="ellipse">
            <a:avLst/>
          </a:prstGeom>
          <a:solidFill>
            <a:srgbClr val="F5A524"/>
          </a:solidFill>
          <a:ln w="12700">
            <a:solidFill>
              <a:srgbClr val="F5A524"/>
            </a:solidFill>
            <a:prstDash val="solid"/>
          </a:ln>
        </p:spPr>
      </p:sp>
      <p:pic>
        <p:nvPicPr>
          <p:cNvPr id="17" name="Image 3" descr="preencoded.png">    </p:cNvPr>
          <p:cNvPicPr>
            <a:picLocks noChangeAspect="1"/>
          </p:cNvPicPr>
          <p:nvPr/>
        </p:nvPicPr>
        <p:blipFill>
          <a:blip r:embed="rId4"/>
          <a:stretch>
            <a:fillRect/>
          </a:stretch>
        </p:blipFill>
        <p:spPr>
          <a:xfrm>
            <a:off x="7473574" y="4053718"/>
            <a:ext cx="286756" cy="286756"/>
          </a:xfrm>
          <a:prstGeom prst="rect">
            <a:avLst/>
          </a:prstGeom>
        </p:spPr>
      </p:pic>
      <p:sp>
        <p:nvSpPr>
          <p:cNvPr id="18" name="Text 11"/>
          <p:cNvSpPr/>
          <p:nvPr/>
        </p:nvSpPr>
        <p:spPr>
          <a:xfrm>
            <a:off x="8074152" y="3922776"/>
            <a:ext cx="3568903"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Catalogue sync</a:t>
            </a:r>
            <a:endParaRPr lang="en-US" sz="1500" dirty="0"/>
          </a:p>
        </p:txBody>
      </p:sp>
      <p:sp>
        <p:nvSpPr>
          <p:cNvPr id="19" name="Text 12"/>
          <p:cNvSpPr/>
          <p:nvPr/>
        </p:nvSpPr>
        <p:spPr>
          <a:xfrm>
            <a:off x="8074152" y="4242816"/>
            <a:ext cx="3568903"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A department endpoint keeps the registry current, with no restart.</a:t>
            </a:r>
            <a:endParaRPr lang="en-US" sz="1300" dirty="0"/>
          </a:p>
        </p:txBody>
      </p:sp>
      <p:sp>
        <p:nvSpPr>
          <p:cNvPr id="20" name="Shape 13"/>
          <p:cNvSpPr/>
          <p:nvPr/>
        </p:nvSpPr>
        <p:spPr>
          <a:xfrm>
            <a:off x="7360920" y="5020056"/>
            <a:ext cx="512064" cy="512064"/>
          </a:xfrm>
          <a:prstGeom prst="ellipse">
            <a:avLst/>
          </a:prstGeom>
          <a:solidFill>
            <a:srgbClr val="F5A524"/>
          </a:solidFill>
          <a:ln w="12700">
            <a:solidFill>
              <a:srgbClr val="F5A524"/>
            </a:solidFill>
            <a:prstDash val="solid"/>
          </a:ln>
        </p:spPr>
      </p:sp>
      <p:pic>
        <p:nvPicPr>
          <p:cNvPr id="21" name="Image 4" descr="preencoded.png">    </p:cNvPr>
          <p:cNvPicPr>
            <a:picLocks noChangeAspect="1"/>
          </p:cNvPicPr>
          <p:nvPr/>
        </p:nvPicPr>
        <p:blipFill>
          <a:blip r:embed="rId5"/>
          <a:stretch>
            <a:fillRect/>
          </a:stretch>
        </p:blipFill>
        <p:spPr>
          <a:xfrm>
            <a:off x="7473574" y="5132710"/>
            <a:ext cx="286756" cy="286756"/>
          </a:xfrm>
          <a:prstGeom prst="rect">
            <a:avLst/>
          </a:prstGeom>
        </p:spPr>
      </p:pic>
      <p:sp>
        <p:nvSpPr>
          <p:cNvPr id="22" name="Text 14"/>
          <p:cNvSpPr/>
          <p:nvPr/>
        </p:nvSpPr>
        <p:spPr>
          <a:xfrm>
            <a:off x="8074152" y="5001768"/>
            <a:ext cx="3568903"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One pull per camera</a:t>
            </a:r>
            <a:endParaRPr lang="en-US" sz="1500" dirty="0"/>
          </a:p>
        </p:txBody>
      </p:sp>
      <p:sp>
        <p:nvSpPr>
          <p:cNvPr id="23" name="Text 15"/>
          <p:cNvSpPr/>
          <p:nvPr/>
        </p:nvSpPr>
        <p:spPr>
          <a:xfrm>
            <a:off x="8074152" y="5321808"/>
            <a:ext cx="3568903"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However many viewers. Stream credentials never reach a browser.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2 · TRACE THE DESIGNATED VEHICLE</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One plate in. The route out.</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07</a:t>
            </a:r>
            <a:endParaRPr lang="en-US" sz="900" dirty="0"/>
          </a:p>
        </p:txBody>
      </p:sp>
      <p:sp>
        <p:nvSpPr>
          <p:cNvPr id="6" name="Shape 3"/>
          <p:cNvSpPr/>
          <p:nvPr/>
        </p:nvSpPr>
        <p:spPr>
          <a:xfrm>
            <a:off x="548640" y="1545336"/>
            <a:ext cx="7059168" cy="3561283"/>
          </a:xfrm>
          <a:prstGeom prst="roundRect">
            <a:avLst>
              <a:gd name="adj" fmla="val 2568"/>
            </a:avLst>
          </a:prstGeom>
          <a:solidFill>
            <a:srgbClr val="1B2742"/>
          </a:solidFill>
          <a:ln w="9525">
            <a:solidFill>
              <a:srgbClr val="2C3A5C"/>
            </a:solidFill>
            <a:prstDash val="solid"/>
          </a:ln>
          <a:effectLst>
            <a:outerShdw sx="100000" sy="100000" kx="0" ky="0" algn="bl" rotWithShape="0" blurRad="228600" dist="76200" dir="5400000">
              <a:srgbClr val="000000">
                <a:alpha val="45000"/>
              </a:srgbClr>
            </a:outerShdw>
          </a:effectLst>
        </p:spPr>
      </p:sp>
      <p:pic>
        <p:nvPicPr>
          <p:cNvPr id="7" name="Image 0" descr="preencoded.png">    </p:cNvPr>
          <p:cNvPicPr>
            <a:picLocks noChangeAspect="1"/>
          </p:cNvPicPr>
          <p:nvPr/>
        </p:nvPicPr>
        <p:blipFill>
          <a:blip r:embed="rId1"/>
          <a:stretch>
            <a:fillRect/>
          </a:stretch>
        </p:blipFill>
        <p:spPr>
          <a:xfrm>
            <a:off x="603504" y="1600200"/>
            <a:ext cx="6949440" cy="3451555"/>
          </a:xfrm>
          <a:prstGeom prst="rect">
            <a:avLst/>
          </a:prstGeom>
        </p:spPr>
      </p:pic>
      <p:sp>
        <p:nvSpPr>
          <p:cNvPr id="8" name="Shape 4"/>
          <p:cNvSpPr/>
          <p:nvPr/>
        </p:nvSpPr>
        <p:spPr>
          <a:xfrm>
            <a:off x="8001000" y="1691640"/>
            <a:ext cx="512064" cy="512064"/>
          </a:xfrm>
          <a:prstGeom prst="ellipse">
            <a:avLst/>
          </a:prstGeom>
          <a:solidFill>
            <a:srgbClr val="F5A524"/>
          </a:solidFill>
          <a:ln w="12700">
            <a:solidFill>
              <a:srgbClr val="F5A524"/>
            </a:solidFill>
            <a:prstDash val="solid"/>
          </a:ln>
        </p:spPr>
      </p:sp>
      <p:pic>
        <p:nvPicPr>
          <p:cNvPr id="9" name="Image 1" descr="preencoded.png">    </p:cNvPr>
          <p:cNvPicPr>
            <a:picLocks noChangeAspect="1"/>
          </p:cNvPicPr>
          <p:nvPr/>
        </p:nvPicPr>
        <p:blipFill>
          <a:blip r:embed="rId2"/>
          <a:stretch>
            <a:fillRect/>
          </a:stretch>
        </p:blipFill>
        <p:spPr>
          <a:xfrm>
            <a:off x="8113654" y="1804294"/>
            <a:ext cx="286756" cy="286756"/>
          </a:xfrm>
          <a:prstGeom prst="rect">
            <a:avLst/>
          </a:prstGeom>
        </p:spPr>
      </p:pic>
      <p:sp>
        <p:nvSpPr>
          <p:cNvPr id="10" name="Text 5"/>
          <p:cNvSpPr/>
          <p:nvPr/>
        </p:nvSpPr>
        <p:spPr>
          <a:xfrm>
            <a:off x="8714232" y="1673352"/>
            <a:ext cx="2928823"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The camera’s own clock</a:t>
            </a:r>
            <a:endParaRPr lang="en-US" sz="1500" dirty="0"/>
          </a:p>
        </p:txBody>
      </p:sp>
      <p:sp>
        <p:nvSpPr>
          <p:cNvPr id="11" name="Text 6"/>
          <p:cNvSpPr/>
          <p:nvPr/>
        </p:nvSpPr>
        <p:spPr>
          <a:xfrm>
            <a:off x="8714232" y="1993392"/>
            <a:ext cx="2928823"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Every stop is timed by the clock burned into its evidence frame.</a:t>
            </a:r>
            <a:endParaRPr lang="en-US" sz="1300" dirty="0"/>
          </a:p>
        </p:txBody>
      </p:sp>
      <p:sp>
        <p:nvSpPr>
          <p:cNvPr id="12" name="Shape 7"/>
          <p:cNvSpPr/>
          <p:nvPr/>
        </p:nvSpPr>
        <p:spPr>
          <a:xfrm>
            <a:off x="8001000" y="2880360"/>
            <a:ext cx="512064" cy="512064"/>
          </a:xfrm>
          <a:prstGeom prst="ellipse">
            <a:avLst/>
          </a:prstGeom>
          <a:solidFill>
            <a:srgbClr val="F5A524"/>
          </a:solidFill>
          <a:ln w="12700">
            <a:solidFill>
              <a:srgbClr val="F5A524"/>
            </a:solidFill>
            <a:prstDash val="solid"/>
          </a:ln>
        </p:spPr>
      </p:sp>
      <p:pic>
        <p:nvPicPr>
          <p:cNvPr id="13" name="Image 2" descr="preencoded.png">    </p:cNvPr>
          <p:cNvPicPr>
            <a:picLocks noChangeAspect="1"/>
          </p:cNvPicPr>
          <p:nvPr/>
        </p:nvPicPr>
        <p:blipFill>
          <a:blip r:embed="rId3"/>
          <a:stretch>
            <a:fillRect/>
          </a:stretch>
        </p:blipFill>
        <p:spPr>
          <a:xfrm>
            <a:off x="8113654" y="2993014"/>
            <a:ext cx="286756" cy="286756"/>
          </a:xfrm>
          <a:prstGeom prst="rect">
            <a:avLst/>
          </a:prstGeom>
        </p:spPr>
      </p:pic>
      <p:sp>
        <p:nvSpPr>
          <p:cNvPr id="14" name="Text 8"/>
          <p:cNvSpPr/>
          <p:nvPr/>
        </p:nvSpPr>
        <p:spPr>
          <a:xfrm>
            <a:off x="8714232" y="2862072"/>
            <a:ext cx="2928823"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Impossible travel flagged</a:t>
            </a:r>
            <a:endParaRPr lang="en-US" sz="1500" dirty="0"/>
          </a:p>
        </p:txBody>
      </p:sp>
      <p:sp>
        <p:nvSpPr>
          <p:cNvPr id="15" name="Text 9"/>
          <p:cNvSpPr/>
          <p:nvPr/>
        </p:nvSpPr>
        <p:spPr>
          <a:xfrm>
            <a:off x="8714232" y="3182112"/>
            <a:ext cx="2928823"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A hop needing over 150 km/h is marked — a cloned plate, never a silent line.</a:t>
            </a:r>
            <a:endParaRPr lang="en-US" sz="1300" dirty="0"/>
          </a:p>
        </p:txBody>
      </p:sp>
      <p:sp>
        <p:nvSpPr>
          <p:cNvPr id="16" name="Shape 10"/>
          <p:cNvSpPr/>
          <p:nvPr/>
        </p:nvSpPr>
        <p:spPr>
          <a:xfrm>
            <a:off x="8001000" y="4069080"/>
            <a:ext cx="512064" cy="512064"/>
          </a:xfrm>
          <a:prstGeom prst="ellipse">
            <a:avLst/>
          </a:prstGeom>
          <a:solidFill>
            <a:srgbClr val="F5A524"/>
          </a:solidFill>
          <a:ln w="12700">
            <a:solidFill>
              <a:srgbClr val="F5A524"/>
            </a:solidFill>
            <a:prstDash val="solid"/>
          </a:ln>
        </p:spPr>
      </p:sp>
      <p:pic>
        <p:nvPicPr>
          <p:cNvPr id="17" name="Image 3" descr="preencoded.png">    </p:cNvPr>
          <p:cNvPicPr>
            <a:picLocks noChangeAspect="1"/>
          </p:cNvPicPr>
          <p:nvPr/>
        </p:nvPicPr>
        <p:blipFill>
          <a:blip r:embed="rId4"/>
          <a:stretch>
            <a:fillRect/>
          </a:stretch>
        </p:blipFill>
        <p:spPr>
          <a:xfrm>
            <a:off x="8113654" y="4181734"/>
            <a:ext cx="286756" cy="286756"/>
          </a:xfrm>
          <a:prstGeom prst="rect">
            <a:avLst/>
          </a:prstGeom>
        </p:spPr>
      </p:pic>
      <p:sp>
        <p:nvSpPr>
          <p:cNvPr id="18" name="Text 11"/>
          <p:cNvSpPr/>
          <p:nvPr/>
        </p:nvSpPr>
        <p:spPr>
          <a:xfrm>
            <a:off x="8714232" y="4050792"/>
            <a:ext cx="2928823"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Movement Report</a:t>
            </a:r>
            <a:endParaRPr lang="en-US" sz="1500" dirty="0"/>
          </a:p>
        </p:txBody>
      </p:sp>
      <p:sp>
        <p:nvSpPr>
          <p:cNvPr id="19" name="Text 12"/>
          <p:cNvSpPr/>
          <p:nvPr/>
        </p:nvSpPr>
        <p:spPr>
          <a:xfrm>
            <a:off x="8714232" y="4370832"/>
            <a:ext cx="2928823"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PDF and CSV in IST with a SHA-256 manifest, handed over on the spot.</a:t>
            </a:r>
            <a:endParaRPr lang="en-US" sz="1300" dirty="0"/>
          </a:p>
        </p:txBody>
      </p:sp>
      <p:sp>
        <p:nvSpPr>
          <p:cNvPr id="20" name="Text 13"/>
          <p:cNvSpPr/>
          <p:nvPr/>
        </p:nvSpPr>
        <p:spPr>
          <a:xfrm>
            <a:off x="548640" y="5280355"/>
            <a:ext cx="7040880" cy="411480"/>
          </a:xfrm>
          <a:prstGeom prst="rect">
            <a:avLst/>
          </a:prstGeom>
          <a:noFill/>
          <a:ln/>
        </p:spPr>
        <p:txBody>
          <a:bodyPr wrap="square" lIns="0" tIns="0" rIns="0" bIns="0" rtlCol="0" anchor="t"/>
          <a:lstStyle/>
          <a:p>
            <a:pPr indent="0" marL="0">
              <a:buNone/>
            </a:pPr>
            <a:r>
              <a:rPr lang="en-US" sz="1100" i="1" dirty="0">
                <a:solidFill>
                  <a:srgbClr val="A9B6CB"/>
                </a:solidFill>
                <a:latin typeface="Calibri" pitchFamily="34" charset="0"/>
                <a:ea typeface="Calibri" pitchFamily="34" charset="-122"/>
                <a:cs typeface="Calibri" pitchFamily="34" charset="-120"/>
              </a:rPr>
              <a:t>Real console, recorded government footage: GJ39C8018 at Gandhidham, 8 Aug 2026, 21:10 — the time printed on the frame.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3 · ALERTS THAT FIND YOU</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Every read, checked against the watchlist as it happens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08</a:t>
            </a:r>
            <a:endParaRPr lang="en-US" sz="900" dirty="0"/>
          </a:p>
        </p:txBody>
      </p:sp>
      <p:sp>
        <p:nvSpPr>
          <p:cNvPr id="6" name="Shape 3"/>
          <p:cNvSpPr/>
          <p:nvPr/>
        </p:nvSpPr>
        <p:spPr>
          <a:xfrm>
            <a:off x="548640" y="1636776"/>
            <a:ext cx="5230368" cy="3609026"/>
          </a:xfrm>
          <a:prstGeom prst="roundRect">
            <a:avLst>
              <a:gd name="adj" fmla="val 2534"/>
            </a:avLst>
          </a:prstGeom>
          <a:solidFill>
            <a:srgbClr val="1B2742"/>
          </a:solidFill>
          <a:ln w="9525">
            <a:solidFill>
              <a:srgbClr val="2C3A5C"/>
            </a:solidFill>
            <a:prstDash val="solid"/>
          </a:ln>
          <a:effectLst>
            <a:outerShdw sx="100000" sy="100000" kx="0" ky="0" algn="bl" rotWithShape="0" blurRad="228600" dist="76200" dir="5400000">
              <a:srgbClr val="000000">
                <a:alpha val="45000"/>
              </a:srgbClr>
            </a:outerShdw>
          </a:effectLst>
        </p:spPr>
      </p:sp>
      <p:pic>
        <p:nvPicPr>
          <p:cNvPr id="7" name="Image 0" descr="preencoded.png">    </p:cNvPr>
          <p:cNvPicPr>
            <a:picLocks noChangeAspect="1"/>
          </p:cNvPicPr>
          <p:nvPr/>
        </p:nvPicPr>
        <p:blipFill>
          <a:blip r:embed="rId1"/>
          <a:stretch>
            <a:fillRect/>
          </a:stretch>
        </p:blipFill>
        <p:spPr>
          <a:xfrm>
            <a:off x="603504" y="1691640"/>
            <a:ext cx="5120640" cy="3499298"/>
          </a:xfrm>
          <a:prstGeom prst="rect">
            <a:avLst/>
          </a:prstGeom>
        </p:spPr>
      </p:pic>
      <p:sp>
        <p:nvSpPr>
          <p:cNvPr id="8" name="Text 4"/>
          <p:cNvSpPr/>
          <p:nvPr/>
        </p:nvSpPr>
        <p:spPr>
          <a:xfrm>
            <a:off x="6217920" y="1691640"/>
            <a:ext cx="5425135" cy="365760"/>
          </a:xfrm>
          <a:prstGeom prst="rect">
            <a:avLst/>
          </a:prstGeom>
          <a:noFill/>
          <a:ln/>
        </p:spPr>
        <p:txBody>
          <a:bodyPr wrap="square" lIns="0" tIns="0" rIns="0" bIns="0" rtlCol="0" anchor="t"/>
          <a:lstStyle/>
          <a:p>
            <a:pPr indent="0" marL="0">
              <a:buNone/>
            </a:pPr>
            <a:r>
              <a:rPr lang="en-US" sz="1800" b="1" dirty="0">
                <a:solidFill>
                  <a:srgbClr val="F2F5FA"/>
                </a:solidFill>
                <a:latin typeface="Arial" pitchFamily="34" charset="0"/>
                <a:ea typeface="Arial" pitchFamily="34" charset="-122"/>
                <a:cs typeface="Arial" pitchFamily="34" charset="-120"/>
              </a:rPr>
              <a:t>The matching ladder</a:t>
            </a:r>
            <a:endParaRPr lang="en-US" sz="1800" dirty="0"/>
          </a:p>
        </p:txBody>
      </p:sp>
      <p:sp>
        <p:nvSpPr>
          <p:cNvPr id="9" name="Shape 5"/>
          <p:cNvSpPr/>
          <p:nvPr/>
        </p:nvSpPr>
        <p:spPr>
          <a:xfrm>
            <a:off x="6217920" y="2194560"/>
            <a:ext cx="5425135" cy="658368"/>
          </a:xfrm>
          <a:prstGeom prst="roundRect">
            <a:avLst>
              <a:gd name="adj" fmla="val 16667"/>
            </a:avLst>
          </a:prstGeom>
          <a:solidFill>
            <a:srgbClr val="131C30"/>
          </a:solidFill>
          <a:ln w="9525">
            <a:solidFill>
              <a:srgbClr val="2C3A5C"/>
            </a:solidFill>
            <a:prstDash val="solid"/>
          </a:ln>
        </p:spPr>
      </p:sp>
      <p:sp>
        <p:nvSpPr>
          <p:cNvPr id="10" name="Shape 6"/>
          <p:cNvSpPr/>
          <p:nvPr/>
        </p:nvSpPr>
        <p:spPr>
          <a:xfrm>
            <a:off x="6419088" y="2395728"/>
            <a:ext cx="256032" cy="256032"/>
          </a:xfrm>
          <a:prstGeom prst="ellipse">
            <a:avLst/>
          </a:prstGeom>
          <a:solidFill>
            <a:srgbClr val="34D3B4"/>
          </a:solidFill>
          <a:ln w="12700">
            <a:solidFill>
              <a:srgbClr val="34D3B4"/>
            </a:solidFill>
            <a:prstDash val="solid"/>
          </a:ln>
        </p:spPr>
      </p:sp>
      <p:sp>
        <p:nvSpPr>
          <p:cNvPr id="11" name="Text 7"/>
          <p:cNvSpPr/>
          <p:nvPr/>
        </p:nvSpPr>
        <p:spPr>
          <a:xfrm>
            <a:off x="6858000" y="2286000"/>
            <a:ext cx="2926080" cy="457200"/>
          </a:xfrm>
          <a:prstGeom prst="rect">
            <a:avLst/>
          </a:prstGeom>
          <a:noFill/>
          <a:ln/>
        </p:spPr>
        <p:txBody>
          <a:bodyPr wrap="square" lIns="0" tIns="0" rIns="0" bIns="0" rtlCol="0" anchor="ctr"/>
          <a:lstStyle/>
          <a:p>
            <a:pPr indent="0" marL="0">
              <a:buNone/>
            </a:pPr>
            <a:r>
              <a:rPr lang="en-US" sz="1400" b="1" dirty="0">
                <a:solidFill>
                  <a:srgbClr val="F2F5FA"/>
                </a:solidFill>
                <a:latin typeface="Arial" pitchFamily="34" charset="0"/>
                <a:ea typeface="Arial" pitchFamily="34" charset="-122"/>
                <a:cs typeface="Arial" pitchFamily="34" charset="-120"/>
              </a:rPr>
              <a:t>Exact</a:t>
            </a:r>
            <a:endParaRPr lang="en-US" sz="1400" dirty="0"/>
          </a:p>
        </p:txBody>
      </p:sp>
      <p:sp>
        <p:nvSpPr>
          <p:cNvPr id="12" name="Text 8"/>
          <p:cNvSpPr/>
          <p:nvPr/>
        </p:nvSpPr>
        <p:spPr>
          <a:xfrm>
            <a:off x="9738360" y="2286000"/>
            <a:ext cx="1721815" cy="457200"/>
          </a:xfrm>
          <a:prstGeom prst="rect">
            <a:avLst/>
          </a:prstGeom>
          <a:noFill/>
          <a:ln/>
        </p:spPr>
        <p:txBody>
          <a:bodyPr wrap="square" lIns="0" tIns="0" rIns="0" bIns="0" rtlCol="0" anchor="ctr"/>
          <a:lstStyle/>
          <a:p>
            <a:pPr indent="0" marL="0">
              <a:buNone/>
            </a:pPr>
            <a:r>
              <a:rPr lang="en-US" sz="1200" dirty="0">
                <a:solidFill>
                  <a:srgbClr val="A9B6CB"/>
                </a:solidFill>
                <a:latin typeface="Calibri" pitchFamily="34" charset="0"/>
                <a:ea typeface="Calibri" pitchFamily="34" charset="-122"/>
                <a:cs typeface="Calibri" pitchFamily="34" charset="-120"/>
              </a:rPr>
              <a:t>GJ01AB1234 = GJ01AB1234</a:t>
            </a:r>
            <a:endParaRPr lang="en-US" sz="1200" dirty="0"/>
          </a:p>
        </p:txBody>
      </p:sp>
      <p:sp>
        <p:nvSpPr>
          <p:cNvPr id="13" name="Shape 9"/>
          <p:cNvSpPr/>
          <p:nvPr/>
        </p:nvSpPr>
        <p:spPr>
          <a:xfrm>
            <a:off x="6217920" y="2980944"/>
            <a:ext cx="5425135" cy="658368"/>
          </a:xfrm>
          <a:prstGeom prst="roundRect">
            <a:avLst>
              <a:gd name="adj" fmla="val 16667"/>
            </a:avLst>
          </a:prstGeom>
          <a:solidFill>
            <a:srgbClr val="131C30"/>
          </a:solidFill>
          <a:ln w="9525">
            <a:solidFill>
              <a:srgbClr val="2C3A5C"/>
            </a:solidFill>
            <a:prstDash val="solid"/>
          </a:ln>
        </p:spPr>
      </p:sp>
      <p:sp>
        <p:nvSpPr>
          <p:cNvPr id="14" name="Shape 10"/>
          <p:cNvSpPr/>
          <p:nvPr/>
        </p:nvSpPr>
        <p:spPr>
          <a:xfrm>
            <a:off x="6419088" y="3182112"/>
            <a:ext cx="256032" cy="256032"/>
          </a:xfrm>
          <a:prstGeom prst="ellipse">
            <a:avLst/>
          </a:prstGeom>
          <a:solidFill>
            <a:srgbClr val="34D3B4"/>
          </a:solidFill>
          <a:ln w="12700">
            <a:solidFill>
              <a:srgbClr val="34D3B4"/>
            </a:solidFill>
            <a:prstDash val="solid"/>
          </a:ln>
        </p:spPr>
      </p:sp>
      <p:sp>
        <p:nvSpPr>
          <p:cNvPr id="15" name="Text 11"/>
          <p:cNvSpPr/>
          <p:nvPr/>
        </p:nvSpPr>
        <p:spPr>
          <a:xfrm>
            <a:off x="6858000" y="3072384"/>
            <a:ext cx="2926080" cy="457200"/>
          </a:xfrm>
          <a:prstGeom prst="rect">
            <a:avLst/>
          </a:prstGeom>
          <a:noFill/>
          <a:ln/>
        </p:spPr>
        <p:txBody>
          <a:bodyPr wrap="square" lIns="0" tIns="0" rIns="0" bIns="0" rtlCol="0" anchor="ctr"/>
          <a:lstStyle/>
          <a:p>
            <a:pPr indent="0" marL="0">
              <a:buNone/>
            </a:pPr>
            <a:r>
              <a:rPr lang="en-US" sz="1400" b="1" dirty="0">
                <a:solidFill>
                  <a:srgbClr val="F2F5FA"/>
                </a:solidFill>
                <a:latin typeface="Arial" pitchFamily="34" charset="0"/>
                <a:ea typeface="Arial" pitchFamily="34" charset="-122"/>
                <a:cs typeface="Arial" pitchFamily="34" charset="-120"/>
              </a:rPr>
              <a:t>OCR-ambiguity class</a:t>
            </a:r>
            <a:endParaRPr lang="en-US" sz="1400" dirty="0"/>
          </a:p>
        </p:txBody>
      </p:sp>
      <p:sp>
        <p:nvSpPr>
          <p:cNvPr id="16" name="Text 12"/>
          <p:cNvSpPr/>
          <p:nvPr/>
        </p:nvSpPr>
        <p:spPr>
          <a:xfrm>
            <a:off x="9738360" y="3072384"/>
            <a:ext cx="1721815" cy="457200"/>
          </a:xfrm>
          <a:prstGeom prst="rect">
            <a:avLst/>
          </a:prstGeom>
          <a:noFill/>
          <a:ln/>
        </p:spPr>
        <p:txBody>
          <a:bodyPr wrap="square" lIns="0" tIns="0" rIns="0" bIns="0" rtlCol="0" anchor="ctr"/>
          <a:lstStyle/>
          <a:p>
            <a:pPr indent="0" marL="0">
              <a:buNone/>
            </a:pPr>
            <a:r>
              <a:rPr lang="en-US" sz="1200" dirty="0">
                <a:solidFill>
                  <a:srgbClr val="A9B6CB"/>
                </a:solidFill>
                <a:latin typeface="Calibri" pitchFamily="34" charset="0"/>
                <a:ea typeface="Calibri" pitchFamily="34" charset="-122"/>
                <a:cs typeface="Calibri" pitchFamily="34" charset="-120"/>
              </a:rPr>
              <a:t>0↔O · 1↔I · 8↔B · 5↔S · 2↔Z</a:t>
            </a:r>
            <a:endParaRPr lang="en-US" sz="1200" dirty="0"/>
          </a:p>
        </p:txBody>
      </p:sp>
      <p:sp>
        <p:nvSpPr>
          <p:cNvPr id="17" name="Shape 13"/>
          <p:cNvSpPr/>
          <p:nvPr/>
        </p:nvSpPr>
        <p:spPr>
          <a:xfrm>
            <a:off x="6217920" y="3767328"/>
            <a:ext cx="5425135" cy="658368"/>
          </a:xfrm>
          <a:prstGeom prst="roundRect">
            <a:avLst>
              <a:gd name="adj" fmla="val 16667"/>
            </a:avLst>
          </a:prstGeom>
          <a:solidFill>
            <a:srgbClr val="131C30"/>
          </a:solidFill>
          <a:ln w="9525">
            <a:solidFill>
              <a:srgbClr val="2C3A5C"/>
            </a:solidFill>
            <a:prstDash val="solid"/>
          </a:ln>
        </p:spPr>
      </p:sp>
      <p:sp>
        <p:nvSpPr>
          <p:cNvPr id="18" name="Shape 14"/>
          <p:cNvSpPr/>
          <p:nvPr/>
        </p:nvSpPr>
        <p:spPr>
          <a:xfrm>
            <a:off x="6419088" y="3968496"/>
            <a:ext cx="256032" cy="256032"/>
          </a:xfrm>
          <a:prstGeom prst="ellipse">
            <a:avLst/>
          </a:prstGeom>
          <a:solidFill>
            <a:srgbClr val="F5A524"/>
          </a:solidFill>
          <a:ln w="12700">
            <a:solidFill>
              <a:srgbClr val="F5A524"/>
            </a:solidFill>
            <a:prstDash val="solid"/>
          </a:ln>
        </p:spPr>
      </p:sp>
      <p:sp>
        <p:nvSpPr>
          <p:cNvPr id="19" name="Text 15"/>
          <p:cNvSpPr/>
          <p:nvPr/>
        </p:nvSpPr>
        <p:spPr>
          <a:xfrm>
            <a:off x="6858000" y="3858768"/>
            <a:ext cx="2926080" cy="457200"/>
          </a:xfrm>
          <a:prstGeom prst="rect">
            <a:avLst/>
          </a:prstGeom>
          <a:noFill/>
          <a:ln/>
        </p:spPr>
        <p:txBody>
          <a:bodyPr wrap="square" lIns="0" tIns="0" rIns="0" bIns="0" rtlCol="0" anchor="ctr"/>
          <a:lstStyle/>
          <a:p>
            <a:pPr indent="0" marL="0">
              <a:buNone/>
            </a:pPr>
            <a:r>
              <a:rPr lang="en-US" sz="1400" b="1" dirty="0">
                <a:solidFill>
                  <a:srgbClr val="F2F5FA"/>
                </a:solidFill>
                <a:latin typeface="Arial" pitchFamily="34" charset="0"/>
                <a:ea typeface="Arial" pitchFamily="34" charset="-122"/>
                <a:cs typeface="Arial" pitchFamily="34" charset="-120"/>
              </a:rPr>
              <a:t>One character away</a:t>
            </a:r>
            <a:endParaRPr lang="en-US" sz="1400" dirty="0"/>
          </a:p>
        </p:txBody>
      </p:sp>
      <p:sp>
        <p:nvSpPr>
          <p:cNvPr id="20" name="Text 16"/>
          <p:cNvSpPr/>
          <p:nvPr/>
        </p:nvSpPr>
        <p:spPr>
          <a:xfrm>
            <a:off x="9738360" y="3858768"/>
            <a:ext cx="1721815" cy="457200"/>
          </a:xfrm>
          <a:prstGeom prst="rect">
            <a:avLst/>
          </a:prstGeom>
          <a:noFill/>
          <a:ln/>
        </p:spPr>
        <p:txBody>
          <a:bodyPr wrap="square" lIns="0" tIns="0" rIns="0" bIns="0" rtlCol="0" anchor="ctr"/>
          <a:lstStyle/>
          <a:p>
            <a:pPr indent="0" marL="0">
              <a:buNone/>
            </a:pPr>
            <a:r>
              <a:rPr lang="en-US" sz="1200" dirty="0">
                <a:solidFill>
                  <a:srgbClr val="A9B6CB"/>
                </a:solidFill>
                <a:latin typeface="Calibri" pitchFamily="34" charset="0"/>
                <a:ea typeface="Calibri" pitchFamily="34" charset="-122"/>
                <a:cs typeface="Calibri" pitchFamily="34" charset="-120"/>
              </a:rPr>
              <a:t>Shown as probable, with the plate actually read</a:t>
            </a:r>
            <a:endParaRPr lang="en-US" sz="1200" dirty="0"/>
          </a:p>
        </p:txBody>
      </p:sp>
      <p:sp>
        <p:nvSpPr>
          <p:cNvPr id="21" name="Shape 17"/>
          <p:cNvSpPr/>
          <p:nvPr/>
        </p:nvSpPr>
        <p:spPr>
          <a:xfrm>
            <a:off x="6217920" y="4553712"/>
            <a:ext cx="5425135" cy="658368"/>
          </a:xfrm>
          <a:prstGeom prst="roundRect">
            <a:avLst>
              <a:gd name="adj" fmla="val 16667"/>
            </a:avLst>
          </a:prstGeom>
          <a:solidFill>
            <a:srgbClr val="131C30"/>
          </a:solidFill>
          <a:ln w="9525">
            <a:solidFill>
              <a:srgbClr val="2C3A5C"/>
            </a:solidFill>
            <a:prstDash val="solid"/>
          </a:ln>
        </p:spPr>
      </p:sp>
      <p:sp>
        <p:nvSpPr>
          <p:cNvPr id="22" name="Shape 18"/>
          <p:cNvSpPr/>
          <p:nvPr/>
        </p:nvSpPr>
        <p:spPr>
          <a:xfrm>
            <a:off x="6419088" y="4754880"/>
            <a:ext cx="256032" cy="256032"/>
          </a:xfrm>
          <a:prstGeom prst="ellipse">
            <a:avLst/>
          </a:prstGeom>
          <a:solidFill>
            <a:srgbClr val="F5A524"/>
          </a:solidFill>
          <a:ln w="12700">
            <a:solidFill>
              <a:srgbClr val="F5A524"/>
            </a:solidFill>
            <a:prstDash val="solid"/>
          </a:ln>
        </p:spPr>
      </p:sp>
      <p:sp>
        <p:nvSpPr>
          <p:cNvPr id="23" name="Text 19"/>
          <p:cNvSpPr/>
          <p:nvPr/>
        </p:nvSpPr>
        <p:spPr>
          <a:xfrm>
            <a:off x="6858000" y="4645152"/>
            <a:ext cx="2926080" cy="457200"/>
          </a:xfrm>
          <a:prstGeom prst="rect">
            <a:avLst/>
          </a:prstGeom>
          <a:noFill/>
          <a:ln/>
        </p:spPr>
        <p:txBody>
          <a:bodyPr wrap="square" lIns="0" tIns="0" rIns="0" bIns="0" rtlCol="0" anchor="ctr"/>
          <a:lstStyle/>
          <a:p>
            <a:pPr indent="0" marL="0">
              <a:buNone/>
            </a:pPr>
            <a:r>
              <a:rPr lang="en-US" sz="1400" b="1" dirty="0">
                <a:solidFill>
                  <a:srgbClr val="F2F5FA"/>
                </a:solidFill>
                <a:latin typeface="Arial" pitchFamily="34" charset="0"/>
                <a:ea typeface="Arial" pitchFamily="34" charset="-122"/>
                <a:cs typeface="Arial" pitchFamily="34" charset="-120"/>
              </a:rPr>
              <a:t>Same tail, class and colour</a:t>
            </a:r>
            <a:endParaRPr lang="en-US" sz="1400" dirty="0"/>
          </a:p>
        </p:txBody>
      </p:sp>
      <p:sp>
        <p:nvSpPr>
          <p:cNvPr id="24" name="Text 20"/>
          <p:cNvSpPr/>
          <p:nvPr/>
        </p:nvSpPr>
        <p:spPr>
          <a:xfrm>
            <a:off x="9738360" y="4645152"/>
            <a:ext cx="1721815" cy="457200"/>
          </a:xfrm>
          <a:prstGeom prst="rect">
            <a:avLst/>
          </a:prstGeom>
          <a:noFill/>
          <a:ln/>
        </p:spPr>
        <p:txBody>
          <a:bodyPr wrap="square" lIns="0" tIns="0" rIns="0" bIns="0" rtlCol="0" anchor="ctr"/>
          <a:lstStyle/>
          <a:p>
            <a:pPr indent="0" marL="0">
              <a:buNone/>
            </a:pPr>
            <a:r>
              <a:rPr lang="en-US" sz="1200" dirty="0">
                <a:solidFill>
                  <a:srgbClr val="A9B6CB"/>
                </a:solidFill>
                <a:latin typeface="Calibri" pitchFamily="34" charset="0"/>
                <a:ea typeface="Calibri" pitchFamily="34" charset="-122"/>
                <a:cs typeface="Calibri" pitchFamily="34" charset="-120"/>
              </a:rPr>
              <a:t>Reachable at road speed — probable, officer confirms</a:t>
            </a:r>
            <a:endParaRPr lang="en-US" sz="1200" dirty="0"/>
          </a:p>
        </p:txBody>
      </p:sp>
      <p:sp>
        <p:nvSpPr>
          <p:cNvPr id="25" name="Shape 21"/>
          <p:cNvSpPr/>
          <p:nvPr/>
        </p:nvSpPr>
        <p:spPr>
          <a:xfrm>
            <a:off x="6217920" y="5486400"/>
            <a:ext cx="512064" cy="512064"/>
          </a:xfrm>
          <a:prstGeom prst="ellipse">
            <a:avLst/>
          </a:prstGeom>
          <a:solidFill>
            <a:srgbClr val="F5A524"/>
          </a:solidFill>
          <a:ln w="12700">
            <a:solidFill>
              <a:srgbClr val="F5A524"/>
            </a:solidFill>
            <a:prstDash val="solid"/>
          </a:ln>
        </p:spPr>
      </p:sp>
      <p:pic>
        <p:nvPicPr>
          <p:cNvPr id="26" name="Image 1" descr="preencoded.png">    </p:cNvPr>
          <p:cNvPicPr>
            <a:picLocks noChangeAspect="1"/>
          </p:cNvPicPr>
          <p:nvPr/>
        </p:nvPicPr>
        <p:blipFill>
          <a:blip r:embed="rId2"/>
          <a:stretch>
            <a:fillRect/>
          </a:stretch>
        </p:blipFill>
        <p:spPr>
          <a:xfrm>
            <a:off x="6330574" y="5599054"/>
            <a:ext cx="286756" cy="286756"/>
          </a:xfrm>
          <a:prstGeom prst="rect">
            <a:avLst/>
          </a:prstGeom>
        </p:spPr>
      </p:pic>
      <p:sp>
        <p:nvSpPr>
          <p:cNvPr id="27" name="Text 22"/>
          <p:cNvSpPr/>
          <p:nvPr/>
        </p:nvSpPr>
        <p:spPr>
          <a:xfrm>
            <a:off x="6931152" y="5468112"/>
            <a:ext cx="4711903"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VAHAN · SARTHI · eGujCop · AFIS · NAFIS</a:t>
            </a:r>
            <a:endParaRPr lang="en-US" sz="1500" dirty="0"/>
          </a:p>
        </p:txBody>
      </p:sp>
      <p:sp>
        <p:nvSpPr>
          <p:cNvPr id="28" name="Text 23"/>
          <p:cNvSpPr/>
          <p:nvPr/>
        </p:nvSpPr>
        <p:spPr>
          <a:xfrm>
            <a:off x="6931152" y="5788152"/>
            <a:ext cx="4711903"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Adapters ready. A rejected credential raises — it never reads as “no record”.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WHEN THE PLATE IS HARD TO READ</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We never draw a hop we cannot defend</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09</a:t>
            </a:r>
            <a:endParaRPr lang="en-US" sz="900" dirty="0"/>
          </a:p>
        </p:txBody>
      </p:sp>
      <p:sp>
        <p:nvSpPr>
          <p:cNvPr id="6" name="Shape 3"/>
          <p:cNvSpPr/>
          <p:nvPr/>
        </p:nvSpPr>
        <p:spPr>
          <a:xfrm>
            <a:off x="548640" y="1691640"/>
            <a:ext cx="3515258" cy="4343400"/>
          </a:xfrm>
          <a:prstGeom prst="roundRect">
            <a:avLst>
              <a:gd name="adj" fmla="val 3121"/>
            </a:avLst>
          </a:prstGeom>
          <a:solidFill>
            <a:srgbClr val="1B2742"/>
          </a:solidFill>
          <a:ln w="9525">
            <a:solidFill>
              <a:srgbClr val="2C3A5C"/>
            </a:solidFill>
            <a:prstDash val="solid"/>
          </a:ln>
        </p:spPr>
      </p:sp>
      <p:sp>
        <p:nvSpPr>
          <p:cNvPr id="7" name="Shape 4"/>
          <p:cNvSpPr/>
          <p:nvPr/>
        </p:nvSpPr>
        <p:spPr>
          <a:xfrm>
            <a:off x="868680" y="1965960"/>
            <a:ext cx="566928" cy="566928"/>
          </a:xfrm>
          <a:prstGeom prst="ellipse">
            <a:avLst/>
          </a:prstGeom>
          <a:solidFill>
            <a:srgbClr val="34D3B4"/>
          </a:solidFill>
          <a:ln w="12700">
            <a:solidFill>
              <a:srgbClr val="34D3B4"/>
            </a:solidFill>
            <a:prstDash val="solid"/>
          </a:ln>
        </p:spPr>
      </p:sp>
      <p:pic>
        <p:nvPicPr>
          <p:cNvPr id="8" name="Image 0" descr="preencoded.png">    </p:cNvPr>
          <p:cNvPicPr>
            <a:picLocks noChangeAspect="1"/>
          </p:cNvPicPr>
          <p:nvPr/>
        </p:nvPicPr>
        <p:blipFill>
          <a:blip r:embed="rId1"/>
          <a:stretch>
            <a:fillRect/>
          </a:stretch>
        </p:blipFill>
        <p:spPr>
          <a:xfrm>
            <a:off x="993404" y="2090684"/>
            <a:ext cx="317480" cy="317480"/>
          </a:xfrm>
          <a:prstGeom prst="rect">
            <a:avLst/>
          </a:prstGeom>
        </p:spPr>
      </p:pic>
      <p:sp>
        <p:nvSpPr>
          <p:cNvPr id="9" name="Text 5"/>
          <p:cNvSpPr/>
          <p:nvPr/>
        </p:nvSpPr>
        <p:spPr>
          <a:xfrm>
            <a:off x="1600200" y="2075688"/>
            <a:ext cx="2235098" cy="411480"/>
          </a:xfrm>
          <a:prstGeom prst="rect">
            <a:avLst/>
          </a:prstGeom>
          <a:noFill/>
          <a:ln/>
        </p:spPr>
        <p:txBody>
          <a:bodyPr wrap="square" lIns="0" tIns="0" rIns="0" bIns="0" rtlCol="0" anchor="t"/>
          <a:lstStyle/>
          <a:p>
            <a:pPr indent="0" marL="0">
              <a:buNone/>
            </a:pPr>
            <a:r>
              <a:rPr lang="en-US" sz="1900" b="1" dirty="0">
                <a:solidFill>
                  <a:srgbClr val="F2F5FA"/>
                </a:solidFill>
                <a:latin typeface="Arial" pitchFamily="34" charset="0"/>
                <a:ea typeface="Arial" pitchFamily="34" charset="-122"/>
                <a:cs typeface="Arial" pitchFamily="34" charset="-120"/>
              </a:rPr>
              <a:t>Recovered today</a:t>
            </a:r>
            <a:endParaRPr lang="en-US" sz="1900" dirty="0"/>
          </a:p>
        </p:txBody>
      </p:sp>
      <p:sp>
        <p:nvSpPr>
          <p:cNvPr id="10" name="Text 6"/>
          <p:cNvSpPr/>
          <p:nvPr/>
        </p:nvSpPr>
        <p:spPr>
          <a:xfrm>
            <a:off x="868680" y="2834640"/>
            <a:ext cx="2875178" cy="301752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F2F5FA"/>
                </a:solidFill>
                <a:latin typeface="Calibri" pitchFamily="34" charset="0"/>
                <a:ea typeface="Calibri" pitchFamily="34" charset="-122"/>
                <a:cs typeface="Calibri" pitchFamily="34" charset="-120"/>
              </a:rPr>
              <a:t>OCR-ambiguity classes catch a misread like GJ1B67OS for GJ186705</a:t>
            </a:r>
            <a:endParaRPr lang="en-US" sz="1500" dirty="0"/>
          </a:p>
          <a:p>
            <a:pPr marL="203200" indent="-203200">
              <a:spcAft>
                <a:spcPts val="1200"/>
              </a:spcAft>
              <a:buSzPct val="100000"/>
              <a:buChar char="•"/>
            </a:pPr>
            <a:r>
              <a:rPr lang="en-US" sz="1500" dirty="0">
                <a:solidFill>
                  <a:srgbClr val="F2F5FA"/>
                </a:solidFill>
                <a:latin typeface="Calibri" pitchFamily="34" charset="0"/>
                <a:ea typeface="Calibri" pitchFamily="34" charset="-122"/>
                <a:cs typeface="Calibri" pitchFamily="34" charset="-120"/>
              </a:rPr>
              <a:t>A one-character miss returns as a probable stop, plate shown</a:t>
            </a:r>
            <a:endParaRPr lang="en-US" sz="1500" dirty="0"/>
          </a:p>
          <a:p>
            <a:pPr marL="203200" indent="-203200">
              <a:spcAft>
                <a:spcPts val="1200"/>
              </a:spcAft>
              <a:buSzPct val="100000"/>
              <a:buChar char="•"/>
            </a:pPr>
            <a:r>
              <a:rPr lang="en-US" sz="1500" dirty="0">
                <a:solidFill>
                  <a:srgbClr val="F2F5FA"/>
                </a:solidFill>
                <a:latin typeface="Calibri" pitchFamily="34" charset="0"/>
                <a:ea typeface="Calibri" pitchFamily="34" charset="-122"/>
                <a:cs typeface="Calibri" pitchFamily="34" charset="-120"/>
              </a:rPr>
              <a:t>Same tail, vehicle class and colour bridge a gap at road speed</a:t>
            </a:r>
            <a:endParaRPr lang="en-US" sz="1500" dirty="0"/>
          </a:p>
        </p:txBody>
      </p:sp>
      <p:sp>
        <p:nvSpPr>
          <p:cNvPr id="11" name="Shape 7"/>
          <p:cNvSpPr/>
          <p:nvPr/>
        </p:nvSpPr>
        <p:spPr>
          <a:xfrm>
            <a:off x="4338218" y="1691640"/>
            <a:ext cx="3515258" cy="4343400"/>
          </a:xfrm>
          <a:prstGeom prst="roundRect">
            <a:avLst>
              <a:gd name="adj" fmla="val 3121"/>
            </a:avLst>
          </a:prstGeom>
          <a:solidFill>
            <a:srgbClr val="1B2742"/>
          </a:solidFill>
          <a:ln w="9525">
            <a:solidFill>
              <a:srgbClr val="2C3A5C"/>
            </a:solidFill>
            <a:prstDash val="solid"/>
          </a:ln>
        </p:spPr>
      </p:sp>
      <p:sp>
        <p:nvSpPr>
          <p:cNvPr id="12" name="Shape 8"/>
          <p:cNvSpPr/>
          <p:nvPr/>
        </p:nvSpPr>
        <p:spPr>
          <a:xfrm>
            <a:off x="4658258" y="1965960"/>
            <a:ext cx="566928" cy="566928"/>
          </a:xfrm>
          <a:prstGeom prst="ellipse">
            <a:avLst/>
          </a:prstGeom>
          <a:solidFill>
            <a:srgbClr val="F5A524"/>
          </a:solidFill>
          <a:ln w="12700">
            <a:solidFill>
              <a:srgbClr val="F5A524"/>
            </a:solidFill>
            <a:prstDash val="solid"/>
          </a:ln>
        </p:spPr>
      </p:sp>
      <p:pic>
        <p:nvPicPr>
          <p:cNvPr id="13" name="Image 1" descr="preencoded.png">    </p:cNvPr>
          <p:cNvPicPr>
            <a:picLocks noChangeAspect="1"/>
          </p:cNvPicPr>
          <p:nvPr/>
        </p:nvPicPr>
        <p:blipFill>
          <a:blip r:embed="rId2"/>
          <a:stretch>
            <a:fillRect/>
          </a:stretch>
        </p:blipFill>
        <p:spPr>
          <a:xfrm>
            <a:off x="4782983" y="2090684"/>
            <a:ext cx="317480" cy="317480"/>
          </a:xfrm>
          <a:prstGeom prst="rect">
            <a:avLst/>
          </a:prstGeom>
        </p:spPr>
      </p:pic>
      <p:sp>
        <p:nvSpPr>
          <p:cNvPr id="14" name="Text 9"/>
          <p:cNvSpPr/>
          <p:nvPr/>
        </p:nvSpPr>
        <p:spPr>
          <a:xfrm>
            <a:off x="5389778" y="2075688"/>
            <a:ext cx="2235098" cy="411480"/>
          </a:xfrm>
          <a:prstGeom prst="rect">
            <a:avLst/>
          </a:prstGeom>
          <a:noFill/>
          <a:ln/>
        </p:spPr>
        <p:txBody>
          <a:bodyPr wrap="square" lIns="0" tIns="0" rIns="0" bIns="0" rtlCol="0" anchor="t"/>
          <a:lstStyle/>
          <a:p>
            <a:pPr indent="0" marL="0">
              <a:buNone/>
            </a:pPr>
            <a:r>
              <a:rPr lang="en-US" sz="1900" b="1" dirty="0">
                <a:solidFill>
                  <a:srgbClr val="F2F5FA"/>
                </a:solidFill>
                <a:latin typeface="Arial" pitchFamily="34" charset="0"/>
                <a:ea typeface="Arial" pitchFamily="34" charset="-122"/>
                <a:cs typeface="Arial" pitchFamily="34" charset="-120"/>
              </a:rPr>
              <a:t>Always checked</a:t>
            </a:r>
            <a:endParaRPr lang="en-US" sz="1900" dirty="0"/>
          </a:p>
        </p:txBody>
      </p:sp>
      <p:sp>
        <p:nvSpPr>
          <p:cNvPr id="15" name="Text 10"/>
          <p:cNvSpPr/>
          <p:nvPr/>
        </p:nvSpPr>
        <p:spPr>
          <a:xfrm>
            <a:off x="4658258" y="2834640"/>
            <a:ext cx="2875178" cy="301752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F2F5FA"/>
                </a:solidFill>
                <a:latin typeface="Calibri" pitchFamily="34" charset="0"/>
                <a:ea typeface="Calibri" pitchFamily="34" charset="-122"/>
                <a:cs typeface="Calibri" pitchFamily="34" charset="-120"/>
              </a:rPr>
              <a:t>Two sightings implying more than 150 km/h are flagged, not drawn</a:t>
            </a:r>
            <a:endParaRPr lang="en-US" sz="1500" dirty="0"/>
          </a:p>
          <a:p>
            <a:pPr marL="203200" indent="-203200">
              <a:spcAft>
                <a:spcPts val="1200"/>
              </a:spcAft>
              <a:buSzPct val="100000"/>
              <a:buChar char="•"/>
            </a:pPr>
            <a:r>
              <a:rPr lang="en-US" sz="1500" dirty="0">
                <a:solidFill>
                  <a:srgbClr val="F2F5FA"/>
                </a:solidFill>
                <a:latin typeface="Calibri" pitchFamily="34" charset="0"/>
                <a:ea typeface="Calibri" pitchFamily="34" charset="-122"/>
                <a:cs typeface="Calibri" pitchFamily="34" charset="-120"/>
              </a:rPr>
              <a:t>Probable stops are dashed and amber; an officer confirms each on its frame</a:t>
            </a:r>
            <a:endParaRPr lang="en-US" sz="1500" dirty="0"/>
          </a:p>
          <a:p>
            <a:pPr marL="203200" indent="-203200">
              <a:spcAft>
                <a:spcPts val="1200"/>
              </a:spcAft>
              <a:buSzPct val="100000"/>
              <a:buChar char="•"/>
            </a:pPr>
            <a:r>
              <a:rPr lang="en-US" sz="1500" dirty="0">
                <a:solidFill>
                  <a:srgbClr val="F2F5FA"/>
                </a:solidFill>
                <a:latin typeface="Calibri" pitchFamily="34" charset="0"/>
                <a:ea typeface="Calibri" pitchFamily="34" charset="-122"/>
                <a:cs typeface="Calibri" pitchFamily="34" charset="-120"/>
              </a:rPr>
              <a:t>Reads shorter than six characters are discarded — they match everything</a:t>
            </a:r>
            <a:endParaRPr lang="en-US" sz="1500" dirty="0"/>
          </a:p>
        </p:txBody>
      </p:sp>
      <p:sp>
        <p:nvSpPr>
          <p:cNvPr id="16" name="Shape 11"/>
          <p:cNvSpPr/>
          <p:nvPr/>
        </p:nvSpPr>
        <p:spPr>
          <a:xfrm>
            <a:off x="8127797" y="1691640"/>
            <a:ext cx="3515258" cy="4343400"/>
          </a:xfrm>
          <a:prstGeom prst="roundRect">
            <a:avLst>
              <a:gd name="adj" fmla="val 3121"/>
            </a:avLst>
          </a:prstGeom>
          <a:solidFill>
            <a:srgbClr val="131C30"/>
          </a:solidFill>
          <a:ln w="9525">
            <a:solidFill>
              <a:srgbClr val="2C3A5C"/>
            </a:solidFill>
            <a:prstDash val="solid"/>
          </a:ln>
        </p:spPr>
      </p:sp>
      <p:sp>
        <p:nvSpPr>
          <p:cNvPr id="17" name="Shape 12"/>
          <p:cNvSpPr/>
          <p:nvPr/>
        </p:nvSpPr>
        <p:spPr>
          <a:xfrm>
            <a:off x="8447837" y="1965960"/>
            <a:ext cx="566928" cy="566928"/>
          </a:xfrm>
          <a:prstGeom prst="ellipse">
            <a:avLst/>
          </a:prstGeom>
          <a:solidFill>
            <a:srgbClr val="A9B6CB"/>
          </a:solidFill>
          <a:ln w="12700">
            <a:solidFill>
              <a:srgbClr val="A9B6CB"/>
            </a:solidFill>
            <a:prstDash val="solid"/>
          </a:ln>
        </p:spPr>
      </p:sp>
      <p:pic>
        <p:nvPicPr>
          <p:cNvPr id="18" name="Image 2" descr="preencoded.png">    </p:cNvPr>
          <p:cNvPicPr>
            <a:picLocks noChangeAspect="1"/>
          </p:cNvPicPr>
          <p:nvPr/>
        </p:nvPicPr>
        <p:blipFill>
          <a:blip r:embed="rId3"/>
          <a:stretch>
            <a:fillRect/>
          </a:stretch>
        </p:blipFill>
        <p:spPr>
          <a:xfrm>
            <a:off x="8572561" y="2090684"/>
            <a:ext cx="317480" cy="317480"/>
          </a:xfrm>
          <a:prstGeom prst="rect">
            <a:avLst/>
          </a:prstGeom>
        </p:spPr>
      </p:pic>
      <p:sp>
        <p:nvSpPr>
          <p:cNvPr id="19" name="Text 13"/>
          <p:cNvSpPr/>
          <p:nvPr/>
        </p:nvSpPr>
        <p:spPr>
          <a:xfrm>
            <a:off x="9179357" y="2075688"/>
            <a:ext cx="2235098" cy="411480"/>
          </a:xfrm>
          <a:prstGeom prst="rect">
            <a:avLst/>
          </a:prstGeom>
          <a:noFill/>
          <a:ln/>
        </p:spPr>
        <p:txBody>
          <a:bodyPr wrap="square" lIns="0" tIns="0" rIns="0" bIns="0" rtlCol="0" anchor="t"/>
          <a:lstStyle/>
          <a:p>
            <a:pPr indent="0" marL="0">
              <a:buNone/>
            </a:pPr>
            <a:r>
              <a:rPr lang="en-US" sz="1900" b="1" dirty="0">
                <a:solidFill>
                  <a:srgbClr val="F2F5FA"/>
                </a:solidFill>
                <a:latin typeface="Arial" pitchFamily="34" charset="0"/>
                <a:ea typeface="Arial" pitchFamily="34" charset="-122"/>
                <a:cs typeface="Arial" pitchFamily="34" charset="-120"/>
              </a:rPr>
              <a:t>Next: appearance ReID</a:t>
            </a:r>
            <a:endParaRPr lang="en-US" sz="1900" dirty="0"/>
          </a:p>
        </p:txBody>
      </p:sp>
      <p:sp>
        <p:nvSpPr>
          <p:cNvPr id="20" name="Text 14"/>
          <p:cNvSpPr/>
          <p:nvPr/>
        </p:nvSpPr>
        <p:spPr>
          <a:xfrm>
            <a:off x="8447837" y="2834640"/>
            <a:ext cx="2875178" cy="301752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F2F5FA"/>
                </a:solidFill>
                <a:latin typeface="Calibri" pitchFamily="34" charset="0"/>
                <a:ea typeface="Calibri" pitchFamily="34" charset="-122"/>
                <a:cs typeface="Calibri" pitchFamily="34" charset="-120"/>
              </a:rPr>
              <a:t>One embedding per vehicle track; matching within a reachable time window</a:t>
            </a:r>
            <a:endParaRPr lang="en-US" sz="1500" dirty="0"/>
          </a:p>
          <a:p>
            <a:pPr marL="203200" indent="-203200">
              <a:spcAft>
                <a:spcPts val="1200"/>
              </a:spcAft>
              <a:buSzPct val="100000"/>
              <a:buChar char="•"/>
            </a:pPr>
            <a:r>
              <a:rPr lang="en-US" sz="1500" dirty="0">
                <a:solidFill>
                  <a:srgbClr val="F2F5FA"/>
                </a:solidFill>
                <a:latin typeface="Calibri" pitchFamily="34" charset="0"/>
                <a:ea typeface="Calibri" pitchFamily="34" charset="-122"/>
                <a:cs typeface="Calibri" pitchFamily="34" charset="-120"/>
              </a:rPr>
              <a:t>Designed and costed at about two days; off until calibrated on real footage</a:t>
            </a:r>
            <a:endParaRPr lang="en-US" sz="1500" dirty="0"/>
          </a:p>
          <a:p>
            <a:pPr marL="203200" indent="-203200">
              <a:spcAft>
                <a:spcPts val="1200"/>
              </a:spcAft>
              <a:buSzPct val="100000"/>
              <a:buChar char="•"/>
            </a:pPr>
            <a:r>
              <a:rPr lang="en-US" sz="1500" dirty="0">
                <a:solidFill>
                  <a:srgbClr val="F2F5FA"/>
                </a:solidFill>
                <a:latin typeface="Calibri" pitchFamily="34" charset="0"/>
                <a:ea typeface="Calibri" pitchFamily="34" charset="-122"/>
                <a:cs typeface="Calibri" pitchFamily="34" charset="-120"/>
              </a:rPr>
              <a:t>Stated plainly: not running in today’s demonstration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EVIDENCE THAT HOLDS UP</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The time on the frame is the time in the report</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10</a:t>
            </a:r>
            <a:endParaRPr lang="en-US" sz="900" dirty="0"/>
          </a:p>
        </p:txBody>
      </p:sp>
      <p:sp>
        <p:nvSpPr>
          <p:cNvPr id="6" name="Shape 3"/>
          <p:cNvSpPr/>
          <p:nvPr/>
        </p:nvSpPr>
        <p:spPr>
          <a:xfrm>
            <a:off x="6848856" y="1682496"/>
            <a:ext cx="4803343" cy="3300159"/>
          </a:xfrm>
          <a:prstGeom prst="roundRect">
            <a:avLst>
              <a:gd name="adj" fmla="val 2771"/>
            </a:avLst>
          </a:prstGeom>
          <a:solidFill>
            <a:srgbClr val="1B2742"/>
          </a:solidFill>
          <a:ln w="9525">
            <a:solidFill>
              <a:srgbClr val="2C3A5C"/>
            </a:solidFill>
            <a:prstDash val="solid"/>
          </a:ln>
          <a:effectLst>
            <a:outerShdw sx="100000" sy="100000" kx="0" ky="0" algn="bl" rotWithShape="0" blurRad="228600" dist="76200" dir="5400000">
              <a:srgbClr val="000000">
                <a:alpha val="45000"/>
              </a:srgbClr>
            </a:outerShdw>
          </a:effectLst>
        </p:spPr>
      </p:sp>
      <p:pic>
        <p:nvPicPr>
          <p:cNvPr id="7" name="Image 0" descr="preencoded.png">    </p:cNvPr>
          <p:cNvPicPr>
            <a:picLocks noChangeAspect="1"/>
          </p:cNvPicPr>
          <p:nvPr/>
        </p:nvPicPr>
        <p:blipFill>
          <a:blip r:embed="rId1"/>
          <a:stretch>
            <a:fillRect/>
          </a:stretch>
        </p:blipFill>
        <p:spPr>
          <a:xfrm>
            <a:off x="6903720" y="1737360"/>
            <a:ext cx="4693615" cy="3190431"/>
          </a:xfrm>
          <a:prstGeom prst="rect">
            <a:avLst/>
          </a:prstGeom>
        </p:spPr>
      </p:pic>
      <p:sp>
        <p:nvSpPr>
          <p:cNvPr id="8" name="Shape 4"/>
          <p:cNvSpPr/>
          <p:nvPr/>
        </p:nvSpPr>
        <p:spPr>
          <a:xfrm>
            <a:off x="548640" y="1783080"/>
            <a:ext cx="512064" cy="512064"/>
          </a:xfrm>
          <a:prstGeom prst="ellipse">
            <a:avLst/>
          </a:prstGeom>
          <a:solidFill>
            <a:srgbClr val="F5A524"/>
          </a:solidFill>
          <a:ln w="12700">
            <a:solidFill>
              <a:srgbClr val="F5A524"/>
            </a:solidFill>
            <a:prstDash val="solid"/>
          </a:ln>
        </p:spPr>
      </p:sp>
      <p:pic>
        <p:nvPicPr>
          <p:cNvPr id="9" name="Image 1" descr="preencoded.png">    </p:cNvPr>
          <p:cNvPicPr>
            <a:picLocks noChangeAspect="1"/>
          </p:cNvPicPr>
          <p:nvPr/>
        </p:nvPicPr>
        <p:blipFill>
          <a:blip r:embed="rId2"/>
          <a:stretch>
            <a:fillRect/>
          </a:stretch>
        </p:blipFill>
        <p:spPr>
          <a:xfrm>
            <a:off x="661294" y="1895734"/>
            <a:ext cx="286756" cy="286756"/>
          </a:xfrm>
          <a:prstGeom prst="rect">
            <a:avLst/>
          </a:prstGeom>
        </p:spPr>
      </p:pic>
      <p:sp>
        <p:nvSpPr>
          <p:cNvPr id="10" name="Text 5"/>
          <p:cNvSpPr/>
          <p:nvPr/>
        </p:nvSpPr>
        <p:spPr>
          <a:xfrm>
            <a:off x="1261872" y="1764792"/>
            <a:ext cx="5138928"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The camera’s clock is the time</a:t>
            </a:r>
            <a:endParaRPr lang="en-US" sz="1500" dirty="0"/>
          </a:p>
        </p:txBody>
      </p:sp>
      <p:sp>
        <p:nvSpPr>
          <p:cNvPr id="11" name="Text 6"/>
          <p:cNvSpPr/>
          <p:nvPr/>
        </p:nvSpPr>
        <p:spPr>
          <a:xfrm>
            <a:off x="1261872" y="2084832"/>
            <a:ext cx="5138928"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Confirmed by a second reading; unreadable means “time unknown”, never another clock.</a:t>
            </a:r>
            <a:endParaRPr lang="en-US" sz="1300" dirty="0"/>
          </a:p>
        </p:txBody>
      </p:sp>
      <p:sp>
        <p:nvSpPr>
          <p:cNvPr id="12" name="Shape 7"/>
          <p:cNvSpPr/>
          <p:nvPr/>
        </p:nvSpPr>
        <p:spPr>
          <a:xfrm>
            <a:off x="548640" y="2862072"/>
            <a:ext cx="512064" cy="512064"/>
          </a:xfrm>
          <a:prstGeom prst="ellipse">
            <a:avLst/>
          </a:prstGeom>
          <a:solidFill>
            <a:srgbClr val="F5A524"/>
          </a:solidFill>
          <a:ln w="12700">
            <a:solidFill>
              <a:srgbClr val="F5A524"/>
            </a:solidFill>
            <a:prstDash val="solid"/>
          </a:ln>
        </p:spPr>
      </p:sp>
      <p:pic>
        <p:nvPicPr>
          <p:cNvPr id="13" name="Image 2" descr="preencoded.png">    </p:cNvPr>
          <p:cNvPicPr>
            <a:picLocks noChangeAspect="1"/>
          </p:cNvPicPr>
          <p:nvPr/>
        </p:nvPicPr>
        <p:blipFill>
          <a:blip r:embed="rId3"/>
          <a:stretch>
            <a:fillRect/>
          </a:stretch>
        </p:blipFill>
        <p:spPr>
          <a:xfrm>
            <a:off x="661294" y="2974726"/>
            <a:ext cx="286756" cy="286756"/>
          </a:xfrm>
          <a:prstGeom prst="rect">
            <a:avLst/>
          </a:prstGeom>
        </p:spPr>
      </p:pic>
      <p:sp>
        <p:nvSpPr>
          <p:cNvPr id="14" name="Text 8"/>
          <p:cNvSpPr/>
          <p:nvPr/>
        </p:nvSpPr>
        <p:spPr>
          <a:xfrm>
            <a:off x="1261872" y="2843784"/>
            <a:ext cx="5138928"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Faces blurred by default</a:t>
            </a:r>
            <a:endParaRPr lang="en-US" sz="1500" dirty="0"/>
          </a:p>
        </p:txBody>
      </p:sp>
      <p:sp>
        <p:nvSpPr>
          <p:cNvPr id="15" name="Text 9"/>
          <p:cNvSpPr/>
          <p:nvPr/>
        </p:nvSpPr>
        <p:spPr>
          <a:xfrm>
            <a:off x="1261872" y="3163824"/>
            <a:ext cx="5138928"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Revealing an original needs a stated reason, and is logged.</a:t>
            </a:r>
            <a:endParaRPr lang="en-US" sz="1300" dirty="0"/>
          </a:p>
        </p:txBody>
      </p:sp>
      <p:sp>
        <p:nvSpPr>
          <p:cNvPr id="16" name="Shape 10"/>
          <p:cNvSpPr/>
          <p:nvPr/>
        </p:nvSpPr>
        <p:spPr>
          <a:xfrm>
            <a:off x="548640" y="3941064"/>
            <a:ext cx="512064" cy="512064"/>
          </a:xfrm>
          <a:prstGeom prst="ellipse">
            <a:avLst/>
          </a:prstGeom>
          <a:solidFill>
            <a:srgbClr val="F5A524"/>
          </a:solidFill>
          <a:ln w="12700">
            <a:solidFill>
              <a:srgbClr val="F5A524"/>
            </a:solidFill>
            <a:prstDash val="solid"/>
          </a:ln>
        </p:spPr>
      </p:sp>
      <p:pic>
        <p:nvPicPr>
          <p:cNvPr id="17" name="Image 3" descr="preencoded.png">    </p:cNvPr>
          <p:cNvPicPr>
            <a:picLocks noChangeAspect="1"/>
          </p:cNvPicPr>
          <p:nvPr/>
        </p:nvPicPr>
        <p:blipFill>
          <a:blip r:embed="rId4"/>
          <a:stretch>
            <a:fillRect/>
          </a:stretch>
        </p:blipFill>
        <p:spPr>
          <a:xfrm>
            <a:off x="661294" y="4053718"/>
            <a:ext cx="286756" cy="286756"/>
          </a:xfrm>
          <a:prstGeom prst="rect">
            <a:avLst/>
          </a:prstGeom>
        </p:spPr>
      </p:pic>
      <p:sp>
        <p:nvSpPr>
          <p:cNvPr id="18" name="Text 11"/>
          <p:cNvSpPr/>
          <p:nvPr/>
        </p:nvSpPr>
        <p:spPr>
          <a:xfrm>
            <a:off x="1261872" y="3922776"/>
            <a:ext cx="5138928"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Hash-chained audit log</a:t>
            </a:r>
            <a:endParaRPr lang="en-US" sz="1500" dirty="0"/>
          </a:p>
        </p:txBody>
      </p:sp>
      <p:sp>
        <p:nvSpPr>
          <p:cNvPr id="19" name="Text 12"/>
          <p:cNvSpPr/>
          <p:nvPr/>
        </p:nvSpPr>
        <p:spPr>
          <a:xfrm>
            <a:off x="1261872" y="4242816"/>
            <a:ext cx="5138928"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Every search, export and reveal. One edited row breaks verification.</a:t>
            </a:r>
            <a:endParaRPr lang="en-US" sz="1300" dirty="0"/>
          </a:p>
        </p:txBody>
      </p:sp>
      <p:sp>
        <p:nvSpPr>
          <p:cNvPr id="20" name="Shape 13"/>
          <p:cNvSpPr/>
          <p:nvPr/>
        </p:nvSpPr>
        <p:spPr>
          <a:xfrm>
            <a:off x="548640" y="5020056"/>
            <a:ext cx="512064" cy="512064"/>
          </a:xfrm>
          <a:prstGeom prst="ellipse">
            <a:avLst/>
          </a:prstGeom>
          <a:solidFill>
            <a:srgbClr val="F5A524"/>
          </a:solidFill>
          <a:ln w="12700">
            <a:solidFill>
              <a:srgbClr val="F5A524"/>
            </a:solidFill>
            <a:prstDash val="solid"/>
          </a:ln>
        </p:spPr>
      </p:sp>
      <p:pic>
        <p:nvPicPr>
          <p:cNvPr id="21" name="Image 4" descr="preencoded.png">    </p:cNvPr>
          <p:cNvPicPr>
            <a:picLocks noChangeAspect="1"/>
          </p:cNvPicPr>
          <p:nvPr/>
        </p:nvPicPr>
        <p:blipFill>
          <a:blip r:embed="rId5"/>
          <a:stretch>
            <a:fillRect/>
          </a:stretch>
        </p:blipFill>
        <p:spPr>
          <a:xfrm>
            <a:off x="661294" y="5132710"/>
            <a:ext cx="286756" cy="286756"/>
          </a:xfrm>
          <a:prstGeom prst="rect">
            <a:avLst/>
          </a:prstGeom>
        </p:spPr>
      </p:pic>
      <p:sp>
        <p:nvSpPr>
          <p:cNvPr id="22" name="Text 14"/>
          <p:cNvSpPr/>
          <p:nvPr/>
        </p:nvSpPr>
        <p:spPr>
          <a:xfrm>
            <a:off x="1261872" y="5001768"/>
            <a:ext cx="5138928" cy="310896"/>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Scoped in the database</a:t>
            </a:r>
            <a:endParaRPr lang="en-US" sz="1500" dirty="0"/>
          </a:p>
        </p:txBody>
      </p:sp>
      <p:sp>
        <p:nvSpPr>
          <p:cNvPr id="23" name="Text 15"/>
          <p:cNvSpPr/>
          <p:nvPr/>
        </p:nvSpPr>
        <p:spPr>
          <a:xfrm>
            <a:off x="1261872" y="5321808"/>
            <a:ext cx="5138928" cy="566928"/>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Department row-level security; private cameras only with live consent.</a:t>
            </a:r>
            <a:endParaRPr lang="en-US" sz="1300" dirty="0"/>
          </a:p>
        </p:txBody>
      </p:sp>
      <p:sp>
        <p:nvSpPr>
          <p:cNvPr id="24" name="Text 16"/>
          <p:cNvSpPr/>
          <p:nvPr/>
        </p:nvSpPr>
        <p:spPr>
          <a:xfrm>
            <a:off x="6903720" y="5806440"/>
            <a:ext cx="4693615" cy="457200"/>
          </a:xfrm>
          <a:prstGeom prst="rect">
            <a:avLst/>
          </a:prstGeom>
          <a:noFill/>
          <a:ln/>
        </p:spPr>
        <p:txBody>
          <a:bodyPr wrap="square" lIns="0" tIns="0" rIns="0" bIns="0" rtlCol="0" anchor="t"/>
          <a:lstStyle/>
          <a:p>
            <a:pPr indent="0" marL="0">
              <a:buNone/>
            </a:pPr>
            <a:r>
              <a:rPr lang="en-US" sz="1100" i="1" dirty="0">
                <a:solidFill>
                  <a:srgbClr val="A9B6CB"/>
                </a:solidFill>
                <a:latin typeface="Calibri" pitchFamily="34" charset="0"/>
                <a:ea typeface="Calibri" pitchFamily="34" charset="-122"/>
                <a:cs typeface="Calibri" pitchFamily="34" charset="-120"/>
              </a:rPr>
              <a:t>A sighting whose clock cannot be read stays a sighting — off the timeline, clearly labelled.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BEYOND NUMBER PLATES</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More than plates — never identities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11</a:t>
            </a:r>
            <a:endParaRPr lang="en-US" sz="900" dirty="0"/>
          </a:p>
        </p:txBody>
      </p:sp>
      <p:sp>
        <p:nvSpPr>
          <p:cNvPr id="6" name="Shape 3"/>
          <p:cNvSpPr/>
          <p:nvPr/>
        </p:nvSpPr>
        <p:spPr>
          <a:xfrm>
            <a:off x="548640" y="1737360"/>
            <a:ext cx="3515258" cy="1645920"/>
          </a:xfrm>
          <a:prstGeom prst="roundRect">
            <a:avLst>
              <a:gd name="adj" fmla="val 6667"/>
            </a:avLst>
          </a:prstGeom>
          <a:solidFill>
            <a:srgbClr val="1B2742"/>
          </a:solidFill>
          <a:ln w="9525">
            <a:solidFill>
              <a:srgbClr val="2C3A5C"/>
            </a:solidFill>
            <a:prstDash val="solid"/>
          </a:ln>
        </p:spPr>
      </p:sp>
      <p:sp>
        <p:nvSpPr>
          <p:cNvPr id="7" name="Shape 4"/>
          <p:cNvSpPr/>
          <p:nvPr/>
        </p:nvSpPr>
        <p:spPr>
          <a:xfrm>
            <a:off x="822960" y="2011680"/>
            <a:ext cx="548640" cy="548640"/>
          </a:xfrm>
          <a:prstGeom prst="ellipse">
            <a:avLst/>
          </a:prstGeom>
          <a:solidFill>
            <a:srgbClr val="F5A524"/>
          </a:solidFill>
          <a:ln w="12700">
            <a:solidFill>
              <a:srgbClr val="F5A524"/>
            </a:solidFill>
            <a:prstDash val="solid"/>
          </a:ln>
        </p:spPr>
      </p:sp>
      <p:pic>
        <p:nvPicPr>
          <p:cNvPr id="8" name="Image 0" descr="preencoded.png">    </p:cNvPr>
          <p:cNvPicPr>
            <a:picLocks noChangeAspect="1"/>
          </p:cNvPicPr>
          <p:nvPr/>
        </p:nvPicPr>
        <p:blipFill>
          <a:blip r:embed="rId1"/>
          <a:stretch>
            <a:fillRect/>
          </a:stretch>
        </p:blipFill>
        <p:spPr>
          <a:xfrm>
            <a:off x="943661" y="2132381"/>
            <a:ext cx="307238" cy="307238"/>
          </a:xfrm>
          <a:prstGeom prst="rect">
            <a:avLst/>
          </a:prstGeom>
        </p:spPr>
      </p:pic>
      <p:sp>
        <p:nvSpPr>
          <p:cNvPr id="9" name="Text 5"/>
          <p:cNvSpPr/>
          <p:nvPr/>
        </p:nvSpPr>
        <p:spPr>
          <a:xfrm>
            <a:off x="1554480" y="2029968"/>
            <a:ext cx="2280818" cy="411480"/>
          </a:xfrm>
          <a:prstGeom prst="rect">
            <a:avLst/>
          </a:prstGeom>
          <a:noFill/>
          <a:ln/>
        </p:spPr>
        <p:txBody>
          <a:bodyPr wrap="square" lIns="0" tIns="0" rIns="0" bIns="0" rtlCol="0" anchor="t"/>
          <a:lstStyle/>
          <a:p>
            <a:pPr indent="0" marL="0">
              <a:buNone/>
            </a:pPr>
            <a:r>
              <a:rPr lang="en-US" sz="1700" b="1" dirty="0">
                <a:solidFill>
                  <a:srgbClr val="F2F5FA"/>
                </a:solidFill>
                <a:latin typeface="Arial" pitchFamily="34" charset="0"/>
                <a:ea typeface="Arial" pitchFamily="34" charset="-122"/>
                <a:cs typeface="Arial" pitchFamily="34" charset="-120"/>
              </a:rPr>
              <a:t>Vehicle class</a:t>
            </a:r>
            <a:endParaRPr lang="en-US" sz="1700" dirty="0"/>
          </a:p>
        </p:txBody>
      </p:sp>
      <p:sp>
        <p:nvSpPr>
          <p:cNvPr id="10" name="Text 6"/>
          <p:cNvSpPr/>
          <p:nvPr/>
        </p:nvSpPr>
        <p:spPr>
          <a:xfrm>
            <a:off x="1554480" y="2487168"/>
            <a:ext cx="2280818" cy="73152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Car, motorcycle, bus, truck — on every read.</a:t>
            </a:r>
            <a:endParaRPr lang="en-US" sz="1400" dirty="0"/>
          </a:p>
        </p:txBody>
      </p:sp>
      <p:sp>
        <p:nvSpPr>
          <p:cNvPr id="11" name="Shape 7"/>
          <p:cNvSpPr/>
          <p:nvPr/>
        </p:nvSpPr>
        <p:spPr>
          <a:xfrm>
            <a:off x="4338218" y="1737360"/>
            <a:ext cx="3515258" cy="1645920"/>
          </a:xfrm>
          <a:prstGeom prst="roundRect">
            <a:avLst>
              <a:gd name="adj" fmla="val 6667"/>
            </a:avLst>
          </a:prstGeom>
          <a:solidFill>
            <a:srgbClr val="131C30"/>
          </a:solidFill>
          <a:ln w="9525">
            <a:solidFill>
              <a:srgbClr val="2C3A5C"/>
            </a:solidFill>
            <a:prstDash val="solid"/>
          </a:ln>
        </p:spPr>
      </p:sp>
      <p:sp>
        <p:nvSpPr>
          <p:cNvPr id="12" name="Shape 8"/>
          <p:cNvSpPr/>
          <p:nvPr/>
        </p:nvSpPr>
        <p:spPr>
          <a:xfrm>
            <a:off x="4612538" y="2011680"/>
            <a:ext cx="548640" cy="548640"/>
          </a:xfrm>
          <a:prstGeom prst="ellipse">
            <a:avLst/>
          </a:prstGeom>
          <a:solidFill>
            <a:srgbClr val="F5A524"/>
          </a:solidFill>
          <a:ln w="12700">
            <a:solidFill>
              <a:srgbClr val="F5A524"/>
            </a:solidFill>
            <a:prstDash val="solid"/>
          </a:ln>
        </p:spPr>
      </p:sp>
      <p:pic>
        <p:nvPicPr>
          <p:cNvPr id="13" name="Image 1" descr="preencoded.png">    </p:cNvPr>
          <p:cNvPicPr>
            <a:picLocks noChangeAspect="1"/>
          </p:cNvPicPr>
          <p:nvPr/>
        </p:nvPicPr>
        <p:blipFill>
          <a:blip r:embed="rId2"/>
          <a:stretch>
            <a:fillRect/>
          </a:stretch>
        </p:blipFill>
        <p:spPr>
          <a:xfrm>
            <a:off x="4733239" y="2132381"/>
            <a:ext cx="307238" cy="307238"/>
          </a:xfrm>
          <a:prstGeom prst="rect">
            <a:avLst/>
          </a:prstGeom>
        </p:spPr>
      </p:pic>
      <p:sp>
        <p:nvSpPr>
          <p:cNvPr id="14" name="Text 9"/>
          <p:cNvSpPr/>
          <p:nvPr/>
        </p:nvSpPr>
        <p:spPr>
          <a:xfrm>
            <a:off x="5344058" y="2029968"/>
            <a:ext cx="2280818" cy="411480"/>
          </a:xfrm>
          <a:prstGeom prst="rect">
            <a:avLst/>
          </a:prstGeom>
          <a:noFill/>
          <a:ln/>
        </p:spPr>
        <p:txBody>
          <a:bodyPr wrap="square" lIns="0" tIns="0" rIns="0" bIns="0" rtlCol="0" anchor="t"/>
          <a:lstStyle/>
          <a:p>
            <a:pPr indent="0" marL="0">
              <a:buNone/>
            </a:pPr>
            <a:r>
              <a:rPr lang="en-US" sz="1700" b="1" dirty="0">
                <a:solidFill>
                  <a:srgbClr val="F2F5FA"/>
                </a:solidFill>
                <a:latin typeface="Arial" pitchFamily="34" charset="0"/>
                <a:ea typeface="Arial" pitchFamily="34" charset="-122"/>
                <a:cs typeface="Arial" pitchFamily="34" charset="-120"/>
              </a:rPr>
              <a:t>Vehicle colour</a:t>
            </a:r>
            <a:endParaRPr lang="en-US" sz="1700" dirty="0"/>
          </a:p>
        </p:txBody>
      </p:sp>
      <p:sp>
        <p:nvSpPr>
          <p:cNvPr id="15" name="Text 10"/>
          <p:cNvSpPr/>
          <p:nvPr/>
        </p:nvSpPr>
        <p:spPr>
          <a:xfrm>
            <a:off x="5344058" y="2487168"/>
            <a:ext cx="2280818" cy="73152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Body colour attached to each sighting.</a:t>
            </a:r>
            <a:endParaRPr lang="en-US" sz="1400" dirty="0"/>
          </a:p>
        </p:txBody>
      </p:sp>
      <p:sp>
        <p:nvSpPr>
          <p:cNvPr id="16" name="Shape 11"/>
          <p:cNvSpPr/>
          <p:nvPr/>
        </p:nvSpPr>
        <p:spPr>
          <a:xfrm>
            <a:off x="8127797" y="1737360"/>
            <a:ext cx="3515258" cy="1645920"/>
          </a:xfrm>
          <a:prstGeom prst="roundRect">
            <a:avLst>
              <a:gd name="adj" fmla="val 6667"/>
            </a:avLst>
          </a:prstGeom>
          <a:solidFill>
            <a:srgbClr val="1B2742"/>
          </a:solidFill>
          <a:ln w="9525">
            <a:solidFill>
              <a:srgbClr val="2C3A5C"/>
            </a:solidFill>
            <a:prstDash val="solid"/>
          </a:ln>
        </p:spPr>
      </p:sp>
      <p:sp>
        <p:nvSpPr>
          <p:cNvPr id="17" name="Shape 12"/>
          <p:cNvSpPr/>
          <p:nvPr/>
        </p:nvSpPr>
        <p:spPr>
          <a:xfrm>
            <a:off x="8402117" y="2011680"/>
            <a:ext cx="548640" cy="548640"/>
          </a:xfrm>
          <a:prstGeom prst="ellipse">
            <a:avLst/>
          </a:prstGeom>
          <a:solidFill>
            <a:srgbClr val="F5A524"/>
          </a:solidFill>
          <a:ln w="12700">
            <a:solidFill>
              <a:srgbClr val="F5A524"/>
            </a:solidFill>
            <a:prstDash val="solid"/>
          </a:ln>
        </p:spPr>
      </p:sp>
      <p:pic>
        <p:nvPicPr>
          <p:cNvPr id="18" name="Image 2" descr="preencoded.png">    </p:cNvPr>
          <p:cNvPicPr>
            <a:picLocks noChangeAspect="1"/>
          </p:cNvPicPr>
          <p:nvPr/>
        </p:nvPicPr>
        <p:blipFill>
          <a:blip r:embed="rId3"/>
          <a:stretch>
            <a:fillRect/>
          </a:stretch>
        </p:blipFill>
        <p:spPr>
          <a:xfrm>
            <a:off x="8522818" y="2132381"/>
            <a:ext cx="307238" cy="307238"/>
          </a:xfrm>
          <a:prstGeom prst="rect">
            <a:avLst/>
          </a:prstGeom>
        </p:spPr>
      </p:pic>
      <p:sp>
        <p:nvSpPr>
          <p:cNvPr id="19" name="Text 13"/>
          <p:cNvSpPr/>
          <p:nvPr/>
        </p:nvSpPr>
        <p:spPr>
          <a:xfrm>
            <a:off x="9133637" y="2029968"/>
            <a:ext cx="2280818" cy="411480"/>
          </a:xfrm>
          <a:prstGeom prst="rect">
            <a:avLst/>
          </a:prstGeom>
          <a:noFill/>
          <a:ln/>
        </p:spPr>
        <p:txBody>
          <a:bodyPr wrap="square" lIns="0" tIns="0" rIns="0" bIns="0" rtlCol="0" anchor="t"/>
          <a:lstStyle/>
          <a:p>
            <a:pPr indent="0" marL="0">
              <a:buNone/>
            </a:pPr>
            <a:r>
              <a:rPr lang="en-US" sz="1700" b="1" dirty="0">
                <a:solidFill>
                  <a:srgbClr val="F2F5FA"/>
                </a:solidFill>
                <a:latin typeface="Arial" pitchFamily="34" charset="0"/>
                <a:ea typeface="Arial" pitchFamily="34" charset="-122"/>
                <a:cs typeface="Arial" pitchFamily="34" charset="-120"/>
              </a:rPr>
              <a:t>People counted</a:t>
            </a:r>
            <a:endParaRPr lang="en-US" sz="1700" dirty="0"/>
          </a:p>
        </p:txBody>
      </p:sp>
      <p:sp>
        <p:nvSpPr>
          <p:cNvPr id="20" name="Text 14"/>
          <p:cNvSpPr/>
          <p:nvPr/>
        </p:nvSpPr>
        <p:spPr>
          <a:xfrm>
            <a:off x="9133637" y="2487168"/>
            <a:ext cx="2280818" cy="73152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Counted per camera and held to zones. Never identified.</a:t>
            </a:r>
            <a:endParaRPr lang="en-US" sz="1400" dirty="0"/>
          </a:p>
        </p:txBody>
      </p:sp>
      <p:sp>
        <p:nvSpPr>
          <p:cNvPr id="21" name="Shape 15"/>
          <p:cNvSpPr/>
          <p:nvPr/>
        </p:nvSpPr>
        <p:spPr>
          <a:xfrm>
            <a:off x="548640" y="3611880"/>
            <a:ext cx="3515258" cy="1645920"/>
          </a:xfrm>
          <a:prstGeom prst="roundRect">
            <a:avLst>
              <a:gd name="adj" fmla="val 6667"/>
            </a:avLst>
          </a:prstGeom>
          <a:solidFill>
            <a:srgbClr val="131C30"/>
          </a:solidFill>
          <a:ln w="9525">
            <a:solidFill>
              <a:srgbClr val="2C3A5C"/>
            </a:solidFill>
            <a:prstDash val="solid"/>
          </a:ln>
        </p:spPr>
      </p:sp>
      <p:sp>
        <p:nvSpPr>
          <p:cNvPr id="22" name="Shape 16"/>
          <p:cNvSpPr/>
          <p:nvPr/>
        </p:nvSpPr>
        <p:spPr>
          <a:xfrm>
            <a:off x="822960" y="3886200"/>
            <a:ext cx="548640" cy="548640"/>
          </a:xfrm>
          <a:prstGeom prst="ellipse">
            <a:avLst/>
          </a:prstGeom>
          <a:solidFill>
            <a:srgbClr val="F5A524"/>
          </a:solidFill>
          <a:ln w="12700">
            <a:solidFill>
              <a:srgbClr val="F5A524"/>
            </a:solidFill>
            <a:prstDash val="solid"/>
          </a:ln>
        </p:spPr>
      </p:sp>
      <p:pic>
        <p:nvPicPr>
          <p:cNvPr id="23" name="Image 3" descr="preencoded.png">    </p:cNvPr>
          <p:cNvPicPr>
            <a:picLocks noChangeAspect="1"/>
          </p:cNvPicPr>
          <p:nvPr/>
        </p:nvPicPr>
        <p:blipFill>
          <a:blip r:embed="rId4"/>
          <a:stretch>
            <a:fillRect/>
          </a:stretch>
        </p:blipFill>
        <p:spPr>
          <a:xfrm>
            <a:off x="943661" y="4006901"/>
            <a:ext cx="307238" cy="307238"/>
          </a:xfrm>
          <a:prstGeom prst="rect">
            <a:avLst/>
          </a:prstGeom>
        </p:spPr>
      </p:pic>
      <p:sp>
        <p:nvSpPr>
          <p:cNvPr id="24" name="Text 17"/>
          <p:cNvSpPr/>
          <p:nvPr/>
        </p:nvSpPr>
        <p:spPr>
          <a:xfrm>
            <a:off x="1554480" y="3904488"/>
            <a:ext cx="2280818" cy="411480"/>
          </a:xfrm>
          <a:prstGeom prst="rect">
            <a:avLst/>
          </a:prstGeom>
          <a:noFill/>
          <a:ln/>
        </p:spPr>
        <p:txBody>
          <a:bodyPr wrap="square" lIns="0" tIns="0" rIns="0" bIns="0" rtlCol="0" anchor="t"/>
          <a:lstStyle/>
          <a:p>
            <a:pPr indent="0" marL="0">
              <a:buNone/>
            </a:pPr>
            <a:r>
              <a:rPr lang="en-US" sz="1700" b="1" dirty="0">
                <a:solidFill>
                  <a:srgbClr val="F2F5FA"/>
                </a:solidFill>
                <a:latin typeface="Arial" pitchFamily="34" charset="0"/>
                <a:ea typeface="Arial" pitchFamily="34" charset="-122"/>
                <a:cs typeface="Arial" pitchFamily="34" charset="-120"/>
              </a:rPr>
              <a:t>Zone intrusion</a:t>
            </a:r>
            <a:endParaRPr lang="en-US" sz="1700" dirty="0"/>
          </a:p>
        </p:txBody>
      </p:sp>
      <p:sp>
        <p:nvSpPr>
          <p:cNvPr id="25" name="Text 18"/>
          <p:cNvSpPr/>
          <p:nvPr/>
        </p:nvSpPr>
        <p:spPr>
          <a:xfrm>
            <a:off x="1554480" y="4361688"/>
            <a:ext cx="2280818" cy="73152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Intrusion and loitering zones on any camera, with dwell time.</a:t>
            </a:r>
            <a:endParaRPr lang="en-US" sz="1400" dirty="0"/>
          </a:p>
        </p:txBody>
      </p:sp>
      <p:sp>
        <p:nvSpPr>
          <p:cNvPr id="26" name="Shape 19"/>
          <p:cNvSpPr/>
          <p:nvPr/>
        </p:nvSpPr>
        <p:spPr>
          <a:xfrm>
            <a:off x="4338218" y="3611880"/>
            <a:ext cx="3515258" cy="1645920"/>
          </a:xfrm>
          <a:prstGeom prst="roundRect">
            <a:avLst>
              <a:gd name="adj" fmla="val 6667"/>
            </a:avLst>
          </a:prstGeom>
          <a:solidFill>
            <a:srgbClr val="1B2742"/>
          </a:solidFill>
          <a:ln w="9525">
            <a:solidFill>
              <a:srgbClr val="2C3A5C"/>
            </a:solidFill>
            <a:prstDash val="solid"/>
          </a:ln>
        </p:spPr>
      </p:sp>
      <p:sp>
        <p:nvSpPr>
          <p:cNvPr id="27" name="Shape 20"/>
          <p:cNvSpPr/>
          <p:nvPr/>
        </p:nvSpPr>
        <p:spPr>
          <a:xfrm>
            <a:off x="4612538" y="3886200"/>
            <a:ext cx="548640" cy="548640"/>
          </a:xfrm>
          <a:prstGeom prst="ellipse">
            <a:avLst/>
          </a:prstGeom>
          <a:solidFill>
            <a:srgbClr val="F5A524"/>
          </a:solidFill>
          <a:ln w="12700">
            <a:solidFill>
              <a:srgbClr val="F5A524"/>
            </a:solidFill>
            <a:prstDash val="solid"/>
          </a:ln>
        </p:spPr>
      </p:sp>
      <p:pic>
        <p:nvPicPr>
          <p:cNvPr id="28" name="Image 4" descr="preencoded.png">    </p:cNvPr>
          <p:cNvPicPr>
            <a:picLocks noChangeAspect="1"/>
          </p:cNvPicPr>
          <p:nvPr/>
        </p:nvPicPr>
        <p:blipFill>
          <a:blip r:embed="rId5"/>
          <a:stretch>
            <a:fillRect/>
          </a:stretch>
        </p:blipFill>
        <p:spPr>
          <a:xfrm>
            <a:off x="4733239" y="4006901"/>
            <a:ext cx="307238" cy="307238"/>
          </a:xfrm>
          <a:prstGeom prst="rect">
            <a:avLst/>
          </a:prstGeom>
        </p:spPr>
      </p:pic>
      <p:sp>
        <p:nvSpPr>
          <p:cNvPr id="29" name="Text 21"/>
          <p:cNvSpPr/>
          <p:nvPr/>
        </p:nvSpPr>
        <p:spPr>
          <a:xfrm>
            <a:off x="5344058" y="3904488"/>
            <a:ext cx="2280818" cy="411480"/>
          </a:xfrm>
          <a:prstGeom prst="rect">
            <a:avLst/>
          </a:prstGeom>
          <a:noFill/>
          <a:ln/>
        </p:spPr>
        <p:txBody>
          <a:bodyPr wrap="square" lIns="0" tIns="0" rIns="0" bIns="0" rtlCol="0" anchor="t"/>
          <a:lstStyle/>
          <a:p>
            <a:pPr indent="0" marL="0">
              <a:buNone/>
            </a:pPr>
            <a:r>
              <a:rPr lang="en-US" sz="1700" b="1" dirty="0">
                <a:solidFill>
                  <a:srgbClr val="F2F5FA"/>
                </a:solidFill>
                <a:latin typeface="Arial" pitchFamily="34" charset="0"/>
                <a:ea typeface="Arial" pitchFamily="34" charset="-122"/>
                <a:cs typeface="Arial" pitchFamily="34" charset="-120"/>
              </a:rPr>
              <a:t>Traffic rules</a:t>
            </a:r>
            <a:endParaRPr lang="en-US" sz="1700" dirty="0"/>
          </a:p>
        </p:txBody>
      </p:sp>
      <p:sp>
        <p:nvSpPr>
          <p:cNvPr id="30" name="Text 22"/>
          <p:cNvSpPr/>
          <p:nvPr/>
        </p:nvSpPr>
        <p:spPr>
          <a:xfrm>
            <a:off x="5344058" y="4361688"/>
            <a:ext cx="2280818" cy="73152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Wrong-way and stopped-vehicle rules per zone.</a:t>
            </a:r>
            <a:endParaRPr lang="en-US" sz="1400" dirty="0"/>
          </a:p>
        </p:txBody>
      </p:sp>
      <p:sp>
        <p:nvSpPr>
          <p:cNvPr id="31" name="Shape 23"/>
          <p:cNvSpPr/>
          <p:nvPr/>
        </p:nvSpPr>
        <p:spPr>
          <a:xfrm>
            <a:off x="8127797" y="3611880"/>
            <a:ext cx="3515258" cy="1645920"/>
          </a:xfrm>
          <a:prstGeom prst="roundRect">
            <a:avLst>
              <a:gd name="adj" fmla="val 6667"/>
            </a:avLst>
          </a:prstGeom>
          <a:solidFill>
            <a:srgbClr val="131C30"/>
          </a:solidFill>
          <a:ln w="9525">
            <a:solidFill>
              <a:srgbClr val="2C3A5C"/>
            </a:solidFill>
            <a:prstDash val="solid"/>
          </a:ln>
        </p:spPr>
      </p:sp>
      <p:sp>
        <p:nvSpPr>
          <p:cNvPr id="32" name="Shape 24"/>
          <p:cNvSpPr/>
          <p:nvPr/>
        </p:nvSpPr>
        <p:spPr>
          <a:xfrm>
            <a:off x="8402117" y="3886200"/>
            <a:ext cx="548640" cy="548640"/>
          </a:xfrm>
          <a:prstGeom prst="ellipse">
            <a:avLst/>
          </a:prstGeom>
          <a:solidFill>
            <a:srgbClr val="F5A524"/>
          </a:solidFill>
          <a:ln w="12700">
            <a:solidFill>
              <a:srgbClr val="F5A524"/>
            </a:solidFill>
            <a:prstDash val="solid"/>
          </a:ln>
        </p:spPr>
      </p:sp>
      <p:pic>
        <p:nvPicPr>
          <p:cNvPr id="33" name="Image 5" descr="preencoded.png">    </p:cNvPr>
          <p:cNvPicPr>
            <a:picLocks noChangeAspect="1"/>
          </p:cNvPicPr>
          <p:nvPr/>
        </p:nvPicPr>
        <p:blipFill>
          <a:blip r:embed="rId6"/>
          <a:stretch>
            <a:fillRect/>
          </a:stretch>
        </p:blipFill>
        <p:spPr>
          <a:xfrm>
            <a:off x="8522818" y="4006901"/>
            <a:ext cx="307238" cy="307238"/>
          </a:xfrm>
          <a:prstGeom prst="rect">
            <a:avLst/>
          </a:prstGeom>
        </p:spPr>
      </p:pic>
      <p:sp>
        <p:nvSpPr>
          <p:cNvPr id="34" name="Text 25"/>
          <p:cNvSpPr/>
          <p:nvPr/>
        </p:nvSpPr>
        <p:spPr>
          <a:xfrm>
            <a:off x="9133637" y="3904488"/>
            <a:ext cx="2280818" cy="411480"/>
          </a:xfrm>
          <a:prstGeom prst="rect">
            <a:avLst/>
          </a:prstGeom>
          <a:noFill/>
          <a:ln/>
        </p:spPr>
        <p:txBody>
          <a:bodyPr wrap="square" lIns="0" tIns="0" rIns="0" bIns="0" rtlCol="0" anchor="t"/>
          <a:lstStyle/>
          <a:p>
            <a:pPr indent="0" marL="0">
              <a:buNone/>
            </a:pPr>
            <a:r>
              <a:rPr lang="en-US" sz="1700" b="1" dirty="0">
                <a:solidFill>
                  <a:srgbClr val="F2F5FA"/>
                </a:solidFill>
                <a:latin typeface="Arial" pitchFamily="34" charset="0"/>
                <a:ea typeface="Arial" pitchFamily="34" charset="-122"/>
                <a:cs typeface="Arial" pitchFamily="34" charset="-120"/>
              </a:rPr>
              <a:t>Camera tamper</a:t>
            </a:r>
            <a:endParaRPr lang="en-US" sz="1700" dirty="0"/>
          </a:p>
        </p:txBody>
      </p:sp>
      <p:sp>
        <p:nvSpPr>
          <p:cNvPr id="35" name="Text 26"/>
          <p:cNvSpPr/>
          <p:nvPr/>
        </p:nvSpPr>
        <p:spPr>
          <a:xfrm>
            <a:off x="9133637" y="4361688"/>
            <a:ext cx="2280818" cy="73152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Covered, blurred or moved — flagged on the camera.</a:t>
            </a:r>
            <a:endParaRPr lang="en-US" sz="1400" dirty="0"/>
          </a:p>
        </p:txBody>
      </p:sp>
      <p:sp>
        <p:nvSpPr>
          <p:cNvPr id="36" name="Shape 27"/>
          <p:cNvSpPr/>
          <p:nvPr/>
        </p:nvSpPr>
        <p:spPr>
          <a:xfrm>
            <a:off x="548640" y="5669280"/>
            <a:ext cx="420624" cy="420624"/>
          </a:xfrm>
          <a:prstGeom prst="ellipse">
            <a:avLst/>
          </a:prstGeom>
          <a:solidFill>
            <a:srgbClr val="34D3B4"/>
          </a:solidFill>
          <a:ln w="12700">
            <a:solidFill>
              <a:srgbClr val="34D3B4"/>
            </a:solidFill>
            <a:prstDash val="solid"/>
          </a:ln>
        </p:spPr>
      </p:sp>
      <p:pic>
        <p:nvPicPr>
          <p:cNvPr id="37" name="Image 6" descr="preencoded.png">    </p:cNvPr>
          <p:cNvPicPr>
            <a:picLocks noChangeAspect="1"/>
          </p:cNvPicPr>
          <p:nvPr/>
        </p:nvPicPr>
        <p:blipFill>
          <a:blip r:embed="rId7"/>
          <a:stretch>
            <a:fillRect/>
          </a:stretch>
        </p:blipFill>
        <p:spPr>
          <a:xfrm>
            <a:off x="641177" y="5761817"/>
            <a:ext cx="235549" cy="235549"/>
          </a:xfrm>
          <a:prstGeom prst="rect">
            <a:avLst/>
          </a:prstGeom>
        </p:spPr>
      </p:pic>
      <p:sp>
        <p:nvSpPr>
          <p:cNvPr id="38" name="Text 28"/>
          <p:cNvSpPr/>
          <p:nvPr/>
        </p:nvSpPr>
        <p:spPr>
          <a:xfrm>
            <a:off x="1143000" y="5733288"/>
            <a:ext cx="10500055" cy="365760"/>
          </a:xfrm>
          <a:prstGeom prst="rect">
            <a:avLst/>
          </a:prstGeom>
          <a:noFill/>
          <a:ln/>
        </p:spPr>
        <p:txBody>
          <a:bodyPr wrap="square" lIns="0" tIns="0" rIns="0" bIns="0" rtlCol="0" anchor="t"/>
          <a:lstStyle/>
          <a:p>
            <a:pPr indent="0" marL="0">
              <a:buNone/>
            </a:pPr>
            <a:r>
              <a:rPr lang="en-US" sz="1500" dirty="0">
                <a:solidFill>
                  <a:srgbClr val="F2F5FA"/>
                </a:solidFill>
                <a:latin typeface="Calibri" pitchFamily="34" charset="0"/>
                <a:ea typeface="Calibri" pitchFamily="34" charset="-122"/>
                <a:cs typeface="Calibri" pitchFamily="34" charset="-120"/>
              </a:rPr>
              <a:t>No face recognition, by decision. Faces are detected only so they can be blurred.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ARCHITECTURE AT 80,000 CAMERAS</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Analyse where it is filmed. Send meaning, not video.</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12</a:t>
            </a:r>
            <a:endParaRPr lang="en-US" sz="900" dirty="0"/>
          </a:p>
        </p:txBody>
      </p:sp>
      <p:sp>
        <p:nvSpPr>
          <p:cNvPr id="6" name="Shape 3"/>
          <p:cNvSpPr/>
          <p:nvPr/>
        </p:nvSpPr>
        <p:spPr>
          <a:xfrm>
            <a:off x="548640" y="1645920"/>
            <a:ext cx="11094415" cy="749808"/>
          </a:xfrm>
          <a:prstGeom prst="roundRect">
            <a:avLst>
              <a:gd name="adj" fmla="val 14634"/>
            </a:avLst>
          </a:prstGeom>
          <a:solidFill>
            <a:srgbClr val="131C30"/>
          </a:solidFill>
          <a:ln w="9525">
            <a:solidFill>
              <a:srgbClr val="2C3A5C"/>
            </a:solidFill>
            <a:prstDash val="solid"/>
          </a:ln>
        </p:spPr>
      </p:sp>
      <p:sp>
        <p:nvSpPr>
          <p:cNvPr id="7" name="Shape 4"/>
          <p:cNvSpPr/>
          <p:nvPr/>
        </p:nvSpPr>
        <p:spPr>
          <a:xfrm>
            <a:off x="731520" y="1792224"/>
            <a:ext cx="457200" cy="457200"/>
          </a:xfrm>
          <a:prstGeom prst="ellipse">
            <a:avLst/>
          </a:prstGeom>
          <a:solidFill>
            <a:srgbClr val="A9B6CB"/>
          </a:solidFill>
          <a:ln w="12700">
            <a:solidFill>
              <a:srgbClr val="A9B6CB"/>
            </a:solidFill>
            <a:prstDash val="solid"/>
          </a:ln>
        </p:spPr>
      </p:sp>
      <p:pic>
        <p:nvPicPr>
          <p:cNvPr id="8" name="Image 0" descr="preencoded.png">    </p:cNvPr>
          <p:cNvPicPr>
            <a:picLocks noChangeAspect="1"/>
          </p:cNvPicPr>
          <p:nvPr/>
        </p:nvPicPr>
        <p:blipFill>
          <a:blip r:embed="rId1"/>
          <a:stretch>
            <a:fillRect/>
          </a:stretch>
        </p:blipFill>
        <p:spPr>
          <a:xfrm>
            <a:off x="832104" y="1892808"/>
            <a:ext cx="256032" cy="256032"/>
          </a:xfrm>
          <a:prstGeom prst="rect">
            <a:avLst/>
          </a:prstGeom>
        </p:spPr>
      </p:pic>
      <p:sp>
        <p:nvSpPr>
          <p:cNvPr id="9" name="Text 5"/>
          <p:cNvSpPr/>
          <p:nvPr/>
        </p:nvSpPr>
        <p:spPr>
          <a:xfrm>
            <a:off x="1371600" y="1737360"/>
            <a:ext cx="4206240" cy="292608"/>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Consumers</a:t>
            </a:r>
            <a:endParaRPr lang="en-US" sz="1500" dirty="0"/>
          </a:p>
        </p:txBody>
      </p:sp>
      <p:sp>
        <p:nvSpPr>
          <p:cNvPr id="10" name="Text 6"/>
          <p:cNvSpPr/>
          <p:nvPr/>
        </p:nvSpPr>
        <p:spPr>
          <a:xfrm>
            <a:off x="1371600" y="2048256"/>
            <a:ext cx="6035040" cy="292608"/>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Command centres · Field app · VAHAN · SARTHI · eGujCop · AFIS · NAFIS</a:t>
            </a:r>
            <a:endParaRPr lang="en-US" sz="1200" dirty="0"/>
          </a:p>
        </p:txBody>
      </p:sp>
      <p:sp>
        <p:nvSpPr>
          <p:cNvPr id="11" name="Text 7"/>
          <p:cNvSpPr/>
          <p:nvPr/>
        </p:nvSpPr>
        <p:spPr>
          <a:xfrm>
            <a:off x="7498080" y="1810512"/>
            <a:ext cx="3916375" cy="420624"/>
          </a:xfrm>
          <a:prstGeom prst="rect">
            <a:avLst/>
          </a:prstGeom>
          <a:noFill/>
          <a:ln/>
        </p:spPr>
        <p:txBody>
          <a:bodyPr wrap="square" lIns="0" tIns="0" rIns="0" bIns="0" rtlCol="0" anchor="ctr"/>
          <a:lstStyle/>
          <a:p>
            <a:pPr algn="r" indent="0" marL="0">
              <a:buNone/>
            </a:pPr>
            <a:r>
              <a:rPr lang="en-US" sz="1400" b="1" dirty="0">
                <a:solidFill>
                  <a:srgbClr val="F2F5FA"/>
                </a:solidFill>
                <a:latin typeface="Arial" pitchFamily="34" charset="0"/>
                <a:ea typeface="Arial" pitchFamily="34" charset="-122"/>
                <a:cs typeface="Arial" pitchFamily="34" charset="-120"/>
              </a:rPr>
              <a:t>REST · live events · scoped access</a:t>
            </a:r>
            <a:endParaRPr lang="en-US" sz="1400" dirty="0"/>
          </a:p>
        </p:txBody>
      </p:sp>
      <p:sp>
        <p:nvSpPr>
          <p:cNvPr id="12" name="Shape 8"/>
          <p:cNvSpPr/>
          <p:nvPr/>
        </p:nvSpPr>
        <p:spPr>
          <a:xfrm>
            <a:off x="877824" y="2404872"/>
            <a:ext cx="164592" cy="164592"/>
          </a:xfrm>
          <a:prstGeom prst="upArrow">
            <a:avLst/>
          </a:prstGeom>
          <a:solidFill>
            <a:srgbClr val="2C3A5C"/>
          </a:solidFill>
          <a:ln w="12700">
            <a:solidFill>
              <a:srgbClr val="2C3A5C"/>
            </a:solidFill>
            <a:prstDash val="solid"/>
          </a:ln>
        </p:spPr>
      </p:sp>
      <p:sp>
        <p:nvSpPr>
          <p:cNvPr id="13" name="Shape 9"/>
          <p:cNvSpPr/>
          <p:nvPr/>
        </p:nvSpPr>
        <p:spPr>
          <a:xfrm>
            <a:off x="548640" y="2578608"/>
            <a:ext cx="11094415" cy="749808"/>
          </a:xfrm>
          <a:prstGeom prst="roundRect">
            <a:avLst>
              <a:gd name="adj" fmla="val 14634"/>
            </a:avLst>
          </a:prstGeom>
          <a:solidFill>
            <a:srgbClr val="1B2742"/>
          </a:solidFill>
          <a:ln w="9525">
            <a:solidFill>
              <a:srgbClr val="2C3A5C"/>
            </a:solidFill>
            <a:prstDash val="solid"/>
          </a:ln>
        </p:spPr>
      </p:sp>
      <p:sp>
        <p:nvSpPr>
          <p:cNvPr id="14" name="Shape 10"/>
          <p:cNvSpPr/>
          <p:nvPr/>
        </p:nvSpPr>
        <p:spPr>
          <a:xfrm>
            <a:off x="731520" y="2724912"/>
            <a:ext cx="457200" cy="457200"/>
          </a:xfrm>
          <a:prstGeom prst="ellipse">
            <a:avLst/>
          </a:prstGeom>
          <a:solidFill>
            <a:srgbClr val="F5A524"/>
          </a:solidFill>
          <a:ln w="12700">
            <a:solidFill>
              <a:srgbClr val="F5A524"/>
            </a:solidFill>
            <a:prstDash val="solid"/>
          </a:ln>
        </p:spPr>
      </p:sp>
      <p:pic>
        <p:nvPicPr>
          <p:cNvPr id="15" name="Image 1" descr="preencoded.png">    </p:cNvPr>
          <p:cNvPicPr>
            <a:picLocks noChangeAspect="1"/>
          </p:cNvPicPr>
          <p:nvPr/>
        </p:nvPicPr>
        <p:blipFill>
          <a:blip r:embed="rId2"/>
          <a:stretch>
            <a:fillRect/>
          </a:stretch>
        </p:blipFill>
        <p:spPr>
          <a:xfrm>
            <a:off x="832104" y="2825496"/>
            <a:ext cx="256032" cy="256032"/>
          </a:xfrm>
          <a:prstGeom prst="rect">
            <a:avLst/>
          </a:prstGeom>
        </p:spPr>
      </p:pic>
      <p:sp>
        <p:nvSpPr>
          <p:cNvPr id="16" name="Text 11"/>
          <p:cNvSpPr/>
          <p:nvPr/>
        </p:nvSpPr>
        <p:spPr>
          <a:xfrm>
            <a:off x="1371600" y="2670048"/>
            <a:ext cx="4206240" cy="292608"/>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State core  ·  HA + warm DR</a:t>
            </a:r>
            <a:endParaRPr lang="en-US" sz="1500" dirty="0"/>
          </a:p>
        </p:txBody>
      </p:sp>
      <p:sp>
        <p:nvSpPr>
          <p:cNvPr id="17" name="Text 12"/>
          <p:cNvSpPr/>
          <p:nvPr/>
        </p:nvSpPr>
        <p:spPr>
          <a:xfrm>
            <a:off x="1371600" y="2980944"/>
            <a:ext cx="6035040" cy="292608"/>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Event bus → correlator → alerts · Postgres / PostGIS / Timescale</a:t>
            </a:r>
            <a:endParaRPr lang="en-US" sz="1200" dirty="0"/>
          </a:p>
        </p:txBody>
      </p:sp>
      <p:sp>
        <p:nvSpPr>
          <p:cNvPr id="18" name="Text 13"/>
          <p:cNvSpPr/>
          <p:nvPr/>
        </p:nvSpPr>
        <p:spPr>
          <a:xfrm>
            <a:off x="7498080" y="2743200"/>
            <a:ext cx="3916375" cy="420624"/>
          </a:xfrm>
          <a:prstGeom prst="rect">
            <a:avLst/>
          </a:prstGeom>
          <a:noFill/>
          <a:ln/>
        </p:spPr>
        <p:txBody>
          <a:bodyPr wrap="square" lIns="0" tIns="0" rIns="0" bIns="0" rtlCol="0" anchor="ctr"/>
          <a:lstStyle/>
          <a:p>
            <a:pPr algn="r" indent="0" marL="0">
              <a:buNone/>
            </a:pPr>
            <a:r>
              <a:rPr lang="en-US" sz="1400" b="1" dirty="0">
                <a:solidFill>
                  <a:srgbClr val="F5A524"/>
                </a:solidFill>
                <a:latin typeface="Arial" pitchFamily="34" charset="0"/>
                <a:ea typeface="Arial" pitchFamily="34" charset="-122"/>
                <a:cs typeface="Arial" pitchFamily="34" charset="-120"/>
              </a:rPr>
              <a:t>≈563 events/s · ≈390 TB · RPO 15 min</a:t>
            </a:r>
            <a:endParaRPr lang="en-US" sz="1400" dirty="0"/>
          </a:p>
        </p:txBody>
      </p:sp>
      <p:sp>
        <p:nvSpPr>
          <p:cNvPr id="19" name="Shape 14"/>
          <p:cNvSpPr/>
          <p:nvPr/>
        </p:nvSpPr>
        <p:spPr>
          <a:xfrm>
            <a:off x="877824" y="3337560"/>
            <a:ext cx="164592" cy="164592"/>
          </a:xfrm>
          <a:prstGeom prst="upArrow">
            <a:avLst/>
          </a:prstGeom>
          <a:solidFill>
            <a:srgbClr val="2C3A5C"/>
          </a:solidFill>
          <a:ln w="12700">
            <a:solidFill>
              <a:srgbClr val="2C3A5C"/>
            </a:solidFill>
            <a:prstDash val="solid"/>
          </a:ln>
        </p:spPr>
      </p:sp>
      <p:sp>
        <p:nvSpPr>
          <p:cNvPr id="20" name="Shape 15"/>
          <p:cNvSpPr/>
          <p:nvPr/>
        </p:nvSpPr>
        <p:spPr>
          <a:xfrm>
            <a:off x="548640" y="3511296"/>
            <a:ext cx="11094415" cy="749808"/>
          </a:xfrm>
          <a:prstGeom prst="roundRect">
            <a:avLst>
              <a:gd name="adj" fmla="val 14634"/>
            </a:avLst>
          </a:prstGeom>
          <a:solidFill>
            <a:srgbClr val="1B2742"/>
          </a:solidFill>
          <a:ln w="9525">
            <a:solidFill>
              <a:srgbClr val="2C3A5C"/>
            </a:solidFill>
            <a:prstDash val="solid"/>
          </a:ln>
        </p:spPr>
      </p:sp>
      <p:sp>
        <p:nvSpPr>
          <p:cNvPr id="21" name="Shape 16"/>
          <p:cNvSpPr/>
          <p:nvPr/>
        </p:nvSpPr>
        <p:spPr>
          <a:xfrm>
            <a:off x="731520" y="3657600"/>
            <a:ext cx="457200" cy="457200"/>
          </a:xfrm>
          <a:prstGeom prst="ellipse">
            <a:avLst/>
          </a:prstGeom>
          <a:solidFill>
            <a:srgbClr val="F5A524"/>
          </a:solidFill>
          <a:ln w="12700">
            <a:solidFill>
              <a:srgbClr val="F5A524"/>
            </a:solidFill>
            <a:prstDash val="solid"/>
          </a:ln>
        </p:spPr>
      </p:sp>
      <p:pic>
        <p:nvPicPr>
          <p:cNvPr id="22" name="Image 2" descr="preencoded.png">    </p:cNvPr>
          <p:cNvPicPr>
            <a:picLocks noChangeAspect="1"/>
          </p:cNvPicPr>
          <p:nvPr/>
        </p:nvPicPr>
        <p:blipFill>
          <a:blip r:embed="rId3"/>
          <a:stretch>
            <a:fillRect/>
          </a:stretch>
        </p:blipFill>
        <p:spPr>
          <a:xfrm>
            <a:off x="832104" y="3758184"/>
            <a:ext cx="256032" cy="256032"/>
          </a:xfrm>
          <a:prstGeom prst="rect">
            <a:avLst/>
          </a:prstGeom>
        </p:spPr>
      </p:pic>
      <p:sp>
        <p:nvSpPr>
          <p:cNvPr id="23" name="Text 17"/>
          <p:cNvSpPr/>
          <p:nvPr/>
        </p:nvSpPr>
        <p:spPr>
          <a:xfrm>
            <a:off x="1371600" y="3602736"/>
            <a:ext cx="4206240" cy="292608"/>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District edge  ×34  (+ remote edge boxes)</a:t>
            </a:r>
            <a:endParaRPr lang="en-US" sz="1500" dirty="0"/>
          </a:p>
        </p:txBody>
      </p:sp>
      <p:sp>
        <p:nvSpPr>
          <p:cNvPr id="24" name="Text 18"/>
          <p:cNvSpPr/>
          <p:nvPr/>
        </p:nvSpPr>
        <p:spPr>
          <a:xfrm>
            <a:off x="1371600" y="3913632"/>
            <a:ext cx="6035040" cy="292608"/>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Relay (one pull per camera) → decode → ANPR + analytics → 72 h queue</a:t>
            </a:r>
            <a:endParaRPr lang="en-US" sz="1200" dirty="0"/>
          </a:p>
        </p:txBody>
      </p:sp>
      <p:sp>
        <p:nvSpPr>
          <p:cNvPr id="25" name="Text 19"/>
          <p:cNvSpPr/>
          <p:nvPr/>
        </p:nvSpPr>
        <p:spPr>
          <a:xfrm>
            <a:off x="7498080" y="3675888"/>
            <a:ext cx="3916375" cy="420624"/>
          </a:xfrm>
          <a:prstGeom prst="rect">
            <a:avLst/>
          </a:prstGeom>
          <a:noFill/>
          <a:ln/>
        </p:spPr>
        <p:txBody>
          <a:bodyPr wrap="square" lIns="0" tIns="0" rIns="0" bIns="0" rtlCol="0" anchor="ctr"/>
          <a:lstStyle/>
          <a:p>
            <a:pPr algn="r" indent="0" marL="0">
              <a:buNone/>
            </a:pPr>
            <a:r>
              <a:rPr lang="en-US" sz="1400" b="1" dirty="0">
                <a:solidFill>
                  <a:srgbClr val="F5A524"/>
                </a:solidFill>
                <a:latin typeface="Arial" pitchFamily="34" charset="0"/>
                <a:ea typeface="Arial" pitchFamily="34" charset="-122"/>
                <a:cs typeface="Arial" pitchFamily="34" charset="-120"/>
              </a:rPr>
              <a:t>≈560 GPUs · ≈140 Mbps uplink, statewide</a:t>
            </a:r>
            <a:endParaRPr lang="en-US" sz="1400" dirty="0"/>
          </a:p>
        </p:txBody>
      </p:sp>
      <p:sp>
        <p:nvSpPr>
          <p:cNvPr id="26" name="Shape 20"/>
          <p:cNvSpPr/>
          <p:nvPr/>
        </p:nvSpPr>
        <p:spPr>
          <a:xfrm>
            <a:off x="877824" y="4270248"/>
            <a:ext cx="164592" cy="164592"/>
          </a:xfrm>
          <a:prstGeom prst="upArrow">
            <a:avLst/>
          </a:prstGeom>
          <a:solidFill>
            <a:srgbClr val="2C3A5C"/>
          </a:solidFill>
          <a:ln w="12700">
            <a:solidFill>
              <a:srgbClr val="2C3A5C"/>
            </a:solidFill>
            <a:prstDash val="solid"/>
          </a:ln>
        </p:spPr>
      </p:sp>
      <p:sp>
        <p:nvSpPr>
          <p:cNvPr id="27" name="Shape 21"/>
          <p:cNvSpPr/>
          <p:nvPr/>
        </p:nvSpPr>
        <p:spPr>
          <a:xfrm>
            <a:off x="548640" y="4443984"/>
            <a:ext cx="11094415" cy="749808"/>
          </a:xfrm>
          <a:prstGeom prst="roundRect">
            <a:avLst>
              <a:gd name="adj" fmla="val 14634"/>
            </a:avLst>
          </a:prstGeom>
          <a:solidFill>
            <a:srgbClr val="131C30"/>
          </a:solidFill>
          <a:ln w="9525">
            <a:solidFill>
              <a:srgbClr val="2C3A5C"/>
            </a:solidFill>
            <a:prstDash val="solid"/>
          </a:ln>
        </p:spPr>
      </p:sp>
      <p:sp>
        <p:nvSpPr>
          <p:cNvPr id="28" name="Shape 22"/>
          <p:cNvSpPr/>
          <p:nvPr/>
        </p:nvSpPr>
        <p:spPr>
          <a:xfrm>
            <a:off x="731520" y="4590288"/>
            <a:ext cx="457200" cy="457200"/>
          </a:xfrm>
          <a:prstGeom prst="ellipse">
            <a:avLst/>
          </a:prstGeom>
          <a:solidFill>
            <a:srgbClr val="A9B6CB"/>
          </a:solidFill>
          <a:ln w="12700">
            <a:solidFill>
              <a:srgbClr val="A9B6CB"/>
            </a:solidFill>
            <a:prstDash val="solid"/>
          </a:ln>
        </p:spPr>
      </p:sp>
      <p:pic>
        <p:nvPicPr>
          <p:cNvPr id="29" name="Image 3" descr="preencoded.png">    </p:cNvPr>
          <p:cNvPicPr>
            <a:picLocks noChangeAspect="1"/>
          </p:cNvPicPr>
          <p:nvPr/>
        </p:nvPicPr>
        <p:blipFill>
          <a:blip r:embed="rId4"/>
          <a:stretch>
            <a:fillRect/>
          </a:stretch>
        </p:blipFill>
        <p:spPr>
          <a:xfrm>
            <a:off x="832104" y="4690872"/>
            <a:ext cx="256032" cy="256032"/>
          </a:xfrm>
          <a:prstGeom prst="rect">
            <a:avLst/>
          </a:prstGeom>
        </p:spPr>
      </p:pic>
      <p:sp>
        <p:nvSpPr>
          <p:cNvPr id="30" name="Text 23"/>
          <p:cNvSpPr/>
          <p:nvPr/>
        </p:nvSpPr>
        <p:spPr>
          <a:xfrm>
            <a:off x="1371600" y="4535424"/>
            <a:ext cx="4206240" cy="292608"/>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Department systems  ·  unchanged</a:t>
            </a:r>
            <a:endParaRPr lang="en-US" sz="1500" dirty="0"/>
          </a:p>
        </p:txBody>
      </p:sp>
      <p:sp>
        <p:nvSpPr>
          <p:cNvPr id="31" name="Text 24"/>
          <p:cNvSpPr/>
          <p:nvPr/>
        </p:nvSpPr>
        <p:spPr>
          <a:xfrm>
            <a:off x="1371600" y="4846320"/>
            <a:ext cx="6035040" cy="292608"/>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Cameras, NVRs and VMS keep their own 7–15 day retention</a:t>
            </a:r>
            <a:endParaRPr lang="en-US" sz="1200" dirty="0"/>
          </a:p>
        </p:txBody>
      </p:sp>
      <p:sp>
        <p:nvSpPr>
          <p:cNvPr id="32" name="Text 25"/>
          <p:cNvSpPr/>
          <p:nvPr/>
        </p:nvSpPr>
        <p:spPr>
          <a:xfrm>
            <a:off x="7498080" y="4608576"/>
            <a:ext cx="3916375" cy="420624"/>
          </a:xfrm>
          <a:prstGeom prst="rect">
            <a:avLst/>
          </a:prstGeom>
          <a:noFill/>
          <a:ln/>
        </p:spPr>
        <p:txBody>
          <a:bodyPr wrap="square" lIns="0" tIns="0" rIns="0" bIns="0" rtlCol="0" anchor="ctr"/>
          <a:lstStyle/>
          <a:p>
            <a:pPr algn="r" indent="0" marL="0">
              <a:buNone/>
            </a:pPr>
            <a:r>
              <a:rPr lang="en-US" sz="1400" b="1" dirty="0">
                <a:solidFill>
                  <a:srgbClr val="F2F5FA"/>
                </a:solidFill>
                <a:latin typeface="Arial" pitchFamily="34" charset="0"/>
                <a:ea typeface="Arial" pitchFamily="34" charset="-122"/>
                <a:cs typeface="Arial" pitchFamily="34" charset="-120"/>
              </a:rPr>
              <a:t>Read-only RTSP / ONVIF / vendor SDK</a:t>
            </a:r>
            <a:endParaRPr lang="en-US" sz="1400" dirty="0"/>
          </a:p>
        </p:txBody>
      </p:sp>
      <p:sp>
        <p:nvSpPr>
          <p:cNvPr id="33" name="Shape 26"/>
          <p:cNvSpPr/>
          <p:nvPr/>
        </p:nvSpPr>
        <p:spPr>
          <a:xfrm>
            <a:off x="877824" y="5202936"/>
            <a:ext cx="164592" cy="164592"/>
          </a:xfrm>
          <a:prstGeom prst="upArrow">
            <a:avLst/>
          </a:prstGeom>
          <a:solidFill>
            <a:srgbClr val="2C3A5C"/>
          </a:solidFill>
          <a:ln w="12700">
            <a:solidFill>
              <a:srgbClr val="2C3A5C"/>
            </a:solidFill>
            <a:prstDash val="solid"/>
          </a:ln>
        </p:spPr>
      </p:sp>
      <p:sp>
        <p:nvSpPr>
          <p:cNvPr id="34" name="Shape 27"/>
          <p:cNvSpPr/>
          <p:nvPr/>
        </p:nvSpPr>
        <p:spPr>
          <a:xfrm>
            <a:off x="548640" y="5376672"/>
            <a:ext cx="11094415" cy="749808"/>
          </a:xfrm>
          <a:prstGeom prst="roundRect">
            <a:avLst>
              <a:gd name="adj" fmla="val 14634"/>
            </a:avLst>
          </a:prstGeom>
          <a:solidFill>
            <a:srgbClr val="131C30"/>
          </a:solidFill>
          <a:ln w="9525">
            <a:solidFill>
              <a:srgbClr val="2C3A5C"/>
            </a:solidFill>
            <a:prstDash val="solid"/>
          </a:ln>
        </p:spPr>
      </p:sp>
      <p:sp>
        <p:nvSpPr>
          <p:cNvPr id="35" name="Shape 28"/>
          <p:cNvSpPr/>
          <p:nvPr/>
        </p:nvSpPr>
        <p:spPr>
          <a:xfrm>
            <a:off x="731520" y="5522976"/>
            <a:ext cx="457200" cy="457200"/>
          </a:xfrm>
          <a:prstGeom prst="ellipse">
            <a:avLst/>
          </a:prstGeom>
          <a:solidFill>
            <a:srgbClr val="A9B6CB"/>
          </a:solidFill>
          <a:ln w="12700">
            <a:solidFill>
              <a:srgbClr val="A9B6CB"/>
            </a:solidFill>
            <a:prstDash val="solid"/>
          </a:ln>
        </p:spPr>
      </p:sp>
      <p:pic>
        <p:nvPicPr>
          <p:cNvPr id="36" name="Image 4" descr="preencoded.png">    </p:cNvPr>
          <p:cNvPicPr>
            <a:picLocks noChangeAspect="1"/>
          </p:cNvPicPr>
          <p:nvPr/>
        </p:nvPicPr>
        <p:blipFill>
          <a:blip r:embed="rId5"/>
          <a:stretch>
            <a:fillRect/>
          </a:stretch>
        </p:blipFill>
        <p:spPr>
          <a:xfrm>
            <a:off x="832104" y="5623560"/>
            <a:ext cx="256032" cy="256032"/>
          </a:xfrm>
          <a:prstGeom prst="rect">
            <a:avLst/>
          </a:prstGeom>
        </p:spPr>
      </p:pic>
      <p:sp>
        <p:nvSpPr>
          <p:cNvPr id="37" name="Text 29"/>
          <p:cNvSpPr/>
          <p:nvPr/>
        </p:nvSpPr>
        <p:spPr>
          <a:xfrm>
            <a:off x="1371600" y="5468112"/>
            <a:ext cx="4206240" cy="292608"/>
          </a:xfrm>
          <a:prstGeom prst="rect">
            <a:avLst/>
          </a:prstGeom>
          <a:noFill/>
          <a:ln/>
        </p:spPr>
        <p:txBody>
          <a:bodyPr wrap="square" lIns="0" tIns="0" rIns="0" bIns="0" rtlCol="0" anchor="t"/>
          <a:lstStyle/>
          <a:p>
            <a:pPr indent="0" marL="0">
              <a:buNone/>
            </a:pPr>
            <a:r>
              <a:rPr lang="en-US" sz="1500" b="1" dirty="0">
                <a:solidFill>
                  <a:srgbClr val="F2F5FA"/>
                </a:solidFill>
                <a:latin typeface="Arial" pitchFamily="34" charset="0"/>
                <a:ea typeface="Arial" pitchFamily="34" charset="-122"/>
                <a:cs typeface="Arial" pitchFamily="34" charset="-120"/>
              </a:rPr>
              <a:t>80,000 cameras, tiered</a:t>
            </a:r>
            <a:endParaRPr lang="en-US" sz="1500" dirty="0"/>
          </a:p>
        </p:txBody>
      </p:sp>
      <p:sp>
        <p:nvSpPr>
          <p:cNvPr id="38" name="Text 30"/>
          <p:cNvSpPr/>
          <p:nvPr/>
        </p:nvSpPr>
        <p:spPr>
          <a:xfrm>
            <a:off x="1371600" y="5779008"/>
            <a:ext cx="6035040" cy="292608"/>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Continuous · sampled · motion-gated · view-only</a:t>
            </a:r>
            <a:endParaRPr lang="en-US" sz="1200" dirty="0"/>
          </a:p>
        </p:txBody>
      </p:sp>
      <p:sp>
        <p:nvSpPr>
          <p:cNvPr id="39" name="Text 31"/>
          <p:cNvSpPr/>
          <p:nvPr/>
        </p:nvSpPr>
        <p:spPr>
          <a:xfrm>
            <a:off x="7498080" y="5541264"/>
            <a:ext cx="3916375" cy="420624"/>
          </a:xfrm>
          <a:prstGeom prst="rect">
            <a:avLst/>
          </a:prstGeom>
          <a:noFill/>
          <a:ln/>
        </p:spPr>
        <p:txBody>
          <a:bodyPr wrap="square" lIns="0" tIns="0" rIns="0" bIns="0" rtlCol="0" anchor="ctr"/>
          <a:lstStyle/>
          <a:p>
            <a:pPr algn="r" indent="0" marL="0">
              <a:buNone/>
            </a:pPr>
            <a:r>
              <a:rPr lang="en-US" sz="1400" b="1" dirty="0">
                <a:solidFill>
                  <a:srgbClr val="F2F5FA"/>
                </a:solidFill>
                <a:latin typeface="Arial" pitchFamily="34" charset="0"/>
                <a:ea typeface="Arial" pitchFamily="34" charset="-122"/>
                <a:cs typeface="Arial" pitchFamily="34" charset="-120"/>
              </a:rPr>
              <a:t>A 12% · B 28% · C 35% · D 25%</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COMPUTE SIZING</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Not every camera needs AI: tier them</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13</a:t>
            </a:r>
            <a:endParaRPr lang="en-US" sz="900" dirty="0"/>
          </a:p>
        </p:txBody>
      </p:sp>
      <p:graphicFrame>
        <p:nvGraphicFramePr>
          <p:cNvPr id="6" name="Chart 0" descr=""/>
          <p:cNvGraphicFramePr/>
          <p:nvPr/>
        </p:nvGraphicFramePr>
        <p:xfrm>
          <a:off x="548640" y="1600200"/>
          <a:ext cx="4480560" cy="448056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1874520" y="3429000"/>
            <a:ext cx="1828800" cy="502920"/>
          </a:xfrm>
          <a:prstGeom prst="rect">
            <a:avLst/>
          </a:prstGeom>
          <a:noFill/>
          <a:ln/>
        </p:spPr>
        <p:txBody>
          <a:bodyPr wrap="square" lIns="0" tIns="0" rIns="0" bIns="0" rtlCol="0" anchor="t"/>
          <a:lstStyle/>
          <a:p>
            <a:pPr algn="ctr" indent="0" marL="0">
              <a:buNone/>
            </a:pPr>
            <a:r>
              <a:rPr lang="en-US" sz="2800" b="1" dirty="0">
                <a:solidFill>
                  <a:srgbClr val="F2F5FA"/>
                </a:solidFill>
                <a:latin typeface="Arial" pitchFamily="34" charset="0"/>
                <a:ea typeface="Arial" pitchFamily="34" charset="-122"/>
                <a:cs typeface="Arial" pitchFamily="34" charset="-120"/>
              </a:rPr>
              <a:t>80,000</a:t>
            </a:r>
            <a:endParaRPr lang="en-US" sz="2800" dirty="0"/>
          </a:p>
        </p:txBody>
      </p:sp>
      <p:sp>
        <p:nvSpPr>
          <p:cNvPr id="8" name="Text 4"/>
          <p:cNvSpPr/>
          <p:nvPr/>
        </p:nvSpPr>
        <p:spPr>
          <a:xfrm>
            <a:off x="1874520" y="3913632"/>
            <a:ext cx="1828800" cy="320040"/>
          </a:xfrm>
          <a:prstGeom prst="rect">
            <a:avLst/>
          </a:prstGeom>
          <a:noFill/>
          <a:ln/>
        </p:spPr>
        <p:txBody>
          <a:bodyPr wrap="square" lIns="0" tIns="0" rIns="0" bIns="0" rtlCol="0" anchor="t"/>
          <a:lstStyle/>
          <a:p>
            <a:pPr algn="ctr" indent="0" marL="0">
              <a:buNone/>
            </a:pPr>
            <a:r>
              <a:rPr lang="en-US" sz="1300" dirty="0">
                <a:solidFill>
                  <a:srgbClr val="A9B6CB"/>
                </a:solidFill>
                <a:latin typeface="Calibri" pitchFamily="34" charset="0"/>
                <a:ea typeface="Calibri" pitchFamily="34" charset="-122"/>
                <a:cs typeface="Calibri" pitchFamily="34" charset="-120"/>
              </a:rPr>
              <a:t>cameras</a:t>
            </a:r>
            <a:endParaRPr lang="en-US" sz="1300" dirty="0"/>
          </a:p>
        </p:txBody>
      </p:sp>
      <p:sp>
        <p:nvSpPr>
          <p:cNvPr id="9" name="Text 5"/>
          <p:cNvSpPr/>
          <p:nvPr/>
        </p:nvSpPr>
        <p:spPr>
          <a:xfrm>
            <a:off x="5669280" y="1691640"/>
            <a:ext cx="2011680" cy="274320"/>
          </a:xfrm>
          <a:prstGeom prst="rect">
            <a:avLst/>
          </a:prstGeom>
          <a:noFill/>
          <a:ln/>
        </p:spPr>
        <p:txBody>
          <a:bodyPr wrap="square" lIns="0" tIns="0" rIns="0" bIns="0" rtlCol="0" anchor="t"/>
          <a:lstStyle/>
          <a:p>
            <a:pPr algn="l" indent="0" marL="0">
              <a:buNone/>
            </a:pPr>
            <a:r>
              <a:rPr lang="en-US" sz="1200" b="1" dirty="0">
                <a:solidFill>
                  <a:srgbClr val="A9B6CB"/>
                </a:solidFill>
                <a:latin typeface="Arial" pitchFamily="34" charset="0"/>
                <a:ea typeface="Arial" pitchFamily="34" charset="-122"/>
                <a:cs typeface="Arial" pitchFamily="34" charset="-120"/>
              </a:rPr>
              <a:t>Tier</a:t>
            </a:r>
            <a:endParaRPr lang="en-US" sz="1200" dirty="0"/>
          </a:p>
        </p:txBody>
      </p:sp>
      <p:sp>
        <p:nvSpPr>
          <p:cNvPr id="10" name="Text 6"/>
          <p:cNvSpPr/>
          <p:nvPr/>
        </p:nvSpPr>
        <p:spPr>
          <a:xfrm>
            <a:off x="7863840" y="1691640"/>
            <a:ext cx="1280160" cy="274320"/>
          </a:xfrm>
          <a:prstGeom prst="rect">
            <a:avLst/>
          </a:prstGeom>
          <a:noFill/>
          <a:ln/>
        </p:spPr>
        <p:txBody>
          <a:bodyPr wrap="square" lIns="0" tIns="0" rIns="0" bIns="0" rtlCol="0" anchor="t"/>
          <a:lstStyle/>
          <a:p>
            <a:pPr algn="r" indent="0" marL="0">
              <a:buNone/>
            </a:pPr>
            <a:r>
              <a:rPr lang="en-US" sz="1200" b="1" dirty="0">
                <a:solidFill>
                  <a:srgbClr val="A9B6CB"/>
                </a:solidFill>
                <a:latin typeface="Arial" pitchFamily="34" charset="0"/>
                <a:ea typeface="Arial" pitchFamily="34" charset="-122"/>
                <a:cs typeface="Arial" pitchFamily="34" charset="-120"/>
              </a:rPr>
              <a:t>Cameras</a:t>
            </a:r>
            <a:endParaRPr lang="en-US" sz="1200" dirty="0"/>
          </a:p>
        </p:txBody>
      </p:sp>
      <p:sp>
        <p:nvSpPr>
          <p:cNvPr id="11" name="Text 7"/>
          <p:cNvSpPr/>
          <p:nvPr/>
        </p:nvSpPr>
        <p:spPr>
          <a:xfrm>
            <a:off x="9326880" y="1691640"/>
            <a:ext cx="1280160" cy="274320"/>
          </a:xfrm>
          <a:prstGeom prst="rect">
            <a:avLst/>
          </a:prstGeom>
          <a:noFill/>
          <a:ln/>
        </p:spPr>
        <p:txBody>
          <a:bodyPr wrap="square" lIns="0" tIns="0" rIns="0" bIns="0" rtlCol="0" anchor="t"/>
          <a:lstStyle/>
          <a:p>
            <a:pPr algn="r" indent="0" marL="0">
              <a:buNone/>
            </a:pPr>
            <a:r>
              <a:rPr lang="en-US" sz="1200" b="1" dirty="0">
                <a:solidFill>
                  <a:srgbClr val="A9B6CB"/>
                </a:solidFill>
                <a:latin typeface="Arial" pitchFamily="34" charset="0"/>
                <a:ea typeface="Arial" pitchFamily="34" charset="-122"/>
                <a:cs typeface="Arial" pitchFamily="34" charset="-120"/>
              </a:rPr>
              <a:t>Analysed</a:t>
            </a:r>
            <a:endParaRPr lang="en-US" sz="1200" dirty="0"/>
          </a:p>
        </p:txBody>
      </p:sp>
      <p:sp>
        <p:nvSpPr>
          <p:cNvPr id="12" name="Text 8"/>
          <p:cNvSpPr/>
          <p:nvPr/>
        </p:nvSpPr>
        <p:spPr>
          <a:xfrm>
            <a:off x="10789920" y="1691640"/>
            <a:ext cx="853135" cy="274320"/>
          </a:xfrm>
          <a:prstGeom prst="rect">
            <a:avLst/>
          </a:prstGeom>
          <a:noFill/>
          <a:ln/>
        </p:spPr>
        <p:txBody>
          <a:bodyPr wrap="square" lIns="0" tIns="0" rIns="0" bIns="0" rtlCol="0" anchor="t"/>
          <a:lstStyle/>
          <a:p>
            <a:pPr algn="r" indent="0" marL="0">
              <a:buNone/>
            </a:pPr>
            <a:r>
              <a:rPr lang="en-US" sz="1200" b="1" dirty="0">
                <a:solidFill>
                  <a:srgbClr val="A9B6CB"/>
                </a:solidFill>
                <a:latin typeface="Arial" pitchFamily="34" charset="0"/>
                <a:ea typeface="Arial" pitchFamily="34" charset="-122"/>
                <a:cs typeface="Arial" pitchFamily="34" charset="-120"/>
              </a:rPr>
              <a:t>L4 GPUs</a:t>
            </a:r>
            <a:endParaRPr lang="en-US" sz="1200" dirty="0"/>
          </a:p>
        </p:txBody>
      </p:sp>
      <p:sp>
        <p:nvSpPr>
          <p:cNvPr id="13" name="Shape 9"/>
          <p:cNvSpPr/>
          <p:nvPr/>
        </p:nvSpPr>
        <p:spPr>
          <a:xfrm>
            <a:off x="5486400" y="2057400"/>
            <a:ext cx="6156655" cy="475488"/>
          </a:xfrm>
          <a:prstGeom prst="roundRect">
            <a:avLst>
              <a:gd name="adj" fmla="val 23077"/>
            </a:avLst>
          </a:prstGeom>
          <a:solidFill>
            <a:srgbClr val="1B2742"/>
          </a:solidFill>
          <a:ln w="9525">
            <a:solidFill>
              <a:srgbClr val="2C3A5C"/>
            </a:solidFill>
            <a:prstDash val="solid"/>
          </a:ln>
        </p:spPr>
      </p:sp>
      <p:sp>
        <p:nvSpPr>
          <p:cNvPr id="14" name="Text 10"/>
          <p:cNvSpPr/>
          <p:nvPr/>
        </p:nvSpPr>
        <p:spPr>
          <a:xfrm>
            <a:off x="5669280" y="2148840"/>
            <a:ext cx="1828800" cy="310896"/>
          </a:xfrm>
          <a:prstGeom prst="rect">
            <a:avLst/>
          </a:prstGeom>
          <a:noFill/>
          <a:ln/>
        </p:spPr>
        <p:txBody>
          <a:bodyPr wrap="square" lIns="0" tIns="0" rIns="0" bIns="0" rtlCol="0" anchor="ctr"/>
          <a:lstStyle/>
          <a:p>
            <a:pPr algn="l" indent="0" marL="0">
              <a:buNone/>
            </a:pPr>
            <a:r>
              <a:rPr lang="en-US" sz="1400" b="1" dirty="0">
                <a:solidFill>
                  <a:srgbClr val="F2F5FA"/>
                </a:solidFill>
                <a:latin typeface="Calibri" pitchFamily="34" charset="0"/>
                <a:ea typeface="Calibri" pitchFamily="34" charset="-122"/>
                <a:cs typeface="Calibri" pitchFamily="34" charset="-120"/>
              </a:rPr>
              <a:t>A — continuous</a:t>
            </a:r>
            <a:endParaRPr lang="en-US" sz="1400" dirty="0"/>
          </a:p>
        </p:txBody>
      </p:sp>
      <p:sp>
        <p:nvSpPr>
          <p:cNvPr id="15" name="Text 11"/>
          <p:cNvSpPr/>
          <p:nvPr/>
        </p:nvSpPr>
        <p:spPr>
          <a:xfrm>
            <a:off x="7863840" y="2148840"/>
            <a:ext cx="1097280"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9,600</a:t>
            </a:r>
            <a:endParaRPr lang="en-US" sz="1400" dirty="0"/>
          </a:p>
        </p:txBody>
      </p:sp>
      <p:sp>
        <p:nvSpPr>
          <p:cNvPr id="16" name="Text 12"/>
          <p:cNvSpPr/>
          <p:nvPr/>
        </p:nvSpPr>
        <p:spPr>
          <a:xfrm>
            <a:off x="9326880" y="2148840"/>
            <a:ext cx="1097280"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10 fps</a:t>
            </a:r>
            <a:endParaRPr lang="en-US" sz="1400" dirty="0"/>
          </a:p>
        </p:txBody>
      </p:sp>
      <p:sp>
        <p:nvSpPr>
          <p:cNvPr id="17" name="Text 13"/>
          <p:cNvSpPr/>
          <p:nvPr/>
        </p:nvSpPr>
        <p:spPr>
          <a:xfrm>
            <a:off x="10789920" y="2148840"/>
            <a:ext cx="670255"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320</a:t>
            </a:r>
            <a:endParaRPr lang="en-US" sz="1400" dirty="0"/>
          </a:p>
        </p:txBody>
      </p:sp>
      <p:sp>
        <p:nvSpPr>
          <p:cNvPr id="18" name="Shape 14"/>
          <p:cNvSpPr/>
          <p:nvPr/>
        </p:nvSpPr>
        <p:spPr>
          <a:xfrm>
            <a:off x="5486400" y="2624328"/>
            <a:ext cx="6156655" cy="475488"/>
          </a:xfrm>
          <a:prstGeom prst="roundRect">
            <a:avLst>
              <a:gd name="adj" fmla="val 23077"/>
            </a:avLst>
          </a:prstGeom>
          <a:solidFill>
            <a:srgbClr val="131C30"/>
          </a:solidFill>
          <a:ln w="9525">
            <a:solidFill>
              <a:srgbClr val="2C3A5C"/>
            </a:solidFill>
            <a:prstDash val="solid"/>
          </a:ln>
        </p:spPr>
      </p:sp>
      <p:sp>
        <p:nvSpPr>
          <p:cNvPr id="19" name="Text 15"/>
          <p:cNvSpPr/>
          <p:nvPr/>
        </p:nvSpPr>
        <p:spPr>
          <a:xfrm>
            <a:off x="5669280" y="2715768"/>
            <a:ext cx="1828800" cy="310896"/>
          </a:xfrm>
          <a:prstGeom prst="rect">
            <a:avLst/>
          </a:prstGeom>
          <a:noFill/>
          <a:ln/>
        </p:spPr>
        <p:txBody>
          <a:bodyPr wrap="square" lIns="0" tIns="0" rIns="0" bIns="0" rtlCol="0" anchor="ctr"/>
          <a:lstStyle/>
          <a:p>
            <a:pPr algn="l" indent="0" marL="0">
              <a:buNone/>
            </a:pPr>
            <a:r>
              <a:rPr lang="en-US" sz="1400" b="1" dirty="0">
                <a:solidFill>
                  <a:srgbClr val="F2F5FA"/>
                </a:solidFill>
                <a:latin typeface="Calibri" pitchFamily="34" charset="0"/>
                <a:ea typeface="Calibri" pitchFamily="34" charset="-122"/>
                <a:cs typeface="Calibri" pitchFamily="34" charset="-120"/>
              </a:rPr>
              <a:t>B — sampled</a:t>
            </a:r>
            <a:endParaRPr lang="en-US" sz="1400" dirty="0"/>
          </a:p>
        </p:txBody>
      </p:sp>
      <p:sp>
        <p:nvSpPr>
          <p:cNvPr id="20" name="Text 16"/>
          <p:cNvSpPr/>
          <p:nvPr/>
        </p:nvSpPr>
        <p:spPr>
          <a:xfrm>
            <a:off x="7863840" y="2715768"/>
            <a:ext cx="1097280"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22,400</a:t>
            </a:r>
            <a:endParaRPr lang="en-US" sz="1400" dirty="0"/>
          </a:p>
        </p:txBody>
      </p:sp>
      <p:sp>
        <p:nvSpPr>
          <p:cNvPr id="21" name="Text 17"/>
          <p:cNvSpPr/>
          <p:nvPr/>
        </p:nvSpPr>
        <p:spPr>
          <a:xfrm>
            <a:off x="9326880" y="2715768"/>
            <a:ext cx="1097280"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2 fps</a:t>
            </a:r>
            <a:endParaRPr lang="en-US" sz="1400" dirty="0"/>
          </a:p>
        </p:txBody>
      </p:sp>
      <p:sp>
        <p:nvSpPr>
          <p:cNvPr id="22" name="Text 18"/>
          <p:cNvSpPr/>
          <p:nvPr/>
        </p:nvSpPr>
        <p:spPr>
          <a:xfrm>
            <a:off x="10789920" y="2715768"/>
            <a:ext cx="670255"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149</a:t>
            </a:r>
            <a:endParaRPr lang="en-US" sz="1400" dirty="0"/>
          </a:p>
        </p:txBody>
      </p:sp>
      <p:sp>
        <p:nvSpPr>
          <p:cNvPr id="23" name="Shape 19"/>
          <p:cNvSpPr/>
          <p:nvPr/>
        </p:nvSpPr>
        <p:spPr>
          <a:xfrm>
            <a:off x="5486400" y="3191256"/>
            <a:ext cx="6156655" cy="475488"/>
          </a:xfrm>
          <a:prstGeom prst="roundRect">
            <a:avLst>
              <a:gd name="adj" fmla="val 23077"/>
            </a:avLst>
          </a:prstGeom>
          <a:solidFill>
            <a:srgbClr val="1B2742"/>
          </a:solidFill>
          <a:ln w="9525">
            <a:solidFill>
              <a:srgbClr val="2C3A5C"/>
            </a:solidFill>
            <a:prstDash val="solid"/>
          </a:ln>
        </p:spPr>
      </p:sp>
      <p:sp>
        <p:nvSpPr>
          <p:cNvPr id="24" name="Text 20"/>
          <p:cNvSpPr/>
          <p:nvPr/>
        </p:nvSpPr>
        <p:spPr>
          <a:xfrm>
            <a:off x="5669280" y="3282696"/>
            <a:ext cx="1828800" cy="310896"/>
          </a:xfrm>
          <a:prstGeom prst="rect">
            <a:avLst/>
          </a:prstGeom>
          <a:noFill/>
          <a:ln/>
        </p:spPr>
        <p:txBody>
          <a:bodyPr wrap="square" lIns="0" tIns="0" rIns="0" bIns="0" rtlCol="0" anchor="ctr"/>
          <a:lstStyle/>
          <a:p>
            <a:pPr algn="l" indent="0" marL="0">
              <a:buNone/>
            </a:pPr>
            <a:r>
              <a:rPr lang="en-US" sz="1400" b="1" dirty="0">
                <a:solidFill>
                  <a:srgbClr val="F2F5FA"/>
                </a:solidFill>
                <a:latin typeface="Calibri" pitchFamily="34" charset="0"/>
                <a:ea typeface="Calibri" pitchFamily="34" charset="-122"/>
                <a:cs typeface="Calibri" pitchFamily="34" charset="-120"/>
              </a:rPr>
              <a:t>C — motion-gated</a:t>
            </a:r>
            <a:endParaRPr lang="en-US" sz="1400" dirty="0"/>
          </a:p>
        </p:txBody>
      </p:sp>
      <p:sp>
        <p:nvSpPr>
          <p:cNvPr id="25" name="Text 21"/>
          <p:cNvSpPr/>
          <p:nvPr/>
        </p:nvSpPr>
        <p:spPr>
          <a:xfrm>
            <a:off x="7863840" y="3282696"/>
            <a:ext cx="1097280"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28,000</a:t>
            </a:r>
            <a:endParaRPr lang="en-US" sz="1400" dirty="0"/>
          </a:p>
        </p:txBody>
      </p:sp>
      <p:sp>
        <p:nvSpPr>
          <p:cNvPr id="26" name="Text 22"/>
          <p:cNvSpPr/>
          <p:nvPr/>
        </p:nvSpPr>
        <p:spPr>
          <a:xfrm>
            <a:off x="9326880" y="3282696"/>
            <a:ext cx="1097280"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~0.3 fps</a:t>
            </a:r>
            <a:endParaRPr lang="en-US" sz="1400" dirty="0"/>
          </a:p>
        </p:txBody>
      </p:sp>
      <p:sp>
        <p:nvSpPr>
          <p:cNvPr id="27" name="Text 23"/>
          <p:cNvSpPr/>
          <p:nvPr/>
        </p:nvSpPr>
        <p:spPr>
          <a:xfrm>
            <a:off x="10789920" y="3282696"/>
            <a:ext cx="670255"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28</a:t>
            </a:r>
            <a:endParaRPr lang="en-US" sz="1400" dirty="0"/>
          </a:p>
        </p:txBody>
      </p:sp>
      <p:sp>
        <p:nvSpPr>
          <p:cNvPr id="28" name="Shape 24"/>
          <p:cNvSpPr/>
          <p:nvPr/>
        </p:nvSpPr>
        <p:spPr>
          <a:xfrm>
            <a:off x="5486400" y="3758184"/>
            <a:ext cx="6156655" cy="475488"/>
          </a:xfrm>
          <a:prstGeom prst="roundRect">
            <a:avLst>
              <a:gd name="adj" fmla="val 23077"/>
            </a:avLst>
          </a:prstGeom>
          <a:solidFill>
            <a:srgbClr val="131C30"/>
          </a:solidFill>
          <a:ln w="9525">
            <a:solidFill>
              <a:srgbClr val="2C3A5C"/>
            </a:solidFill>
            <a:prstDash val="solid"/>
          </a:ln>
        </p:spPr>
      </p:sp>
      <p:sp>
        <p:nvSpPr>
          <p:cNvPr id="29" name="Text 25"/>
          <p:cNvSpPr/>
          <p:nvPr/>
        </p:nvSpPr>
        <p:spPr>
          <a:xfrm>
            <a:off x="5669280" y="3849624"/>
            <a:ext cx="1828800" cy="310896"/>
          </a:xfrm>
          <a:prstGeom prst="rect">
            <a:avLst/>
          </a:prstGeom>
          <a:noFill/>
          <a:ln/>
        </p:spPr>
        <p:txBody>
          <a:bodyPr wrap="square" lIns="0" tIns="0" rIns="0" bIns="0" rtlCol="0" anchor="ctr"/>
          <a:lstStyle/>
          <a:p>
            <a:pPr algn="l" indent="0" marL="0">
              <a:buNone/>
            </a:pPr>
            <a:r>
              <a:rPr lang="en-US" sz="1400" b="1" dirty="0">
                <a:solidFill>
                  <a:srgbClr val="F2F5FA"/>
                </a:solidFill>
                <a:latin typeface="Calibri" pitchFamily="34" charset="0"/>
                <a:ea typeface="Calibri" pitchFamily="34" charset="-122"/>
                <a:cs typeface="Calibri" pitchFamily="34" charset="-120"/>
              </a:rPr>
              <a:t>D — view only</a:t>
            </a:r>
            <a:endParaRPr lang="en-US" sz="1400" dirty="0"/>
          </a:p>
        </p:txBody>
      </p:sp>
      <p:sp>
        <p:nvSpPr>
          <p:cNvPr id="30" name="Text 26"/>
          <p:cNvSpPr/>
          <p:nvPr/>
        </p:nvSpPr>
        <p:spPr>
          <a:xfrm>
            <a:off x="7863840" y="3849624"/>
            <a:ext cx="1097280"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20,000</a:t>
            </a:r>
            <a:endParaRPr lang="en-US" sz="1400" dirty="0"/>
          </a:p>
        </p:txBody>
      </p:sp>
      <p:sp>
        <p:nvSpPr>
          <p:cNvPr id="31" name="Text 27"/>
          <p:cNvSpPr/>
          <p:nvPr/>
        </p:nvSpPr>
        <p:spPr>
          <a:xfrm>
            <a:off x="9326880" y="3849624"/>
            <a:ext cx="1097280"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a:t>
            </a:r>
            <a:endParaRPr lang="en-US" sz="1400" dirty="0"/>
          </a:p>
        </p:txBody>
      </p:sp>
      <p:sp>
        <p:nvSpPr>
          <p:cNvPr id="32" name="Text 28"/>
          <p:cNvSpPr/>
          <p:nvPr/>
        </p:nvSpPr>
        <p:spPr>
          <a:xfrm>
            <a:off x="10789920" y="3849624"/>
            <a:ext cx="670255" cy="310896"/>
          </a:xfrm>
          <a:prstGeom prst="rect">
            <a:avLst/>
          </a:prstGeom>
          <a:noFill/>
          <a:ln/>
        </p:spPr>
        <p:txBody>
          <a:bodyPr wrap="square" lIns="0" tIns="0" rIns="0" bIns="0" rtlCol="0" anchor="ctr"/>
          <a:lstStyle/>
          <a:p>
            <a:pPr algn="r" indent="0" marL="0">
              <a:buNone/>
            </a:pPr>
            <a:r>
              <a:rPr lang="en-US" sz="1400" dirty="0">
                <a:solidFill>
                  <a:srgbClr val="F2F5FA"/>
                </a:solidFill>
                <a:latin typeface="Calibri" pitchFamily="34" charset="0"/>
                <a:ea typeface="Calibri" pitchFamily="34" charset="-122"/>
                <a:cs typeface="Calibri" pitchFamily="34" charset="-120"/>
              </a:rPr>
              <a:t>0</a:t>
            </a:r>
            <a:endParaRPr lang="en-US" sz="1400" dirty="0"/>
          </a:p>
        </p:txBody>
      </p:sp>
      <p:sp>
        <p:nvSpPr>
          <p:cNvPr id="33" name="Shape 29"/>
          <p:cNvSpPr/>
          <p:nvPr/>
        </p:nvSpPr>
        <p:spPr>
          <a:xfrm>
            <a:off x="5486400" y="4526280"/>
            <a:ext cx="6156655" cy="1417320"/>
          </a:xfrm>
          <a:prstGeom prst="roundRect">
            <a:avLst>
              <a:gd name="adj" fmla="val 7742"/>
            </a:avLst>
          </a:prstGeom>
          <a:solidFill>
            <a:srgbClr val="1B2742"/>
          </a:solidFill>
          <a:ln w="9525">
            <a:solidFill>
              <a:srgbClr val="2C3A5C"/>
            </a:solidFill>
            <a:prstDash val="solid"/>
          </a:ln>
        </p:spPr>
      </p:sp>
      <p:sp>
        <p:nvSpPr>
          <p:cNvPr id="34" name="Text 30"/>
          <p:cNvSpPr/>
          <p:nvPr/>
        </p:nvSpPr>
        <p:spPr>
          <a:xfrm>
            <a:off x="5760720" y="4681728"/>
            <a:ext cx="3291840" cy="594360"/>
          </a:xfrm>
          <a:prstGeom prst="rect">
            <a:avLst/>
          </a:prstGeom>
          <a:noFill/>
          <a:ln/>
        </p:spPr>
        <p:txBody>
          <a:bodyPr wrap="square" lIns="0" tIns="0" rIns="0" bIns="0" rtlCol="0" anchor="t"/>
          <a:lstStyle/>
          <a:p>
            <a:pPr indent="0" marL="0">
              <a:buNone/>
            </a:pPr>
            <a:r>
              <a:rPr lang="en-US" sz="3200" b="1" dirty="0">
                <a:solidFill>
                  <a:srgbClr val="F5A524"/>
                </a:solidFill>
                <a:latin typeface="Arial" pitchFamily="34" charset="0"/>
                <a:ea typeface="Arial" pitchFamily="34" charset="-122"/>
                <a:cs typeface="Arial" pitchFamily="34" charset="-120"/>
              </a:rPr>
              <a:t>≈560 L4 GPUs</a:t>
            </a:r>
            <a:endParaRPr lang="en-US" sz="3200" dirty="0"/>
          </a:p>
        </p:txBody>
      </p:sp>
      <p:sp>
        <p:nvSpPr>
          <p:cNvPr id="35" name="Text 31"/>
          <p:cNvSpPr/>
          <p:nvPr/>
        </p:nvSpPr>
        <p:spPr>
          <a:xfrm>
            <a:off x="5760720" y="5303520"/>
            <a:ext cx="5608015" cy="54864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with N+1 redundancy, in ≈140 four-GPU district servers; ≈1,500 Jetson boxes where backhaul is thin.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IMPACT ON INFRASTRUCTURE COST</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About one-fifth of the capex — by reusing what exists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14</a:t>
            </a:r>
            <a:endParaRPr lang="en-US" sz="900" dirty="0"/>
          </a:p>
        </p:txBody>
      </p:sp>
      <p:graphicFrame>
        <p:nvGraphicFramePr>
          <p:cNvPr id="6" name="Chart 0" descr=""/>
          <p:cNvGraphicFramePr/>
          <p:nvPr/>
        </p:nvGraphicFramePr>
        <p:xfrm>
          <a:off x="548640" y="160020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6720840" y="1691640"/>
            <a:ext cx="4922215" cy="841248"/>
          </a:xfrm>
          <a:prstGeom prst="roundRect">
            <a:avLst>
              <a:gd name="adj" fmla="val 13043"/>
            </a:avLst>
          </a:prstGeom>
          <a:solidFill>
            <a:srgbClr val="1B2742"/>
          </a:solidFill>
          <a:ln w="9525">
            <a:solidFill>
              <a:srgbClr val="2C3A5C"/>
            </a:solidFill>
            <a:prstDash val="solid"/>
          </a:ln>
        </p:spPr>
      </p:sp>
      <p:sp>
        <p:nvSpPr>
          <p:cNvPr id="8" name="Text 4"/>
          <p:cNvSpPr/>
          <p:nvPr/>
        </p:nvSpPr>
        <p:spPr>
          <a:xfrm>
            <a:off x="6995160" y="1819656"/>
            <a:ext cx="2377440" cy="585216"/>
          </a:xfrm>
          <a:prstGeom prst="rect">
            <a:avLst/>
          </a:prstGeom>
          <a:noFill/>
          <a:ln/>
        </p:spPr>
        <p:txBody>
          <a:bodyPr wrap="square" lIns="0" tIns="0" rIns="0" bIns="0" rtlCol="0" anchor="ctr"/>
          <a:lstStyle/>
          <a:p>
            <a:pPr indent="0" marL="0">
              <a:buNone/>
            </a:pPr>
            <a:r>
              <a:rPr lang="en-US" sz="2800" b="1" dirty="0">
                <a:solidFill>
                  <a:srgbClr val="34D3B4"/>
                </a:solidFill>
                <a:latin typeface="Arial" pitchFamily="34" charset="0"/>
                <a:ea typeface="Arial" pitchFamily="34" charset="-122"/>
                <a:cs typeface="Arial" pitchFamily="34" charset="-120"/>
              </a:rPr>
              <a:t>≈₹10,000</a:t>
            </a:r>
            <a:endParaRPr lang="en-US" sz="2800" dirty="0"/>
          </a:p>
        </p:txBody>
      </p:sp>
      <p:sp>
        <p:nvSpPr>
          <p:cNvPr id="9" name="Text 5"/>
          <p:cNvSpPr/>
          <p:nvPr/>
        </p:nvSpPr>
        <p:spPr>
          <a:xfrm>
            <a:off x="9418320" y="1819656"/>
            <a:ext cx="1996135" cy="585216"/>
          </a:xfrm>
          <a:prstGeom prst="rect">
            <a:avLst/>
          </a:prstGeom>
          <a:noFill/>
          <a:ln/>
        </p:spPr>
        <p:txBody>
          <a:bodyPr wrap="square" lIns="0" tIns="0" rIns="0" bIns="0" rtlCol="0" anchor="ctr"/>
          <a:lstStyle/>
          <a:p>
            <a:pPr indent="0" marL="0">
              <a:buNone/>
            </a:pPr>
            <a:r>
              <a:rPr lang="en-US" sz="1500" dirty="0">
                <a:solidFill>
                  <a:srgbClr val="F2F5FA"/>
                </a:solidFill>
                <a:latin typeface="Calibri" pitchFamily="34" charset="0"/>
                <a:ea typeface="Calibri" pitchFamily="34" charset="-122"/>
                <a:cs typeface="Calibri" pitchFamily="34" charset="-120"/>
              </a:rPr>
              <a:t>capex per camera</a:t>
            </a:r>
            <a:endParaRPr lang="en-US" sz="1500" dirty="0"/>
          </a:p>
        </p:txBody>
      </p:sp>
      <p:sp>
        <p:nvSpPr>
          <p:cNvPr id="10" name="Shape 6"/>
          <p:cNvSpPr/>
          <p:nvPr/>
        </p:nvSpPr>
        <p:spPr>
          <a:xfrm>
            <a:off x="6720840" y="2679192"/>
            <a:ext cx="4922215" cy="841248"/>
          </a:xfrm>
          <a:prstGeom prst="roundRect">
            <a:avLst>
              <a:gd name="adj" fmla="val 13043"/>
            </a:avLst>
          </a:prstGeom>
          <a:solidFill>
            <a:srgbClr val="131C30"/>
          </a:solidFill>
          <a:ln w="9525">
            <a:solidFill>
              <a:srgbClr val="2C3A5C"/>
            </a:solidFill>
            <a:prstDash val="solid"/>
          </a:ln>
        </p:spPr>
      </p:sp>
      <p:sp>
        <p:nvSpPr>
          <p:cNvPr id="11" name="Text 7"/>
          <p:cNvSpPr/>
          <p:nvPr/>
        </p:nvSpPr>
        <p:spPr>
          <a:xfrm>
            <a:off x="6995160" y="2807208"/>
            <a:ext cx="2377440" cy="585216"/>
          </a:xfrm>
          <a:prstGeom prst="rect">
            <a:avLst/>
          </a:prstGeom>
          <a:noFill/>
          <a:ln/>
        </p:spPr>
        <p:txBody>
          <a:bodyPr wrap="square" lIns="0" tIns="0" rIns="0" bIns="0" rtlCol="0" anchor="ctr"/>
          <a:lstStyle/>
          <a:p>
            <a:pPr indent="0" marL="0">
              <a:buNone/>
            </a:pPr>
            <a:r>
              <a:rPr lang="en-US" sz="2800" b="1" dirty="0">
                <a:solidFill>
                  <a:srgbClr val="34D3B4"/>
                </a:solidFill>
                <a:latin typeface="Arial" pitchFamily="34" charset="0"/>
                <a:ea typeface="Arial" pitchFamily="34" charset="-122"/>
                <a:cs typeface="Arial" pitchFamily="34" charset="-120"/>
              </a:rPr>
              <a:t>≈₹3,000</a:t>
            </a:r>
            <a:endParaRPr lang="en-US" sz="2800" dirty="0"/>
          </a:p>
        </p:txBody>
      </p:sp>
      <p:sp>
        <p:nvSpPr>
          <p:cNvPr id="12" name="Text 8"/>
          <p:cNvSpPr/>
          <p:nvPr/>
        </p:nvSpPr>
        <p:spPr>
          <a:xfrm>
            <a:off x="9418320" y="2807208"/>
            <a:ext cx="1996135" cy="585216"/>
          </a:xfrm>
          <a:prstGeom prst="rect">
            <a:avLst/>
          </a:prstGeom>
          <a:noFill/>
          <a:ln/>
        </p:spPr>
        <p:txBody>
          <a:bodyPr wrap="square" lIns="0" tIns="0" rIns="0" bIns="0" rtlCol="0" anchor="ctr"/>
          <a:lstStyle/>
          <a:p>
            <a:pPr indent="0" marL="0">
              <a:buNone/>
            </a:pPr>
            <a:r>
              <a:rPr lang="en-US" sz="1500" dirty="0">
                <a:solidFill>
                  <a:srgbClr val="F2F5FA"/>
                </a:solidFill>
                <a:latin typeface="Calibri" pitchFamily="34" charset="0"/>
                <a:ea typeface="Calibri" pitchFamily="34" charset="-122"/>
                <a:cs typeface="Calibri" pitchFamily="34" charset="-120"/>
              </a:rPr>
              <a:t>opex per camera, per year</a:t>
            </a:r>
            <a:endParaRPr lang="en-US" sz="1500" dirty="0"/>
          </a:p>
        </p:txBody>
      </p:sp>
      <p:sp>
        <p:nvSpPr>
          <p:cNvPr id="13" name="Shape 9"/>
          <p:cNvSpPr/>
          <p:nvPr/>
        </p:nvSpPr>
        <p:spPr>
          <a:xfrm>
            <a:off x="6720840" y="3666744"/>
            <a:ext cx="4922215" cy="841248"/>
          </a:xfrm>
          <a:prstGeom prst="roundRect">
            <a:avLst>
              <a:gd name="adj" fmla="val 13043"/>
            </a:avLst>
          </a:prstGeom>
          <a:solidFill>
            <a:srgbClr val="1B2742"/>
          </a:solidFill>
          <a:ln w="9525">
            <a:solidFill>
              <a:srgbClr val="2C3A5C"/>
            </a:solidFill>
            <a:prstDash val="solid"/>
          </a:ln>
        </p:spPr>
      </p:sp>
      <p:sp>
        <p:nvSpPr>
          <p:cNvPr id="14" name="Text 10"/>
          <p:cNvSpPr/>
          <p:nvPr/>
        </p:nvSpPr>
        <p:spPr>
          <a:xfrm>
            <a:off x="6995160" y="3794760"/>
            <a:ext cx="2377440" cy="585216"/>
          </a:xfrm>
          <a:prstGeom prst="rect">
            <a:avLst/>
          </a:prstGeom>
          <a:noFill/>
          <a:ln/>
        </p:spPr>
        <p:txBody>
          <a:bodyPr wrap="square" lIns="0" tIns="0" rIns="0" bIns="0" rtlCol="0" anchor="ctr"/>
          <a:lstStyle/>
          <a:p>
            <a:pPr indent="0" marL="0">
              <a:buNone/>
            </a:pPr>
            <a:r>
              <a:rPr lang="en-US" sz="2800" b="1" dirty="0">
                <a:solidFill>
                  <a:srgbClr val="34D3B4"/>
                </a:solidFill>
                <a:latin typeface="Arial" pitchFamily="34" charset="0"/>
                <a:ea typeface="Arial" pitchFamily="34" charset="-122"/>
                <a:cs typeface="Arial" pitchFamily="34" charset="-120"/>
              </a:rPr>
              <a:t>≈₹200 cr</a:t>
            </a:r>
            <a:endParaRPr lang="en-US" sz="2800" dirty="0"/>
          </a:p>
        </p:txBody>
      </p:sp>
      <p:sp>
        <p:nvSpPr>
          <p:cNvPr id="15" name="Text 11"/>
          <p:cNvSpPr/>
          <p:nvPr/>
        </p:nvSpPr>
        <p:spPr>
          <a:xfrm>
            <a:off x="9418320" y="3794760"/>
            <a:ext cx="1996135" cy="585216"/>
          </a:xfrm>
          <a:prstGeom prst="rect">
            <a:avLst/>
          </a:prstGeom>
          <a:noFill/>
          <a:ln/>
        </p:spPr>
        <p:txBody>
          <a:bodyPr wrap="square" lIns="0" tIns="0" rIns="0" bIns="0" rtlCol="0" anchor="ctr"/>
          <a:lstStyle/>
          <a:p>
            <a:pPr indent="0" marL="0">
              <a:buNone/>
            </a:pPr>
            <a:r>
              <a:rPr lang="en-US" sz="1500" dirty="0">
                <a:solidFill>
                  <a:srgbClr val="F2F5FA"/>
                </a:solidFill>
                <a:latin typeface="Calibri" pitchFamily="34" charset="0"/>
                <a:ea typeface="Calibri" pitchFamily="34" charset="-122"/>
                <a:cs typeface="Calibri" pitchFamily="34" charset="-120"/>
              </a:rPr>
              <a:t>five-year cost of ownership</a:t>
            </a:r>
            <a:endParaRPr lang="en-US" sz="1500" dirty="0"/>
          </a:p>
        </p:txBody>
      </p:sp>
      <p:sp>
        <p:nvSpPr>
          <p:cNvPr id="16" name="Shape 12"/>
          <p:cNvSpPr/>
          <p:nvPr/>
        </p:nvSpPr>
        <p:spPr>
          <a:xfrm>
            <a:off x="6720840" y="4654296"/>
            <a:ext cx="4922215" cy="841248"/>
          </a:xfrm>
          <a:prstGeom prst="roundRect">
            <a:avLst>
              <a:gd name="adj" fmla="val 13043"/>
            </a:avLst>
          </a:prstGeom>
          <a:solidFill>
            <a:srgbClr val="131C30"/>
          </a:solidFill>
          <a:ln w="9525">
            <a:solidFill>
              <a:srgbClr val="2C3A5C"/>
            </a:solidFill>
            <a:prstDash val="solid"/>
          </a:ln>
        </p:spPr>
      </p:sp>
      <p:sp>
        <p:nvSpPr>
          <p:cNvPr id="17" name="Text 13"/>
          <p:cNvSpPr/>
          <p:nvPr/>
        </p:nvSpPr>
        <p:spPr>
          <a:xfrm>
            <a:off x="6995160" y="4782312"/>
            <a:ext cx="2377440" cy="585216"/>
          </a:xfrm>
          <a:prstGeom prst="rect">
            <a:avLst/>
          </a:prstGeom>
          <a:noFill/>
          <a:ln/>
        </p:spPr>
        <p:txBody>
          <a:bodyPr wrap="square" lIns="0" tIns="0" rIns="0" bIns="0" rtlCol="0" anchor="ctr"/>
          <a:lstStyle/>
          <a:p>
            <a:pPr indent="0" marL="0">
              <a:buNone/>
            </a:pPr>
            <a:r>
              <a:rPr lang="en-US" sz="2800" b="1" dirty="0">
                <a:solidFill>
                  <a:srgbClr val="34D3B4"/>
                </a:solidFill>
                <a:latin typeface="Arial" pitchFamily="34" charset="0"/>
                <a:ea typeface="Arial" pitchFamily="34" charset="-122"/>
                <a:cs typeface="Arial" pitchFamily="34" charset="-120"/>
              </a:rPr>
              <a:t>₹0</a:t>
            </a:r>
            <a:endParaRPr lang="en-US" sz="2800" dirty="0"/>
          </a:p>
        </p:txBody>
      </p:sp>
      <p:sp>
        <p:nvSpPr>
          <p:cNvPr id="18" name="Text 14"/>
          <p:cNvSpPr/>
          <p:nvPr/>
        </p:nvSpPr>
        <p:spPr>
          <a:xfrm>
            <a:off x="9418320" y="4782312"/>
            <a:ext cx="1996135" cy="585216"/>
          </a:xfrm>
          <a:prstGeom prst="rect">
            <a:avLst/>
          </a:prstGeom>
          <a:noFill/>
          <a:ln/>
        </p:spPr>
        <p:txBody>
          <a:bodyPr wrap="square" lIns="0" tIns="0" rIns="0" bIns="0" rtlCol="0" anchor="ctr"/>
          <a:lstStyle/>
          <a:p>
            <a:pPr indent="0" marL="0">
              <a:buNone/>
            </a:pPr>
            <a:r>
              <a:rPr lang="en-US" sz="1500" dirty="0">
                <a:solidFill>
                  <a:srgbClr val="F2F5FA"/>
                </a:solidFill>
                <a:latin typeface="Calibri" pitchFamily="34" charset="0"/>
                <a:ea typeface="Calibri" pitchFamily="34" charset="-122"/>
                <a:cs typeface="Calibri" pitchFamily="34" charset="-120"/>
              </a:rPr>
              <a:t>software licences — open-source stack</a:t>
            </a:r>
            <a:endParaRPr lang="en-US" sz="1500" dirty="0"/>
          </a:p>
        </p:txBody>
      </p:sp>
      <p:sp>
        <p:nvSpPr>
          <p:cNvPr id="19" name="Text 15"/>
          <p:cNvSpPr/>
          <p:nvPr/>
        </p:nvSpPr>
        <p:spPr>
          <a:xfrm>
            <a:off x="548640" y="5897880"/>
            <a:ext cx="11094415" cy="502920"/>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Reuse is the saving: no camera, NVR or VMS replaced; department retention reused, not re-stored; GSWAN for backhaul. Indicative, for comparing architectures.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MEASURED, NOT CLAIMED</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What we measured — and what we did not</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15</a:t>
            </a:r>
            <a:endParaRPr lang="en-US" sz="900" dirty="0"/>
          </a:p>
        </p:txBody>
      </p:sp>
      <p:sp>
        <p:nvSpPr>
          <p:cNvPr id="6" name="Shape 3"/>
          <p:cNvSpPr/>
          <p:nvPr/>
        </p:nvSpPr>
        <p:spPr>
          <a:xfrm>
            <a:off x="548640" y="1691640"/>
            <a:ext cx="2567864" cy="2514600"/>
          </a:xfrm>
          <a:prstGeom prst="roundRect">
            <a:avLst>
              <a:gd name="adj" fmla="val 4364"/>
            </a:avLst>
          </a:prstGeom>
          <a:solidFill>
            <a:srgbClr val="1B2742"/>
          </a:solidFill>
          <a:ln w="9525">
            <a:solidFill>
              <a:srgbClr val="2C3A5C"/>
            </a:solidFill>
            <a:prstDash val="solid"/>
          </a:ln>
        </p:spPr>
      </p:sp>
      <p:sp>
        <p:nvSpPr>
          <p:cNvPr id="7" name="Text 4"/>
          <p:cNvSpPr/>
          <p:nvPr/>
        </p:nvSpPr>
        <p:spPr>
          <a:xfrm>
            <a:off x="822960" y="1874520"/>
            <a:ext cx="2019224" cy="822960"/>
          </a:xfrm>
          <a:prstGeom prst="rect">
            <a:avLst/>
          </a:prstGeom>
          <a:noFill/>
          <a:ln/>
        </p:spPr>
        <p:txBody>
          <a:bodyPr wrap="square" lIns="0" tIns="0" rIns="0" bIns="0" rtlCol="0" anchor="t"/>
          <a:lstStyle/>
          <a:p>
            <a:pPr indent="0" marL="0">
              <a:buNone/>
            </a:pPr>
            <a:r>
              <a:rPr lang="en-US" sz="4400" b="1" dirty="0">
                <a:solidFill>
                  <a:srgbClr val="34D3B4"/>
                </a:solidFill>
                <a:latin typeface="Arial" pitchFamily="34" charset="0"/>
                <a:ea typeface="Arial" pitchFamily="34" charset="-122"/>
                <a:cs typeface="Arial" pitchFamily="34" charset="-120"/>
              </a:rPr>
              <a:t>78%</a:t>
            </a:r>
            <a:endParaRPr lang="en-US" sz="4400" dirty="0"/>
          </a:p>
        </p:txBody>
      </p:sp>
      <p:sp>
        <p:nvSpPr>
          <p:cNvPr id="8" name="Text 5"/>
          <p:cNvSpPr/>
          <p:nvPr/>
        </p:nvSpPr>
        <p:spPr>
          <a:xfrm>
            <a:off x="822960" y="2743200"/>
            <a:ext cx="2019224" cy="548640"/>
          </a:xfrm>
          <a:prstGeom prst="rect">
            <a:avLst/>
          </a:prstGeom>
          <a:noFill/>
          <a:ln/>
        </p:spPr>
        <p:txBody>
          <a:bodyPr wrap="square" lIns="0" tIns="0" rIns="0" bIns="0" rtlCol="0" anchor="t"/>
          <a:lstStyle/>
          <a:p>
            <a:pPr indent="0" marL="0">
              <a:buNone/>
            </a:pPr>
            <a:r>
              <a:rPr lang="en-US" sz="1400" b="1" dirty="0">
                <a:solidFill>
                  <a:srgbClr val="F2F5FA"/>
                </a:solidFill>
                <a:latin typeface="Arial" pitchFamily="34" charset="0"/>
                <a:ea typeface="Arial" pitchFamily="34" charset="-122"/>
                <a:cs typeface="Arial" pitchFamily="34" charset="-120"/>
              </a:rPr>
              <a:t>exact plate after the multi-frame vote</a:t>
            </a:r>
            <a:endParaRPr lang="en-US" sz="1400" dirty="0"/>
          </a:p>
        </p:txBody>
      </p:sp>
      <p:sp>
        <p:nvSpPr>
          <p:cNvPr id="9" name="Text 6"/>
          <p:cNvSpPr/>
          <p:nvPr/>
        </p:nvSpPr>
        <p:spPr>
          <a:xfrm>
            <a:off x="822960" y="3310128"/>
            <a:ext cx="2019224" cy="777240"/>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81 hand-labelled real government plates; 88% per character</a:t>
            </a:r>
            <a:endParaRPr lang="en-US" sz="1200" dirty="0"/>
          </a:p>
        </p:txBody>
      </p:sp>
      <p:sp>
        <p:nvSpPr>
          <p:cNvPr id="10" name="Shape 7"/>
          <p:cNvSpPr/>
          <p:nvPr/>
        </p:nvSpPr>
        <p:spPr>
          <a:xfrm>
            <a:off x="3390824" y="1691640"/>
            <a:ext cx="2567864" cy="2514600"/>
          </a:xfrm>
          <a:prstGeom prst="roundRect">
            <a:avLst>
              <a:gd name="adj" fmla="val 4364"/>
            </a:avLst>
          </a:prstGeom>
          <a:solidFill>
            <a:srgbClr val="1B2742"/>
          </a:solidFill>
          <a:ln w="9525">
            <a:solidFill>
              <a:srgbClr val="2C3A5C"/>
            </a:solidFill>
            <a:prstDash val="solid"/>
          </a:ln>
        </p:spPr>
      </p:sp>
      <p:sp>
        <p:nvSpPr>
          <p:cNvPr id="11" name="Text 8"/>
          <p:cNvSpPr/>
          <p:nvPr/>
        </p:nvSpPr>
        <p:spPr>
          <a:xfrm>
            <a:off x="3665144" y="1874520"/>
            <a:ext cx="2019224" cy="822960"/>
          </a:xfrm>
          <a:prstGeom prst="rect">
            <a:avLst/>
          </a:prstGeom>
          <a:noFill/>
          <a:ln/>
        </p:spPr>
        <p:txBody>
          <a:bodyPr wrap="square" lIns="0" tIns="0" rIns="0" bIns="0" rtlCol="0" anchor="t"/>
          <a:lstStyle/>
          <a:p>
            <a:pPr indent="0" marL="0">
              <a:buNone/>
            </a:pPr>
            <a:r>
              <a:rPr lang="en-US" sz="4400" b="1" dirty="0">
                <a:solidFill>
                  <a:srgbClr val="34D3B4"/>
                </a:solidFill>
                <a:latin typeface="Arial" pitchFamily="34" charset="0"/>
                <a:ea typeface="Arial" pitchFamily="34" charset="-122"/>
                <a:cs typeface="Arial" pitchFamily="34" charset="-120"/>
              </a:rPr>
              <a:t>16 fps</a:t>
            </a:r>
            <a:endParaRPr lang="en-US" sz="4400" dirty="0"/>
          </a:p>
        </p:txBody>
      </p:sp>
      <p:sp>
        <p:nvSpPr>
          <p:cNvPr id="12" name="Text 9"/>
          <p:cNvSpPr/>
          <p:nvPr/>
        </p:nvSpPr>
        <p:spPr>
          <a:xfrm>
            <a:off x="3665144" y="2743200"/>
            <a:ext cx="2019224" cy="548640"/>
          </a:xfrm>
          <a:prstGeom prst="rect">
            <a:avLst/>
          </a:prstGeom>
          <a:noFill/>
          <a:ln/>
        </p:spPr>
        <p:txBody>
          <a:bodyPr wrap="square" lIns="0" tIns="0" rIns="0" bIns="0" rtlCol="0" anchor="t"/>
          <a:lstStyle/>
          <a:p>
            <a:pPr indent="0" marL="0">
              <a:buNone/>
            </a:pPr>
            <a:r>
              <a:rPr lang="en-US" sz="1400" b="1" dirty="0">
                <a:solidFill>
                  <a:srgbClr val="F2F5FA"/>
                </a:solidFill>
                <a:latin typeface="Arial" pitchFamily="34" charset="0"/>
                <a:ea typeface="Arial" pitchFamily="34" charset="-122"/>
                <a:cs typeface="Arial" pitchFamily="34" charset="-120"/>
              </a:rPr>
              <a:t>analysed on one laptop CPU</a:t>
            </a:r>
            <a:endParaRPr lang="en-US" sz="1400" dirty="0"/>
          </a:p>
        </p:txBody>
      </p:sp>
      <p:sp>
        <p:nvSpPr>
          <p:cNvPr id="13" name="Text 10"/>
          <p:cNvSpPr/>
          <p:nvPr/>
        </p:nvSpPr>
        <p:spPr>
          <a:xfrm>
            <a:off x="3665144" y="3310128"/>
            <a:ext cx="2019224" cy="777240"/>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End to end through the real worker, before falling behind</a:t>
            </a:r>
            <a:endParaRPr lang="en-US" sz="1200" dirty="0"/>
          </a:p>
        </p:txBody>
      </p:sp>
      <p:sp>
        <p:nvSpPr>
          <p:cNvPr id="14" name="Shape 11"/>
          <p:cNvSpPr/>
          <p:nvPr/>
        </p:nvSpPr>
        <p:spPr>
          <a:xfrm>
            <a:off x="6233008" y="1691640"/>
            <a:ext cx="2567864" cy="2514600"/>
          </a:xfrm>
          <a:prstGeom prst="roundRect">
            <a:avLst>
              <a:gd name="adj" fmla="val 4364"/>
            </a:avLst>
          </a:prstGeom>
          <a:solidFill>
            <a:srgbClr val="1B2742"/>
          </a:solidFill>
          <a:ln w="9525">
            <a:solidFill>
              <a:srgbClr val="2C3A5C"/>
            </a:solidFill>
            <a:prstDash val="solid"/>
          </a:ln>
        </p:spPr>
      </p:sp>
      <p:sp>
        <p:nvSpPr>
          <p:cNvPr id="15" name="Text 12"/>
          <p:cNvSpPr/>
          <p:nvPr/>
        </p:nvSpPr>
        <p:spPr>
          <a:xfrm>
            <a:off x="6507328" y="1874520"/>
            <a:ext cx="2019224" cy="822960"/>
          </a:xfrm>
          <a:prstGeom prst="rect">
            <a:avLst/>
          </a:prstGeom>
          <a:noFill/>
          <a:ln/>
        </p:spPr>
        <p:txBody>
          <a:bodyPr wrap="square" lIns="0" tIns="0" rIns="0" bIns="0" rtlCol="0" anchor="t"/>
          <a:lstStyle/>
          <a:p>
            <a:pPr indent="0" marL="0">
              <a:buNone/>
            </a:pPr>
            <a:r>
              <a:rPr lang="en-US" sz="4400" b="1" dirty="0">
                <a:solidFill>
                  <a:srgbClr val="34D3B4"/>
                </a:solidFill>
                <a:latin typeface="Arial" pitchFamily="34" charset="0"/>
                <a:ea typeface="Arial" pitchFamily="34" charset="-122"/>
                <a:cs typeface="Arial" pitchFamily="34" charset="-120"/>
              </a:rPr>
              <a:t>616</a:t>
            </a:r>
            <a:endParaRPr lang="en-US" sz="4400" dirty="0"/>
          </a:p>
        </p:txBody>
      </p:sp>
      <p:sp>
        <p:nvSpPr>
          <p:cNvPr id="16" name="Text 13"/>
          <p:cNvSpPr/>
          <p:nvPr/>
        </p:nvSpPr>
        <p:spPr>
          <a:xfrm>
            <a:off x="6507328" y="2743200"/>
            <a:ext cx="2019224" cy="548640"/>
          </a:xfrm>
          <a:prstGeom prst="rect">
            <a:avLst/>
          </a:prstGeom>
          <a:noFill/>
          <a:ln/>
        </p:spPr>
        <p:txBody>
          <a:bodyPr wrap="square" lIns="0" tIns="0" rIns="0" bIns="0" rtlCol="0" anchor="t"/>
          <a:lstStyle/>
          <a:p>
            <a:pPr indent="0" marL="0">
              <a:buNone/>
            </a:pPr>
            <a:r>
              <a:rPr lang="en-US" sz="1400" b="1" dirty="0">
                <a:solidFill>
                  <a:srgbClr val="F2F5FA"/>
                </a:solidFill>
                <a:latin typeface="Arial" pitchFamily="34" charset="0"/>
                <a:ea typeface="Arial" pitchFamily="34" charset="-122"/>
                <a:cs typeface="Arial" pitchFamily="34" charset="-120"/>
              </a:rPr>
              <a:t>automated tests passing</a:t>
            </a:r>
            <a:endParaRPr lang="en-US" sz="1400" dirty="0"/>
          </a:p>
        </p:txBody>
      </p:sp>
      <p:sp>
        <p:nvSpPr>
          <p:cNvPr id="17" name="Text 14"/>
          <p:cNvSpPr/>
          <p:nvPr/>
        </p:nvSpPr>
        <p:spPr>
          <a:xfrm>
            <a:off x="6507328" y="3310128"/>
            <a:ext cx="2019224" cy="777240"/>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Plus 64 interface tests in three languages and two themes</a:t>
            </a:r>
            <a:endParaRPr lang="en-US" sz="1200" dirty="0"/>
          </a:p>
        </p:txBody>
      </p:sp>
      <p:sp>
        <p:nvSpPr>
          <p:cNvPr id="18" name="Shape 15"/>
          <p:cNvSpPr/>
          <p:nvPr/>
        </p:nvSpPr>
        <p:spPr>
          <a:xfrm>
            <a:off x="9075191" y="1691640"/>
            <a:ext cx="2567864" cy="2514600"/>
          </a:xfrm>
          <a:prstGeom prst="roundRect">
            <a:avLst>
              <a:gd name="adj" fmla="val 4364"/>
            </a:avLst>
          </a:prstGeom>
          <a:solidFill>
            <a:srgbClr val="1B2742"/>
          </a:solidFill>
          <a:ln w="9525">
            <a:solidFill>
              <a:srgbClr val="2C3A5C"/>
            </a:solidFill>
            <a:prstDash val="solid"/>
          </a:ln>
        </p:spPr>
      </p:sp>
      <p:sp>
        <p:nvSpPr>
          <p:cNvPr id="19" name="Text 16"/>
          <p:cNvSpPr/>
          <p:nvPr/>
        </p:nvSpPr>
        <p:spPr>
          <a:xfrm>
            <a:off x="9349511" y="1874520"/>
            <a:ext cx="2019224" cy="822960"/>
          </a:xfrm>
          <a:prstGeom prst="rect">
            <a:avLst/>
          </a:prstGeom>
          <a:noFill/>
          <a:ln/>
        </p:spPr>
        <p:txBody>
          <a:bodyPr wrap="square" lIns="0" tIns="0" rIns="0" bIns="0" rtlCol="0" anchor="t"/>
          <a:lstStyle/>
          <a:p>
            <a:pPr indent="0" marL="0">
              <a:buNone/>
            </a:pPr>
            <a:r>
              <a:rPr lang="en-US" sz="4400" b="1" dirty="0">
                <a:solidFill>
                  <a:srgbClr val="34D3B4"/>
                </a:solidFill>
                <a:latin typeface="Arial" pitchFamily="34" charset="0"/>
                <a:ea typeface="Arial" pitchFamily="34" charset="-122"/>
                <a:cs typeface="Arial" pitchFamily="34" charset="-120"/>
              </a:rPr>
              <a:t>5.7 s</a:t>
            </a:r>
            <a:endParaRPr lang="en-US" sz="4400" dirty="0"/>
          </a:p>
        </p:txBody>
      </p:sp>
      <p:sp>
        <p:nvSpPr>
          <p:cNvPr id="20" name="Text 17"/>
          <p:cNvSpPr/>
          <p:nvPr/>
        </p:nvSpPr>
        <p:spPr>
          <a:xfrm>
            <a:off x="9349511" y="2743200"/>
            <a:ext cx="2019224" cy="548640"/>
          </a:xfrm>
          <a:prstGeom prst="rect">
            <a:avLst/>
          </a:prstGeom>
          <a:noFill/>
          <a:ln/>
        </p:spPr>
        <p:txBody>
          <a:bodyPr wrap="square" lIns="0" tIns="0" rIns="0" bIns="0" rtlCol="0" anchor="t"/>
          <a:lstStyle/>
          <a:p>
            <a:pPr indent="0" marL="0">
              <a:buNone/>
            </a:pPr>
            <a:r>
              <a:rPr lang="en-US" sz="1400" b="1" dirty="0">
                <a:solidFill>
                  <a:srgbClr val="F2F5FA"/>
                </a:solidFill>
                <a:latin typeface="Arial" pitchFamily="34" charset="0"/>
                <a:ea typeface="Arial" pitchFamily="34" charset="-122"/>
                <a:cs typeface="Arial" pitchFamily="34" charset="-120"/>
              </a:rPr>
              <a:t>to restore 1 M detections</a:t>
            </a:r>
            <a:endParaRPr lang="en-US" sz="1400" dirty="0"/>
          </a:p>
        </p:txBody>
      </p:sp>
      <p:sp>
        <p:nvSpPr>
          <p:cNvPr id="21" name="Text 18"/>
          <p:cNvSpPr/>
          <p:nvPr/>
        </p:nvSpPr>
        <p:spPr>
          <a:xfrm>
            <a:off x="9349511" y="3310128"/>
            <a:ext cx="2019224" cy="777240"/>
          </a:xfrm>
          <a:prstGeom prst="rect">
            <a:avLst/>
          </a:prstGeom>
          <a:noFill/>
          <a:ln/>
        </p:spPr>
        <p:txBody>
          <a:bodyPr wrap="square" lIns="0" tIns="0" rIns="0" bIns="0" rtlCol="0" anchor="t"/>
          <a:lstStyle/>
          <a:p>
            <a:pPr indent="0" marL="0">
              <a:buNone/>
            </a:pPr>
            <a:r>
              <a:rPr lang="en-US" sz="1200" dirty="0">
                <a:solidFill>
                  <a:srgbClr val="A9B6CB"/>
                </a:solidFill>
                <a:latin typeface="Calibri" pitchFamily="34" charset="0"/>
                <a:ea typeface="Calibri" pitchFamily="34" charset="-122"/>
                <a:cs typeface="Calibri" pitchFamily="34" charset="-120"/>
              </a:rPr>
              <a:t>DR drill: backup, restore, audit chain re-verified, tamper caught</a:t>
            </a:r>
            <a:endParaRPr lang="en-US" sz="1200" dirty="0"/>
          </a:p>
        </p:txBody>
      </p:sp>
      <p:sp>
        <p:nvSpPr>
          <p:cNvPr id="22" name="Shape 19"/>
          <p:cNvSpPr/>
          <p:nvPr/>
        </p:nvSpPr>
        <p:spPr>
          <a:xfrm>
            <a:off x="548640" y="4526280"/>
            <a:ext cx="11094415" cy="1463040"/>
          </a:xfrm>
          <a:prstGeom prst="roundRect">
            <a:avLst>
              <a:gd name="adj" fmla="val 7500"/>
            </a:avLst>
          </a:prstGeom>
          <a:solidFill>
            <a:srgbClr val="131C30"/>
          </a:solidFill>
          <a:ln w="9525">
            <a:solidFill>
              <a:srgbClr val="2C3A5C"/>
            </a:solidFill>
            <a:prstDash val="solid"/>
          </a:ln>
        </p:spPr>
      </p:sp>
      <p:sp>
        <p:nvSpPr>
          <p:cNvPr id="23" name="Shape 20"/>
          <p:cNvSpPr/>
          <p:nvPr/>
        </p:nvSpPr>
        <p:spPr>
          <a:xfrm>
            <a:off x="868680" y="4754880"/>
            <a:ext cx="512064" cy="512064"/>
          </a:xfrm>
          <a:prstGeom prst="ellipse">
            <a:avLst/>
          </a:prstGeom>
          <a:solidFill>
            <a:srgbClr val="F5A524"/>
          </a:solidFill>
          <a:ln w="12700">
            <a:solidFill>
              <a:srgbClr val="F5A524"/>
            </a:solidFill>
            <a:prstDash val="solid"/>
          </a:ln>
        </p:spPr>
      </p:sp>
      <p:pic>
        <p:nvPicPr>
          <p:cNvPr id="24" name="Image 0" descr="preencoded.png">    </p:cNvPr>
          <p:cNvPicPr>
            <a:picLocks noChangeAspect="1"/>
          </p:cNvPicPr>
          <p:nvPr/>
        </p:nvPicPr>
        <p:blipFill>
          <a:blip r:embed="rId1"/>
          <a:stretch>
            <a:fillRect/>
          </a:stretch>
        </p:blipFill>
        <p:spPr>
          <a:xfrm>
            <a:off x="981334" y="4867534"/>
            <a:ext cx="286756" cy="286756"/>
          </a:xfrm>
          <a:prstGeom prst="rect">
            <a:avLst/>
          </a:prstGeom>
        </p:spPr>
      </p:pic>
      <p:sp>
        <p:nvSpPr>
          <p:cNvPr id="25" name="Text 21"/>
          <p:cNvSpPr/>
          <p:nvPr/>
        </p:nvSpPr>
        <p:spPr>
          <a:xfrm>
            <a:off x="1554480" y="4754880"/>
            <a:ext cx="3657600" cy="365760"/>
          </a:xfrm>
          <a:prstGeom prst="rect">
            <a:avLst/>
          </a:prstGeom>
          <a:noFill/>
          <a:ln/>
        </p:spPr>
        <p:txBody>
          <a:bodyPr wrap="square" lIns="0" tIns="0" rIns="0" bIns="0" rtlCol="0" anchor="t"/>
          <a:lstStyle/>
          <a:p>
            <a:pPr indent="0" marL="0">
              <a:buNone/>
            </a:pPr>
            <a:r>
              <a:rPr lang="en-US" sz="1700" b="1" dirty="0">
                <a:solidFill>
                  <a:srgbClr val="F2F5FA"/>
                </a:solidFill>
                <a:latin typeface="Arial" pitchFamily="34" charset="0"/>
                <a:ea typeface="Arial" pitchFamily="34" charset="-122"/>
                <a:cs typeface="Arial" pitchFamily="34" charset="-120"/>
              </a:rPr>
              <a:t>Stated plainly</a:t>
            </a:r>
            <a:endParaRPr lang="en-US" sz="1700" dirty="0"/>
          </a:p>
        </p:txBody>
      </p:sp>
      <p:sp>
        <p:nvSpPr>
          <p:cNvPr id="26" name="Text 22"/>
          <p:cNvSpPr/>
          <p:nvPr/>
        </p:nvSpPr>
        <p:spPr>
          <a:xfrm>
            <a:off x="1554480" y="5166360"/>
            <a:ext cx="493776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F2F5FA"/>
                </a:solidFill>
                <a:latin typeface="Calibri" pitchFamily="34" charset="0"/>
                <a:ea typeface="Calibri" pitchFamily="34" charset="-122"/>
                <a:cs typeface="Calibri" pitchFamily="34" charset="-120"/>
              </a:rPr>
              <a:t>ANPR is below our own 85% target</a:t>
            </a:r>
            <a:endParaRPr lang="en-US" sz="1400" dirty="0"/>
          </a:p>
          <a:p>
            <a:pPr marL="177800" indent="-177800">
              <a:spcAft>
                <a:spcPts val="600"/>
              </a:spcAft>
              <a:buSzPct val="100000"/>
              <a:buChar char="•"/>
            </a:pPr>
            <a:r>
              <a:rPr lang="en-US" sz="1400" dirty="0">
                <a:solidFill>
                  <a:srgbClr val="F2F5FA"/>
                </a:solidFill>
                <a:latin typeface="Calibri" pitchFamily="34" charset="0"/>
                <a:ea typeface="Calibri" pitchFamily="34" charset="-122"/>
                <a:cs typeface="Calibri" pitchFamily="34" charset="-120"/>
              </a:rPr>
              <a:t>GPU throughput (300 fps per L4) is a vendor estimate</a:t>
            </a:r>
            <a:endParaRPr lang="en-US" sz="1400" dirty="0"/>
          </a:p>
        </p:txBody>
      </p:sp>
      <p:sp>
        <p:nvSpPr>
          <p:cNvPr id="27" name="Text 23"/>
          <p:cNvSpPr/>
          <p:nvPr/>
        </p:nvSpPr>
        <p:spPr>
          <a:xfrm>
            <a:off x="6583680" y="5166360"/>
            <a:ext cx="484632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F2F5FA"/>
                </a:solidFill>
                <a:latin typeface="Calibri" pitchFamily="34" charset="0"/>
                <a:ea typeface="Calibri" pitchFamily="34" charset="-122"/>
                <a:cs typeface="Calibri" pitchFamily="34" charset="-120"/>
              </a:rPr>
              <a:t>Appearance ReID is designed, not built</a:t>
            </a:r>
            <a:endParaRPr lang="en-US" sz="1400" dirty="0"/>
          </a:p>
          <a:p>
            <a:pPr marL="177800" indent="-177800">
              <a:spcAft>
                <a:spcPts val="600"/>
              </a:spcAft>
              <a:buSzPct val="100000"/>
              <a:buChar char="•"/>
            </a:pPr>
            <a:r>
              <a:rPr lang="en-US" sz="1400" dirty="0">
                <a:solidFill>
                  <a:srgbClr val="F2F5FA"/>
                </a:solidFill>
                <a:latin typeface="Calibri" pitchFamily="34" charset="0"/>
                <a:ea typeface="Calibri" pitchFamily="34" charset="-122"/>
                <a:cs typeface="Calibri" pitchFamily="34" charset="-120"/>
              </a:rPr>
              <a:t>Face recognition is excluded by decision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STATEWIDE ROLLOUT</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F2F5FA"/>
                </a:solidFill>
                <a:latin typeface="Arial" pitchFamily="34" charset="0"/>
                <a:ea typeface="Arial" pitchFamily="34" charset="-122"/>
                <a:cs typeface="Arial" pitchFamily="34" charset="-120"/>
              </a:rPr>
              <a:t>Useful at 500 cameras. No big-bang cutover.</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A9B6CB"/>
                </a:solidFill>
                <a:latin typeface="Arial" pitchFamily="34" charset="0"/>
                <a:ea typeface="Arial" pitchFamily="34" charset="-122"/>
                <a:cs typeface="Arial" pitchFamily="34" charset="-120"/>
              </a:rPr>
              <a:t>16</a:t>
            </a:r>
            <a:endParaRPr lang="en-US" sz="900" dirty="0"/>
          </a:p>
        </p:txBody>
      </p:sp>
      <p:sp>
        <p:nvSpPr>
          <p:cNvPr id="6" name="Shape 3"/>
          <p:cNvSpPr/>
          <p:nvPr/>
        </p:nvSpPr>
        <p:spPr>
          <a:xfrm>
            <a:off x="832104" y="1938528"/>
            <a:ext cx="10527487" cy="0"/>
          </a:xfrm>
          <a:prstGeom prst="line">
            <a:avLst/>
          </a:prstGeom>
          <a:noFill/>
          <a:ln w="25400">
            <a:solidFill>
              <a:srgbClr val="2C3A5C"/>
            </a:solidFill>
            <a:prstDash val="solid"/>
          </a:ln>
        </p:spPr>
      </p:sp>
      <p:sp>
        <p:nvSpPr>
          <p:cNvPr id="7" name="Shape 4"/>
          <p:cNvSpPr/>
          <p:nvPr/>
        </p:nvSpPr>
        <p:spPr>
          <a:xfrm>
            <a:off x="685800" y="1792224"/>
            <a:ext cx="292608" cy="292608"/>
          </a:xfrm>
          <a:prstGeom prst="ellipse">
            <a:avLst/>
          </a:prstGeom>
          <a:solidFill>
            <a:srgbClr val="F5A524"/>
          </a:solidFill>
          <a:ln w="38100">
            <a:solidFill>
              <a:srgbClr val="0A1020"/>
            </a:solidFill>
            <a:prstDash val="solid"/>
          </a:ln>
        </p:spPr>
      </p:sp>
      <p:sp>
        <p:nvSpPr>
          <p:cNvPr id="8" name="Text 5"/>
          <p:cNvSpPr/>
          <p:nvPr/>
        </p:nvSpPr>
        <p:spPr>
          <a:xfrm>
            <a:off x="548640" y="2240280"/>
            <a:ext cx="2567864" cy="274320"/>
          </a:xfrm>
          <a:prstGeom prst="rect">
            <a:avLst/>
          </a:prstGeom>
          <a:noFill/>
          <a:ln/>
        </p:spPr>
        <p:txBody>
          <a:bodyPr wrap="square" lIns="0" tIns="0" rIns="0" bIns="0" rtlCol="0" anchor="t"/>
          <a:lstStyle/>
          <a:p>
            <a:pPr indent="0" marL="0">
              <a:buNone/>
            </a:pPr>
            <a:r>
              <a:rPr lang="en-US" sz="1200" b="1" dirty="0">
                <a:solidFill>
                  <a:srgbClr val="F5A524"/>
                </a:solidFill>
                <a:latin typeface="Arial" pitchFamily="34" charset="0"/>
                <a:ea typeface="Arial" pitchFamily="34" charset="-122"/>
                <a:cs typeface="Arial" pitchFamily="34" charset="-120"/>
              </a:rPr>
              <a:t>Phase 0  ·  0–3 months</a:t>
            </a:r>
            <a:endParaRPr lang="en-US" sz="1200" dirty="0"/>
          </a:p>
        </p:txBody>
      </p:sp>
      <p:sp>
        <p:nvSpPr>
          <p:cNvPr id="9" name="Shape 6"/>
          <p:cNvSpPr/>
          <p:nvPr/>
        </p:nvSpPr>
        <p:spPr>
          <a:xfrm>
            <a:off x="548640" y="2651760"/>
            <a:ext cx="2567864" cy="3246120"/>
          </a:xfrm>
          <a:prstGeom prst="roundRect">
            <a:avLst>
              <a:gd name="adj" fmla="val 4273"/>
            </a:avLst>
          </a:prstGeom>
          <a:solidFill>
            <a:srgbClr val="131C30"/>
          </a:solidFill>
          <a:ln w="9525">
            <a:solidFill>
              <a:srgbClr val="2C3A5C"/>
            </a:solidFill>
            <a:prstDash val="solid"/>
          </a:ln>
        </p:spPr>
      </p:sp>
      <p:sp>
        <p:nvSpPr>
          <p:cNvPr id="10" name="Text 7"/>
          <p:cNvSpPr/>
          <p:nvPr/>
        </p:nvSpPr>
        <p:spPr>
          <a:xfrm>
            <a:off x="822960" y="2834640"/>
            <a:ext cx="2019224" cy="685800"/>
          </a:xfrm>
          <a:prstGeom prst="rect">
            <a:avLst/>
          </a:prstGeom>
          <a:noFill/>
          <a:ln/>
        </p:spPr>
        <p:txBody>
          <a:bodyPr wrap="square" lIns="0" tIns="0" rIns="0" bIns="0" rtlCol="0" anchor="t"/>
          <a:lstStyle/>
          <a:p>
            <a:pPr indent="0" marL="0">
              <a:buNone/>
            </a:pPr>
            <a:r>
              <a:rPr lang="en-US" sz="3600" b="1" dirty="0">
                <a:solidFill>
                  <a:srgbClr val="F2F5FA"/>
                </a:solidFill>
                <a:latin typeface="Arial" pitchFamily="34" charset="0"/>
                <a:ea typeface="Arial" pitchFamily="34" charset="-122"/>
                <a:cs typeface="Arial" pitchFamily="34" charset="-120"/>
              </a:rPr>
              <a:t>~500</a:t>
            </a:r>
            <a:endParaRPr lang="en-US" sz="3600" dirty="0"/>
          </a:p>
        </p:txBody>
      </p:sp>
      <p:sp>
        <p:nvSpPr>
          <p:cNvPr id="11" name="Text 8"/>
          <p:cNvSpPr/>
          <p:nvPr/>
        </p:nvSpPr>
        <p:spPr>
          <a:xfrm>
            <a:off x="822960" y="3493008"/>
            <a:ext cx="2019224" cy="27432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cameras</a:t>
            </a:r>
            <a:endParaRPr lang="en-US" sz="1300" dirty="0"/>
          </a:p>
        </p:txBody>
      </p:sp>
      <p:sp>
        <p:nvSpPr>
          <p:cNvPr id="12" name="Text 9"/>
          <p:cNvSpPr/>
          <p:nvPr/>
        </p:nvSpPr>
        <p:spPr>
          <a:xfrm>
            <a:off x="822960" y="3931920"/>
            <a:ext cx="2019224" cy="548640"/>
          </a:xfrm>
          <a:prstGeom prst="rect">
            <a:avLst/>
          </a:prstGeom>
          <a:noFill/>
          <a:ln/>
        </p:spPr>
        <p:txBody>
          <a:bodyPr wrap="square" lIns="0" tIns="0" rIns="0" bIns="0" rtlCol="0" anchor="t"/>
          <a:lstStyle/>
          <a:p>
            <a:pPr indent="0" marL="0">
              <a:buNone/>
            </a:pPr>
            <a:r>
              <a:rPr lang="en-US" sz="1400" b="1" dirty="0">
                <a:solidFill>
                  <a:srgbClr val="F2F5FA"/>
                </a:solidFill>
                <a:latin typeface="Arial" pitchFamily="34" charset="0"/>
                <a:ea typeface="Arial" pitchFamily="34" charset="-122"/>
                <a:cs typeface="Arial" pitchFamily="34" charset="-120"/>
              </a:rPr>
              <a:t>1 district, 2 departments</a:t>
            </a:r>
            <a:endParaRPr lang="en-US" sz="1400" dirty="0"/>
          </a:p>
        </p:txBody>
      </p:sp>
      <p:sp>
        <p:nvSpPr>
          <p:cNvPr id="13" name="Text 10"/>
          <p:cNvSpPr/>
          <p:nvPr/>
        </p:nvSpPr>
        <p:spPr>
          <a:xfrm>
            <a:off x="822960" y="4526280"/>
            <a:ext cx="2019224" cy="118872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ANPR validated on live feeds; operator acceptance</a:t>
            </a:r>
            <a:endParaRPr lang="en-US" sz="1300" dirty="0"/>
          </a:p>
        </p:txBody>
      </p:sp>
      <p:sp>
        <p:nvSpPr>
          <p:cNvPr id="14" name="Shape 11"/>
          <p:cNvSpPr/>
          <p:nvPr/>
        </p:nvSpPr>
        <p:spPr>
          <a:xfrm>
            <a:off x="3527984" y="1792224"/>
            <a:ext cx="292608" cy="292608"/>
          </a:xfrm>
          <a:prstGeom prst="ellipse">
            <a:avLst/>
          </a:prstGeom>
          <a:solidFill>
            <a:srgbClr val="F5A524"/>
          </a:solidFill>
          <a:ln w="38100">
            <a:solidFill>
              <a:srgbClr val="0A1020"/>
            </a:solidFill>
            <a:prstDash val="solid"/>
          </a:ln>
        </p:spPr>
      </p:sp>
      <p:sp>
        <p:nvSpPr>
          <p:cNvPr id="15" name="Text 12"/>
          <p:cNvSpPr/>
          <p:nvPr/>
        </p:nvSpPr>
        <p:spPr>
          <a:xfrm>
            <a:off x="3390824" y="2240280"/>
            <a:ext cx="2567864" cy="274320"/>
          </a:xfrm>
          <a:prstGeom prst="rect">
            <a:avLst/>
          </a:prstGeom>
          <a:noFill/>
          <a:ln/>
        </p:spPr>
        <p:txBody>
          <a:bodyPr wrap="square" lIns="0" tIns="0" rIns="0" bIns="0" rtlCol="0" anchor="t"/>
          <a:lstStyle/>
          <a:p>
            <a:pPr indent="0" marL="0">
              <a:buNone/>
            </a:pPr>
            <a:r>
              <a:rPr lang="en-US" sz="1200" b="1" dirty="0">
                <a:solidFill>
                  <a:srgbClr val="F5A524"/>
                </a:solidFill>
                <a:latin typeface="Arial" pitchFamily="34" charset="0"/>
                <a:ea typeface="Arial" pitchFamily="34" charset="-122"/>
                <a:cs typeface="Arial" pitchFamily="34" charset="-120"/>
              </a:rPr>
              <a:t>Phase 1  ·  3–9 months</a:t>
            </a:r>
            <a:endParaRPr lang="en-US" sz="1200" dirty="0"/>
          </a:p>
        </p:txBody>
      </p:sp>
      <p:sp>
        <p:nvSpPr>
          <p:cNvPr id="16" name="Shape 13"/>
          <p:cNvSpPr/>
          <p:nvPr/>
        </p:nvSpPr>
        <p:spPr>
          <a:xfrm>
            <a:off x="3390824" y="2651760"/>
            <a:ext cx="2567864" cy="3246120"/>
          </a:xfrm>
          <a:prstGeom prst="roundRect">
            <a:avLst>
              <a:gd name="adj" fmla="val 4273"/>
            </a:avLst>
          </a:prstGeom>
          <a:solidFill>
            <a:srgbClr val="131C30"/>
          </a:solidFill>
          <a:ln w="9525">
            <a:solidFill>
              <a:srgbClr val="2C3A5C"/>
            </a:solidFill>
            <a:prstDash val="solid"/>
          </a:ln>
        </p:spPr>
      </p:sp>
      <p:sp>
        <p:nvSpPr>
          <p:cNvPr id="17" name="Text 14"/>
          <p:cNvSpPr/>
          <p:nvPr/>
        </p:nvSpPr>
        <p:spPr>
          <a:xfrm>
            <a:off x="3665144" y="2834640"/>
            <a:ext cx="2019224" cy="685800"/>
          </a:xfrm>
          <a:prstGeom prst="rect">
            <a:avLst/>
          </a:prstGeom>
          <a:noFill/>
          <a:ln/>
        </p:spPr>
        <p:txBody>
          <a:bodyPr wrap="square" lIns="0" tIns="0" rIns="0" bIns="0" rtlCol="0" anchor="t"/>
          <a:lstStyle/>
          <a:p>
            <a:pPr indent="0" marL="0">
              <a:buNone/>
            </a:pPr>
            <a:r>
              <a:rPr lang="en-US" sz="3600" b="1" dirty="0">
                <a:solidFill>
                  <a:srgbClr val="F2F5FA"/>
                </a:solidFill>
                <a:latin typeface="Arial" pitchFamily="34" charset="0"/>
                <a:ea typeface="Arial" pitchFamily="34" charset="-122"/>
                <a:cs typeface="Arial" pitchFamily="34" charset="-120"/>
              </a:rPr>
              <a:t>~5,000</a:t>
            </a:r>
            <a:endParaRPr lang="en-US" sz="3600" dirty="0"/>
          </a:p>
        </p:txBody>
      </p:sp>
      <p:sp>
        <p:nvSpPr>
          <p:cNvPr id="18" name="Text 15"/>
          <p:cNvSpPr/>
          <p:nvPr/>
        </p:nvSpPr>
        <p:spPr>
          <a:xfrm>
            <a:off x="3665144" y="3493008"/>
            <a:ext cx="2019224" cy="27432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cameras</a:t>
            </a:r>
            <a:endParaRPr lang="en-US" sz="1300" dirty="0"/>
          </a:p>
        </p:txBody>
      </p:sp>
      <p:sp>
        <p:nvSpPr>
          <p:cNvPr id="19" name="Text 16"/>
          <p:cNvSpPr/>
          <p:nvPr/>
        </p:nvSpPr>
        <p:spPr>
          <a:xfrm>
            <a:off x="3665144" y="3931920"/>
            <a:ext cx="2019224" cy="548640"/>
          </a:xfrm>
          <a:prstGeom prst="rect">
            <a:avLst/>
          </a:prstGeom>
          <a:noFill/>
          <a:ln/>
        </p:spPr>
        <p:txBody>
          <a:bodyPr wrap="square" lIns="0" tIns="0" rIns="0" bIns="0" rtlCol="0" anchor="t"/>
          <a:lstStyle/>
          <a:p>
            <a:pPr indent="0" marL="0">
              <a:buNone/>
            </a:pPr>
            <a:r>
              <a:rPr lang="en-US" sz="1400" b="1" dirty="0">
                <a:solidFill>
                  <a:srgbClr val="F2F5FA"/>
                </a:solidFill>
                <a:latin typeface="Arial" pitchFamily="34" charset="0"/>
                <a:ea typeface="Arial" pitchFamily="34" charset="-122"/>
                <a:cs typeface="Arial" pitchFamily="34" charset="-120"/>
              </a:rPr>
              <a:t>4 districts, 6 departments</a:t>
            </a:r>
            <a:endParaRPr lang="en-US" sz="1400" dirty="0"/>
          </a:p>
        </p:txBody>
      </p:sp>
      <p:sp>
        <p:nvSpPr>
          <p:cNvPr id="20" name="Text 17"/>
          <p:cNvSpPr/>
          <p:nvPr/>
        </p:nvSpPr>
        <p:spPr>
          <a:xfrm>
            <a:off x="3665144" y="4526280"/>
            <a:ext cx="2019224" cy="118872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Top three VMS vendors federated; VAHAN and eGujCop live; DR drill passed</a:t>
            </a:r>
            <a:endParaRPr lang="en-US" sz="1300" dirty="0"/>
          </a:p>
        </p:txBody>
      </p:sp>
      <p:sp>
        <p:nvSpPr>
          <p:cNvPr id="21" name="Shape 18"/>
          <p:cNvSpPr/>
          <p:nvPr/>
        </p:nvSpPr>
        <p:spPr>
          <a:xfrm>
            <a:off x="6370168" y="1792224"/>
            <a:ext cx="292608" cy="292608"/>
          </a:xfrm>
          <a:prstGeom prst="ellipse">
            <a:avLst/>
          </a:prstGeom>
          <a:solidFill>
            <a:srgbClr val="F5A524"/>
          </a:solidFill>
          <a:ln w="38100">
            <a:solidFill>
              <a:srgbClr val="0A1020"/>
            </a:solidFill>
            <a:prstDash val="solid"/>
          </a:ln>
        </p:spPr>
      </p:sp>
      <p:sp>
        <p:nvSpPr>
          <p:cNvPr id="22" name="Text 19"/>
          <p:cNvSpPr/>
          <p:nvPr/>
        </p:nvSpPr>
        <p:spPr>
          <a:xfrm>
            <a:off x="6233008" y="2240280"/>
            <a:ext cx="2567864" cy="274320"/>
          </a:xfrm>
          <a:prstGeom prst="rect">
            <a:avLst/>
          </a:prstGeom>
          <a:noFill/>
          <a:ln/>
        </p:spPr>
        <p:txBody>
          <a:bodyPr wrap="square" lIns="0" tIns="0" rIns="0" bIns="0" rtlCol="0" anchor="t"/>
          <a:lstStyle/>
          <a:p>
            <a:pPr indent="0" marL="0">
              <a:buNone/>
            </a:pPr>
            <a:r>
              <a:rPr lang="en-US" sz="1200" b="1" dirty="0">
                <a:solidFill>
                  <a:srgbClr val="F5A524"/>
                </a:solidFill>
                <a:latin typeface="Arial" pitchFamily="34" charset="0"/>
                <a:ea typeface="Arial" pitchFamily="34" charset="-122"/>
                <a:cs typeface="Arial" pitchFamily="34" charset="-120"/>
              </a:rPr>
              <a:t>Phase 2  ·  9–21 months</a:t>
            </a:r>
            <a:endParaRPr lang="en-US" sz="1200" dirty="0"/>
          </a:p>
        </p:txBody>
      </p:sp>
      <p:sp>
        <p:nvSpPr>
          <p:cNvPr id="23" name="Shape 20"/>
          <p:cNvSpPr/>
          <p:nvPr/>
        </p:nvSpPr>
        <p:spPr>
          <a:xfrm>
            <a:off x="6233008" y="2651760"/>
            <a:ext cx="2567864" cy="3246120"/>
          </a:xfrm>
          <a:prstGeom prst="roundRect">
            <a:avLst>
              <a:gd name="adj" fmla="val 4273"/>
            </a:avLst>
          </a:prstGeom>
          <a:solidFill>
            <a:srgbClr val="131C30"/>
          </a:solidFill>
          <a:ln w="9525">
            <a:solidFill>
              <a:srgbClr val="2C3A5C"/>
            </a:solidFill>
            <a:prstDash val="solid"/>
          </a:ln>
        </p:spPr>
      </p:sp>
      <p:sp>
        <p:nvSpPr>
          <p:cNvPr id="24" name="Text 21"/>
          <p:cNvSpPr/>
          <p:nvPr/>
        </p:nvSpPr>
        <p:spPr>
          <a:xfrm>
            <a:off x="6507328" y="2834640"/>
            <a:ext cx="2019224" cy="685800"/>
          </a:xfrm>
          <a:prstGeom prst="rect">
            <a:avLst/>
          </a:prstGeom>
          <a:noFill/>
          <a:ln/>
        </p:spPr>
        <p:txBody>
          <a:bodyPr wrap="square" lIns="0" tIns="0" rIns="0" bIns="0" rtlCol="0" anchor="t"/>
          <a:lstStyle/>
          <a:p>
            <a:pPr indent="0" marL="0">
              <a:buNone/>
            </a:pPr>
            <a:r>
              <a:rPr lang="en-US" sz="3600" b="1" dirty="0">
                <a:solidFill>
                  <a:srgbClr val="F2F5FA"/>
                </a:solidFill>
                <a:latin typeface="Arial" pitchFamily="34" charset="0"/>
                <a:ea typeface="Arial" pitchFamily="34" charset="-122"/>
                <a:cs typeface="Arial" pitchFamily="34" charset="-120"/>
              </a:rPr>
              <a:t>~30,000</a:t>
            </a:r>
            <a:endParaRPr lang="en-US" sz="3600" dirty="0"/>
          </a:p>
        </p:txBody>
      </p:sp>
      <p:sp>
        <p:nvSpPr>
          <p:cNvPr id="25" name="Text 22"/>
          <p:cNvSpPr/>
          <p:nvPr/>
        </p:nvSpPr>
        <p:spPr>
          <a:xfrm>
            <a:off x="6507328" y="3493008"/>
            <a:ext cx="2019224" cy="27432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cameras</a:t>
            </a:r>
            <a:endParaRPr lang="en-US" sz="1300" dirty="0"/>
          </a:p>
        </p:txBody>
      </p:sp>
      <p:sp>
        <p:nvSpPr>
          <p:cNvPr id="26" name="Text 23"/>
          <p:cNvSpPr/>
          <p:nvPr/>
        </p:nvSpPr>
        <p:spPr>
          <a:xfrm>
            <a:off x="6507328" y="3931920"/>
            <a:ext cx="2019224" cy="548640"/>
          </a:xfrm>
          <a:prstGeom prst="rect">
            <a:avLst/>
          </a:prstGeom>
          <a:noFill/>
          <a:ln/>
        </p:spPr>
        <p:txBody>
          <a:bodyPr wrap="square" lIns="0" tIns="0" rIns="0" bIns="0" rtlCol="0" anchor="t"/>
          <a:lstStyle/>
          <a:p>
            <a:pPr indent="0" marL="0">
              <a:buNone/>
            </a:pPr>
            <a:r>
              <a:rPr lang="en-US" sz="1400" b="1" dirty="0">
                <a:solidFill>
                  <a:srgbClr val="F2F5FA"/>
                </a:solidFill>
                <a:latin typeface="Arial" pitchFamily="34" charset="0"/>
                <a:ea typeface="Arial" pitchFamily="34" charset="-122"/>
                <a:cs typeface="Arial" pitchFamily="34" charset="-120"/>
              </a:rPr>
              <a:t>All 34 districts, 15 departments</a:t>
            </a:r>
            <a:endParaRPr lang="en-US" sz="1400" dirty="0"/>
          </a:p>
        </p:txBody>
      </p:sp>
      <p:sp>
        <p:nvSpPr>
          <p:cNvPr id="27" name="Text 24"/>
          <p:cNvSpPr/>
          <p:nvPr/>
        </p:nvSpPr>
        <p:spPr>
          <a:xfrm>
            <a:off x="6507328" y="4526280"/>
            <a:ext cx="2019224" cy="118872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Statewide vehicle tracking; SOC/NOC in place</a:t>
            </a:r>
            <a:endParaRPr lang="en-US" sz="1300" dirty="0"/>
          </a:p>
        </p:txBody>
      </p:sp>
      <p:sp>
        <p:nvSpPr>
          <p:cNvPr id="28" name="Shape 25"/>
          <p:cNvSpPr/>
          <p:nvPr/>
        </p:nvSpPr>
        <p:spPr>
          <a:xfrm>
            <a:off x="9212351" y="1792224"/>
            <a:ext cx="292608" cy="292608"/>
          </a:xfrm>
          <a:prstGeom prst="ellipse">
            <a:avLst/>
          </a:prstGeom>
          <a:solidFill>
            <a:srgbClr val="F5A524"/>
          </a:solidFill>
          <a:ln w="38100">
            <a:solidFill>
              <a:srgbClr val="0A1020"/>
            </a:solidFill>
            <a:prstDash val="solid"/>
          </a:ln>
        </p:spPr>
      </p:sp>
      <p:sp>
        <p:nvSpPr>
          <p:cNvPr id="29" name="Text 26"/>
          <p:cNvSpPr/>
          <p:nvPr/>
        </p:nvSpPr>
        <p:spPr>
          <a:xfrm>
            <a:off x="9075191" y="2240280"/>
            <a:ext cx="2567864" cy="274320"/>
          </a:xfrm>
          <a:prstGeom prst="rect">
            <a:avLst/>
          </a:prstGeom>
          <a:noFill/>
          <a:ln/>
        </p:spPr>
        <p:txBody>
          <a:bodyPr wrap="square" lIns="0" tIns="0" rIns="0" bIns="0" rtlCol="0" anchor="t"/>
          <a:lstStyle/>
          <a:p>
            <a:pPr indent="0" marL="0">
              <a:buNone/>
            </a:pPr>
            <a:r>
              <a:rPr lang="en-US" sz="1200" b="1" dirty="0">
                <a:solidFill>
                  <a:srgbClr val="F5A524"/>
                </a:solidFill>
                <a:latin typeface="Arial" pitchFamily="34" charset="0"/>
                <a:ea typeface="Arial" pitchFamily="34" charset="-122"/>
                <a:cs typeface="Arial" pitchFamily="34" charset="-120"/>
              </a:rPr>
              <a:t>Phase 3  ·  21–36 months</a:t>
            </a:r>
            <a:endParaRPr lang="en-US" sz="1200" dirty="0"/>
          </a:p>
        </p:txBody>
      </p:sp>
      <p:sp>
        <p:nvSpPr>
          <p:cNvPr id="30" name="Shape 27"/>
          <p:cNvSpPr/>
          <p:nvPr/>
        </p:nvSpPr>
        <p:spPr>
          <a:xfrm>
            <a:off x="9075191" y="2651760"/>
            <a:ext cx="2567864" cy="3246120"/>
          </a:xfrm>
          <a:prstGeom prst="roundRect">
            <a:avLst>
              <a:gd name="adj" fmla="val 4273"/>
            </a:avLst>
          </a:prstGeom>
          <a:solidFill>
            <a:srgbClr val="1B2742"/>
          </a:solidFill>
          <a:ln w="9525">
            <a:solidFill>
              <a:srgbClr val="2C3A5C"/>
            </a:solidFill>
            <a:prstDash val="solid"/>
          </a:ln>
        </p:spPr>
      </p:sp>
      <p:sp>
        <p:nvSpPr>
          <p:cNvPr id="31" name="Text 28"/>
          <p:cNvSpPr/>
          <p:nvPr/>
        </p:nvSpPr>
        <p:spPr>
          <a:xfrm>
            <a:off x="9349511" y="2834640"/>
            <a:ext cx="2019224" cy="685800"/>
          </a:xfrm>
          <a:prstGeom prst="rect">
            <a:avLst/>
          </a:prstGeom>
          <a:noFill/>
          <a:ln/>
        </p:spPr>
        <p:txBody>
          <a:bodyPr wrap="square" lIns="0" tIns="0" rIns="0" bIns="0" rtlCol="0" anchor="t"/>
          <a:lstStyle/>
          <a:p>
            <a:pPr indent="0" marL="0">
              <a:buNone/>
            </a:pPr>
            <a:r>
              <a:rPr lang="en-US" sz="3600" b="1" dirty="0">
                <a:solidFill>
                  <a:srgbClr val="F2F5FA"/>
                </a:solidFill>
                <a:latin typeface="Arial" pitchFamily="34" charset="0"/>
                <a:ea typeface="Arial" pitchFamily="34" charset="-122"/>
                <a:cs typeface="Arial" pitchFamily="34" charset="-120"/>
              </a:rPr>
              <a:t>80,000</a:t>
            </a:r>
            <a:endParaRPr lang="en-US" sz="3600" dirty="0"/>
          </a:p>
        </p:txBody>
      </p:sp>
      <p:sp>
        <p:nvSpPr>
          <p:cNvPr id="32" name="Text 29"/>
          <p:cNvSpPr/>
          <p:nvPr/>
        </p:nvSpPr>
        <p:spPr>
          <a:xfrm>
            <a:off x="9349511" y="3493008"/>
            <a:ext cx="2019224" cy="27432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cameras</a:t>
            </a:r>
            <a:endParaRPr lang="en-US" sz="1300" dirty="0"/>
          </a:p>
        </p:txBody>
      </p:sp>
      <p:sp>
        <p:nvSpPr>
          <p:cNvPr id="33" name="Text 30"/>
          <p:cNvSpPr/>
          <p:nvPr/>
        </p:nvSpPr>
        <p:spPr>
          <a:xfrm>
            <a:off x="9349511" y="3931920"/>
            <a:ext cx="2019224" cy="548640"/>
          </a:xfrm>
          <a:prstGeom prst="rect">
            <a:avLst/>
          </a:prstGeom>
          <a:noFill/>
          <a:ln/>
        </p:spPr>
        <p:txBody>
          <a:bodyPr wrap="square" lIns="0" tIns="0" rIns="0" bIns="0" rtlCol="0" anchor="t"/>
          <a:lstStyle/>
          <a:p>
            <a:pPr indent="0" marL="0">
              <a:buNone/>
            </a:pPr>
            <a:r>
              <a:rPr lang="en-US" sz="1400" b="1" dirty="0">
                <a:solidFill>
                  <a:srgbClr val="F2F5FA"/>
                </a:solidFill>
                <a:latin typeface="Arial" pitchFamily="34" charset="0"/>
                <a:ea typeface="Arial" pitchFamily="34" charset="-122"/>
                <a:cs typeface="Arial" pitchFamily="34" charset="-120"/>
              </a:rPr>
              <a:t>Plus consented private cameras</a:t>
            </a:r>
            <a:endParaRPr lang="en-US" sz="1400" dirty="0"/>
          </a:p>
        </p:txBody>
      </p:sp>
      <p:sp>
        <p:nvSpPr>
          <p:cNvPr id="34" name="Text 31"/>
          <p:cNvSpPr/>
          <p:nvPr/>
        </p:nvSpPr>
        <p:spPr>
          <a:xfrm>
            <a:off x="9349511" y="4526280"/>
            <a:ext cx="2019224" cy="1188720"/>
          </a:xfrm>
          <a:prstGeom prst="rect">
            <a:avLst/>
          </a:prstGeom>
          <a:noFill/>
          <a:ln/>
        </p:spPr>
        <p:txBody>
          <a:bodyPr wrap="square" lIns="0" tIns="0" rIns="0" bIns="0" rtlCol="0" anchor="t"/>
          <a:lstStyle/>
          <a:p>
            <a:pPr indent="0" marL="0">
              <a:buNone/>
            </a:pPr>
            <a:r>
              <a:rPr lang="en-US" sz="1300" dirty="0">
                <a:solidFill>
                  <a:srgbClr val="A9B6CB"/>
                </a:solidFill>
                <a:latin typeface="Calibri" pitchFamily="34" charset="0"/>
                <a:ea typeface="Calibri" pitchFamily="34" charset="-122"/>
                <a:cs typeface="Calibri" pitchFamily="34" charset="-120"/>
              </a:rPr>
              <a:t>Full coverage; policy and audit regime institutionalised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731520"/>
            <a:ext cx="11094415" cy="320040"/>
          </a:xfrm>
          <a:prstGeom prst="rect">
            <a:avLst/>
          </a:prstGeom>
          <a:noFill/>
          <a:ln/>
        </p:spPr>
        <p:txBody>
          <a:bodyPr wrap="square" lIns="0" tIns="0" rIns="0" bIns="0" rtlCol="0" anchor="t"/>
          <a:lstStyle/>
          <a:p>
            <a:pPr indent="0" marL="0">
              <a:buNone/>
            </a:pPr>
            <a:r>
              <a:rPr lang="en-US" sz="1300" b="1" spc="400" kern="0" dirty="0">
                <a:solidFill>
                  <a:srgbClr val="F5A524"/>
                </a:solidFill>
                <a:latin typeface="Arial" pitchFamily="34" charset="0"/>
                <a:ea typeface="Arial" pitchFamily="34" charset="-122"/>
                <a:cs typeface="Arial" pitchFamily="34" charset="-120"/>
              </a:rPr>
              <a:t>WHAT WE NEED TO BEGIN</a:t>
            </a:r>
            <a:endParaRPr lang="en-US" sz="1300" dirty="0"/>
          </a:p>
        </p:txBody>
      </p:sp>
      <p:sp>
        <p:nvSpPr>
          <p:cNvPr id="3" name="Text 1"/>
          <p:cNvSpPr/>
          <p:nvPr/>
        </p:nvSpPr>
        <p:spPr>
          <a:xfrm>
            <a:off x="548640" y="1097280"/>
            <a:ext cx="11094415" cy="777240"/>
          </a:xfrm>
          <a:prstGeom prst="rect">
            <a:avLst/>
          </a:prstGeom>
          <a:noFill/>
          <a:ln/>
        </p:spPr>
        <p:txBody>
          <a:bodyPr wrap="square" lIns="0" tIns="0" rIns="0" bIns="0" rtlCol="0" anchor="t"/>
          <a:lstStyle/>
          <a:p>
            <a:pPr indent="0" marL="0">
              <a:buNone/>
            </a:pPr>
            <a:r>
              <a:rPr lang="en-US" sz="3600" b="1" dirty="0">
                <a:solidFill>
                  <a:srgbClr val="F2F5FA"/>
                </a:solidFill>
                <a:latin typeface="Arial" pitchFamily="34" charset="0"/>
                <a:ea typeface="Arial" pitchFamily="34" charset="-122"/>
                <a:cs typeface="Arial" pitchFamily="34" charset="-120"/>
              </a:rPr>
              <a:t>Three things, and the pilot can start</a:t>
            </a:r>
            <a:endParaRPr lang="en-US" sz="3600" dirty="0"/>
          </a:p>
        </p:txBody>
      </p:sp>
      <p:sp>
        <p:nvSpPr>
          <p:cNvPr id="4" name="Shape 2"/>
          <p:cNvSpPr/>
          <p:nvPr/>
        </p:nvSpPr>
        <p:spPr>
          <a:xfrm>
            <a:off x="548640" y="2240280"/>
            <a:ext cx="3484778" cy="2651760"/>
          </a:xfrm>
          <a:prstGeom prst="roundRect">
            <a:avLst>
              <a:gd name="adj" fmla="val 4138"/>
            </a:avLst>
          </a:prstGeom>
          <a:solidFill>
            <a:srgbClr val="131C30"/>
          </a:solidFill>
          <a:ln w="9525">
            <a:solidFill>
              <a:srgbClr val="2C3A5C"/>
            </a:solidFill>
            <a:prstDash val="solid"/>
          </a:ln>
        </p:spPr>
      </p:sp>
      <p:sp>
        <p:nvSpPr>
          <p:cNvPr id="5" name="Shape 3"/>
          <p:cNvSpPr/>
          <p:nvPr/>
        </p:nvSpPr>
        <p:spPr>
          <a:xfrm>
            <a:off x="868680" y="2514600"/>
            <a:ext cx="603504" cy="603504"/>
          </a:xfrm>
          <a:prstGeom prst="ellipse">
            <a:avLst/>
          </a:prstGeom>
          <a:solidFill>
            <a:srgbClr val="F5A524"/>
          </a:solidFill>
          <a:ln w="12700">
            <a:solidFill>
              <a:srgbClr val="F5A524"/>
            </a:solidFill>
            <a:prstDash val="solid"/>
          </a:ln>
        </p:spPr>
      </p:sp>
      <p:pic>
        <p:nvPicPr>
          <p:cNvPr id="6" name="Image 0" descr="preencoded.png">    </p:cNvPr>
          <p:cNvPicPr>
            <a:picLocks noChangeAspect="1"/>
          </p:cNvPicPr>
          <p:nvPr/>
        </p:nvPicPr>
        <p:blipFill>
          <a:blip r:embed="rId1"/>
          <a:stretch>
            <a:fillRect/>
          </a:stretch>
        </p:blipFill>
        <p:spPr>
          <a:xfrm>
            <a:off x="1001451" y="2647371"/>
            <a:ext cx="337962" cy="337962"/>
          </a:xfrm>
          <a:prstGeom prst="rect">
            <a:avLst/>
          </a:prstGeom>
        </p:spPr>
      </p:pic>
      <p:sp>
        <p:nvSpPr>
          <p:cNvPr id="7" name="Text 4"/>
          <p:cNvSpPr/>
          <p:nvPr/>
        </p:nvSpPr>
        <p:spPr>
          <a:xfrm>
            <a:off x="868680" y="3291840"/>
            <a:ext cx="2844698" cy="502920"/>
          </a:xfrm>
          <a:prstGeom prst="rect">
            <a:avLst/>
          </a:prstGeom>
          <a:noFill/>
          <a:ln/>
        </p:spPr>
        <p:txBody>
          <a:bodyPr wrap="square" lIns="0" tIns="0" rIns="0" bIns="0" rtlCol="0" anchor="t"/>
          <a:lstStyle/>
          <a:p>
            <a:pPr indent="0" marL="0">
              <a:buNone/>
            </a:pPr>
            <a:r>
              <a:rPr lang="en-US" sz="1800" b="1" dirty="0">
                <a:solidFill>
                  <a:srgbClr val="F2F5FA"/>
                </a:solidFill>
                <a:latin typeface="Arial" pitchFamily="34" charset="0"/>
                <a:ea typeface="Arial" pitchFamily="34" charset="-122"/>
                <a:cs typeface="Arial" pitchFamily="34" charset="-120"/>
              </a:rPr>
              <a:t>Department inventories</a:t>
            </a:r>
            <a:endParaRPr lang="en-US" sz="1800" dirty="0"/>
          </a:p>
        </p:txBody>
      </p:sp>
      <p:sp>
        <p:nvSpPr>
          <p:cNvPr id="8" name="Text 5"/>
          <p:cNvSpPr/>
          <p:nvPr/>
        </p:nvSpPr>
        <p:spPr>
          <a:xfrm>
            <a:off x="868680" y="3822192"/>
            <a:ext cx="2844698" cy="91440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One template per department: camera, VMS and version, network, coordinates — and whether the feed carries a date-time overlay.</a:t>
            </a:r>
            <a:endParaRPr lang="en-US" sz="1400" dirty="0"/>
          </a:p>
        </p:txBody>
      </p:sp>
      <p:sp>
        <p:nvSpPr>
          <p:cNvPr id="9" name="Shape 6"/>
          <p:cNvSpPr/>
          <p:nvPr/>
        </p:nvSpPr>
        <p:spPr>
          <a:xfrm>
            <a:off x="4353458" y="2240280"/>
            <a:ext cx="3484778" cy="2651760"/>
          </a:xfrm>
          <a:prstGeom prst="roundRect">
            <a:avLst>
              <a:gd name="adj" fmla="val 4138"/>
            </a:avLst>
          </a:prstGeom>
          <a:solidFill>
            <a:srgbClr val="131C30"/>
          </a:solidFill>
          <a:ln w="9525">
            <a:solidFill>
              <a:srgbClr val="2C3A5C"/>
            </a:solidFill>
            <a:prstDash val="solid"/>
          </a:ln>
        </p:spPr>
      </p:sp>
      <p:sp>
        <p:nvSpPr>
          <p:cNvPr id="10" name="Shape 7"/>
          <p:cNvSpPr/>
          <p:nvPr/>
        </p:nvSpPr>
        <p:spPr>
          <a:xfrm>
            <a:off x="4673498" y="2514600"/>
            <a:ext cx="603504" cy="603504"/>
          </a:xfrm>
          <a:prstGeom prst="ellipse">
            <a:avLst/>
          </a:prstGeom>
          <a:solidFill>
            <a:srgbClr val="F5A524"/>
          </a:solidFill>
          <a:ln w="12700">
            <a:solidFill>
              <a:srgbClr val="F5A524"/>
            </a:solidFill>
            <a:prstDash val="solid"/>
          </a:ln>
        </p:spPr>
      </p:sp>
      <p:pic>
        <p:nvPicPr>
          <p:cNvPr id="11" name="Image 1" descr="preencoded.png">    </p:cNvPr>
          <p:cNvPicPr>
            <a:picLocks noChangeAspect="1"/>
          </p:cNvPicPr>
          <p:nvPr/>
        </p:nvPicPr>
        <p:blipFill>
          <a:blip r:embed="rId2"/>
          <a:stretch>
            <a:fillRect/>
          </a:stretch>
        </p:blipFill>
        <p:spPr>
          <a:xfrm>
            <a:off x="4806269" y="2647371"/>
            <a:ext cx="337962" cy="337962"/>
          </a:xfrm>
          <a:prstGeom prst="rect">
            <a:avLst/>
          </a:prstGeom>
        </p:spPr>
      </p:pic>
      <p:sp>
        <p:nvSpPr>
          <p:cNvPr id="12" name="Text 8"/>
          <p:cNvSpPr/>
          <p:nvPr/>
        </p:nvSpPr>
        <p:spPr>
          <a:xfrm>
            <a:off x="4673498" y="3291840"/>
            <a:ext cx="2844698" cy="502920"/>
          </a:xfrm>
          <a:prstGeom prst="rect">
            <a:avLst/>
          </a:prstGeom>
          <a:noFill/>
          <a:ln/>
        </p:spPr>
        <p:txBody>
          <a:bodyPr wrap="square" lIns="0" tIns="0" rIns="0" bIns="0" rtlCol="0" anchor="t"/>
          <a:lstStyle/>
          <a:p>
            <a:pPr indent="0" marL="0">
              <a:buNone/>
            </a:pPr>
            <a:r>
              <a:rPr lang="en-US" sz="1800" b="1" dirty="0">
                <a:solidFill>
                  <a:srgbClr val="F2F5FA"/>
                </a:solidFill>
                <a:latin typeface="Arial" pitchFamily="34" charset="0"/>
                <a:ea typeface="Arial" pitchFamily="34" charset="-122"/>
                <a:cs typeface="Arial" pitchFamily="34" charset="-120"/>
              </a:rPr>
              <a:t>Read-only stream access</a:t>
            </a:r>
            <a:endParaRPr lang="en-US" sz="1800" dirty="0"/>
          </a:p>
        </p:txBody>
      </p:sp>
      <p:sp>
        <p:nvSpPr>
          <p:cNvPr id="13" name="Text 9"/>
          <p:cNvSpPr/>
          <p:nvPr/>
        </p:nvSpPr>
        <p:spPr>
          <a:xfrm>
            <a:off x="4673498" y="3822192"/>
            <a:ext cx="2844698" cy="91440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RTSP, ONVIF or the VMS’s own API. Nothing installed on department infrastructure.</a:t>
            </a:r>
            <a:endParaRPr lang="en-US" sz="1400" dirty="0"/>
          </a:p>
        </p:txBody>
      </p:sp>
      <p:sp>
        <p:nvSpPr>
          <p:cNvPr id="14" name="Shape 10"/>
          <p:cNvSpPr/>
          <p:nvPr/>
        </p:nvSpPr>
        <p:spPr>
          <a:xfrm>
            <a:off x="8158277" y="2240280"/>
            <a:ext cx="3484778" cy="2651760"/>
          </a:xfrm>
          <a:prstGeom prst="roundRect">
            <a:avLst>
              <a:gd name="adj" fmla="val 4138"/>
            </a:avLst>
          </a:prstGeom>
          <a:solidFill>
            <a:srgbClr val="131C30"/>
          </a:solidFill>
          <a:ln w="9525">
            <a:solidFill>
              <a:srgbClr val="2C3A5C"/>
            </a:solidFill>
            <a:prstDash val="solid"/>
          </a:ln>
        </p:spPr>
      </p:sp>
      <p:sp>
        <p:nvSpPr>
          <p:cNvPr id="15" name="Shape 11"/>
          <p:cNvSpPr/>
          <p:nvPr/>
        </p:nvSpPr>
        <p:spPr>
          <a:xfrm>
            <a:off x="8478317" y="2514600"/>
            <a:ext cx="603504" cy="603504"/>
          </a:xfrm>
          <a:prstGeom prst="ellipse">
            <a:avLst/>
          </a:prstGeom>
          <a:solidFill>
            <a:srgbClr val="F5A524"/>
          </a:solidFill>
          <a:ln w="12700">
            <a:solidFill>
              <a:srgbClr val="F5A524"/>
            </a:solidFill>
            <a:prstDash val="solid"/>
          </a:ln>
        </p:spPr>
      </p:sp>
      <p:pic>
        <p:nvPicPr>
          <p:cNvPr id="16" name="Image 2" descr="preencoded.png">    </p:cNvPr>
          <p:cNvPicPr>
            <a:picLocks noChangeAspect="1"/>
          </p:cNvPicPr>
          <p:nvPr/>
        </p:nvPicPr>
        <p:blipFill>
          <a:blip r:embed="rId3"/>
          <a:stretch>
            <a:fillRect/>
          </a:stretch>
        </p:blipFill>
        <p:spPr>
          <a:xfrm>
            <a:off x="8611088" y="2647371"/>
            <a:ext cx="337962" cy="337962"/>
          </a:xfrm>
          <a:prstGeom prst="rect">
            <a:avLst/>
          </a:prstGeom>
        </p:spPr>
      </p:pic>
      <p:sp>
        <p:nvSpPr>
          <p:cNvPr id="17" name="Text 12"/>
          <p:cNvSpPr/>
          <p:nvPr/>
        </p:nvSpPr>
        <p:spPr>
          <a:xfrm>
            <a:off x="8478317" y="3291840"/>
            <a:ext cx="2844698" cy="502920"/>
          </a:xfrm>
          <a:prstGeom prst="rect">
            <a:avLst/>
          </a:prstGeom>
          <a:noFill/>
          <a:ln/>
        </p:spPr>
        <p:txBody>
          <a:bodyPr wrap="square" lIns="0" tIns="0" rIns="0" bIns="0" rtlCol="0" anchor="t"/>
          <a:lstStyle/>
          <a:p>
            <a:pPr indent="0" marL="0">
              <a:buNone/>
            </a:pPr>
            <a:r>
              <a:rPr lang="en-US" sz="1800" b="1" dirty="0">
                <a:solidFill>
                  <a:srgbClr val="F2F5FA"/>
                </a:solidFill>
                <a:latin typeface="Arial" pitchFamily="34" charset="0"/>
                <a:ea typeface="Arial" pitchFamily="34" charset="-122"/>
                <a:cs typeface="Arial" pitchFamily="34" charset="-120"/>
              </a:rPr>
              <a:t>Registry API access</a:t>
            </a:r>
            <a:endParaRPr lang="en-US" sz="1800" dirty="0"/>
          </a:p>
        </p:txBody>
      </p:sp>
      <p:sp>
        <p:nvSpPr>
          <p:cNvPr id="18" name="Text 13"/>
          <p:cNvSpPr/>
          <p:nvPr/>
        </p:nvSpPr>
        <p:spPr>
          <a:xfrm>
            <a:off x="8478317" y="3822192"/>
            <a:ext cx="2844698" cy="914400"/>
          </a:xfrm>
          <a:prstGeom prst="rect">
            <a:avLst/>
          </a:prstGeom>
          <a:noFill/>
          <a:ln/>
        </p:spPr>
        <p:txBody>
          <a:bodyPr wrap="square" lIns="0" tIns="0" rIns="0" bIns="0" rtlCol="0" anchor="t"/>
          <a:lstStyle/>
          <a:p>
            <a:pPr indent="0" marL="0">
              <a:buNone/>
            </a:pPr>
            <a:r>
              <a:rPr lang="en-US" sz="1400" dirty="0">
                <a:solidFill>
                  <a:srgbClr val="A9B6CB"/>
                </a:solidFill>
                <a:latin typeface="Calibri" pitchFamily="34" charset="0"/>
                <a:ea typeface="Calibri" pitchFamily="34" charset="-122"/>
                <a:cs typeface="Calibri" pitchFamily="34" charset="-120"/>
              </a:rPr>
              <a:t>VAHAN, SARTHI, eGujCop, AFIS, NAFIS: on the day keys arrive, a configuration change, not a project.</a:t>
            </a:r>
            <a:endParaRPr lang="en-US" sz="1400" dirty="0"/>
          </a:p>
        </p:txBody>
      </p:sp>
      <p:sp>
        <p:nvSpPr>
          <p:cNvPr id="19" name="Text 14"/>
          <p:cNvSpPr/>
          <p:nvPr/>
        </p:nvSpPr>
        <p:spPr>
          <a:xfrm>
            <a:off x="548640" y="5212080"/>
            <a:ext cx="11094415" cy="731520"/>
          </a:xfrm>
          <a:prstGeom prst="rect">
            <a:avLst/>
          </a:prstGeom>
          <a:noFill/>
          <a:ln/>
        </p:spPr>
        <p:txBody>
          <a:bodyPr wrap="square" lIns="0" tIns="0" rIns="0" bIns="0" rtlCol="0" anchor="t"/>
          <a:lstStyle/>
          <a:p>
            <a:pPr indent="0" marL="0">
              <a:buNone/>
            </a:pPr>
            <a:r>
              <a:rPr lang="en-US" sz="3400" b="1" dirty="0">
                <a:solidFill>
                  <a:srgbClr val="F5A524"/>
                </a:solidFill>
                <a:latin typeface="Arial" pitchFamily="34" charset="0"/>
                <a:ea typeface="Arial" pitchFamily="34" charset="-122"/>
                <a:cs typeface="Arial" pitchFamily="34" charset="-120"/>
              </a:rPr>
              <a:t>Type a plate. See where it went.</a:t>
            </a:r>
            <a:endParaRPr lang="en-US" sz="3400" dirty="0"/>
          </a:p>
        </p:txBody>
      </p:sp>
      <p:sp>
        <p:nvSpPr>
          <p:cNvPr id="20" name="Text 15"/>
          <p:cNvSpPr/>
          <p:nvPr/>
        </p:nvSpPr>
        <p:spPr>
          <a:xfrm>
            <a:off x="548640" y="5943600"/>
            <a:ext cx="11094415" cy="411480"/>
          </a:xfrm>
          <a:prstGeom prst="rect">
            <a:avLst/>
          </a:prstGeom>
          <a:noFill/>
          <a:ln/>
        </p:spPr>
        <p:txBody>
          <a:bodyPr wrap="square" lIns="0" tIns="0" rIns="0" bIns="0" rtlCol="0" anchor="t"/>
          <a:lstStyle/>
          <a:p>
            <a:pPr indent="0" marL="0">
              <a:buNone/>
            </a:pPr>
            <a:r>
              <a:rPr lang="en-US" sz="1800" dirty="0">
                <a:solidFill>
                  <a:srgbClr val="A9B6CB"/>
                </a:solidFill>
                <a:latin typeface="Calibri" pitchFamily="34" charset="0"/>
                <a:ea typeface="Calibri" pitchFamily="34" charset="-122"/>
                <a:cs typeface="Calibri" pitchFamily="34" charset="-120"/>
              </a:rPr>
              <a:t>Thank you — questions welcome.</a:t>
            </a:r>
            <a:endParaRPr lang="en-US" sz="1800" dirty="0"/>
          </a:p>
        </p:txBody>
      </p:sp>
      <p:sp>
        <p:nvSpPr>
          <p:cNvPr id="21" name="Text 16"/>
          <p:cNvSpPr/>
          <p:nvPr/>
        </p:nvSpPr>
        <p:spPr>
          <a:xfrm>
            <a:off x="11094415" y="6446520"/>
            <a:ext cx="548640" cy="228600"/>
          </a:xfrm>
          <a:prstGeom prst="rect">
            <a:avLst/>
          </a:prstGeom>
          <a:noFill/>
          <a:ln/>
        </p:spPr>
        <p:txBody>
          <a:bodyPr wrap="square" lIns="0" tIns="0" rIns="0" bIns="0" rtlCol="0" anchor="t"/>
          <a:lstStyle/>
          <a:p>
            <a:pPr algn="r" indent="0" marL="0">
              <a:buNone/>
            </a:pPr>
            <a:r>
              <a:rPr lang="en-US" sz="900" dirty="0">
                <a:solidFill>
                  <a:srgbClr val="A9B6CB"/>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Gujarat Police Innovation Challenge 2026, Grand Finale</dc:title>
  <dc:subject>PptxGenJS Presentation</dc:subject>
  <dc:creator>Sentinel Platform</dc:creator>
  <cp:lastModifiedBy>Sentinel Platform</cp:lastModifiedBy>
  <cp:revision>1</cp:revision>
  <dcterms:created xsi:type="dcterms:W3CDTF">2026-10-10T09:41:30Z</dcterms:created>
  <dcterms:modified xsi:type="dcterms:W3CDTF">2026-10-10T09:41:30Z</dcterms:modified>
</cp:coreProperties>
</file>