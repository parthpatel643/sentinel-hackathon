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Cameras by tier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7706"/>
              </a:solidFill>
              <a:effectLst/>
            </c:spPr>
          </c:dPt>
          <c:dPt>
            <c:idx val="1"/>
            <c:bubble3D val="0"/>
            <c:spPr>
              <a:solidFill>
                <a:srgbClr val="2456D6"/>
              </a:solidFill>
              <a:effectLst/>
            </c:spPr>
          </c:dPt>
          <c:dPt>
            <c:idx val="2"/>
            <c:bubble3D val="0"/>
            <c:spPr>
              <a:solidFill>
                <a:srgbClr val="8FA9EA"/>
              </a:solidFill>
              <a:effectLst/>
            </c:spPr>
          </c:dPt>
          <c:dPt>
            <c:idx val="3"/>
            <c:bubble3D val="0"/>
            <c:spPr>
              <a:solidFill>
                <a:srgbClr val="D3DAE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0F1B33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0F1B33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0F1B33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0F1B33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Continuous</c:v>
                </c:pt>
                <c:pt idx="1">
                  <c:v>Sampled</c:v>
                </c:pt>
                <c:pt idx="2">
                  <c:v>Motion-triggered</c:v>
                </c:pt>
                <c:pt idx="3">
                  <c:v>View only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9600</c:v>
                </c:pt>
                <c:pt idx="1">
                  <c:v>22400</c:v>
                </c:pt>
                <c:pt idx="2">
                  <c:v>28000</c:v>
                </c:pt>
                <c:pt idx="3">
                  <c:v>20000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36079"/>
                </a:solidFill>
                <a:latin typeface="Arial"/>
              </a:defRPr>
            </a:pPr>
            <a:r>
              <a:rPr sz="1300" b="0" i="0" u="none" strike="noStrike">
                <a:solidFill>
                  <a:srgbClr val="536079"/>
                </a:solidFill>
                <a:latin typeface="Arial"/>
              </a:rPr>
              <a:t>Build cost (capex), ₹ crore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456D6"/>
            </a:solidFill>
            <a:effectLst/>
          </c:spPr>
          <c:invertIfNegative val="0"/>
          <c:dLbls>
            <c:numFmt formatCode="&quot;₹&quot;General&quot; cr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F1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District analysis servers</c:v>
                  </c:pt>
                  <c:pt idx="1">
                    <c:v>State data centre</c:v>
                  </c:pt>
                  <c:pt idx="2">
                    <c:v>Integration &amp; rollout</c:v>
                  </c:pt>
                  <c:pt idx="3">
                    <c:v>Remote edge boxes</c:v>
                  </c:pt>
                  <c:pt idx="4">
                    <c:v>Network uplinks</c:v>
                  </c:pt>
                  <c:pt idx="5">
                    <c:v>Disaster-recovery site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</c:v>
                </c:pt>
                <c:pt idx="1">
                  <c:v>14</c:v>
                </c:pt>
                <c:pt idx="2">
                  <c:v>12</c:v>
                </c:pt>
                <c:pt idx="3">
                  <c:v>10.5</c:v>
                </c:pt>
                <c:pt idx="4">
                  <c:v>9</c:v>
                </c:pt>
                <c:pt idx="5">
                  <c:v>7</c:v>
                </c:pt>
              </c:numCache>
            </c:numRef>
          </c:val>
        </c:ser>
        <c:dLbls>
          <c:numFmt formatCode="&quot;₹&quot;General&quot; cr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0F1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F1B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outcome, not the technology. "Sentinel lets an officer type a registration number and see where that vehicle went, across every government camera, in seconds — and be told the moment it is seen again." If the jury gives the vehicle number now, go straight to the demonstration (slide 7) and come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Twenty seconds, no more. "We are Invental Data Labs. I am Parth Patel — I lead the team; I am a consulting AI solution architect who has worked with IBM and United Airlines, and I hold an MTech in Data Science from IIT Bombay. With me is Anuj Patel, a data scientist from Göttingen, Germany." Then straight into the challenge: the background is there to earn trust, not to take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Paint the picture for the non-technical members of the jury. Gujarat already has the cameras — around eighty thousand of them across twenty-six departments. What it does not have is a way to use them together. When a stolen car leaves Ahmedabad for Rajkot, tracing it is phone calls, separate logins and manual review, while the footage quietly ages out after a week or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pitch on one slide. Read the right-hand column. Nothing on the left is replaced — every department keeps its cameras and its system — Sentinel sits across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jobs, one console. See: every camera from every department on one map and one live wall, with its health. Find: any vehicle by its plate — route, evidence and a report you can hand over. Alert: stolen, wanted and missing vehicles are checked against every read, and officers are told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personal. The operator gets one screen instead of many. The investigator gets the route and a report they can put in a case file. The officer on patrol gets alerts and a plate lookup on their phone — it even works on a poor connection. Leadership gets a statewide picture: which cameras are working, where coverage is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what you will do before you do it. The narrator faces the jury; the driver only clicks. If the vehicle number was already given, run step 2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is replaced and nothing is installed on a department’s system. A camera list, a device on the network or a department’s catalogue — each is onboarded in minutes and appears on the map and the live wall. For the technical jury: RTSP, ONVIF, Hikvision and Dahua drivers; one connection per camera however many people watch; credentials never reach a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the number — spacing and case do not matter. Every sighting appears on the map and the timeline, in the order the cameras’ own clocks give. Open a stop: the camera, the time printed on the frame, the plate as read, the snapshot with faces blurred. Arm a watch for future sightings. Then export the Movement Report and hand it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plate any camera reads is checked against the watchlist — stolen, wanted, missing — automatically. A match raises a prioritised alert on every open console and on officers’ phones, with a sound, and repeat sightings at a red light do not flood anyone. It also catches the misreads cameras make: a zero read as an O, a one as an I. Anything less than an exact match is shown as probable, for an officer to confirm on the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legal and leadership side of the room. The time we report is the time the camera printed on its own frame — and if it cannot be read, we say “time unknown” rather than guess. Faces are blurred by default; revealing one needs a reason and is logged. Every search, export and reveal is in a tamper-evident log. We do no face recognition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cameras answer more questions at no extra effort: what kind of vehicle, what colour, how many people, did anyone enter a restricted zone or loiter, is a vehicle going the wrong way, has a camera been covered or moved. And one thing we will not do: identify 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“which model, and why”. We built a hybrid. Model 1’s registry and GIS is the foundation every other part stands on. Model 2 gives one console that views and analyses every accessible stream. Model 3’s adapters mean no department changes its system — a new vendor is a driver, not a release. And Model 4’s central recording is used only where it pays off: critical cameras and alert clips. We do not centralise everything, and the next slide shows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the design scales where others cannot. Pulling every camera’s video to one centre would need a 160-gigabit backbone from sites a thousand kilometres apart, and petabytes of storage for a single week. Sentinel reads plates in the district where the video is filmed and sends only what it found — a few kilobytes per sighting. And if a district’s link drops, it keeps reading and alerting locally.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technical jury, bottom to top. Cameras, tiered by how much analysis they need. Department systems stay — we pull read-only. Each district decodes and analyses its own video and queues what it finds if its link drops. The state core is about search and storage, not throughput, with a warm disaster-recovery site. And the consumers: control rooms, the field app and the national and state databases. What you saw today is the district layer, on a laptop: the same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highway check-post and a ration-shop godown are different jobs. About one camera in eight reads plates continuously; a quarter are view-only. The tier is a setting each department controls and can change live — a camera goes to continuous for a bandobast and back afterwards. That is what makes eighty thousand cameras tractable.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asks for estimated implementation and operational costs, so here they are — order of magnitude, for comparing approaches, not a tender. About eighty crore to build and about twenty-four crore a year to run, for eighty thousand cameras: roughly ten thousand rupees a camera to build and three thousand a year to run. The biggest line is the district analysis servers, and it moves with tiering — the department controls its own cost. No software licences: the stack is open source. Centralising every camera is conservatively four hundred crore to build before its higher running cost, because it buys a backbone and storage the State would otherwise not need. And the saving comes from reuse: no camera, recorder or VMS is replaced. The pilot replaces every estimate here with a measured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“why you”. Three things, each with its proof. One: it is already proven on Gujarat’s own cameras — we connected the government grid from its live catalogue and measured plate reading on its footage, not on demo videos. Two: the evidence holds up — every time is the camera’s own, every stop has its frame, nothing is ever guessed, and the record cannot be quietly changed. Three: it fits what Gujarat already owns — any vendor, nothing replaced, analysis in each district so it keeps working when links drop. Then point at the strip: Gujarati, the State’s databases, open standards, and no face recognition.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really two other ways to do this. Leave every department on its own system — nothing changes, and nothing connects. Or pull every camera into one central system — it connects everything, but it re-routes all the video, needs a backbone the State does not have, and stops when a link drops. Sentinel gets the reach of the second without disturbing anything in the first. We compare approaches here, not named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“we measured that”. The plate accuracy is measured on hand-checked plates from the government grid — and it is below our own target, which we say plainly; it started at under ten percent and the measurement is what drove it up. The rest is the discipline behind it: a laptop handling live analysis, more than six hundred automated tests, and a disaster-recovery drill that restores a million records in seconds and proves nothing was altered.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phase is useful on its own and none needs a big-bang cutover: one district pilot in three months, four districts and the main VMS vendors by nine, every district by twenty-one months, and consented private cameras in the last phase.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ask, then the line. Hand over the Movement Report from the demonstration if it has not been handed over already. Questions: see docs/13-SHOWCASE-PREP.md §10.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7-1.png"/><Relationship Id="rId3" Type="http://schemas.openxmlformats.org/officeDocument/2006/relationships/image" Target="../media/image-1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72200" y="0"/>
            <a:ext cx="6019495" cy="6858000"/>
          </a:xfrm>
          <a:prstGeom prst="rect">
            <a:avLst/>
          </a:prstGeom>
          <a:solidFill>
            <a:srgbClr val="EAF0FD"/>
          </a:solidFill>
          <a:ln w="12700">
            <a:solidFill>
              <a:srgbClr val="EAF0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73952" y="1946770"/>
            <a:ext cx="5385816" cy="2964461"/>
          </a:xfrm>
          <a:prstGeom prst="roundRect">
            <a:avLst>
              <a:gd name="adj" fmla="val 30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2010778"/>
            <a:ext cx="5257800" cy="28364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97880" y="1645018"/>
            <a:ext cx="28346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025896" y="1754746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5815" y="1834664"/>
            <a:ext cx="187635" cy="18763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64808" y="1754746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traced across cameras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9128455" y="4618622"/>
            <a:ext cx="25603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9256471" y="4728350"/>
            <a:ext cx="347472" cy="34747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90" y="4808269"/>
            <a:ext cx="187635" cy="18763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95383" y="472835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 alert raised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548640" y="1143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GUJARAT POLICE INNOVATION CHALLENGE 2026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548640" y="15544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</a:t>
            </a:r>
            <a:endParaRPr lang="en-US" sz="6600" dirty="0"/>
          </a:p>
        </p:txBody>
      </p:sp>
      <p:sp>
        <p:nvSpPr>
          <p:cNvPr id="15" name="Text 10"/>
          <p:cNvSpPr/>
          <p:nvPr/>
        </p:nvSpPr>
        <p:spPr>
          <a:xfrm>
            <a:off x="548640" y="274320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any vehicle, across every government camera in Gujarat — in seconds.</a:t>
            </a:r>
            <a:endParaRPr lang="en-US" sz="2500" dirty="0"/>
          </a:p>
        </p:txBody>
      </p:sp>
      <p:sp>
        <p:nvSpPr>
          <p:cNvPr id="16" name="Text 11"/>
          <p:cNvSpPr/>
          <p:nvPr/>
        </p:nvSpPr>
        <p:spPr>
          <a:xfrm>
            <a:off x="548640" y="40690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that connects the cameras departments already run, reads number plates where they are filmed, and alerts officers the moment a vehicle of interest is seen.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548640" y="523036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 Invental Data Labs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48640" y="5760720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971" y="5849051"/>
            <a:ext cx="207386" cy="20738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97280" y="5833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Finale  ·  i-Hub Gujarat, Ahmedabad  ·  12–13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Invental Data Labs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architecture and applied data science — built into a platform for Gujarat Police.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364328" cy="39776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60120" y="2514600"/>
            <a:ext cx="1325880" cy="132588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51460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2514600" y="2606040"/>
            <a:ext cx="312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Parth Patel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2514600" y="324612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EAF0FD"/>
          </a:solidFill>
          <a:ln w="9525">
            <a:solidFill>
              <a:srgbClr val="2456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32461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LEAD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60120" y="4160520"/>
            <a:ext cx="402336" cy="402336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2657" y="4253057"/>
            <a:ext cx="217261" cy="21726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54480" y="4178808"/>
            <a:ext cx="408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 AI Solution Architect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960120" y="4727448"/>
            <a:ext cx="402336" cy="402336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657" y="4819985"/>
            <a:ext cx="217261" cy="21726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4745736"/>
            <a:ext cx="408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 ·  United Airlines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960120" y="5294376"/>
            <a:ext cx="402336" cy="402336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657" y="5386913"/>
            <a:ext cx="217261" cy="21726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54480" y="5312664"/>
            <a:ext cx="408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MTech, Data Science — IIT Bombay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6278728" y="2103120"/>
            <a:ext cx="5364328" cy="39776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690208" y="2514600"/>
            <a:ext cx="1325880" cy="1325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6690208" y="251460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4000" dirty="0"/>
          </a:p>
        </p:txBody>
      </p:sp>
      <p:sp>
        <p:nvSpPr>
          <p:cNvPr id="25" name="Text 19"/>
          <p:cNvSpPr/>
          <p:nvPr/>
        </p:nvSpPr>
        <p:spPr>
          <a:xfrm>
            <a:off x="8244688" y="2606040"/>
            <a:ext cx="312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Anuj Patel</a:t>
            </a:r>
            <a:endParaRPr lang="en-US" sz="2800" dirty="0"/>
          </a:p>
        </p:txBody>
      </p:sp>
      <p:sp>
        <p:nvSpPr>
          <p:cNvPr id="26" name="Shape 20"/>
          <p:cNvSpPr/>
          <p:nvPr/>
        </p:nvSpPr>
        <p:spPr>
          <a:xfrm>
            <a:off x="8244688" y="324612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E3F4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44688" y="32461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ASSOCIATE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6690208" y="4160520"/>
            <a:ext cx="402336" cy="40233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745" y="4253057"/>
            <a:ext cx="217261" cy="217261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284568" y="4178808"/>
            <a:ext cx="408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6690208" y="4727448"/>
            <a:ext cx="402336" cy="40233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2745" y="4819985"/>
            <a:ext cx="217261" cy="217261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284568" y="4745736"/>
            <a:ext cx="408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Göttingen, Germany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vehicle disappears, every minute counts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2567864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1965960"/>
            <a:ext cx="475488" cy="47548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322" y="2075322"/>
            <a:ext cx="256764" cy="2567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6060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~80,000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822960" y="338328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already installed across the State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3390824" y="1737360"/>
            <a:ext cx="2567864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65144" y="1965960"/>
            <a:ext cx="475488" cy="47548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506" y="2075322"/>
            <a:ext cx="256764" cy="2567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65144" y="26060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3800" dirty="0"/>
          </a:p>
        </p:txBody>
      </p:sp>
      <p:sp>
        <p:nvSpPr>
          <p:cNvPr id="15" name="Text 10"/>
          <p:cNvSpPr/>
          <p:nvPr/>
        </p:nvSpPr>
        <p:spPr>
          <a:xfrm>
            <a:off x="3665144" y="338328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departments, each with its own system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233008" y="1737360"/>
            <a:ext cx="2567864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507328" y="1965960"/>
            <a:ext cx="475488" cy="47548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690" y="2075322"/>
            <a:ext cx="256764" cy="25676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507328" y="26060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7–15</a:t>
            </a:r>
            <a:endParaRPr lang="en-US" sz="3800" dirty="0"/>
          </a:p>
        </p:txBody>
      </p:sp>
      <p:sp>
        <p:nvSpPr>
          <p:cNvPr id="20" name="Text 14"/>
          <p:cNvSpPr/>
          <p:nvPr/>
        </p:nvSpPr>
        <p:spPr>
          <a:xfrm>
            <a:off x="6507328" y="338328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before footage is overwritten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9075191" y="1737360"/>
            <a:ext cx="2567864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349511" y="1965960"/>
            <a:ext cx="475488" cy="47548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8874" y="2075322"/>
            <a:ext cx="256764" cy="25676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349511" y="26060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~1,000</a:t>
            </a:r>
            <a:endParaRPr lang="en-US" sz="3800" dirty="0"/>
          </a:p>
        </p:txBody>
      </p:sp>
      <p:sp>
        <p:nvSpPr>
          <p:cNvPr id="25" name="Text 18"/>
          <p:cNvSpPr/>
          <p:nvPr/>
        </p:nvSpPr>
        <p:spPr>
          <a:xfrm>
            <a:off x="9349511" y="338328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between the farthest camera sites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548640" y="4434840"/>
            <a:ext cx="11094415" cy="1508760"/>
          </a:xfrm>
          <a:prstGeom prst="roundRect">
            <a:avLst>
              <a:gd name="adj" fmla="val 7273"/>
            </a:avLst>
          </a:prstGeom>
          <a:solidFill>
            <a:srgbClr val="FFF4EC"/>
          </a:solidFill>
          <a:ln w="9525">
            <a:solidFill>
              <a:srgbClr val="F6D9C4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868680" y="4873752"/>
            <a:ext cx="640080" cy="64008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898" y="5020970"/>
            <a:ext cx="345643" cy="34564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737360" y="4709160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a stolen car leaves Ahmedabad for Rajkot.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1737360" y="5138928"/>
            <a:ext cx="9631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it means phone calls to several departments — each with its own viewer, its own login and its own retention — while the footage ages out and the vehicle moves on.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phone calls to one search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5074920" cy="4526280"/>
          </a:xfrm>
          <a:prstGeom prst="roundRect">
            <a:avLst>
              <a:gd name="adj" fmla="val 2424"/>
            </a:avLst>
          </a:prstGeom>
          <a:solidFill>
            <a:srgbClr val="F3F5FA"/>
          </a:solidFill>
          <a:ln w="9525">
            <a:solidFill>
              <a:srgbClr val="DDE3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68135" y="1691640"/>
            <a:ext cx="5074920" cy="4526280"/>
          </a:xfrm>
          <a:prstGeom prst="roundRect">
            <a:avLst>
              <a:gd name="adj" fmla="val 2424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88175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Sentinel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68680" y="242316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599" y="2503079"/>
            <a:ext cx="187635" cy="18763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40487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systems, 26 logins, no shared map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888175" y="242316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8094" y="2503079"/>
            <a:ext cx="187635" cy="18763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91095" y="240487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camera on one map, behind one login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868680" y="315468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99" y="3234599"/>
            <a:ext cx="187635" cy="18763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313639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vehicle traced by phoning departments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6888175" y="315468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8094" y="3234599"/>
            <a:ext cx="187635" cy="187635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391095" y="313639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plate; see its route and evidence in seconds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868680" y="388620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599" y="3966119"/>
            <a:ext cx="187635" cy="187635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371600" y="386791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Watchlists checked by hand, if at all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6888175" y="388620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8094" y="3966119"/>
            <a:ext cx="187635" cy="187635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391095" y="386791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plate read is checked automatically, around the clock</a:t>
            </a:r>
            <a:endParaRPr lang="en-US" sz="1500" dirty="0"/>
          </a:p>
        </p:txBody>
      </p:sp>
      <p:sp>
        <p:nvSpPr>
          <p:cNvPr id="28" name="Shape 19"/>
          <p:cNvSpPr/>
          <p:nvPr/>
        </p:nvSpPr>
        <p:spPr>
          <a:xfrm>
            <a:off x="868680" y="461772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8599" y="4697639"/>
            <a:ext cx="187635" cy="187635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371600" y="459943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 ages out before anyone asks</a:t>
            </a:r>
            <a:endParaRPr lang="en-US" sz="1500" dirty="0"/>
          </a:p>
        </p:txBody>
      </p:sp>
      <p:sp>
        <p:nvSpPr>
          <p:cNvPr id="31" name="Shape 21"/>
          <p:cNvSpPr/>
          <p:nvPr/>
        </p:nvSpPr>
        <p:spPr>
          <a:xfrm>
            <a:off x="6888175" y="461772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68094" y="4697639"/>
            <a:ext cx="187635" cy="187635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7391095" y="459943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Sightings stay searchable, with the frame as evidence</a:t>
            </a:r>
            <a:endParaRPr lang="en-US" sz="1500" dirty="0"/>
          </a:p>
        </p:txBody>
      </p:sp>
      <p:sp>
        <p:nvSpPr>
          <p:cNvPr id="34" name="Shape 23"/>
          <p:cNvSpPr/>
          <p:nvPr/>
        </p:nvSpPr>
        <p:spPr>
          <a:xfrm>
            <a:off x="868680" y="5349240"/>
            <a:ext cx="347472" cy="347472"/>
          </a:xfrm>
          <a:prstGeom prst="ellipse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8599" y="5429159"/>
            <a:ext cx="187635" cy="187635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371600" y="533095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means replacing systems</a:t>
            </a:r>
            <a:endParaRPr lang="en-US" sz="1500" dirty="0"/>
          </a:p>
        </p:txBody>
      </p:sp>
      <p:sp>
        <p:nvSpPr>
          <p:cNvPr id="37" name="Shape 25"/>
          <p:cNvSpPr/>
          <p:nvPr/>
        </p:nvSpPr>
        <p:spPr>
          <a:xfrm>
            <a:off x="6888175" y="5349240"/>
            <a:ext cx="347472" cy="347472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68094" y="5429159"/>
            <a:ext cx="187635" cy="187635"/>
          </a:xfrm>
          <a:prstGeom prst="rect">
            <a:avLst/>
          </a:prstGeom>
        </p:spPr>
      </p:pic>
      <p:sp>
        <p:nvSpPr>
          <p:cNvPr id="39" name="Text 26"/>
          <p:cNvSpPr/>
          <p:nvPr/>
        </p:nvSpPr>
        <p:spPr>
          <a:xfrm>
            <a:off x="7391095" y="533095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the cameras and VMS already installed</a:t>
            </a:r>
            <a:endParaRPr lang="en-US" sz="1500" dirty="0"/>
          </a:p>
        </p:txBody>
      </p:sp>
      <p:sp>
        <p:nvSpPr>
          <p:cNvPr id="40" name="Shape 27"/>
          <p:cNvSpPr/>
          <p:nvPr/>
        </p:nvSpPr>
        <p:spPr>
          <a:xfrm>
            <a:off x="5821528" y="3685032"/>
            <a:ext cx="548640" cy="5486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47715" y="3811219"/>
            <a:ext cx="296266" cy="2962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platform, three jobs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3484778" cy="361188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011680"/>
            <a:ext cx="777240" cy="7772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165" y="2190445"/>
            <a:ext cx="419710" cy="4197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297180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914400" y="3639312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camera, from every department, on one map and one live wall — with its health at a glance.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914400" y="480060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control rooms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353458" y="1691640"/>
            <a:ext cx="3484778" cy="361188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19218" y="2011680"/>
            <a:ext cx="777240" cy="7772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7984" y="2190445"/>
            <a:ext cx="419710" cy="41971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19218" y="297180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</a:t>
            </a:r>
            <a:endParaRPr lang="en-US" sz="3000" dirty="0"/>
          </a:p>
        </p:txBody>
      </p:sp>
      <p:sp>
        <p:nvSpPr>
          <p:cNvPr id="16" name="Text 11"/>
          <p:cNvSpPr/>
          <p:nvPr/>
        </p:nvSpPr>
        <p:spPr>
          <a:xfrm>
            <a:off x="4719218" y="3639312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vehicle by its registration number: its route, the evidence at every stop, and a signed report.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4719218" y="480060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investigators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158277" y="1691640"/>
            <a:ext cx="3484778" cy="361188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524037" y="2011680"/>
            <a:ext cx="777240" cy="7772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2802" y="2190445"/>
            <a:ext cx="419710" cy="41971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524037" y="297180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3000" dirty="0"/>
          </a:p>
        </p:txBody>
      </p:sp>
      <p:sp>
        <p:nvSpPr>
          <p:cNvPr id="22" name="Text 16"/>
          <p:cNvSpPr/>
          <p:nvPr/>
        </p:nvSpPr>
        <p:spPr>
          <a:xfrm>
            <a:off x="8524037" y="3639312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Stolen, wanted and missing vehicles flagged the moment any camera reads them — on every console and phone.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524037" y="480060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patrol and command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48640" y="5669280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384" y="5766024"/>
            <a:ext cx="227137" cy="227137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143000" y="5733288"/>
            <a:ext cx="10500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people counting, zone intrusion and camera-tamper alerts — in English, Hindi and Gujarati.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SERVES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everyone who keeps Gujarat safe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147" y="2137867"/>
            <a:ext cx="296266" cy="29626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670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Control-room operator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22960" y="30358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wall for every department’s cameras; alerts arrive with a sound, on screen.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06240" y="173736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480560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6747" y="2137867"/>
            <a:ext cx="296266" cy="29626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480560" y="2670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Investigating officer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4480560" y="30358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Route, timestamps and evidence frames for any plate, exported as a case-ready report.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48640" y="397764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251960"/>
            <a:ext cx="548640" cy="5486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147" y="4378147"/>
            <a:ext cx="296266" cy="29626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22960" y="4910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Officer on patrol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22960" y="52760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plate lookup on a phone, with an offline mode for weak signal.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4206240" y="397764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4480560" y="425196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6747" y="4378147"/>
            <a:ext cx="296266" cy="2962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480560" y="4910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4480560" y="52760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statewide view of the camera network: what works, what is down, where gaps are.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8305250" y="1563624"/>
            <a:ext cx="2368541" cy="4828032"/>
          </a:xfrm>
          <a:prstGeom prst="roundRect">
            <a:avLst>
              <a:gd name="adj" fmla="val 11582"/>
            </a:avLst>
          </a:prstGeom>
          <a:solidFill>
            <a:srgbClr val="0F1B33"/>
          </a:solidFill>
          <a:ln w="12700">
            <a:solidFill>
              <a:srgbClr val="0F1B33"/>
            </a:solidFill>
            <a:prstDash val="solid"/>
          </a:ln>
          <a:effectLst>
            <a:outerShdw sx="100000" sy="100000" kx="0" ky="0" algn="bl" rotWithShape="0" blurRad="279400" dist="101600" dir="5400000">
              <a:srgbClr val="1F2A44">
                <a:alpha val="22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3266" y="1691640"/>
            <a:ext cx="2112509" cy="45720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884626" y="6400800"/>
            <a:ext cx="32097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app, on an officer’s phone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0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DEMONSTRATION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today’s cameras, in front of you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345429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400" dirty="0"/>
          </a:p>
        </p:txBody>
      </p:sp>
      <p:sp>
        <p:nvSpPr>
          <p:cNvPr id="6" name="Shape 4"/>
          <p:cNvSpPr/>
          <p:nvPr/>
        </p:nvSpPr>
        <p:spPr>
          <a:xfrm>
            <a:off x="3042818" y="2880360"/>
            <a:ext cx="640080" cy="64008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0037" y="3027578"/>
            <a:ext cx="345643" cy="3456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8862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and see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438912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cameras on the map and the live wall, with their health.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68698" y="2514600"/>
            <a:ext cx="345429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688738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400" dirty="0"/>
          </a:p>
        </p:txBody>
      </p:sp>
      <p:sp>
        <p:nvSpPr>
          <p:cNvPr id="12" name="Shape 9"/>
          <p:cNvSpPr/>
          <p:nvPr/>
        </p:nvSpPr>
        <p:spPr>
          <a:xfrm>
            <a:off x="6862877" y="2880360"/>
            <a:ext cx="640080" cy="64008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095" y="3027578"/>
            <a:ext cx="345643" cy="3456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88738" y="38862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the vehicle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688738" y="438912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registration number you give us, traced camera by camera, with a report to hand over.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8188757" y="2514600"/>
            <a:ext cx="345429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508797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400" dirty="0"/>
          </a:p>
        </p:txBody>
      </p:sp>
      <p:sp>
        <p:nvSpPr>
          <p:cNvPr id="18" name="Shape 14"/>
          <p:cNvSpPr/>
          <p:nvPr/>
        </p:nvSpPr>
        <p:spPr>
          <a:xfrm>
            <a:off x="10682935" y="2880360"/>
            <a:ext cx="640080" cy="64008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0154" y="3027578"/>
            <a:ext cx="345643" cy="34564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508797" y="388620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alerted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8508797" y="438912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watchlist vehicle flagged on every open screen the moment it is read.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venue network fails, we say which fallback we are on: our own cameras, then a recorded copy of the government grid.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CONNECT AND SEE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the cameras you already have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73352"/>
            <a:ext cx="6437376" cy="3892424"/>
          </a:xfrm>
          <a:prstGeom prst="roundRect">
            <a:avLst>
              <a:gd name="adj" fmla="val 234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737360"/>
            <a:ext cx="6309360" cy="376440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360920" y="178308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695" y="1900855"/>
            <a:ext cx="276515" cy="27651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74152" y="1764792"/>
            <a:ext cx="3568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a camera list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074152" y="2084832"/>
            <a:ext cx="3568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checked before anything is added; one bad row never blocks the rest.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7360920" y="2862072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8695" y="2979847"/>
            <a:ext cx="276515" cy="27651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074152" y="2843784"/>
            <a:ext cx="3568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discover devices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8074152" y="3163824"/>
            <a:ext cx="3568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camera’s or recorder’s streams on the network and add them (ONVIF, Hikvision, Dahua).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7360920" y="3941064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8695" y="4058839"/>
            <a:ext cx="276515" cy="27651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074152" y="3922776"/>
            <a:ext cx="3568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installed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8074152" y="4242816"/>
            <a:ext cx="3568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access. Each department’s own system and recording keep running untouched.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7360920" y="5020056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695" y="5137831"/>
            <a:ext cx="276515" cy="27651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074152" y="5001768"/>
            <a:ext cx="3568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viewing</a:t>
            </a:r>
            <a:endParaRPr lang="en-US" sz="1500" dirty="0"/>
          </a:p>
        </p:txBody>
      </p:sp>
      <p:sp>
        <p:nvSpPr>
          <p:cNvPr id="23" name="Text 15"/>
          <p:cNvSpPr/>
          <p:nvPr/>
        </p:nvSpPr>
        <p:spPr>
          <a:xfrm>
            <a:off x="8074152" y="5321808"/>
            <a:ext cx="3568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per camera, however many watch. Passwords never reach a browser.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TRACE THE VEHICLE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a plate. See where it went.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581912"/>
            <a:ext cx="6986016" cy="3827727"/>
          </a:xfrm>
          <a:prstGeom prst="roundRect">
            <a:avLst>
              <a:gd name="adj" fmla="val 2389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645920"/>
            <a:ext cx="6858000" cy="369971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955280" y="173736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3055" y="1855135"/>
            <a:ext cx="276515" cy="27651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68512" y="1719072"/>
            <a:ext cx="29745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camera’s own clock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668512" y="2039112"/>
            <a:ext cx="29745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stop is timed by the clock printed on its evidence frame.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7955280" y="292608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3055" y="3043855"/>
            <a:ext cx="276515" cy="27651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668512" y="2907792"/>
            <a:ext cx="29745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journeys flagged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8668512" y="3227832"/>
            <a:ext cx="29745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hop no vehicle could make is marked — a cloned plate stands out.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7955280" y="411480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3055" y="4232575"/>
            <a:ext cx="276515" cy="27651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668512" y="4096512"/>
            <a:ext cx="29745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report to hand over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8668512" y="4416552"/>
            <a:ext cx="29745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Route, times and evidence frames as PDF and CSV, sealed with a tamper-evident fingerprint.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548640" y="5546799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console on recorded government footage: GJ39C8018 at Gandhidham, 8 Aug 2026, 21:10 — the time printed on the frame.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GET ALERTED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Flagged the moment it is seen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27632"/>
            <a:ext cx="5248656" cy="3627314"/>
          </a:xfrm>
          <a:prstGeom prst="roundRect">
            <a:avLst>
              <a:gd name="adj" fmla="val 2521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691640"/>
            <a:ext cx="5120640" cy="349929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17920" y="1691640"/>
            <a:ext cx="5425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catches the misreads cameras make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6217920" y="2212848"/>
            <a:ext cx="542513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446520" y="2441448"/>
            <a:ext cx="256032" cy="25603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0" y="2322576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match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0" y="2322576"/>
            <a:ext cx="13103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plate, read as it is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500055" y="2322576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3081528"/>
            <a:ext cx="542513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46520" y="3310128"/>
            <a:ext cx="256032" cy="25603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858000" y="3191256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Look-alike characters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9144000" y="3191256"/>
            <a:ext cx="13103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for O, 1 for I, 8 for B, 5 for S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0500055" y="3191256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17920" y="3950208"/>
            <a:ext cx="542513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46520" y="4178808"/>
            <a:ext cx="256032" cy="25603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858000" y="4059936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character off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9144000" y="4059936"/>
            <a:ext cx="13103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with the plate as actually read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10500055" y="4059936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217920" y="5029200"/>
            <a:ext cx="512064" cy="51206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695" y="5146975"/>
            <a:ext cx="276515" cy="276515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931152" y="5010912"/>
            <a:ext cx="47119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the State’s databases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6931152" y="5330952"/>
            <a:ext cx="47119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VAHAN, SARTHI, eGujCop, AFIS and NAFIS connectors are built. Access, once granted, is a setting.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AND PRIVACY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that holds up. Privacy by default.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839712" y="1673352"/>
            <a:ext cx="4821631" cy="3318447"/>
          </a:xfrm>
          <a:prstGeom prst="roundRect">
            <a:avLst>
              <a:gd name="adj" fmla="val 2756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254000" dist="76200" dir="5400000">
              <a:srgbClr val="1F2A44">
                <a:alpha val="16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737360"/>
            <a:ext cx="4693615" cy="319043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1783080"/>
            <a:ext cx="512064" cy="51206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415" y="1900855"/>
            <a:ext cx="276515" cy="27651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61872" y="1764792"/>
            <a:ext cx="5138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 on the frame is the time in the report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261872" y="2084832"/>
            <a:ext cx="5138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camera’s own clock. If it cannot be read, we say “time unknown” — never a guess.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548640" y="2862072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415" y="2979847"/>
            <a:ext cx="276515" cy="27651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61872" y="2843784"/>
            <a:ext cx="5138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Faces blurred by default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1261872" y="3163824"/>
            <a:ext cx="5138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an original needs a stated reason, and is recorded.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48640" y="3941064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15" y="4058839"/>
            <a:ext cx="276515" cy="27651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61872" y="3922776"/>
            <a:ext cx="5138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log no one can quietly edit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261872" y="4242816"/>
            <a:ext cx="5138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search, export and reveal. Change one entry and verification fails.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548640" y="5020056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415" y="5137831"/>
            <a:ext cx="276515" cy="27651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261872" y="5001768"/>
            <a:ext cx="5138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department sees its own</a:t>
            </a:r>
            <a:endParaRPr lang="en-US" sz="1500" dirty="0"/>
          </a:p>
        </p:txBody>
      </p:sp>
      <p:sp>
        <p:nvSpPr>
          <p:cNvPr id="23" name="Text 15"/>
          <p:cNvSpPr/>
          <p:nvPr/>
        </p:nvSpPr>
        <p:spPr>
          <a:xfrm>
            <a:off x="1261872" y="5321808"/>
            <a:ext cx="5138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scoped in the database itself; private cameras only with current consent.</a:t>
            </a:r>
            <a:endParaRPr lang="en-US" sz="1300" dirty="0"/>
          </a:p>
        </p:txBody>
      </p:sp>
      <p:sp>
        <p:nvSpPr>
          <p:cNvPr id="24" name="Text 16"/>
          <p:cNvSpPr/>
          <p:nvPr/>
        </p:nvSpPr>
        <p:spPr>
          <a:xfrm>
            <a:off x="6903720" y="5806440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sighting whose clock cannot be read stays a sighting — listed, clearly labelled, and kept off the timeline.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NUMBER PLATES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than plates — never identities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147" y="2137867"/>
            <a:ext cx="296266" cy="29626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2996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type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54480" y="248716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Car, motorcycle, bus or truck — on every read.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38218" y="173736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12538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8726" y="2137867"/>
            <a:ext cx="296266" cy="29626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44058" y="202996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colour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344058" y="248716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colour attached to each sighting.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27797" y="173736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02117" y="201168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04" y="2137867"/>
            <a:ext cx="296266" cy="29626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33637" y="202996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counted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9133637" y="248716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Counted per camera and held to zones. Never identified.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36118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2960" y="388620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47" y="4012387"/>
            <a:ext cx="296266" cy="2962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554480" y="390448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 zones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1554480" y="436168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Intrusion and loitering, drawn on any camera.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4338218" y="36118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612538" y="388620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8726" y="4012387"/>
            <a:ext cx="296266" cy="29626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344058" y="390448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 rules</a:t>
            </a:r>
            <a:endParaRPr lang="en-US" sz="1700" dirty="0"/>
          </a:p>
        </p:txBody>
      </p:sp>
      <p:sp>
        <p:nvSpPr>
          <p:cNvPr id="30" name="Text 22"/>
          <p:cNvSpPr/>
          <p:nvPr/>
        </p:nvSpPr>
        <p:spPr>
          <a:xfrm>
            <a:off x="5344058" y="436168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Wrong-way and stopped vehicles, per zone.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8127797" y="36118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402117" y="3886200"/>
            <a:ext cx="548640" cy="54864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8304" y="4012387"/>
            <a:ext cx="296266" cy="29626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133637" y="3904488"/>
            <a:ext cx="2280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tamper</a:t>
            </a:r>
            <a:endParaRPr lang="en-US" sz="1700" dirty="0"/>
          </a:p>
        </p:txBody>
      </p:sp>
      <p:sp>
        <p:nvSpPr>
          <p:cNvPr id="35" name="Text 26"/>
          <p:cNvSpPr/>
          <p:nvPr/>
        </p:nvSpPr>
        <p:spPr>
          <a:xfrm>
            <a:off x="9133637" y="4361688"/>
            <a:ext cx="2280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Covered, blurred or moved — flagged on the camera.</a:t>
            </a:r>
            <a:endParaRPr lang="en-US" sz="1400" dirty="0"/>
          </a:p>
        </p:txBody>
      </p:sp>
      <p:sp>
        <p:nvSpPr>
          <p:cNvPr id="36" name="Shape 27"/>
          <p:cNvSpPr/>
          <p:nvPr/>
        </p:nvSpPr>
        <p:spPr>
          <a:xfrm>
            <a:off x="548640" y="5669280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384" y="5766024"/>
            <a:ext cx="227137" cy="227137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1143000" y="5733288"/>
            <a:ext cx="10500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face recognition, by decision. Faces are detected only so they can be blurred.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of the four reference models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2567864" cy="38862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1965960"/>
            <a:ext cx="566928" cy="56692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353" y="2096353"/>
            <a:ext cx="306141" cy="30614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790624" y="20848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790624" y="20848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22960" y="27614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22960" y="3054096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&amp; GIS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822960" y="374904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camera on one map, with health, coverage gaps and an ageing-asset work list.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22960" y="4617720"/>
            <a:ext cx="2019224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47091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every other part stands on.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390824" y="1691640"/>
            <a:ext cx="2567864" cy="38862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665144" y="1965960"/>
            <a:ext cx="566928" cy="56692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5537" y="2096353"/>
            <a:ext cx="306141" cy="30614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632808" y="20848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632808" y="20848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Adopted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3665144" y="27614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3665144" y="3054096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viewing &amp; analytics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3665144" y="374904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wall and plate reading on every accessible stream.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3665144" y="4617720"/>
            <a:ext cx="2019224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665144" y="47091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console, instead of one per department.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6233008" y="1691640"/>
            <a:ext cx="2567864" cy="38862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507328" y="1965960"/>
            <a:ext cx="566928" cy="566928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721" y="2096353"/>
            <a:ext cx="306141" cy="306141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474991" y="20848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474991" y="20848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Adopted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6507328" y="27614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6507328" y="3054096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Federation adapters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6507328" y="374904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RTSP, ONVIF, Hikvision, Dahua, Genetec and Milestone drivers.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6507328" y="4617720"/>
            <a:ext cx="2019224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507328" y="47091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department changes its system; a new vendor is a driver.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9075191" y="1691640"/>
            <a:ext cx="2567864" cy="38862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9349511" y="1965960"/>
            <a:ext cx="566928" cy="566928"/>
          </a:xfrm>
          <a:prstGeom prst="ellipse">
            <a:avLst/>
          </a:prstGeom>
          <a:solidFill>
            <a:srgbClr val="7A869E"/>
          </a:solidFill>
          <a:ln w="12700">
            <a:solidFill>
              <a:srgbClr val="7A869E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9905" y="2096353"/>
            <a:ext cx="306141" cy="306141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10317175" y="20848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8C0CE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10317175" y="20848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</a:t>
            </a:r>
            <a:endParaRPr lang="en-US" sz="1100" dirty="0"/>
          </a:p>
        </p:txBody>
      </p:sp>
      <p:sp>
        <p:nvSpPr>
          <p:cNvPr id="41" name="Text 34"/>
          <p:cNvSpPr/>
          <p:nvPr/>
        </p:nvSpPr>
        <p:spPr>
          <a:xfrm>
            <a:off x="9349511" y="276148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4</a:t>
            </a:r>
            <a:endParaRPr lang="en-US" sz="1100" dirty="0"/>
          </a:p>
        </p:txBody>
      </p:sp>
      <p:sp>
        <p:nvSpPr>
          <p:cNvPr id="42" name="Text 35"/>
          <p:cNvSpPr/>
          <p:nvPr/>
        </p:nvSpPr>
        <p:spPr>
          <a:xfrm>
            <a:off x="9349511" y="3054096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recording</a:t>
            </a:r>
            <a:endParaRPr lang="en-US" sz="1800" dirty="0"/>
          </a:p>
        </p:txBody>
      </p:sp>
      <p:sp>
        <p:nvSpPr>
          <p:cNvPr id="43" name="Text 36"/>
          <p:cNvSpPr/>
          <p:nvPr/>
        </p:nvSpPr>
        <p:spPr>
          <a:xfrm>
            <a:off x="9349511" y="374904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critical cameras and alert clips are recorded centrally.</a:t>
            </a:r>
            <a:endParaRPr lang="en-US" sz="1300" dirty="0"/>
          </a:p>
        </p:txBody>
      </p:sp>
      <p:sp>
        <p:nvSpPr>
          <p:cNvPr id="44" name="Shape 37"/>
          <p:cNvSpPr/>
          <p:nvPr/>
        </p:nvSpPr>
        <p:spPr>
          <a:xfrm>
            <a:off x="9349511" y="4617720"/>
            <a:ext cx="2019224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9349511" y="470916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centralisation needs a backbone the State does not have.</a:t>
            </a:r>
            <a:endParaRPr lang="en-US" sz="1300" dirty="0"/>
          </a:p>
        </p:txBody>
      </p:sp>
      <p:sp>
        <p:nvSpPr>
          <p:cNvPr id="46" name="Shape 39"/>
          <p:cNvSpPr/>
          <p:nvPr/>
        </p:nvSpPr>
        <p:spPr>
          <a:xfrm>
            <a:off x="548640" y="5852160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384" y="5948904"/>
            <a:ext cx="227137" cy="227137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1143000" y="5916168"/>
            <a:ext cx="10500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and pull-based throughout: nothing is installed on a department’s cameras or VMS.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SCALES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meaning, not video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754880" y="16916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all video to the centre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0" y="16916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Sentinel: analyse where filmed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148840"/>
            <a:ext cx="11094415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404872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735" y="2522647"/>
            <a:ext cx="276515" cy="2765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36192" y="24505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backbone, statewide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754880" y="23317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 Gbps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7498080" y="2331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≈140 Mbps</a:t>
            </a:r>
            <a:endParaRPr lang="en-US" sz="3200" dirty="0"/>
          </a:p>
        </p:txBody>
      </p:sp>
      <p:sp>
        <p:nvSpPr>
          <p:cNvPr id="14" name="Shape 10"/>
          <p:cNvSpPr/>
          <p:nvPr/>
        </p:nvSpPr>
        <p:spPr>
          <a:xfrm>
            <a:off x="10058400" y="2441448"/>
            <a:ext cx="1310335" cy="438912"/>
          </a:xfrm>
          <a:prstGeom prst="roundRect">
            <a:avLst>
              <a:gd name="adj" fmla="val 50000"/>
            </a:avLst>
          </a:prstGeom>
          <a:solidFill>
            <a:srgbClr val="FDF1DF"/>
          </a:solidFill>
          <a:ln w="9525">
            <a:solidFill>
              <a:srgbClr val="F5D6A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0" y="2441448"/>
            <a:ext cx="13103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~1,000× less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3355848"/>
            <a:ext cx="11094415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" y="3611880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35" y="3729655"/>
            <a:ext cx="276515" cy="27651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36192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for one week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4754880" y="35387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12.1 PB</a:t>
            </a:r>
            <a:endParaRPr lang="en-US" sz="3200" dirty="0"/>
          </a:p>
        </p:txBody>
      </p:sp>
      <p:sp>
        <p:nvSpPr>
          <p:cNvPr id="21" name="Text 16"/>
          <p:cNvSpPr/>
          <p:nvPr/>
        </p:nvSpPr>
        <p:spPr>
          <a:xfrm>
            <a:off x="7498080" y="353872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≈390 TB</a:t>
            </a:r>
            <a:endParaRPr lang="en-US" sz="3200" dirty="0"/>
          </a:p>
        </p:txBody>
      </p:sp>
      <p:sp>
        <p:nvSpPr>
          <p:cNvPr id="22" name="Shape 17"/>
          <p:cNvSpPr/>
          <p:nvPr/>
        </p:nvSpPr>
        <p:spPr>
          <a:xfrm>
            <a:off x="10058400" y="3648456"/>
            <a:ext cx="1310335" cy="438912"/>
          </a:xfrm>
          <a:prstGeom prst="roundRect">
            <a:avLst>
              <a:gd name="adj" fmla="val 50000"/>
            </a:avLst>
          </a:prstGeom>
          <a:solidFill>
            <a:srgbClr val="FDF1DF"/>
          </a:solidFill>
          <a:ln w="9525">
            <a:solidFill>
              <a:srgbClr val="F5D6A6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058400" y="3648456"/>
            <a:ext cx="13103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~30× less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548640" y="4562856"/>
            <a:ext cx="11094415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822960" y="4818888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735" y="4936663"/>
            <a:ext cx="276515" cy="276515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536192" y="48646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district’s link drops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4754880" y="4745736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stops</a:t>
            </a:r>
            <a:endParaRPr lang="en-US" sz="1900" dirty="0"/>
          </a:p>
        </p:txBody>
      </p:sp>
      <p:sp>
        <p:nvSpPr>
          <p:cNvPr id="29" name="Text 23"/>
          <p:cNvSpPr/>
          <p:nvPr/>
        </p:nvSpPr>
        <p:spPr>
          <a:xfrm>
            <a:off x="7498080" y="4745736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reading &amp; alerting</a:t>
            </a:r>
            <a:endParaRPr lang="en-US" sz="1900" dirty="0"/>
          </a:p>
        </p:txBody>
      </p:sp>
      <p:sp>
        <p:nvSpPr>
          <p:cNvPr id="30" name="Shape 24"/>
          <p:cNvSpPr/>
          <p:nvPr/>
        </p:nvSpPr>
        <p:spPr>
          <a:xfrm>
            <a:off x="10058400" y="4855464"/>
            <a:ext cx="1310335" cy="438912"/>
          </a:xfrm>
          <a:prstGeom prst="roundRect">
            <a:avLst>
              <a:gd name="adj" fmla="val 50000"/>
            </a:avLst>
          </a:prstGeom>
          <a:solidFill>
            <a:srgbClr val="FDF1DF"/>
          </a:solidFill>
          <a:ln w="9525">
            <a:solidFill>
              <a:srgbClr val="F5D6A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10058400" y="4855464"/>
            <a:ext cx="13103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72 h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548640" y="5852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travels is a small event and a snapshot per sighting. Video stays in the district — and in each department’s own system — until someone needs it.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AT 80,000 CAMERAS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layers, each doing one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792224"/>
            <a:ext cx="457200" cy="457200"/>
          </a:xfrm>
          <a:prstGeom prst="ellipse">
            <a:avLst/>
          </a:prstGeom>
          <a:solidFill>
            <a:srgbClr val="7A869E"/>
          </a:solidFill>
          <a:ln w="12700">
            <a:solidFill>
              <a:srgbClr val="7A869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897380"/>
            <a:ext cx="246888" cy="2468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73736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048256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centres · Field app · VAHAN · SARTHI · eGujCop · AFIS · NAFIS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046720" y="1810512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alerts · open APIs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77824" y="2404872"/>
            <a:ext cx="164592" cy="164592"/>
          </a:xfrm>
          <a:prstGeom prst="upArrow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2578608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2724912"/>
            <a:ext cx="457200" cy="45720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" y="2830068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7004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core  ·  high availability + disaster recovery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371600" y="2980944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→ watchlist matching → alerts · searchable sighting history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046720" y="2743200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≈563 events/s · RPO 15 min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877824" y="3337560"/>
            <a:ext cx="164592" cy="164592"/>
          </a:xfrm>
          <a:prstGeom prst="upArrow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3511296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" y="3762756"/>
            <a:ext cx="246888" cy="2468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71600" y="360273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District edge  ×34  (+ edge boxes at remote sites)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1371600" y="391363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per camera → plate reading and analytics → 72 h offline queue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8046720" y="3675888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runs here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877824" y="4270248"/>
            <a:ext cx="164592" cy="164592"/>
          </a:xfrm>
          <a:prstGeom prst="upArrow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48640" y="4443984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731520" y="4590288"/>
            <a:ext cx="457200" cy="457200"/>
          </a:xfrm>
          <a:prstGeom prst="ellipse">
            <a:avLst/>
          </a:prstGeom>
          <a:solidFill>
            <a:srgbClr val="7A869E"/>
          </a:solidFill>
          <a:ln w="12700">
            <a:solidFill>
              <a:srgbClr val="7A869E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" y="4695444"/>
            <a:ext cx="246888" cy="24688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371600" y="453542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systems  ·  unchanged</a:t>
            </a:r>
            <a:endParaRPr lang="en-US" sz="1500" dirty="0"/>
          </a:p>
        </p:txBody>
      </p:sp>
      <p:sp>
        <p:nvSpPr>
          <p:cNvPr id="31" name="Text 24"/>
          <p:cNvSpPr/>
          <p:nvPr/>
        </p:nvSpPr>
        <p:spPr>
          <a:xfrm>
            <a:off x="1371600" y="48463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Cameras, recorders and VMS keep their own 7–15 day retention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8046720" y="4608576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Read-only: RTSP · ONVIF · SDK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877824" y="5202936"/>
            <a:ext cx="164592" cy="164592"/>
          </a:xfrm>
          <a:prstGeom prst="upArrow">
            <a:avLst/>
          </a:prstGeom>
          <a:solidFill>
            <a:srgbClr val="B8C0CE"/>
          </a:solidFill>
          <a:ln w="12700">
            <a:solidFill>
              <a:srgbClr val="B8C0CE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48640" y="5376672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731520" y="5522976"/>
            <a:ext cx="457200" cy="457200"/>
          </a:xfrm>
          <a:prstGeom prst="ellipse">
            <a:avLst/>
          </a:prstGeom>
          <a:solidFill>
            <a:srgbClr val="7A869E"/>
          </a:solidFill>
          <a:ln w="12700">
            <a:solidFill>
              <a:srgbClr val="7A869E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" y="5628132"/>
            <a:ext cx="246888" cy="246888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371600" y="546811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cameras, tiered</a:t>
            </a:r>
            <a:endParaRPr lang="en-US" sz="1500" dirty="0"/>
          </a:p>
        </p:txBody>
      </p:sp>
      <p:sp>
        <p:nvSpPr>
          <p:cNvPr id="38" name="Text 30"/>
          <p:cNvSpPr/>
          <p:nvPr/>
        </p:nvSpPr>
        <p:spPr>
          <a:xfrm>
            <a:off x="1371600" y="577900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· sampled · motion-triggered · view-only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8046720" y="5541264"/>
            <a:ext cx="3367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set per camera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WHERE IT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camera needs the same attention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4480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/>
          <p:nvPr/>
        </p:nvSpPr>
        <p:spPr>
          <a:xfrm>
            <a:off x="187452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1874520" y="3913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0" y="1737360"/>
            <a:ext cx="615665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715000" y="1965960"/>
            <a:ext cx="256032" cy="256032"/>
          </a:xfrm>
          <a:prstGeom prst="ellipse">
            <a:avLst/>
          </a:prstGeom>
          <a:solidFill>
            <a:srgbClr val="D97706"/>
          </a:solidFill>
          <a:ln w="6350">
            <a:solidFill>
              <a:srgbClr val="DDE3E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26480" y="1847088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8092440" y="1847088"/>
            <a:ext cx="15389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Check-posts, highways, city entry points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9677095" y="1847088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9,600 cameras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0" y="2578608"/>
            <a:ext cx="615665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715000" y="2807208"/>
            <a:ext cx="256032" cy="256032"/>
          </a:xfrm>
          <a:prstGeom prst="ellipse">
            <a:avLst/>
          </a:prstGeom>
          <a:solidFill>
            <a:srgbClr val="2456D6"/>
          </a:solidFill>
          <a:ln w="6350">
            <a:solidFill>
              <a:srgbClr val="DDE3E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126480" y="2688336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Sampled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8092440" y="2688336"/>
            <a:ext cx="15389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Junctions, markets and public spaces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9677095" y="2688336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22,400 cameras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486400" y="3419856"/>
            <a:ext cx="615665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715000" y="3648456"/>
            <a:ext cx="256032" cy="256032"/>
          </a:xfrm>
          <a:prstGeom prst="ellipse">
            <a:avLst/>
          </a:prstGeom>
          <a:solidFill>
            <a:srgbClr val="8FA9EA"/>
          </a:solidFill>
          <a:ln w="6350">
            <a:solidFill>
              <a:srgbClr val="DDE3EE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126480" y="3529584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Motion-triggered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8092440" y="3529584"/>
            <a:ext cx="15389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Godowns, offices and quiet premises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9677095" y="352958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28,000 cameras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5486400" y="4261104"/>
            <a:ext cx="6156655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5715000" y="4489704"/>
            <a:ext cx="256032" cy="256032"/>
          </a:xfrm>
          <a:prstGeom prst="ellipse">
            <a:avLst/>
          </a:prstGeom>
          <a:solidFill>
            <a:srgbClr val="D3DAE6"/>
          </a:solidFill>
          <a:ln w="6350">
            <a:solidFill>
              <a:srgbClr val="DDE3EE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126480" y="4370832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only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8092440" y="4370832"/>
            <a:ext cx="15389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Indoor, admin and consented private feeds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9677095" y="4370832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 cameras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5486400" y="5166360"/>
            <a:ext cx="6156655" cy="777240"/>
          </a:xfrm>
          <a:prstGeom prst="roundRect">
            <a:avLst>
              <a:gd name="adj" fmla="val 14118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669280" y="5294376"/>
            <a:ext cx="512064" cy="51206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7055" y="5412151"/>
            <a:ext cx="276515" cy="276515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355080" y="5239512"/>
            <a:ext cx="5105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department sets the tier, and can change it live — a camera moves to continuous for a bandobast and back afterwards.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COST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run statewide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61264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7040880" y="1691640"/>
            <a:ext cx="2163928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269480" y="1856232"/>
            <a:ext cx="1706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≈₹80 cr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7269480" y="242316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9479128" y="1691640"/>
            <a:ext cx="2163928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9707728" y="1856232"/>
            <a:ext cx="1706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≈₹24 cr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9707728" y="242316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to run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040880" y="3063240"/>
            <a:ext cx="2163928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269480" y="3227832"/>
            <a:ext cx="1706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≈₹10,000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269480" y="379476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camera to build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9479128" y="3063240"/>
            <a:ext cx="2163928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9707728" y="3227832"/>
            <a:ext cx="1706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≈₹3,000</a:t>
            </a:r>
            <a:endParaRPr lang="en-US" sz="2600" dirty="0"/>
          </a:p>
        </p:txBody>
      </p:sp>
      <p:sp>
        <p:nvSpPr>
          <p:cNvPr id="18" name="Text 14"/>
          <p:cNvSpPr/>
          <p:nvPr/>
        </p:nvSpPr>
        <p:spPr>
          <a:xfrm>
            <a:off x="9707728" y="379476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camera, per year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7040880" y="4480560"/>
            <a:ext cx="4602175" cy="914400"/>
          </a:xfrm>
          <a:prstGeom prst="roundRect">
            <a:avLst>
              <a:gd name="adj" fmla="val 12000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242048" y="4681728"/>
            <a:ext cx="512064" cy="51206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823" y="4799503"/>
            <a:ext cx="276515" cy="27651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909560" y="4590288"/>
            <a:ext cx="35506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₹0 in software licences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7909560" y="4919472"/>
            <a:ext cx="3550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stack: no per-camera VMS fees, which at this scale often outweigh the hardware.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548640" y="5504688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FFF4EC"/>
          </a:solidFill>
          <a:ln w="9525">
            <a:solidFill>
              <a:srgbClr val="F6D9C4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9808" y="5623560"/>
            <a:ext cx="512064" cy="51206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5741335"/>
            <a:ext cx="276515" cy="276515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417320" y="5550408"/>
            <a:ext cx="99971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Centralising every camera: ₹400 cr+ to build</a:t>
            </a:r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about five times more, before its higher running cost. The difference is reuse: no camera, recorder or VMS is replaced.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548640" y="641908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of magnitude, for comparing approaches — not a tender. ~80,000 cameras; five-year cost of ownership ≈₹200 cr. The pilot replaces every estimate with a measurement.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SENTINEL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sets Sentinel apart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1645920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 traces a vehicle across every department’s cameras — on the systems Gujarat already owns, with evidence that holds up.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3515258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971800"/>
            <a:ext cx="603504" cy="60350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766" y="3110606"/>
            <a:ext cx="325892" cy="32589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990088"/>
            <a:ext cx="22808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on Gujarat’s own cameras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822960" y="374904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lab demonstration: built and tested on the government’s own camera grid.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22960" y="4544568"/>
            <a:ext cx="2966618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468172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54" y="4744822"/>
            <a:ext cx="148133" cy="14813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88720" y="4681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822960" y="5001768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30 grid cameras onboarded from the live catalogue; plate reading measured on 81 hand-checked plates from that footage.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338218" y="2697480"/>
            <a:ext cx="3515258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612538" y="29718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1344" y="3110606"/>
            <a:ext cx="325892" cy="3258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344058" y="2990088"/>
            <a:ext cx="22808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that holds up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4612538" y="374904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sighting carries the camera’s own time, its frame, and a record no one can quietly change.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4612538" y="4544568"/>
            <a:ext cx="2966618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612538" y="468172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5632" y="4744822"/>
            <a:ext cx="148133" cy="14813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978298" y="4681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4612538" y="5001768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read off the frame — “time unknown” when unreadable, never a guess; impossible journeys flagged; reports digitally sealed.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8127797" y="2697480"/>
            <a:ext cx="3515258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402117" y="29718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0923" y="3110606"/>
            <a:ext cx="325892" cy="32589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133637" y="2990088"/>
            <a:ext cx="22808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what Gujarat already owns</a:t>
            </a:r>
            <a:endParaRPr lang="en-US" sz="1700" dirty="0"/>
          </a:p>
        </p:txBody>
      </p:sp>
      <p:sp>
        <p:nvSpPr>
          <p:cNvPr id="32" name="Text 24"/>
          <p:cNvSpPr/>
          <p:nvPr/>
        </p:nvSpPr>
        <p:spPr>
          <a:xfrm>
            <a:off x="8402117" y="374904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vendor’s cameras and VMS, nothing replaced, analysis in each district.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8402117" y="4544568"/>
            <a:ext cx="2966618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402117" y="468172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5210" y="4744822"/>
            <a:ext cx="148133" cy="148133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767877" y="4681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8402117" y="5001768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RTSP, ONVIF, Hikvision and Dahua; about 1,000× less network than centralising; keeps alerting offline for 72 hours.</a:t>
            </a:r>
            <a:endParaRPr lang="en-US" sz="1200" dirty="0"/>
          </a:p>
        </p:txBody>
      </p:sp>
      <p:sp>
        <p:nvSpPr>
          <p:cNvPr id="38" name="Shape 29"/>
          <p:cNvSpPr/>
          <p:nvPr/>
        </p:nvSpPr>
        <p:spPr>
          <a:xfrm>
            <a:off x="548640" y="59893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5" y="6073445"/>
            <a:ext cx="197510" cy="197510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1024128" y="59893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Hindi and Gujarati</a:t>
            </a:r>
            <a:endParaRPr lang="en-US" sz="1200" dirty="0"/>
          </a:p>
        </p:txBody>
      </p:sp>
      <p:sp>
        <p:nvSpPr>
          <p:cNvPr id="41" name="Shape 31"/>
          <p:cNvSpPr/>
          <p:nvPr/>
        </p:nvSpPr>
        <p:spPr>
          <a:xfrm>
            <a:off x="3322244" y="59893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06369" y="6073445"/>
            <a:ext cx="197510" cy="197510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3797732" y="59893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VAHAN, eGujCop and more: ready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6095848" y="59893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9972" y="6073445"/>
            <a:ext cx="197510" cy="197510"/>
          </a:xfrm>
          <a:prstGeom prst="rect">
            <a:avLst/>
          </a:prstGeom>
        </p:spPr>
      </p:pic>
      <p:sp>
        <p:nvSpPr>
          <p:cNvPr id="46" name="Text 34"/>
          <p:cNvSpPr/>
          <p:nvPr/>
        </p:nvSpPr>
        <p:spPr>
          <a:xfrm>
            <a:off x="6571336" y="59893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standards, no lock-in</a:t>
            </a:r>
            <a:endParaRPr lang="en-US" sz="1200" dirty="0"/>
          </a:p>
        </p:txBody>
      </p:sp>
      <p:sp>
        <p:nvSpPr>
          <p:cNvPr id="47" name="Shape 35"/>
          <p:cNvSpPr/>
          <p:nvPr/>
        </p:nvSpPr>
        <p:spPr>
          <a:xfrm>
            <a:off x="8869451" y="59893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4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53576" y="6073445"/>
            <a:ext cx="197510" cy="197510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344939" y="5989320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face recognition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AN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Sentinel compares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9011717" y="1618488"/>
            <a:ext cx="2585618" cy="4352544"/>
          </a:xfrm>
          <a:prstGeom prst="roundRect">
            <a:avLst>
              <a:gd name="adj" fmla="val 4244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0" y="169164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department systems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17538" y="169164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Centralise every camera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94597" y="169164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224028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235000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a vehicle across all departments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2459736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51960" y="233172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calls and manual review</a:t>
            </a:r>
            <a:endParaRPr lang="en-US" sz="13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538" y="245973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29018" y="233172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3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597" y="2459736"/>
            <a:ext cx="292608" cy="29260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606077" y="233172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search, seconds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297180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48640" y="308152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 alerts statewide</a:t>
            </a:r>
            <a:endParaRPr lang="en-US" sz="14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3191256"/>
            <a:ext cx="292608" cy="29260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4251960" y="306324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system on its own</a:t>
            </a:r>
            <a:endParaRPr lang="en-US" sz="13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7538" y="3191256"/>
            <a:ext cx="292608" cy="292608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929018" y="306324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3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4597" y="3191256"/>
            <a:ext cx="292608" cy="29260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606077" y="306324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read, automatically</a:t>
            </a:r>
            <a:endParaRPr lang="en-US" sz="1300" dirty="0"/>
          </a:p>
        </p:txBody>
      </p:sp>
      <p:sp>
        <p:nvSpPr>
          <p:cNvPr id="26" name="Shape 17"/>
          <p:cNvSpPr/>
          <p:nvPr/>
        </p:nvSpPr>
        <p:spPr>
          <a:xfrm>
            <a:off x="548640" y="370332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27" name="Text 18"/>
          <p:cNvSpPr/>
          <p:nvPr/>
        </p:nvSpPr>
        <p:spPr>
          <a:xfrm>
            <a:off x="548640" y="381304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Departments’ systems left untouched</a:t>
            </a:r>
            <a:endParaRPr lang="en-US" sz="140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0" y="3922776"/>
            <a:ext cx="292608" cy="29260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4251960" y="379476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Untouched, but isolated</a:t>
            </a:r>
            <a:endParaRPr lang="en-US" sz="13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7538" y="3922776"/>
            <a:ext cx="292608" cy="292608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6929018" y="379476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video re-routed centrally</a:t>
            </a:r>
            <a:endParaRPr lang="en-US" sz="13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94597" y="3922776"/>
            <a:ext cx="292608" cy="29260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9606077" y="379476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access</a:t>
            </a:r>
            <a:endParaRPr lang="en-US" sz="1300" dirty="0"/>
          </a:p>
        </p:txBody>
      </p:sp>
      <p:sp>
        <p:nvSpPr>
          <p:cNvPr id="34" name="Shape 22"/>
          <p:cNvSpPr/>
          <p:nvPr/>
        </p:nvSpPr>
        <p:spPr>
          <a:xfrm>
            <a:off x="548640" y="443484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35" name="Text 23"/>
          <p:cNvSpPr/>
          <p:nvPr/>
        </p:nvSpPr>
        <p:spPr>
          <a:xfrm>
            <a:off x="548640" y="454456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the State must provide</a:t>
            </a:r>
            <a:endParaRPr lang="en-US" sz="1400" dirty="0"/>
          </a:p>
        </p:txBody>
      </p:sp>
      <p:pic>
        <p:nvPicPr>
          <p:cNvPr id="3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40480" y="4654296"/>
            <a:ext cx="292608" cy="29260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4251960" y="452628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— nothing is shared</a:t>
            </a:r>
            <a:endParaRPr lang="en-US" sz="13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7538" y="4654296"/>
            <a:ext cx="292608" cy="292608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929018" y="452628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≈160 Gbps, sustained</a:t>
            </a:r>
            <a:endParaRPr lang="en-US" sz="13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94597" y="4654296"/>
            <a:ext cx="292608" cy="292608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9606077" y="452628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≈140 Mbps</a:t>
            </a:r>
            <a:endParaRPr lang="en-US" sz="1300" dirty="0"/>
          </a:p>
        </p:txBody>
      </p:sp>
      <p:sp>
        <p:nvSpPr>
          <p:cNvPr id="42" name="Shape 27"/>
          <p:cNvSpPr/>
          <p:nvPr/>
        </p:nvSpPr>
        <p:spPr>
          <a:xfrm>
            <a:off x="548640" y="5166360"/>
            <a:ext cx="11094415" cy="0"/>
          </a:xfrm>
          <a:prstGeom prst="line">
            <a:avLst/>
          </a:prstGeom>
          <a:noFill/>
          <a:ln w="9525">
            <a:solidFill>
              <a:srgbClr val="DDE3EE"/>
            </a:solidFill>
            <a:prstDash val="solid"/>
          </a:ln>
        </p:spPr>
      </p:sp>
      <p:sp>
        <p:nvSpPr>
          <p:cNvPr id="43" name="Text 28"/>
          <p:cNvSpPr/>
          <p:nvPr/>
        </p:nvSpPr>
        <p:spPr>
          <a:xfrm>
            <a:off x="548640" y="527608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district’s link drops</a:t>
            </a:r>
            <a:endParaRPr lang="en-US" sz="1400" dirty="0"/>
          </a:p>
        </p:txBody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0480" y="5385816"/>
            <a:ext cx="292608" cy="292608"/>
          </a:xfrm>
          <a:prstGeom prst="rect">
            <a:avLst/>
          </a:prstGeom>
        </p:spPr>
      </p:pic>
      <p:sp>
        <p:nvSpPr>
          <p:cNvPr id="45" name="Text 29"/>
          <p:cNvSpPr/>
          <p:nvPr/>
        </p:nvSpPr>
        <p:spPr>
          <a:xfrm>
            <a:off x="4251960" y="525780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locally, still isolated</a:t>
            </a:r>
            <a:endParaRPr lang="en-US" sz="1300" dirty="0"/>
          </a:p>
        </p:txBody>
      </p:sp>
      <p:pic>
        <p:nvPicPr>
          <p:cNvPr id="4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7538" y="5385816"/>
            <a:ext cx="292608" cy="292608"/>
          </a:xfrm>
          <a:prstGeom prst="rect">
            <a:avLst/>
          </a:prstGeom>
        </p:spPr>
      </p:pic>
      <p:sp>
        <p:nvSpPr>
          <p:cNvPr id="47" name="Text 30"/>
          <p:cNvSpPr/>
          <p:nvPr/>
        </p:nvSpPr>
        <p:spPr>
          <a:xfrm>
            <a:off x="6929018" y="525780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stops</a:t>
            </a:r>
            <a:endParaRPr lang="en-US" sz="1300" dirty="0"/>
          </a:p>
        </p:txBody>
      </p:sp>
      <p:pic>
        <p:nvPicPr>
          <p:cNvPr id="4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94597" y="5385816"/>
            <a:ext cx="292608" cy="292608"/>
          </a:xfrm>
          <a:prstGeom prst="rect">
            <a:avLst/>
          </a:prstGeom>
        </p:spPr>
      </p:pic>
      <p:sp>
        <p:nvSpPr>
          <p:cNvPr id="49" name="Text 31"/>
          <p:cNvSpPr/>
          <p:nvPr/>
        </p:nvSpPr>
        <p:spPr>
          <a:xfrm>
            <a:off x="9606077" y="5257800"/>
            <a:ext cx="18083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reading and alerting</a:t>
            </a:r>
            <a:endParaRPr lang="en-US" sz="1300" dirty="0"/>
          </a:p>
        </p:txBody>
      </p:sp>
      <p:sp>
        <p:nvSpPr>
          <p:cNvPr id="50" name="Text 32"/>
          <p:cNvSpPr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Approaches compared, not named products. Network figures are for ~80,000 cameras, from our scale plan.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PROMISED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real government footage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2567864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8745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274320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plates read exactly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3310128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81 hand-checked real government plates; 88% of characters correct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90824" y="1691640"/>
            <a:ext cx="2567864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665144" y="18745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3665144" y="274320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a second, on one laptop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665144" y="3310128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live analysis on a CPU — the on-site set-up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3008" y="1691640"/>
            <a:ext cx="2567864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07328" y="18745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600+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6507328" y="274320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507328" y="3310128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interface tests in three languages and two themes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075191" y="1691640"/>
            <a:ext cx="2567864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349511" y="18745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 s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9349511" y="274320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restore a million records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9349511" y="3310128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Disaster-recovery drill, with tampering detected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9525">
            <a:solidFill>
              <a:srgbClr val="DDE3E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4754880"/>
            <a:ext cx="512064" cy="51206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6455" y="4872655"/>
            <a:ext cx="276515" cy="276515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55448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plainly</a:t>
            </a:r>
            <a:endParaRPr lang="en-US" sz="1700" dirty="0"/>
          </a:p>
        </p:txBody>
      </p:sp>
      <p:sp>
        <p:nvSpPr>
          <p:cNvPr id="26" name="Text 22"/>
          <p:cNvSpPr/>
          <p:nvPr/>
        </p:nvSpPr>
        <p:spPr>
          <a:xfrm>
            <a:off x="1554480" y="51663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accuracy is below our own 85% target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compute is sized from vendor benchmarks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6583680" y="51663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vehicles with no readable plate is designed, not built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replaces every estimate with a measurement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STATEWIDE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from the first district. No big-bang switch-over.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32104" y="1938528"/>
            <a:ext cx="10527487" cy="0"/>
          </a:xfrm>
          <a:prstGeom prst="line">
            <a:avLst/>
          </a:prstGeom>
          <a:noFill/>
          <a:ln w="25400">
            <a:solidFill>
              <a:srgbClr val="DDE3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1792224"/>
            <a:ext cx="292608" cy="292608"/>
          </a:xfrm>
          <a:prstGeom prst="ellipse">
            <a:avLst/>
          </a:prstGeom>
          <a:solidFill>
            <a:srgbClr val="D9770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22402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 ·  0–3 months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651760"/>
            <a:ext cx="2567864" cy="3246120"/>
          </a:xfrm>
          <a:prstGeom prst="roundRect">
            <a:avLst>
              <a:gd name="adj" fmla="val 4273"/>
            </a:avLst>
          </a:prstGeom>
          <a:solidFill>
            <a:srgbClr val="EAF0FD"/>
          </a:solidFill>
          <a:ln w="9525">
            <a:solidFill>
              <a:srgbClr val="C9D7F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83464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~500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822960" y="349300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393192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district, 2 departments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22960" y="452628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reading validated on live feeds; operators sign off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527984" y="1792224"/>
            <a:ext cx="292608" cy="292608"/>
          </a:xfrm>
          <a:prstGeom prst="ellipse">
            <a:avLst/>
          </a:prstGeom>
          <a:solidFill>
            <a:srgbClr val="2456D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390824" y="22402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 ·  3–9 months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390824" y="2651760"/>
            <a:ext cx="2567864" cy="324612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665144" y="283464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~5,000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3665144" y="349300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665144" y="393192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districts, 6 departments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665144" y="452628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VMS vendors connected; VAHAN and eGujCop live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70168" y="1792224"/>
            <a:ext cx="292608" cy="292608"/>
          </a:xfrm>
          <a:prstGeom prst="ellipse">
            <a:avLst/>
          </a:prstGeom>
          <a:solidFill>
            <a:srgbClr val="2456D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33008" y="22402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Statewide  ·  9–21 months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33008" y="2651760"/>
            <a:ext cx="2567864" cy="324612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507328" y="283464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~30,000</a:t>
            </a:r>
            <a:endParaRPr lang="en-US" sz="3600" dirty="0"/>
          </a:p>
        </p:txBody>
      </p:sp>
      <p:sp>
        <p:nvSpPr>
          <p:cNvPr id="25" name="Text 22"/>
          <p:cNvSpPr/>
          <p:nvPr/>
        </p:nvSpPr>
        <p:spPr>
          <a:xfrm>
            <a:off x="6507328" y="349300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507328" y="393192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34 districts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507328" y="452628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vehicle tracking; operations centre in place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9212351" y="1792224"/>
            <a:ext cx="292608" cy="292608"/>
          </a:xfrm>
          <a:prstGeom prst="ellipse">
            <a:avLst/>
          </a:prstGeom>
          <a:solidFill>
            <a:srgbClr val="2456D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075191" y="224028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 ·  21–36 months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075191" y="2651760"/>
            <a:ext cx="2567864" cy="324612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9349511" y="283464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</a:t>
            </a:r>
            <a:endParaRPr lang="en-US" sz="3600" dirty="0"/>
          </a:p>
        </p:txBody>
      </p:sp>
      <p:sp>
        <p:nvSpPr>
          <p:cNvPr id="32" name="Text 29"/>
          <p:cNvSpPr/>
          <p:nvPr/>
        </p:nvSpPr>
        <p:spPr>
          <a:xfrm>
            <a:off x="9349511" y="3493008"/>
            <a:ext cx="201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349511" y="3931920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consented private cameras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9349511" y="452628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coverage, with policy and audit established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0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STEP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90-day pilot in one district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348477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5146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486" y="2653406"/>
            <a:ext cx="325892" cy="3258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29184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camera inventory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3822192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template per department: cameras, recorders, network, locations — and whether each feed shows the date and time.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53458" y="2240280"/>
            <a:ext cx="348477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73498" y="25146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304" y="2653406"/>
            <a:ext cx="325892" cy="3258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73498" y="329184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access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673498" y="3822192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streams or each VMS. Nothing installed on department infrastructure.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58277" y="2240280"/>
            <a:ext cx="348477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DE3EE"/>
            </a:solidFill>
            <a:prstDash val="solid"/>
          </a:ln>
          <a:effectLst>
            <a:outerShdw sx="100000" sy="100000" kx="0" ky="0" algn="bl" rotWithShape="0" blurRad="177800" dist="38100" dir="5400000">
              <a:srgbClr val="1F2A44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78317" y="2514600"/>
            <a:ext cx="603504" cy="603504"/>
          </a:xfrm>
          <a:prstGeom prst="ellipse">
            <a:avLst/>
          </a:prstGeom>
          <a:solidFill>
            <a:srgbClr val="2456D6"/>
          </a:solidFill>
          <a:ln w="12700">
            <a:solidFill>
              <a:srgbClr val="2456D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123" y="2653406"/>
            <a:ext cx="325892" cy="3258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8317" y="329184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access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478317" y="3822192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ready: VAHAN, SARTHI, eGujCop, AFIS, NAFIS — switched on as a setting the day it is granted.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48640" y="52120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4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a plate. See where it went.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548640" y="5943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36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1109441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6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find any vehicle across every government camera in Gujarat</dc:title>
  <dc:subject>PptxGenJS Presentation</dc:subject>
  <dc:creator>Sentinel Platform</dc:creator>
  <cp:lastModifiedBy>Sentinel Platform</cp:lastModifiedBy>
  <cp:revision>1</cp:revision>
  <dcterms:created xsi:type="dcterms:W3CDTF">2026-10-12T03:45:41Z</dcterms:created>
  <dcterms:modified xsi:type="dcterms:W3CDTF">2026-10-12T03:45:41Z</dcterms:modified>
</cp:coreProperties>
</file>