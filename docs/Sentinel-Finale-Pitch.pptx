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Cameras by tier</c:v>
                </c:pt>
              </c:strCache>
            </c:strRef>
          </c:tx>
          <c:spPr>
            <a:solidFill>
              <a:schemeClr val="accent1"/>
            </a:solidFill>
            <a:ln w="9525" cap="flat">
              <a:solidFill>
                <a:srgbClr val="F9F9F9"/>
              </a:solidFill>
              <a:prstDash val="solid"/>
              <a:round/>
            </a:ln>
            <a:effectLst/>
          </c:spPr>
          <c:dPt>
            <c:idx val="0"/>
            <c:bubble3D val="0"/>
            <c:spPr>
              <a:solidFill>
                <a:srgbClr val="D97706"/>
              </a:solidFill>
              <a:effectLst/>
            </c:spPr>
          </c:dPt>
          <c:dPt>
            <c:idx val="1"/>
            <c:bubble3D val="0"/>
            <c:spPr>
              <a:solidFill>
                <a:srgbClr val="2456D6"/>
              </a:solidFill>
              <a:effectLst/>
            </c:spPr>
          </c:dPt>
          <c:dPt>
            <c:idx val="2"/>
            <c:bubble3D val="0"/>
            <c:spPr>
              <a:solidFill>
                <a:srgbClr val="8FA9EA"/>
              </a:solidFill>
              <a:effectLst/>
            </c:spPr>
          </c:dPt>
          <c:dPt>
            <c:idx val="3"/>
            <c:bubble3D val="0"/>
            <c:spPr>
              <a:solidFill>
                <a:srgbClr val="D3DAE6"/>
              </a:solidFill>
              <a:effectLst/>
            </c:spPr>
          </c:dPt>
          <c:dLbls>
            <c:dLbl>
              <c:idx val="0"/>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Continuous</c:v>
                </c:pt>
                <c:pt idx="1">
                  <c:v>Sampled</c:v>
                </c:pt>
                <c:pt idx="2">
                  <c:v>Motion-triggered</c:v>
                </c:pt>
                <c:pt idx="3">
                  <c:v>View only</c:v>
                </c:pt>
              </c:strCache>
            </c:strRef>
          </c:cat>
          <c:val>
            <c:numRef>
              <c:f>Sheet1!$B$2:$B$5</c:f>
              <c:numCache>
                <c:ptCount val="4"/>
                <c:pt idx="0">
                  <c:v>9600</c:v>
                </c:pt>
                <c:pt idx="1">
                  <c:v>22400</c:v>
                </c:pt>
                <c:pt idx="2">
                  <c:v>28000</c:v>
                </c:pt>
                <c:pt idx="3">
                  <c:v>20000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outcome, not the technology. "Sentinel lets an officer type a registration number and see where that vehicle went, across every government camera, in seconds — and be told the moment it is seen again." If the jury gives the vehicle number now, go straight to the demonstration (slide 6) and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Paint the picture for the non-technical members of the jury. Gujarat already has the cameras — around eighty thousand of them across twenty-six departments. What it does not have is a way to use them together. When a stolen car leaves Ahmedabad for Rajkot, tracing it is phone calls, separate logins and manual review, while the footage quietly ages out after a week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Read the right-hand column. Nothing on the left is replaced — every department keeps its cameras and its system — Sentinel sits across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jobs, one console. See: every camera from every department on one map and one live wall, with its health. Find: any vehicle by its plate — route, evidence and a report you can hand over. Alert: stolen, wanted and missing vehicles are checked against every read, and officers are told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personal. The operator gets one screen instead of many. The investigator gets the route and a report they can put in a case file. The officer on patrol gets alerts and a plate lookup on their phone — it even works on a poor connection. Leadership gets a statewide picture: which cameras are working, where coverage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what you will do before you do it. The narrator faces the jury; the driver only clicks. If the vehicle number was already given, run step 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replaced and nothing is installed on a department’s system. A camera list, a device on the network or a department’s catalogue — each is onboarded in minutes and appears on the map and the live wall. For the technical jury: RTSP, ONVIF, Hikvision and Dahua drivers; one connection per camera however many people watch; credentials never reach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number — spacing and case do not matter. Every sighting appears on the map and the timeline, in the order the cameras’ own clocks give. Open a stop: the camera, the time printed on the frame, the plate as read, the snapshot with faces blurred. Arm a watch for future sightings. Then export the Movement Report and hand it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plate any camera reads is checked against the watchlist — stolen, wanted, missing — automatically. A match raises a prioritised alert on every open console and on officers’ phones, with a sound, and repeat sightings at a red light do not flood anyone. It also catches the misreads cameras make: a zero read as an O, a one as an I. Anything less than an exact match is shown as probable, for an officer to confirm on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legal and leadership side of the room. The time we report is the time the camera printed on its own frame — and if it cannot be read, we say “time unknown” rather than guess. Faces are blurred by default; revealing one needs a reason and is logged. Every search, export and reveal is in a tamper-evident log. We do no face recognition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cameras answer more questions at no extra effort: what kind of vehicle, what colour, how many people, did anyone enter a restricted zone or loiter, is a vehicle going the wrong way, has a camera been covered or moved. And one thing we will not do: identify 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design scales where others cannot. Pulling every camera’s video to one centre would need a 160-gigabit backbone from sites a thousand kilometres apart, and petabytes of storage for a single week. Sentinel reads plates in the district where the video is filmed and sends only what it found — a few kilobytes per sighting. And if a district’s link drops, it keeps reading and alerting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technical jury, bottom to top. Cameras, tiered by how much analysis they need. Department systems stay — we pull read-only. Each district decodes and analyses its own video and queues what it finds if its link drops. The state core is about search and storage, not throughput, with a warm disaster-recovery site. And the consumers: control rooms, the field app and the national and state databases. What you saw today is the district layer, on a laptop: the same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highway check-post and a ration-shop godown are different jobs. About one camera in eight reads plates continuously; a quarter are view-only. The tier is a setting each department controls and can change live — a camera goes to continuous for a bandobast and back afterwards. That is what makes eighty thousand cameras tractable.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reasons this fits. Nothing is ripped out. Nothing locks the State to one vendor — open standards and documented APIs throughout. It keeps working when the network does not. It speaks the languages officers use. It is ready for the national and state databases. And it is secure by design: encrypted links, department-scoped access and a tamper-evident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measured that”. The plate accuracy is measured on hand-checked plates from the government grid — and it is below our own target, which we say plainly; it started at under ten percent and the measurement is what drove it up. The rest is the discipline behind it: a laptop handling live analysis, more than six hundred automated tests, and a disaster-recovery drill that restores a million records in seconds and proves nothing was altered.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is useful on its own and none needs a big-bang cutover: one district pilot in three months, four districts and the main VMS vendors by nine, every district by twenty-one months, and consented private cameras in the last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then the line. Hand over the Movement Report from the demonstration if it has not been handed over already. Questions: see docs/13-SHOWCASE-PREP.md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jpe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jpe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172200" y="0"/>
            <a:ext cx="6019495" cy="6858000"/>
          </a:xfrm>
          <a:prstGeom prst="rect">
            <a:avLst/>
          </a:prstGeom>
          <a:solidFill>
            <a:srgbClr val="EAF0FD"/>
          </a:solidFill>
          <a:ln w="12700">
            <a:solidFill>
              <a:srgbClr val="EAF0FD"/>
            </a:solidFill>
            <a:prstDash val="solid"/>
          </a:ln>
        </p:spPr>
      </p:sp>
      <p:sp>
        <p:nvSpPr>
          <p:cNvPr id="3" name="Shape 1"/>
          <p:cNvSpPr/>
          <p:nvPr/>
        </p:nvSpPr>
        <p:spPr>
          <a:xfrm>
            <a:off x="6473952" y="1946770"/>
            <a:ext cx="5385816" cy="2964461"/>
          </a:xfrm>
          <a:prstGeom prst="roundRect">
            <a:avLst>
              <a:gd name="adj" fmla="val 3085"/>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4" name="Image 0" descr="preencoded.png">    </p:cNvPr>
          <p:cNvPicPr>
            <a:picLocks noChangeAspect="1"/>
          </p:cNvPicPr>
          <p:nvPr/>
        </p:nvPicPr>
        <p:blipFill>
          <a:blip r:embed="rId1"/>
          <a:stretch>
            <a:fillRect/>
          </a:stretch>
        </p:blipFill>
        <p:spPr>
          <a:xfrm>
            <a:off x="6537960" y="2010778"/>
            <a:ext cx="5257800" cy="2836445"/>
          </a:xfrm>
          <a:prstGeom prst="rect">
            <a:avLst/>
          </a:prstGeom>
        </p:spPr>
      </p:pic>
      <p:sp>
        <p:nvSpPr>
          <p:cNvPr id="5" name="Shape 2"/>
          <p:cNvSpPr/>
          <p:nvPr/>
        </p:nvSpPr>
        <p:spPr>
          <a:xfrm>
            <a:off x="5897880" y="1645018"/>
            <a:ext cx="2834640" cy="566928"/>
          </a:xfrm>
          <a:prstGeom prst="roundRect">
            <a:avLst>
              <a:gd name="adj" fmla="val 1935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6" name="Shape 3"/>
          <p:cNvSpPr/>
          <p:nvPr/>
        </p:nvSpPr>
        <p:spPr>
          <a:xfrm>
            <a:off x="6025896" y="1754746"/>
            <a:ext cx="347472" cy="347472"/>
          </a:xfrm>
          <a:prstGeom prst="ellipse">
            <a:avLst/>
          </a:prstGeom>
          <a:solidFill>
            <a:srgbClr val="2456D6"/>
          </a:solidFill>
          <a:ln w="12700">
            <a:solidFill>
              <a:srgbClr val="2456D6"/>
            </a:solidFill>
            <a:prstDash val="solid"/>
          </a:ln>
        </p:spPr>
      </p:sp>
      <p:pic>
        <p:nvPicPr>
          <p:cNvPr id="7" name="Image 1" descr="preencoded.png">    </p:cNvPr>
          <p:cNvPicPr>
            <a:picLocks noChangeAspect="1"/>
          </p:cNvPicPr>
          <p:nvPr/>
        </p:nvPicPr>
        <p:blipFill>
          <a:blip r:embed="rId2"/>
          <a:stretch>
            <a:fillRect/>
          </a:stretch>
        </p:blipFill>
        <p:spPr>
          <a:xfrm>
            <a:off x="6105815" y="1834664"/>
            <a:ext cx="187635" cy="187635"/>
          </a:xfrm>
          <a:prstGeom prst="rect">
            <a:avLst/>
          </a:prstGeom>
        </p:spPr>
      </p:pic>
      <p:sp>
        <p:nvSpPr>
          <p:cNvPr id="8" name="Text 4"/>
          <p:cNvSpPr/>
          <p:nvPr/>
        </p:nvSpPr>
        <p:spPr>
          <a:xfrm>
            <a:off x="6464808" y="1754746"/>
            <a:ext cx="2176272" cy="347472"/>
          </a:xfrm>
          <a:prstGeom prst="rect">
            <a:avLst/>
          </a:prstGeom>
          <a:noFill/>
          <a:ln/>
        </p:spPr>
        <p:txBody>
          <a:bodyPr wrap="square" lIns="0" tIns="0" rIns="0" bIns="0" rtlCol="0" anchor="ctr"/>
          <a:lstStyle/>
          <a:p>
            <a:pPr indent="0" marL="0">
              <a:buNone/>
            </a:pPr>
            <a:r>
              <a:rPr lang="en-US" sz="1200" b="1" dirty="0">
                <a:solidFill>
                  <a:srgbClr val="0F1B33"/>
                </a:solidFill>
                <a:latin typeface="Arial" pitchFamily="34" charset="0"/>
                <a:ea typeface="Arial" pitchFamily="34" charset="-122"/>
                <a:cs typeface="Arial" pitchFamily="34" charset="-120"/>
              </a:rPr>
              <a:t>Route traced across cameras</a:t>
            </a:r>
            <a:endParaRPr lang="en-US" sz="1200" dirty="0"/>
          </a:p>
        </p:txBody>
      </p:sp>
      <p:sp>
        <p:nvSpPr>
          <p:cNvPr id="9" name="Shape 5"/>
          <p:cNvSpPr/>
          <p:nvPr/>
        </p:nvSpPr>
        <p:spPr>
          <a:xfrm>
            <a:off x="9128455" y="4618622"/>
            <a:ext cx="2560320" cy="566928"/>
          </a:xfrm>
          <a:prstGeom prst="roundRect">
            <a:avLst>
              <a:gd name="adj" fmla="val 1935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6"/>
          <p:cNvSpPr/>
          <p:nvPr/>
        </p:nvSpPr>
        <p:spPr>
          <a:xfrm>
            <a:off x="9256471" y="4728350"/>
            <a:ext cx="347472" cy="347472"/>
          </a:xfrm>
          <a:prstGeom prst="ellipse">
            <a:avLst/>
          </a:prstGeom>
          <a:solidFill>
            <a:srgbClr val="D97706"/>
          </a:solidFill>
          <a:ln w="12700">
            <a:solidFill>
              <a:srgbClr val="D97706"/>
            </a:solidFill>
            <a:prstDash val="solid"/>
          </a:ln>
        </p:spPr>
      </p:sp>
      <p:pic>
        <p:nvPicPr>
          <p:cNvPr id="11" name="Image 2" descr="preencoded.png">    </p:cNvPr>
          <p:cNvPicPr>
            <a:picLocks noChangeAspect="1"/>
          </p:cNvPicPr>
          <p:nvPr/>
        </p:nvPicPr>
        <p:blipFill>
          <a:blip r:embed="rId3"/>
          <a:stretch>
            <a:fillRect/>
          </a:stretch>
        </p:blipFill>
        <p:spPr>
          <a:xfrm>
            <a:off x="9336390" y="4808269"/>
            <a:ext cx="187635" cy="187635"/>
          </a:xfrm>
          <a:prstGeom prst="rect">
            <a:avLst/>
          </a:prstGeom>
        </p:spPr>
      </p:pic>
      <p:sp>
        <p:nvSpPr>
          <p:cNvPr id="12" name="Text 7"/>
          <p:cNvSpPr/>
          <p:nvPr/>
        </p:nvSpPr>
        <p:spPr>
          <a:xfrm>
            <a:off x="9695383" y="4728350"/>
            <a:ext cx="1901952" cy="347472"/>
          </a:xfrm>
          <a:prstGeom prst="rect">
            <a:avLst/>
          </a:prstGeom>
          <a:noFill/>
          <a:ln/>
        </p:spPr>
        <p:txBody>
          <a:bodyPr wrap="square" lIns="0" tIns="0" rIns="0" bIns="0" rtlCol="0" anchor="ctr"/>
          <a:lstStyle/>
          <a:p>
            <a:pPr indent="0" marL="0">
              <a:buNone/>
            </a:pPr>
            <a:r>
              <a:rPr lang="en-US" sz="1200" b="1" dirty="0">
                <a:solidFill>
                  <a:srgbClr val="0F1B33"/>
                </a:solidFill>
                <a:latin typeface="Arial" pitchFamily="34" charset="0"/>
                <a:ea typeface="Arial" pitchFamily="34" charset="-122"/>
                <a:cs typeface="Arial" pitchFamily="34" charset="-120"/>
              </a:rPr>
              <a:t>Watchlist alert raised</a:t>
            </a:r>
            <a:endParaRPr lang="en-US" sz="1200" dirty="0"/>
          </a:p>
        </p:txBody>
      </p:sp>
      <p:sp>
        <p:nvSpPr>
          <p:cNvPr id="13" name="Text 8"/>
          <p:cNvSpPr/>
          <p:nvPr/>
        </p:nvSpPr>
        <p:spPr>
          <a:xfrm>
            <a:off x="548640" y="1143000"/>
            <a:ext cx="5303520"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GUJARAT POLICE INNOVATION CHALLENGE 2026</a:t>
            </a:r>
            <a:endParaRPr lang="en-US" sz="1100" dirty="0"/>
          </a:p>
        </p:txBody>
      </p:sp>
      <p:sp>
        <p:nvSpPr>
          <p:cNvPr id="14" name="Text 9"/>
          <p:cNvSpPr/>
          <p:nvPr/>
        </p:nvSpPr>
        <p:spPr>
          <a:xfrm>
            <a:off x="548640" y="1554480"/>
            <a:ext cx="5303520" cy="1097280"/>
          </a:xfrm>
          <a:prstGeom prst="rect">
            <a:avLst/>
          </a:prstGeom>
          <a:noFill/>
          <a:ln/>
        </p:spPr>
        <p:txBody>
          <a:bodyPr wrap="square" lIns="0" tIns="0" rIns="0" bIns="0" rtlCol="0" anchor="t"/>
          <a:lstStyle/>
          <a:p>
            <a:pPr indent="0" marL="0">
              <a:buNone/>
            </a:pPr>
            <a:r>
              <a:rPr lang="en-US" sz="6600" b="1" dirty="0">
                <a:solidFill>
                  <a:srgbClr val="0F1B33"/>
                </a:solidFill>
                <a:latin typeface="Arial" pitchFamily="34" charset="0"/>
                <a:ea typeface="Arial" pitchFamily="34" charset="-122"/>
                <a:cs typeface="Arial" pitchFamily="34" charset="-120"/>
              </a:rPr>
              <a:t>Sentinel</a:t>
            </a:r>
            <a:endParaRPr lang="en-US" sz="6600" dirty="0"/>
          </a:p>
        </p:txBody>
      </p:sp>
      <p:sp>
        <p:nvSpPr>
          <p:cNvPr id="15" name="Text 10"/>
          <p:cNvSpPr/>
          <p:nvPr/>
        </p:nvSpPr>
        <p:spPr>
          <a:xfrm>
            <a:off x="548640" y="2743200"/>
            <a:ext cx="5212080" cy="1188720"/>
          </a:xfrm>
          <a:prstGeom prst="rect">
            <a:avLst/>
          </a:prstGeom>
          <a:noFill/>
          <a:ln/>
        </p:spPr>
        <p:txBody>
          <a:bodyPr wrap="square" lIns="0" tIns="0" rIns="0" bIns="0" rtlCol="0" anchor="t"/>
          <a:lstStyle/>
          <a:p>
            <a:pPr indent="0" marL="0">
              <a:buNone/>
            </a:pPr>
            <a:r>
              <a:rPr lang="en-US" sz="2500" dirty="0">
                <a:solidFill>
                  <a:srgbClr val="0F1B33"/>
                </a:solidFill>
                <a:latin typeface="Arial" pitchFamily="34" charset="0"/>
                <a:ea typeface="Arial" pitchFamily="34" charset="-122"/>
                <a:cs typeface="Arial" pitchFamily="34" charset="-120"/>
              </a:rPr>
              <a:t>Find any vehicle, across every government camera in Gujarat — in seconds.</a:t>
            </a:r>
            <a:endParaRPr lang="en-US" sz="2500" dirty="0"/>
          </a:p>
        </p:txBody>
      </p:sp>
      <p:sp>
        <p:nvSpPr>
          <p:cNvPr id="16" name="Text 11"/>
          <p:cNvSpPr/>
          <p:nvPr/>
        </p:nvSpPr>
        <p:spPr>
          <a:xfrm>
            <a:off x="548640" y="4069080"/>
            <a:ext cx="5120640" cy="100584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One platform that connects the cameras departments already run, reads number plates where they are filmed, and alerts officers the moment a vehicle of interest is seen.</a:t>
            </a:r>
            <a:endParaRPr lang="en-US" sz="1500" dirty="0"/>
          </a:p>
        </p:txBody>
      </p:sp>
      <p:sp>
        <p:nvSpPr>
          <p:cNvPr id="17" name="Shape 12"/>
          <p:cNvSpPr/>
          <p:nvPr/>
        </p:nvSpPr>
        <p:spPr>
          <a:xfrm>
            <a:off x="548640" y="5760720"/>
            <a:ext cx="384048" cy="384048"/>
          </a:xfrm>
          <a:prstGeom prst="ellipse">
            <a:avLst/>
          </a:prstGeom>
          <a:solidFill>
            <a:srgbClr val="D97706"/>
          </a:solidFill>
          <a:ln w="12700">
            <a:solidFill>
              <a:srgbClr val="D97706"/>
            </a:solidFill>
            <a:prstDash val="solid"/>
          </a:ln>
        </p:spPr>
      </p:sp>
      <p:pic>
        <p:nvPicPr>
          <p:cNvPr id="18" name="Image 3" descr="preencoded.png">    </p:cNvPr>
          <p:cNvPicPr>
            <a:picLocks noChangeAspect="1"/>
          </p:cNvPicPr>
          <p:nvPr/>
        </p:nvPicPr>
        <p:blipFill>
          <a:blip r:embed="rId4"/>
          <a:stretch>
            <a:fillRect/>
          </a:stretch>
        </p:blipFill>
        <p:spPr>
          <a:xfrm>
            <a:off x="636971" y="5849051"/>
            <a:ext cx="207386" cy="207386"/>
          </a:xfrm>
          <a:prstGeom prst="rect">
            <a:avLst/>
          </a:prstGeom>
        </p:spPr>
      </p:pic>
      <p:sp>
        <p:nvSpPr>
          <p:cNvPr id="19" name="Text 13"/>
          <p:cNvSpPr/>
          <p:nvPr/>
        </p:nvSpPr>
        <p:spPr>
          <a:xfrm>
            <a:off x="1097280" y="5833872"/>
            <a:ext cx="5120640"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Grand Finale  ·  i-Hub Gujarat, Ahmedabad  ·  12–13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CHALLENGE</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When a vehicle disappears, every minute counts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02</a:t>
            </a:r>
            <a:endParaRPr lang="en-US" sz="900" dirty="0"/>
          </a:p>
        </p:txBody>
      </p:sp>
      <p:sp>
        <p:nvSpPr>
          <p:cNvPr id="6" name="Shape 3"/>
          <p:cNvSpPr/>
          <p:nvPr/>
        </p:nvSpPr>
        <p:spPr>
          <a:xfrm>
            <a:off x="548640" y="1737360"/>
            <a:ext cx="2567864" cy="2331720"/>
          </a:xfrm>
          <a:prstGeom prst="roundRect">
            <a:avLst>
              <a:gd name="adj" fmla="val 470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7" name="Shape 4"/>
          <p:cNvSpPr/>
          <p:nvPr/>
        </p:nvSpPr>
        <p:spPr>
          <a:xfrm>
            <a:off x="822960" y="1965960"/>
            <a:ext cx="475488" cy="475488"/>
          </a:xfrm>
          <a:prstGeom prst="ellipse">
            <a:avLst/>
          </a:prstGeom>
          <a:solidFill>
            <a:srgbClr val="2456D6"/>
          </a:solidFill>
          <a:ln w="12700">
            <a:solidFill>
              <a:srgbClr val="2456D6"/>
            </a:solidFill>
            <a:prstDash val="solid"/>
          </a:ln>
        </p:spPr>
      </p:sp>
      <p:pic>
        <p:nvPicPr>
          <p:cNvPr id="8" name="Image 0" descr="preencoded.png">    </p:cNvPr>
          <p:cNvPicPr>
            <a:picLocks noChangeAspect="1"/>
          </p:cNvPicPr>
          <p:nvPr/>
        </p:nvPicPr>
        <p:blipFill>
          <a:blip r:embed="rId1"/>
          <a:stretch>
            <a:fillRect/>
          </a:stretch>
        </p:blipFill>
        <p:spPr>
          <a:xfrm>
            <a:off x="932322" y="2075322"/>
            <a:ext cx="256764" cy="256764"/>
          </a:xfrm>
          <a:prstGeom prst="rect">
            <a:avLst/>
          </a:prstGeom>
        </p:spPr>
      </p:pic>
      <p:sp>
        <p:nvSpPr>
          <p:cNvPr id="9" name="Text 5"/>
          <p:cNvSpPr/>
          <p:nvPr/>
        </p:nvSpPr>
        <p:spPr>
          <a:xfrm>
            <a:off x="822960" y="2606040"/>
            <a:ext cx="2019224" cy="731520"/>
          </a:xfrm>
          <a:prstGeom prst="rect">
            <a:avLst/>
          </a:prstGeom>
          <a:noFill/>
          <a:ln/>
        </p:spPr>
        <p:txBody>
          <a:bodyPr wrap="square" lIns="0" tIns="0" rIns="0" bIns="0" rtlCol="0" anchor="t"/>
          <a:lstStyle/>
          <a:p>
            <a:pPr indent="0" marL="0">
              <a:buNone/>
            </a:pPr>
            <a:r>
              <a:rPr lang="en-US" sz="3800" b="1" dirty="0">
                <a:solidFill>
                  <a:srgbClr val="D97706"/>
                </a:solidFill>
                <a:latin typeface="Arial" pitchFamily="34" charset="0"/>
                <a:ea typeface="Arial" pitchFamily="34" charset="-122"/>
                <a:cs typeface="Arial" pitchFamily="34" charset="-120"/>
              </a:rPr>
              <a:t>~80,000</a:t>
            </a:r>
            <a:endParaRPr lang="en-US" sz="3800" dirty="0"/>
          </a:p>
        </p:txBody>
      </p:sp>
      <p:sp>
        <p:nvSpPr>
          <p:cNvPr id="10" name="Text 6"/>
          <p:cNvSpPr/>
          <p:nvPr/>
        </p:nvSpPr>
        <p:spPr>
          <a:xfrm>
            <a:off x="822960" y="3383280"/>
            <a:ext cx="2019224" cy="54864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cameras already installed across the State</a:t>
            </a:r>
            <a:endParaRPr lang="en-US" sz="1400" dirty="0"/>
          </a:p>
        </p:txBody>
      </p:sp>
      <p:sp>
        <p:nvSpPr>
          <p:cNvPr id="11" name="Shape 7"/>
          <p:cNvSpPr/>
          <p:nvPr/>
        </p:nvSpPr>
        <p:spPr>
          <a:xfrm>
            <a:off x="3390824" y="1737360"/>
            <a:ext cx="2567864" cy="2331720"/>
          </a:xfrm>
          <a:prstGeom prst="roundRect">
            <a:avLst>
              <a:gd name="adj" fmla="val 470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Shape 8"/>
          <p:cNvSpPr/>
          <p:nvPr/>
        </p:nvSpPr>
        <p:spPr>
          <a:xfrm>
            <a:off x="3665144" y="1965960"/>
            <a:ext cx="475488" cy="475488"/>
          </a:xfrm>
          <a:prstGeom prst="ellipse">
            <a:avLst/>
          </a:prstGeom>
          <a:solidFill>
            <a:srgbClr val="2456D6"/>
          </a:solidFill>
          <a:ln w="12700">
            <a:solidFill>
              <a:srgbClr val="2456D6"/>
            </a:solidFill>
            <a:prstDash val="solid"/>
          </a:ln>
        </p:spPr>
      </p:sp>
      <p:pic>
        <p:nvPicPr>
          <p:cNvPr id="13" name="Image 1" descr="preencoded.png">    </p:cNvPr>
          <p:cNvPicPr>
            <a:picLocks noChangeAspect="1"/>
          </p:cNvPicPr>
          <p:nvPr/>
        </p:nvPicPr>
        <p:blipFill>
          <a:blip r:embed="rId2"/>
          <a:stretch>
            <a:fillRect/>
          </a:stretch>
        </p:blipFill>
        <p:spPr>
          <a:xfrm>
            <a:off x="3774506" y="2075322"/>
            <a:ext cx="256764" cy="256764"/>
          </a:xfrm>
          <a:prstGeom prst="rect">
            <a:avLst/>
          </a:prstGeom>
        </p:spPr>
      </p:pic>
      <p:sp>
        <p:nvSpPr>
          <p:cNvPr id="14" name="Text 9"/>
          <p:cNvSpPr/>
          <p:nvPr/>
        </p:nvSpPr>
        <p:spPr>
          <a:xfrm>
            <a:off x="3665144" y="2606040"/>
            <a:ext cx="2019224" cy="731520"/>
          </a:xfrm>
          <a:prstGeom prst="rect">
            <a:avLst/>
          </a:prstGeom>
          <a:noFill/>
          <a:ln/>
        </p:spPr>
        <p:txBody>
          <a:bodyPr wrap="square" lIns="0" tIns="0" rIns="0" bIns="0" rtlCol="0" anchor="t"/>
          <a:lstStyle/>
          <a:p>
            <a:pPr indent="0" marL="0">
              <a:buNone/>
            </a:pPr>
            <a:r>
              <a:rPr lang="en-US" sz="3800" b="1" dirty="0">
                <a:solidFill>
                  <a:srgbClr val="D97706"/>
                </a:solidFill>
                <a:latin typeface="Arial" pitchFamily="34" charset="0"/>
                <a:ea typeface="Arial" pitchFamily="34" charset="-122"/>
                <a:cs typeface="Arial" pitchFamily="34" charset="-120"/>
              </a:rPr>
              <a:t>26</a:t>
            </a:r>
            <a:endParaRPr lang="en-US" sz="3800" dirty="0"/>
          </a:p>
        </p:txBody>
      </p:sp>
      <p:sp>
        <p:nvSpPr>
          <p:cNvPr id="15" name="Text 10"/>
          <p:cNvSpPr/>
          <p:nvPr/>
        </p:nvSpPr>
        <p:spPr>
          <a:xfrm>
            <a:off x="3665144" y="3383280"/>
            <a:ext cx="2019224" cy="54864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departments, each with its own system</a:t>
            </a:r>
            <a:endParaRPr lang="en-US" sz="1400" dirty="0"/>
          </a:p>
        </p:txBody>
      </p:sp>
      <p:sp>
        <p:nvSpPr>
          <p:cNvPr id="16" name="Shape 11"/>
          <p:cNvSpPr/>
          <p:nvPr/>
        </p:nvSpPr>
        <p:spPr>
          <a:xfrm>
            <a:off x="6233008" y="1737360"/>
            <a:ext cx="2567864" cy="2331720"/>
          </a:xfrm>
          <a:prstGeom prst="roundRect">
            <a:avLst>
              <a:gd name="adj" fmla="val 470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Shape 12"/>
          <p:cNvSpPr/>
          <p:nvPr/>
        </p:nvSpPr>
        <p:spPr>
          <a:xfrm>
            <a:off x="6507328" y="1965960"/>
            <a:ext cx="475488" cy="475488"/>
          </a:xfrm>
          <a:prstGeom prst="ellipse">
            <a:avLst/>
          </a:prstGeom>
          <a:solidFill>
            <a:srgbClr val="2456D6"/>
          </a:solidFill>
          <a:ln w="12700">
            <a:solidFill>
              <a:srgbClr val="2456D6"/>
            </a:solidFill>
            <a:prstDash val="solid"/>
          </a:ln>
        </p:spPr>
      </p:sp>
      <p:pic>
        <p:nvPicPr>
          <p:cNvPr id="18" name="Image 2" descr="preencoded.png">    </p:cNvPr>
          <p:cNvPicPr>
            <a:picLocks noChangeAspect="1"/>
          </p:cNvPicPr>
          <p:nvPr/>
        </p:nvPicPr>
        <p:blipFill>
          <a:blip r:embed="rId3"/>
          <a:stretch>
            <a:fillRect/>
          </a:stretch>
        </p:blipFill>
        <p:spPr>
          <a:xfrm>
            <a:off x="6616690" y="2075322"/>
            <a:ext cx="256764" cy="256764"/>
          </a:xfrm>
          <a:prstGeom prst="rect">
            <a:avLst/>
          </a:prstGeom>
        </p:spPr>
      </p:pic>
      <p:sp>
        <p:nvSpPr>
          <p:cNvPr id="19" name="Text 13"/>
          <p:cNvSpPr/>
          <p:nvPr/>
        </p:nvSpPr>
        <p:spPr>
          <a:xfrm>
            <a:off x="6507328" y="2606040"/>
            <a:ext cx="2019224" cy="731520"/>
          </a:xfrm>
          <a:prstGeom prst="rect">
            <a:avLst/>
          </a:prstGeom>
          <a:noFill/>
          <a:ln/>
        </p:spPr>
        <p:txBody>
          <a:bodyPr wrap="square" lIns="0" tIns="0" rIns="0" bIns="0" rtlCol="0" anchor="t"/>
          <a:lstStyle/>
          <a:p>
            <a:pPr indent="0" marL="0">
              <a:buNone/>
            </a:pPr>
            <a:r>
              <a:rPr lang="en-US" sz="3800" b="1" dirty="0">
                <a:solidFill>
                  <a:srgbClr val="D97706"/>
                </a:solidFill>
                <a:latin typeface="Arial" pitchFamily="34" charset="0"/>
                <a:ea typeface="Arial" pitchFamily="34" charset="-122"/>
                <a:cs typeface="Arial" pitchFamily="34" charset="-120"/>
              </a:rPr>
              <a:t>7–15</a:t>
            </a:r>
            <a:endParaRPr lang="en-US" sz="3800" dirty="0"/>
          </a:p>
        </p:txBody>
      </p:sp>
      <p:sp>
        <p:nvSpPr>
          <p:cNvPr id="20" name="Text 14"/>
          <p:cNvSpPr/>
          <p:nvPr/>
        </p:nvSpPr>
        <p:spPr>
          <a:xfrm>
            <a:off x="6507328" y="3383280"/>
            <a:ext cx="2019224" cy="54864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days before footage is overwritten</a:t>
            </a:r>
            <a:endParaRPr lang="en-US" sz="1400" dirty="0"/>
          </a:p>
        </p:txBody>
      </p:sp>
      <p:sp>
        <p:nvSpPr>
          <p:cNvPr id="21" name="Shape 15"/>
          <p:cNvSpPr/>
          <p:nvPr/>
        </p:nvSpPr>
        <p:spPr>
          <a:xfrm>
            <a:off x="9075191" y="1737360"/>
            <a:ext cx="2567864" cy="2331720"/>
          </a:xfrm>
          <a:prstGeom prst="roundRect">
            <a:avLst>
              <a:gd name="adj" fmla="val 470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2" name="Shape 16"/>
          <p:cNvSpPr/>
          <p:nvPr/>
        </p:nvSpPr>
        <p:spPr>
          <a:xfrm>
            <a:off x="9349511" y="1965960"/>
            <a:ext cx="475488" cy="475488"/>
          </a:xfrm>
          <a:prstGeom prst="ellipse">
            <a:avLst/>
          </a:prstGeom>
          <a:solidFill>
            <a:srgbClr val="2456D6"/>
          </a:solidFill>
          <a:ln w="12700">
            <a:solidFill>
              <a:srgbClr val="2456D6"/>
            </a:solidFill>
            <a:prstDash val="solid"/>
          </a:ln>
        </p:spPr>
      </p:sp>
      <p:pic>
        <p:nvPicPr>
          <p:cNvPr id="23" name="Image 3" descr="preencoded.png">    </p:cNvPr>
          <p:cNvPicPr>
            <a:picLocks noChangeAspect="1"/>
          </p:cNvPicPr>
          <p:nvPr/>
        </p:nvPicPr>
        <p:blipFill>
          <a:blip r:embed="rId4"/>
          <a:stretch>
            <a:fillRect/>
          </a:stretch>
        </p:blipFill>
        <p:spPr>
          <a:xfrm>
            <a:off x="9458874" y="2075322"/>
            <a:ext cx="256764" cy="256764"/>
          </a:xfrm>
          <a:prstGeom prst="rect">
            <a:avLst/>
          </a:prstGeom>
        </p:spPr>
      </p:pic>
      <p:sp>
        <p:nvSpPr>
          <p:cNvPr id="24" name="Text 17"/>
          <p:cNvSpPr/>
          <p:nvPr/>
        </p:nvSpPr>
        <p:spPr>
          <a:xfrm>
            <a:off x="9349511" y="2606040"/>
            <a:ext cx="2019224" cy="731520"/>
          </a:xfrm>
          <a:prstGeom prst="rect">
            <a:avLst/>
          </a:prstGeom>
          <a:noFill/>
          <a:ln/>
        </p:spPr>
        <p:txBody>
          <a:bodyPr wrap="square" lIns="0" tIns="0" rIns="0" bIns="0" rtlCol="0" anchor="t"/>
          <a:lstStyle/>
          <a:p>
            <a:pPr indent="0" marL="0">
              <a:buNone/>
            </a:pPr>
            <a:r>
              <a:rPr lang="en-US" sz="3800" b="1" dirty="0">
                <a:solidFill>
                  <a:srgbClr val="D97706"/>
                </a:solidFill>
                <a:latin typeface="Arial" pitchFamily="34" charset="0"/>
                <a:ea typeface="Arial" pitchFamily="34" charset="-122"/>
                <a:cs typeface="Arial" pitchFamily="34" charset="-120"/>
              </a:rPr>
              <a:t>~1,000</a:t>
            </a:r>
            <a:endParaRPr lang="en-US" sz="3800" dirty="0"/>
          </a:p>
        </p:txBody>
      </p:sp>
      <p:sp>
        <p:nvSpPr>
          <p:cNvPr id="25" name="Text 18"/>
          <p:cNvSpPr/>
          <p:nvPr/>
        </p:nvSpPr>
        <p:spPr>
          <a:xfrm>
            <a:off x="9349511" y="3383280"/>
            <a:ext cx="2019224" cy="54864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km between the farthest camera sites</a:t>
            </a:r>
            <a:endParaRPr lang="en-US" sz="1400" dirty="0"/>
          </a:p>
        </p:txBody>
      </p:sp>
      <p:sp>
        <p:nvSpPr>
          <p:cNvPr id="26" name="Shape 19"/>
          <p:cNvSpPr/>
          <p:nvPr/>
        </p:nvSpPr>
        <p:spPr>
          <a:xfrm>
            <a:off x="548640" y="4434840"/>
            <a:ext cx="11094415" cy="1508760"/>
          </a:xfrm>
          <a:prstGeom prst="roundRect">
            <a:avLst>
              <a:gd name="adj" fmla="val 7273"/>
            </a:avLst>
          </a:prstGeom>
          <a:solidFill>
            <a:srgbClr val="FFF4EC"/>
          </a:solidFill>
          <a:ln w="9525">
            <a:solidFill>
              <a:srgbClr val="F6D9C4"/>
            </a:solidFill>
            <a:prstDash val="solid"/>
          </a:ln>
        </p:spPr>
      </p:sp>
      <p:sp>
        <p:nvSpPr>
          <p:cNvPr id="27" name="Shape 20"/>
          <p:cNvSpPr/>
          <p:nvPr/>
        </p:nvSpPr>
        <p:spPr>
          <a:xfrm>
            <a:off x="868680" y="4873752"/>
            <a:ext cx="640080" cy="640080"/>
          </a:xfrm>
          <a:prstGeom prst="ellipse">
            <a:avLst/>
          </a:prstGeom>
          <a:solidFill>
            <a:srgbClr val="C2410C"/>
          </a:solidFill>
          <a:ln w="12700">
            <a:solidFill>
              <a:srgbClr val="C2410C"/>
            </a:solidFill>
            <a:prstDash val="solid"/>
          </a:ln>
        </p:spPr>
      </p:sp>
      <p:pic>
        <p:nvPicPr>
          <p:cNvPr id="28" name="Image 4" descr="preencoded.png">    </p:cNvPr>
          <p:cNvPicPr>
            <a:picLocks noChangeAspect="1"/>
          </p:cNvPicPr>
          <p:nvPr/>
        </p:nvPicPr>
        <p:blipFill>
          <a:blip r:embed="rId5"/>
          <a:stretch>
            <a:fillRect/>
          </a:stretch>
        </p:blipFill>
        <p:spPr>
          <a:xfrm>
            <a:off x="1015898" y="5020970"/>
            <a:ext cx="345643" cy="345643"/>
          </a:xfrm>
          <a:prstGeom prst="rect">
            <a:avLst/>
          </a:prstGeom>
        </p:spPr>
      </p:pic>
      <p:sp>
        <p:nvSpPr>
          <p:cNvPr id="29" name="Text 21"/>
          <p:cNvSpPr/>
          <p:nvPr/>
        </p:nvSpPr>
        <p:spPr>
          <a:xfrm>
            <a:off x="1737360" y="4709160"/>
            <a:ext cx="9631375" cy="41148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Today: a stolen car leaves Ahmedabad for Rajkot.</a:t>
            </a:r>
            <a:endParaRPr lang="en-US" sz="2000" dirty="0"/>
          </a:p>
        </p:txBody>
      </p:sp>
      <p:sp>
        <p:nvSpPr>
          <p:cNvPr id="30" name="Text 22"/>
          <p:cNvSpPr/>
          <p:nvPr/>
        </p:nvSpPr>
        <p:spPr>
          <a:xfrm>
            <a:off x="1737360" y="5138928"/>
            <a:ext cx="9631375" cy="6400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Tracing it means phone calls to several departments — each with its own viewer, its own login and its own retention — while the footage ages out and the vehicle moves 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WHAT CHANGES</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From phone calls to one search</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03</a:t>
            </a:r>
            <a:endParaRPr lang="en-US" sz="900" dirty="0"/>
          </a:p>
        </p:txBody>
      </p:sp>
      <p:sp>
        <p:nvSpPr>
          <p:cNvPr id="6" name="Shape 3"/>
          <p:cNvSpPr/>
          <p:nvPr/>
        </p:nvSpPr>
        <p:spPr>
          <a:xfrm>
            <a:off x="548640" y="1691640"/>
            <a:ext cx="5074920" cy="4526280"/>
          </a:xfrm>
          <a:prstGeom prst="roundRect">
            <a:avLst>
              <a:gd name="adj" fmla="val 2424"/>
            </a:avLst>
          </a:prstGeom>
          <a:solidFill>
            <a:srgbClr val="F3F5FA"/>
          </a:solidFill>
          <a:ln w="9525">
            <a:solidFill>
              <a:srgbClr val="DDE3EE"/>
            </a:solidFill>
            <a:prstDash val="solid"/>
          </a:ln>
        </p:spPr>
      </p:sp>
      <p:sp>
        <p:nvSpPr>
          <p:cNvPr id="7" name="Shape 4"/>
          <p:cNvSpPr/>
          <p:nvPr/>
        </p:nvSpPr>
        <p:spPr>
          <a:xfrm>
            <a:off x="6568135" y="1691640"/>
            <a:ext cx="5074920" cy="4526280"/>
          </a:xfrm>
          <a:prstGeom prst="roundRect">
            <a:avLst>
              <a:gd name="adj" fmla="val 2424"/>
            </a:avLst>
          </a:prstGeom>
          <a:solidFill>
            <a:srgbClr val="EAF0FD"/>
          </a:solidFill>
          <a:ln w="9525">
            <a:solidFill>
              <a:srgbClr val="C9D7F7"/>
            </a:solidFill>
            <a:prstDash val="solid"/>
          </a:ln>
        </p:spPr>
      </p:sp>
      <p:sp>
        <p:nvSpPr>
          <p:cNvPr id="8" name="Text 5"/>
          <p:cNvSpPr/>
          <p:nvPr/>
        </p:nvSpPr>
        <p:spPr>
          <a:xfrm>
            <a:off x="868680" y="1874520"/>
            <a:ext cx="2743200" cy="365760"/>
          </a:xfrm>
          <a:prstGeom prst="rect">
            <a:avLst/>
          </a:prstGeom>
          <a:noFill/>
          <a:ln/>
        </p:spPr>
        <p:txBody>
          <a:bodyPr wrap="square" lIns="0" tIns="0" rIns="0" bIns="0" rtlCol="0" anchor="t"/>
          <a:lstStyle/>
          <a:p>
            <a:pPr indent="0" marL="0">
              <a:buNone/>
            </a:pPr>
            <a:r>
              <a:rPr lang="en-US" sz="1800" b="1" dirty="0">
                <a:solidFill>
                  <a:srgbClr val="536079"/>
                </a:solidFill>
                <a:latin typeface="Arial" pitchFamily="34" charset="0"/>
                <a:ea typeface="Arial" pitchFamily="34" charset="-122"/>
                <a:cs typeface="Arial" pitchFamily="34" charset="-120"/>
              </a:rPr>
              <a:t>Today</a:t>
            </a:r>
            <a:endParaRPr lang="en-US" sz="1800" dirty="0"/>
          </a:p>
        </p:txBody>
      </p:sp>
      <p:sp>
        <p:nvSpPr>
          <p:cNvPr id="9" name="Text 6"/>
          <p:cNvSpPr/>
          <p:nvPr/>
        </p:nvSpPr>
        <p:spPr>
          <a:xfrm>
            <a:off x="6888175" y="1874520"/>
            <a:ext cx="2743200" cy="365760"/>
          </a:xfrm>
          <a:prstGeom prst="rect">
            <a:avLst/>
          </a:prstGeom>
          <a:noFill/>
          <a:ln/>
        </p:spPr>
        <p:txBody>
          <a:bodyPr wrap="square" lIns="0" tIns="0" rIns="0" bIns="0" rtlCol="0" anchor="t"/>
          <a:lstStyle/>
          <a:p>
            <a:pPr indent="0" marL="0">
              <a:buNone/>
            </a:pPr>
            <a:r>
              <a:rPr lang="en-US" sz="1800" b="1" dirty="0">
                <a:solidFill>
                  <a:srgbClr val="2456D6"/>
                </a:solidFill>
                <a:latin typeface="Arial" pitchFamily="34" charset="0"/>
                <a:ea typeface="Arial" pitchFamily="34" charset="-122"/>
                <a:cs typeface="Arial" pitchFamily="34" charset="-120"/>
              </a:rPr>
              <a:t>With Sentinel</a:t>
            </a:r>
            <a:endParaRPr lang="en-US" sz="1800" dirty="0"/>
          </a:p>
        </p:txBody>
      </p:sp>
      <p:sp>
        <p:nvSpPr>
          <p:cNvPr id="10" name="Shape 7"/>
          <p:cNvSpPr/>
          <p:nvPr/>
        </p:nvSpPr>
        <p:spPr>
          <a:xfrm>
            <a:off x="868680" y="2423160"/>
            <a:ext cx="347472" cy="347472"/>
          </a:xfrm>
          <a:prstGeom prst="ellipse">
            <a:avLst/>
          </a:prstGeom>
          <a:solidFill>
            <a:srgbClr val="B8C0CE"/>
          </a:solidFill>
          <a:ln w="12700">
            <a:solidFill>
              <a:srgbClr val="B8C0CE"/>
            </a:solidFill>
            <a:prstDash val="solid"/>
          </a:ln>
        </p:spPr>
      </p:sp>
      <p:pic>
        <p:nvPicPr>
          <p:cNvPr id="11" name="Image 0" descr="preencoded.png">    </p:cNvPr>
          <p:cNvPicPr>
            <a:picLocks noChangeAspect="1"/>
          </p:cNvPicPr>
          <p:nvPr/>
        </p:nvPicPr>
        <p:blipFill>
          <a:blip r:embed="rId1"/>
          <a:stretch>
            <a:fillRect/>
          </a:stretch>
        </p:blipFill>
        <p:spPr>
          <a:xfrm>
            <a:off x="948599" y="2503079"/>
            <a:ext cx="187635" cy="187635"/>
          </a:xfrm>
          <a:prstGeom prst="rect">
            <a:avLst/>
          </a:prstGeom>
        </p:spPr>
      </p:pic>
      <p:sp>
        <p:nvSpPr>
          <p:cNvPr id="12" name="Text 8"/>
          <p:cNvSpPr/>
          <p:nvPr/>
        </p:nvSpPr>
        <p:spPr>
          <a:xfrm>
            <a:off x="1371600" y="2404872"/>
            <a:ext cx="3977640" cy="41148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26 systems, 26 logins, no shared map</a:t>
            </a:r>
            <a:endParaRPr lang="en-US" sz="1500" dirty="0"/>
          </a:p>
        </p:txBody>
      </p:sp>
      <p:sp>
        <p:nvSpPr>
          <p:cNvPr id="13" name="Shape 9"/>
          <p:cNvSpPr/>
          <p:nvPr/>
        </p:nvSpPr>
        <p:spPr>
          <a:xfrm>
            <a:off x="6888175" y="2423160"/>
            <a:ext cx="347472" cy="347472"/>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6968094" y="2503079"/>
            <a:ext cx="187635" cy="187635"/>
          </a:xfrm>
          <a:prstGeom prst="rect">
            <a:avLst/>
          </a:prstGeom>
        </p:spPr>
      </p:pic>
      <p:sp>
        <p:nvSpPr>
          <p:cNvPr id="15" name="Text 10"/>
          <p:cNvSpPr/>
          <p:nvPr/>
        </p:nvSpPr>
        <p:spPr>
          <a:xfrm>
            <a:off x="7391095" y="2404872"/>
            <a:ext cx="3977640" cy="41148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Every camera on one map, behind one login</a:t>
            </a:r>
            <a:endParaRPr lang="en-US" sz="1500" dirty="0"/>
          </a:p>
        </p:txBody>
      </p:sp>
      <p:sp>
        <p:nvSpPr>
          <p:cNvPr id="16" name="Shape 11"/>
          <p:cNvSpPr/>
          <p:nvPr/>
        </p:nvSpPr>
        <p:spPr>
          <a:xfrm>
            <a:off x="868680" y="3154680"/>
            <a:ext cx="347472" cy="347472"/>
          </a:xfrm>
          <a:prstGeom prst="ellipse">
            <a:avLst/>
          </a:prstGeom>
          <a:solidFill>
            <a:srgbClr val="B8C0CE"/>
          </a:solidFill>
          <a:ln w="12700">
            <a:solidFill>
              <a:srgbClr val="B8C0CE"/>
            </a:solidFill>
            <a:prstDash val="solid"/>
          </a:ln>
        </p:spPr>
      </p:sp>
      <p:pic>
        <p:nvPicPr>
          <p:cNvPr id="17" name="Image 2" descr="preencoded.png">    </p:cNvPr>
          <p:cNvPicPr>
            <a:picLocks noChangeAspect="1"/>
          </p:cNvPicPr>
          <p:nvPr/>
        </p:nvPicPr>
        <p:blipFill>
          <a:blip r:embed="rId3"/>
          <a:stretch>
            <a:fillRect/>
          </a:stretch>
        </p:blipFill>
        <p:spPr>
          <a:xfrm>
            <a:off x="948599" y="3234599"/>
            <a:ext cx="187635" cy="187635"/>
          </a:xfrm>
          <a:prstGeom prst="rect">
            <a:avLst/>
          </a:prstGeom>
        </p:spPr>
      </p:pic>
      <p:sp>
        <p:nvSpPr>
          <p:cNvPr id="18" name="Text 12"/>
          <p:cNvSpPr/>
          <p:nvPr/>
        </p:nvSpPr>
        <p:spPr>
          <a:xfrm>
            <a:off x="1371600" y="3136392"/>
            <a:ext cx="3977640" cy="41148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A vehicle traced by phoning departments</a:t>
            </a:r>
            <a:endParaRPr lang="en-US" sz="1500" dirty="0"/>
          </a:p>
        </p:txBody>
      </p:sp>
      <p:sp>
        <p:nvSpPr>
          <p:cNvPr id="19" name="Shape 13"/>
          <p:cNvSpPr/>
          <p:nvPr/>
        </p:nvSpPr>
        <p:spPr>
          <a:xfrm>
            <a:off x="6888175" y="3154680"/>
            <a:ext cx="347472" cy="347472"/>
          </a:xfrm>
          <a:prstGeom prst="ellipse">
            <a:avLst/>
          </a:prstGeom>
          <a:solidFill>
            <a:srgbClr val="2456D6"/>
          </a:solidFill>
          <a:ln w="12700">
            <a:solidFill>
              <a:srgbClr val="2456D6"/>
            </a:solidFill>
            <a:prstDash val="solid"/>
          </a:ln>
        </p:spPr>
      </p:sp>
      <p:pic>
        <p:nvPicPr>
          <p:cNvPr id="20" name="Image 3" descr="preencoded.png">    </p:cNvPr>
          <p:cNvPicPr>
            <a:picLocks noChangeAspect="1"/>
          </p:cNvPicPr>
          <p:nvPr/>
        </p:nvPicPr>
        <p:blipFill>
          <a:blip r:embed="rId4"/>
          <a:stretch>
            <a:fillRect/>
          </a:stretch>
        </p:blipFill>
        <p:spPr>
          <a:xfrm>
            <a:off x="6968094" y="3234599"/>
            <a:ext cx="187635" cy="187635"/>
          </a:xfrm>
          <a:prstGeom prst="rect">
            <a:avLst/>
          </a:prstGeom>
        </p:spPr>
      </p:pic>
      <p:sp>
        <p:nvSpPr>
          <p:cNvPr id="21" name="Text 14"/>
          <p:cNvSpPr/>
          <p:nvPr/>
        </p:nvSpPr>
        <p:spPr>
          <a:xfrm>
            <a:off x="7391095" y="3136392"/>
            <a:ext cx="3977640" cy="41148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Type a plate; see its route and evidence in seconds</a:t>
            </a:r>
            <a:endParaRPr lang="en-US" sz="1500" dirty="0"/>
          </a:p>
        </p:txBody>
      </p:sp>
      <p:sp>
        <p:nvSpPr>
          <p:cNvPr id="22" name="Shape 15"/>
          <p:cNvSpPr/>
          <p:nvPr/>
        </p:nvSpPr>
        <p:spPr>
          <a:xfrm>
            <a:off x="868680" y="3886200"/>
            <a:ext cx="347472" cy="347472"/>
          </a:xfrm>
          <a:prstGeom prst="ellipse">
            <a:avLst/>
          </a:prstGeom>
          <a:solidFill>
            <a:srgbClr val="B8C0CE"/>
          </a:solidFill>
          <a:ln w="12700">
            <a:solidFill>
              <a:srgbClr val="B8C0CE"/>
            </a:solidFill>
            <a:prstDash val="solid"/>
          </a:ln>
        </p:spPr>
      </p:sp>
      <p:pic>
        <p:nvPicPr>
          <p:cNvPr id="23" name="Image 4" descr="preencoded.png">    </p:cNvPr>
          <p:cNvPicPr>
            <a:picLocks noChangeAspect="1"/>
          </p:cNvPicPr>
          <p:nvPr/>
        </p:nvPicPr>
        <p:blipFill>
          <a:blip r:embed="rId5"/>
          <a:stretch>
            <a:fillRect/>
          </a:stretch>
        </p:blipFill>
        <p:spPr>
          <a:xfrm>
            <a:off x="948599" y="3966119"/>
            <a:ext cx="187635" cy="187635"/>
          </a:xfrm>
          <a:prstGeom prst="rect">
            <a:avLst/>
          </a:prstGeom>
        </p:spPr>
      </p:pic>
      <p:sp>
        <p:nvSpPr>
          <p:cNvPr id="24" name="Text 16"/>
          <p:cNvSpPr/>
          <p:nvPr/>
        </p:nvSpPr>
        <p:spPr>
          <a:xfrm>
            <a:off x="1371600" y="3867912"/>
            <a:ext cx="3977640" cy="41148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Watchlists checked by hand, if at all</a:t>
            </a:r>
            <a:endParaRPr lang="en-US" sz="1500" dirty="0"/>
          </a:p>
        </p:txBody>
      </p:sp>
      <p:sp>
        <p:nvSpPr>
          <p:cNvPr id="25" name="Shape 17"/>
          <p:cNvSpPr/>
          <p:nvPr/>
        </p:nvSpPr>
        <p:spPr>
          <a:xfrm>
            <a:off x="6888175" y="3886200"/>
            <a:ext cx="347472" cy="347472"/>
          </a:xfrm>
          <a:prstGeom prst="ellipse">
            <a:avLst/>
          </a:prstGeom>
          <a:solidFill>
            <a:srgbClr val="2456D6"/>
          </a:solidFill>
          <a:ln w="12700">
            <a:solidFill>
              <a:srgbClr val="2456D6"/>
            </a:solidFill>
            <a:prstDash val="solid"/>
          </a:ln>
        </p:spPr>
      </p:sp>
      <p:pic>
        <p:nvPicPr>
          <p:cNvPr id="26" name="Image 5" descr="preencoded.png">    </p:cNvPr>
          <p:cNvPicPr>
            <a:picLocks noChangeAspect="1"/>
          </p:cNvPicPr>
          <p:nvPr/>
        </p:nvPicPr>
        <p:blipFill>
          <a:blip r:embed="rId6"/>
          <a:stretch>
            <a:fillRect/>
          </a:stretch>
        </p:blipFill>
        <p:spPr>
          <a:xfrm>
            <a:off x="6968094" y="3966119"/>
            <a:ext cx="187635" cy="187635"/>
          </a:xfrm>
          <a:prstGeom prst="rect">
            <a:avLst/>
          </a:prstGeom>
        </p:spPr>
      </p:pic>
      <p:sp>
        <p:nvSpPr>
          <p:cNvPr id="27" name="Text 18"/>
          <p:cNvSpPr/>
          <p:nvPr/>
        </p:nvSpPr>
        <p:spPr>
          <a:xfrm>
            <a:off x="7391095" y="3867912"/>
            <a:ext cx="3977640" cy="41148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Every plate read is checked automatically, around the clock</a:t>
            </a:r>
            <a:endParaRPr lang="en-US" sz="1500" dirty="0"/>
          </a:p>
        </p:txBody>
      </p:sp>
      <p:sp>
        <p:nvSpPr>
          <p:cNvPr id="28" name="Shape 19"/>
          <p:cNvSpPr/>
          <p:nvPr/>
        </p:nvSpPr>
        <p:spPr>
          <a:xfrm>
            <a:off x="868680" y="4617720"/>
            <a:ext cx="347472" cy="347472"/>
          </a:xfrm>
          <a:prstGeom prst="ellipse">
            <a:avLst/>
          </a:prstGeom>
          <a:solidFill>
            <a:srgbClr val="B8C0CE"/>
          </a:solidFill>
          <a:ln w="12700">
            <a:solidFill>
              <a:srgbClr val="B8C0CE"/>
            </a:solidFill>
            <a:prstDash val="solid"/>
          </a:ln>
        </p:spPr>
      </p:sp>
      <p:pic>
        <p:nvPicPr>
          <p:cNvPr id="29" name="Image 6" descr="preencoded.png">    </p:cNvPr>
          <p:cNvPicPr>
            <a:picLocks noChangeAspect="1"/>
          </p:cNvPicPr>
          <p:nvPr/>
        </p:nvPicPr>
        <p:blipFill>
          <a:blip r:embed="rId7"/>
          <a:stretch>
            <a:fillRect/>
          </a:stretch>
        </p:blipFill>
        <p:spPr>
          <a:xfrm>
            <a:off x="948599" y="4697639"/>
            <a:ext cx="187635" cy="187635"/>
          </a:xfrm>
          <a:prstGeom prst="rect">
            <a:avLst/>
          </a:prstGeom>
        </p:spPr>
      </p:pic>
      <p:sp>
        <p:nvSpPr>
          <p:cNvPr id="30" name="Text 20"/>
          <p:cNvSpPr/>
          <p:nvPr/>
        </p:nvSpPr>
        <p:spPr>
          <a:xfrm>
            <a:off x="1371600" y="4599432"/>
            <a:ext cx="3977640" cy="41148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Footage ages out before anyone asks</a:t>
            </a:r>
            <a:endParaRPr lang="en-US" sz="1500" dirty="0"/>
          </a:p>
        </p:txBody>
      </p:sp>
      <p:sp>
        <p:nvSpPr>
          <p:cNvPr id="31" name="Shape 21"/>
          <p:cNvSpPr/>
          <p:nvPr/>
        </p:nvSpPr>
        <p:spPr>
          <a:xfrm>
            <a:off x="6888175" y="4617720"/>
            <a:ext cx="347472" cy="347472"/>
          </a:xfrm>
          <a:prstGeom prst="ellipse">
            <a:avLst/>
          </a:prstGeom>
          <a:solidFill>
            <a:srgbClr val="2456D6"/>
          </a:solidFill>
          <a:ln w="12700">
            <a:solidFill>
              <a:srgbClr val="2456D6"/>
            </a:solidFill>
            <a:prstDash val="solid"/>
          </a:ln>
        </p:spPr>
      </p:sp>
      <p:pic>
        <p:nvPicPr>
          <p:cNvPr id="32" name="Image 7" descr="preencoded.png">    </p:cNvPr>
          <p:cNvPicPr>
            <a:picLocks noChangeAspect="1"/>
          </p:cNvPicPr>
          <p:nvPr/>
        </p:nvPicPr>
        <p:blipFill>
          <a:blip r:embed="rId8"/>
          <a:stretch>
            <a:fillRect/>
          </a:stretch>
        </p:blipFill>
        <p:spPr>
          <a:xfrm>
            <a:off x="6968094" y="4697639"/>
            <a:ext cx="187635" cy="187635"/>
          </a:xfrm>
          <a:prstGeom prst="rect">
            <a:avLst/>
          </a:prstGeom>
        </p:spPr>
      </p:pic>
      <p:sp>
        <p:nvSpPr>
          <p:cNvPr id="33" name="Text 22"/>
          <p:cNvSpPr/>
          <p:nvPr/>
        </p:nvSpPr>
        <p:spPr>
          <a:xfrm>
            <a:off x="7391095" y="4599432"/>
            <a:ext cx="3977640" cy="41148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Sightings stay searchable, with the frame as evidence</a:t>
            </a:r>
            <a:endParaRPr lang="en-US" sz="1500" dirty="0"/>
          </a:p>
        </p:txBody>
      </p:sp>
      <p:sp>
        <p:nvSpPr>
          <p:cNvPr id="34" name="Shape 23"/>
          <p:cNvSpPr/>
          <p:nvPr/>
        </p:nvSpPr>
        <p:spPr>
          <a:xfrm>
            <a:off x="868680" y="5349240"/>
            <a:ext cx="347472" cy="347472"/>
          </a:xfrm>
          <a:prstGeom prst="ellipse">
            <a:avLst/>
          </a:prstGeom>
          <a:solidFill>
            <a:srgbClr val="B8C0CE"/>
          </a:solidFill>
          <a:ln w="12700">
            <a:solidFill>
              <a:srgbClr val="B8C0CE"/>
            </a:solidFill>
            <a:prstDash val="solid"/>
          </a:ln>
        </p:spPr>
      </p:sp>
      <p:pic>
        <p:nvPicPr>
          <p:cNvPr id="35" name="Image 8" descr="preencoded.png">    </p:cNvPr>
          <p:cNvPicPr>
            <a:picLocks noChangeAspect="1"/>
          </p:cNvPicPr>
          <p:nvPr/>
        </p:nvPicPr>
        <p:blipFill>
          <a:blip r:embed="rId9"/>
          <a:stretch>
            <a:fillRect/>
          </a:stretch>
        </p:blipFill>
        <p:spPr>
          <a:xfrm>
            <a:off x="948599" y="5429159"/>
            <a:ext cx="187635" cy="187635"/>
          </a:xfrm>
          <a:prstGeom prst="rect">
            <a:avLst/>
          </a:prstGeom>
        </p:spPr>
      </p:pic>
      <p:sp>
        <p:nvSpPr>
          <p:cNvPr id="36" name="Text 24"/>
          <p:cNvSpPr/>
          <p:nvPr/>
        </p:nvSpPr>
        <p:spPr>
          <a:xfrm>
            <a:off x="1371600" y="5330952"/>
            <a:ext cx="3977640" cy="41148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Integration means replacing systems</a:t>
            </a:r>
            <a:endParaRPr lang="en-US" sz="1500" dirty="0"/>
          </a:p>
        </p:txBody>
      </p:sp>
      <p:sp>
        <p:nvSpPr>
          <p:cNvPr id="37" name="Shape 25"/>
          <p:cNvSpPr/>
          <p:nvPr/>
        </p:nvSpPr>
        <p:spPr>
          <a:xfrm>
            <a:off x="6888175" y="5349240"/>
            <a:ext cx="347472" cy="347472"/>
          </a:xfrm>
          <a:prstGeom prst="ellipse">
            <a:avLst/>
          </a:prstGeom>
          <a:solidFill>
            <a:srgbClr val="2456D6"/>
          </a:solidFill>
          <a:ln w="12700">
            <a:solidFill>
              <a:srgbClr val="2456D6"/>
            </a:solidFill>
            <a:prstDash val="solid"/>
          </a:ln>
        </p:spPr>
      </p:sp>
      <p:pic>
        <p:nvPicPr>
          <p:cNvPr id="38" name="Image 9" descr="preencoded.png">    </p:cNvPr>
          <p:cNvPicPr>
            <a:picLocks noChangeAspect="1"/>
          </p:cNvPicPr>
          <p:nvPr/>
        </p:nvPicPr>
        <p:blipFill>
          <a:blip r:embed="rId10"/>
          <a:stretch>
            <a:fillRect/>
          </a:stretch>
        </p:blipFill>
        <p:spPr>
          <a:xfrm>
            <a:off x="6968094" y="5429159"/>
            <a:ext cx="187635" cy="187635"/>
          </a:xfrm>
          <a:prstGeom prst="rect">
            <a:avLst/>
          </a:prstGeom>
        </p:spPr>
      </p:pic>
      <p:sp>
        <p:nvSpPr>
          <p:cNvPr id="39" name="Text 26"/>
          <p:cNvSpPr/>
          <p:nvPr/>
        </p:nvSpPr>
        <p:spPr>
          <a:xfrm>
            <a:off x="7391095" y="5330952"/>
            <a:ext cx="3977640" cy="41148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Works with the cameras and VMS already installed</a:t>
            </a:r>
            <a:endParaRPr lang="en-US" sz="1500" dirty="0"/>
          </a:p>
        </p:txBody>
      </p:sp>
      <p:sp>
        <p:nvSpPr>
          <p:cNvPr id="40" name="Shape 27"/>
          <p:cNvSpPr/>
          <p:nvPr/>
        </p:nvSpPr>
        <p:spPr>
          <a:xfrm>
            <a:off x="5821528" y="3685032"/>
            <a:ext cx="548640" cy="548640"/>
          </a:xfrm>
          <a:prstGeom prst="ellipse">
            <a:avLst/>
          </a:prstGeom>
          <a:solidFill>
            <a:srgbClr val="D97706"/>
          </a:solidFill>
          <a:ln w="12700">
            <a:solidFill>
              <a:srgbClr val="D97706"/>
            </a:solidFill>
            <a:prstDash val="solid"/>
          </a:ln>
        </p:spPr>
      </p:sp>
      <p:pic>
        <p:nvPicPr>
          <p:cNvPr id="41" name="Image 10" descr="preencoded.png">    </p:cNvPr>
          <p:cNvPicPr>
            <a:picLocks noChangeAspect="1"/>
          </p:cNvPicPr>
          <p:nvPr/>
        </p:nvPicPr>
        <p:blipFill>
          <a:blip r:embed="rId11"/>
          <a:stretch>
            <a:fillRect/>
          </a:stretch>
        </p:blipFill>
        <p:spPr>
          <a:xfrm>
            <a:off x="5947715" y="3811219"/>
            <a:ext cx="296266" cy="29626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PLATFORM</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One platform, three jobs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04</a:t>
            </a:r>
            <a:endParaRPr lang="en-US" sz="900" dirty="0"/>
          </a:p>
        </p:txBody>
      </p:sp>
      <p:sp>
        <p:nvSpPr>
          <p:cNvPr id="6" name="Shape 3"/>
          <p:cNvSpPr/>
          <p:nvPr/>
        </p:nvSpPr>
        <p:spPr>
          <a:xfrm>
            <a:off x="548640"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7" name="Shape 4"/>
          <p:cNvSpPr/>
          <p:nvPr/>
        </p:nvSpPr>
        <p:spPr>
          <a:xfrm>
            <a:off x="914400" y="2011680"/>
            <a:ext cx="777240" cy="777240"/>
          </a:xfrm>
          <a:prstGeom prst="ellipse">
            <a:avLst/>
          </a:prstGeom>
          <a:solidFill>
            <a:srgbClr val="2456D6"/>
          </a:solidFill>
          <a:ln w="12700">
            <a:solidFill>
              <a:srgbClr val="2456D6"/>
            </a:solidFill>
            <a:prstDash val="solid"/>
          </a:ln>
        </p:spPr>
      </p:sp>
      <p:pic>
        <p:nvPicPr>
          <p:cNvPr id="8" name="Image 0" descr="preencoded.png">    </p:cNvPr>
          <p:cNvPicPr>
            <a:picLocks noChangeAspect="1"/>
          </p:cNvPicPr>
          <p:nvPr/>
        </p:nvPicPr>
        <p:blipFill>
          <a:blip r:embed="rId1"/>
          <a:stretch>
            <a:fillRect/>
          </a:stretch>
        </p:blipFill>
        <p:spPr>
          <a:xfrm>
            <a:off x="1093165" y="2190445"/>
            <a:ext cx="419710" cy="419710"/>
          </a:xfrm>
          <a:prstGeom prst="rect">
            <a:avLst/>
          </a:prstGeom>
        </p:spPr>
      </p:pic>
      <p:sp>
        <p:nvSpPr>
          <p:cNvPr id="9" name="Text 5"/>
          <p:cNvSpPr/>
          <p:nvPr/>
        </p:nvSpPr>
        <p:spPr>
          <a:xfrm>
            <a:off x="914400"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See</a:t>
            </a:r>
            <a:endParaRPr lang="en-US" sz="3000" dirty="0"/>
          </a:p>
        </p:txBody>
      </p:sp>
      <p:sp>
        <p:nvSpPr>
          <p:cNvPr id="10" name="Text 6"/>
          <p:cNvSpPr/>
          <p:nvPr/>
        </p:nvSpPr>
        <p:spPr>
          <a:xfrm>
            <a:off x="914400"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Every camera, from every department, on one map and one live wall — with its health at a glance.</a:t>
            </a:r>
            <a:endParaRPr lang="en-US" sz="1500" dirty="0"/>
          </a:p>
        </p:txBody>
      </p:sp>
      <p:sp>
        <p:nvSpPr>
          <p:cNvPr id="11" name="Text 7"/>
          <p:cNvSpPr/>
          <p:nvPr/>
        </p:nvSpPr>
        <p:spPr>
          <a:xfrm>
            <a:off x="914400"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control rooms</a:t>
            </a:r>
            <a:endParaRPr lang="en-US" sz="1200" dirty="0"/>
          </a:p>
        </p:txBody>
      </p:sp>
      <p:sp>
        <p:nvSpPr>
          <p:cNvPr id="12" name="Shape 8"/>
          <p:cNvSpPr/>
          <p:nvPr/>
        </p:nvSpPr>
        <p:spPr>
          <a:xfrm>
            <a:off x="4353458"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4719218" y="2011680"/>
            <a:ext cx="777240" cy="77724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4897984" y="2190445"/>
            <a:ext cx="419710" cy="419710"/>
          </a:xfrm>
          <a:prstGeom prst="rect">
            <a:avLst/>
          </a:prstGeom>
        </p:spPr>
      </p:pic>
      <p:sp>
        <p:nvSpPr>
          <p:cNvPr id="15" name="Text 10"/>
          <p:cNvSpPr/>
          <p:nvPr/>
        </p:nvSpPr>
        <p:spPr>
          <a:xfrm>
            <a:off x="4719218"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Find</a:t>
            </a:r>
            <a:endParaRPr lang="en-US" sz="3000" dirty="0"/>
          </a:p>
        </p:txBody>
      </p:sp>
      <p:sp>
        <p:nvSpPr>
          <p:cNvPr id="16" name="Text 11"/>
          <p:cNvSpPr/>
          <p:nvPr/>
        </p:nvSpPr>
        <p:spPr>
          <a:xfrm>
            <a:off x="4719218"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Any vehicle by its registration number: its route, the evidence at every stop, and a signed report.</a:t>
            </a:r>
            <a:endParaRPr lang="en-US" sz="1500" dirty="0"/>
          </a:p>
        </p:txBody>
      </p:sp>
      <p:sp>
        <p:nvSpPr>
          <p:cNvPr id="17" name="Text 12"/>
          <p:cNvSpPr/>
          <p:nvPr/>
        </p:nvSpPr>
        <p:spPr>
          <a:xfrm>
            <a:off x="4719218"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investigators</a:t>
            </a:r>
            <a:endParaRPr lang="en-US" sz="1200" dirty="0"/>
          </a:p>
        </p:txBody>
      </p:sp>
      <p:sp>
        <p:nvSpPr>
          <p:cNvPr id="18" name="Shape 13"/>
          <p:cNvSpPr/>
          <p:nvPr/>
        </p:nvSpPr>
        <p:spPr>
          <a:xfrm>
            <a:off x="8158277"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9" name="Shape 14"/>
          <p:cNvSpPr/>
          <p:nvPr/>
        </p:nvSpPr>
        <p:spPr>
          <a:xfrm>
            <a:off x="8524037" y="2011680"/>
            <a:ext cx="777240" cy="777240"/>
          </a:xfrm>
          <a:prstGeom prst="ellipse">
            <a:avLst/>
          </a:prstGeom>
          <a:solidFill>
            <a:srgbClr val="D97706"/>
          </a:solidFill>
          <a:ln w="12700">
            <a:solidFill>
              <a:srgbClr val="D97706"/>
            </a:solidFill>
            <a:prstDash val="solid"/>
          </a:ln>
        </p:spPr>
      </p:sp>
      <p:pic>
        <p:nvPicPr>
          <p:cNvPr id="20" name="Image 2" descr="preencoded.png">    </p:cNvPr>
          <p:cNvPicPr>
            <a:picLocks noChangeAspect="1"/>
          </p:cNvPicPr>
          <p:nvPr/>
        </p:nvPicPr>
        <p:blipFill>
          <a:blip r:embed="rId3"/>
          <a:stretch>
            <a:fillRect/>
          </a:stretch>
        </p:blipFill>
        <p:spPr>
          <a:xfrm>
            <a:off x="8702802" y="2190445"/>
            <a:ext cx="419710" cy="419710"/>
          </a:xfrm>
          <a:prstGeom prst="rect">
            <a:avLst/>
          </a:prstGeom>
        </p:spPr>
      </p:pic>
      <p:sp>
        <p:nvSpPr>
          <p:cNvPr id="21" name="Text 15"/>
          <p:cNvSpPr/>
          <p:nvPr/>
        </p:nvSpPr>
        <p:spPr>
          <a:xfrm>
            <a:off x="8524037"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Alert</a:t>
            </a:r>
            <a:endParaRPr lang="en-US" sz="3000" dirty="0"/>
          </a:p>
        </p:txBody>
      </p:sp>
      <p:sp>
        <p:nvSpPr>
          <p:cNvPr id="22" name="Text 16"/>
          <p:cNvSpPr/>
          <p:nvPr/>
        </p:nvSpPr>
        <p:spPr>
          <a:xfrm>
            <a:off x="8524037"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Stolen, wanted and missing vehicles flagged the moment any camera reads them — on every console and phone.</a:t>
            </a:r>
            <a:endParaRPr lang="en-US" sz="1500" dirty="0"/>
          </a:p>
        </p:txBody>
      </p:sp>
      <p:sp>
        <p:nvSpPr>
          <p:cNvPr id="23" name="Text 17"/>
          <p:cNvSpPr/>
          <p:nvPr/>
        </p:nvSpPr>
        <p:spPr>
          <a:xfrm>
            <a:off x="8524037"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patrol and command</a:t>
            </a:r>
            <a:endParaRPr lang="en-US" sz="1200" dirty="0"/>
          </a:p>
        </p:txBody>
      </p:sp>
      <p:sp>
        <p:nvSpPr>
          <p:cNvPr id="24" name="Shape 18"/>
          <p:cNvSpPr/>
          <p:nvPr/>
        </p:nvSpPr>
        <p:spPr>
          <a:xfrm>
            <a:off x="548640" y="5669280"/>
            <a:ext cx="420624" cy="420624"/>
          </a:xfrm>
          <a:prstGeom prst="ellipse">
            <a:avLst/>
          </a:prstGeom>
          <a:solidFill>
            <a:srgbClr val="0F766E"/>
          </a:solidFill>
          <a:ln w="12700">
            <a:solidFill>
              <a:srgbClr val="0F766E"/>
            </a:solidFill>
            <a:prstDash val="solid"/>
          </a:ln>
        </p:spPr>
      </p:sp>
      <p:pic>
        <p:nvPicPr>
          <p:cNvPr id="25" name="Image 3" descr="preencoded.png">    </p:cNvPr>
          <p:cNvPicPr>
            <a:picLocks noChangeAspect="1"/>
          </p:cNvPicPr>
          <p:nvPr/>
        </p:nvPicPr>
        <p:blipFill>
          <a:blip r:embed="rId4"/>
          <a:stretch>
            <a:fillRect/>
          </a:stretch>
        </p:blipFill>
        <p:spPr>
          <a:xfrm>
            <a:off x="645384" y="5766024"/>
            <a:ext cx="227137" cy="227137"/>
          </a:xfrm>
          <a:prstGeom prst="rect">
            <a:avLst/>
          </a:prstGeom>
        </p:spPr>
      </p:pic>
      <p:sp>
        <p:nvSpPr>
          <p:cNvPr id="26" name="Text 19"/>
          <p:cNvSpPr/>
          <p:nvPr/>
        </p:nvSpPr>
        <p:spPr>
          <a:xfrm>
            <a:off x="1143000" y="573328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Plus people counting, zone intrusion and camera-tamper alerts — in English, Hindi and Gujarati.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WHO IT SERVES</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Built for everyone who keeps Gujarat safe</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05</a:t>
            </a:r>
            <a:endParaRPr lang="en-US" sz="900" dirty="0"/>
          </a:p>
        </p:txBody>
      </p:sp>
      <p:sp>
        <p:nvSpPr>
          <p:cNvPr id="6" name="Shape 3"/>
          <p:cNvSpPr/>
          <p:nvPr/>
        </p:nvSpPr>
        <p:spPr>
          <a:xfrm>
            <a:off x="548640" y="173736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7" name="Shape 4"/>
          <p:cNvSpPr/>
          <p:nvPr/>
        </p:nvSpPr>
        <p:spPr>
          <a:xfrm>
            <a:off x="822960" y="2011680"/>
            <a:ext cx="548640" cy="548640"/>
          </a:xfrm>
          <a:prstGeom prst="ellipse">
            <a:avLst/>
          </a:prstGeom>
          <a:solidFill>
            <a:srgbClr val="2456D6"/>
          </a:solidFill>
          <a:ln w="12700">
            <a:solidFill>
              <a:srgbClr val="2456D6"/>
            </a:solidFill>
            <a:prstDash val="solid"/>
          </a:ln>
        </p:spPr>
      </p:sp>
      <p:pic>
        <p:nvPicPr>
          <p:cNvPr id="8" name="Image 0" descr="preencoded.png">    </p:cNvPr>
          <p:cNvPicPr>
            <a:picLocks noChangeAspect="1"/>
          </p:cNvPicPr>
          <p:nvPr/>
        </p:nvPicPr>
        <p:blipFill>
          <a:blip r:embed="rId1"/>
          <a:stretch>
            <a:fillRect/>
          </a:stretch>
        </p:blipFill>
        <p:spPr>
          <a:xfrm>
            <a:off x="949147" y="2137867"/>
            <a:ext cx="296266" cy="296266"/>
          </a:xfrm>
          <a:prstGeom prst="rect">
            <a:avLst/>
          </a:prstGeom>
        </p:spPr>
      </p:pic>
      <p:sp>
        <p:nvSpPr>
          <p:cNvPr id="9" name="Text 5"/>
          <p:cNvSpPr/>
          <p:nvPr/>
        </p:nvSpPr>
        <p:spPr>
          <a:xfrm>
            <a:off x="822960" y="267004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Control-room operator</a:t>
            </a:r>
            <a:endParaRPr lang="en-US" sz="1600" dirty="0"/>
          </a:p>
        </p:txBody>
      </p:sp>
      <p:sp>
        <p:nvSpPr>
          <p:cNvPr id="10" name="Text 6"/>
          <p:cNvSpPr/>
          <p:nvPr/>
        </p:nvSpPr>
        <p:spPr>
          <a:xfrm>
            <a:off x="822960" y="303580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live wall for every department’s cameras; alerts arrive with a sound, on screen.</a:t>
            </a:r>
            <a:endParaRPr lang="en-US" sz="1300" dirty="0"/>
          </a:p>
        </p:txBody>
      </p:sp>
      <p:sp>
        <p:nvSpPr>
          <p:cNvPr id="11" name="Shape 7"/>
          <p:cNvSpPr/>
          <p:nvPr/>
        </p:nvSpPr>
        <p:spPr>
          <a:xfrm>
            <a:off x="4206240" y="173736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Shape 8"/>
          <p:cNvSpPr/>
          <p:nvPr/>
        </p:nvSpPr>
        <p:spPr>
          <a:xfrm>
            <a:off x="4480560" y="2011680"/>
            <a:ext cx="548640" cy="548640"/>
          </a:xfrm>
          <a:prstGeom prst="ellipse">
            <a:avLst/>
          </a:prstGeom>
          <a:solidFill>
            <a:srgbClr val="2456D6"/>
          </a:solidFill>
          <a:ln w="12700">
            <a:solidFill>
              <a:srgbClr val="2456D6"/>
            </a:solidFill>
            <a:prstDash val="solid"/>
          </a:ln>
        </p:spPr>
      </p:sp>
      <p:pic>
        <p:nvPicPr>
          <p:cNvPr id="13" name="Image 1" descr="preencoded.png">    </p:cNvPr>
          <p:cNvPicPr>
            <a:picLocks noChangeAspect="1"/>
          </p:cNvPicPr>
          <p:nvPr/>
        </p:nvPicPr>
        <p:blipFill>
          <a:blip r:embed="rId2"/>
          <a:stretch>
            <a:fillRect/>
          </a:stretch>
        </p:blipFill>
        <p:spPr>
          <a:xfrm>
            <a:off x="4606747" y="2137867"/>
            <a:ext cx="296266" cy="296266"/>
          </a:xfrm>
          <a:prstGeom prst="rect">
            <a:avLst/>
          </a:prstGeom>
        </p:spPr>
      </p:pic>
      <p:sp>
        <p:nvSpPr>
          <p:cNvPr id="14" name="Text 9"/>
          <p:cNvSpPr/>
          <p:nvPr/>
        </p:nvSpPr>
        <p:spPr>
          <a:xfrm>
            <a:off x="4480560" y="267004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Investigating officer</a:t>
            </a:r>
            <a:endParaRPr lang="en-US" sz="1600" dirty="0"/>
          </a:p>
        </p:txBody>
      </p:sp>
      <p:sp>
        <p:nvSpPr>
          <p:cNvPr id="15" name="Text 10"/>
          <p:cNvSpPr/>
          <p:nvPr/>
        </p:nvSpPr>
        <p:spPr>
          <a:xfrm>
            <a:off x="4480560" y="303580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Route, timestamps and evidence frames for any plate, exported as a case-ready report.</a:t>
            </a:r>
            <a:endParaRPr lang="en-US" sz="1300" dirty="0"/>
          </a:p>
        </p:txBody>
      </p:sp>
      <p:sp>
        <p:nvSpPr>
          <p:cNvPr id="16" name="Shape 11"/>
          <p:cNvSpPr/>
          <p:nvPr/>
        </p:nvSpPr>
        <p:spPr>
          <a:xfrm>
            <a:off x="548640" y="397764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Shape 12"/>
          <p:cNvSpPr/>
          <p:nvPr/>
        </p:nvSpPr>
        <p:spPr>
          <a:xfrm>
            <a:off x="822960" y="4251960"/>
            <a:ext cx="548640" cy="548640"/>
          </a:xfrm>
          <a:prstGeom prst="ellipse">
            <a:avLst/>
          </a:prstGeom>
          <a:solidFill>
            <a:srgbClr val="D97706"/>
          </a:solidFill>
          <a:ln w="12700">
            <a:solidFill>
              <a:srgbClr val="D97706"/>
            </a:solidFill>
            <a:prstDash val="solid"/>
          </a:ln>
        </p:spPr>
      </p:sp>
      <p:pic>
        <p:nvPicPr>
          <p:cNvPr id="18" name="Image 2" descr="preencoded.png">    </p:cNvPr>
          <p:cNvPicPr>
            <a:picLocks noChangeAspect="1"/>
          </p:cNvPicPr>
          <p:nvPr/>
        </p:nvPicPr>
        <p:blipFill>
          <a:blip r:embed="rId3"/>
          <a:stretch>
            <a:fillRect/>
          </a:stretch>
        </p:blipFill>
        <p:spPr>
          <a:xfrm>
            <a:off x="949147" y="4378147"/>
            <a:ext cx="296266" cy="296266"/>
          </a:xfrm>
          <a:prstGeom prst="rect">
            <a:avLst/>
          </a:prstGeom>
        </p:spPr>
      </p:pic>
      <p:sp>
        <p:nvSpPr>
          <p:cNvPr id="19" name="Text 13"/>
          <p:cNvSpPr/>
          <p:nvPr/>
        </p:nvSpPr>
        <p:spPr>
          <a:xfrm>
            <a:off x="822960" y="491032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Officer on patrol</a:t>
            </a:r>
            <a:endParaRPr lang="en-US" sz="1600" dirty="0"/>
          </a:p>
        </p:txBody>
      </p:sp>
      <p:sp>
        <p:nvSpPr>
          <p:cNvPr id="20" name="Text 14"/>
          <p:cNvSpPr/>
          <p:nvPr/>
        </p:nvSpPr>
        <p:spPr>
          <a:xfrm>
            <a:off x="822960" y="527608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Alerts and plate lookup on a phone, with an offline mode for weak signal.</a:t>
            </a:r>
            <a:endParaRPr lang="en-US" sz="1300" dirty="0"/>
          </a:p>
        </p:txBody>
      </p:sp>
      <p:sp>
        <p:nvSpPr>
          <p:cNvPr id="21" name="Shape 15"/>
          <p:cNvSpPr/>
          <p:nvPr/>
        </p:nvSpPr>
        <p:spPr>
          <a:xfrm>
            <a:off x="4206240" y="397764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2" name="Shape 16"/>
          <p:cNvSpPr/>
          <p:nvPr/>
        </p:nvSpPr>
        <p:spPr>
          <a:xfrm>
            <a:off x="4480560" y="4251960"/>
            <a:ext cx="548640" cy="548640"/>
          </a:xfrm>
          <a:prstGeom prst="ellipse">
            <a:avLst/>
          </a:prstGeom>
          <a:solidFill>
            <a:srgbClr val="2456D6"/>
          </a:solidFill>
          <a:ln w="12700">
            <a:solidFill>
              <a:srgbClr val="2456D6"/>
            </a:solidFill>
            <a:prstDash val="solid"/>
          </a:ln>
        </p:spPr>
      </p:sp>
      <p:pic>
        <p:nvPicPr>
          <p:cNvPr id="23" name="Image 3" descr="preencoded.png">    </p:cNvPr>
          <p:cNvPicPr>
            <a:picLocks noChangeAspect="1"/>
          </p:cNvPicPr>
          <p:nvPr/>
        </p:nvPicPr>
        <p:blipFill>
          <a:blip r:embed="rId4"/>
          <a:stretch>
            <a:fillRect/>
          </a:stretch>
        </p:blipFill>
        <p:spPr>
          <a:xfrm>
            <a:off x="4606747" y="4378147"/>
            <a:ext cx="296266" cy="296266"/>
          </a:xfrm>
          <a:prstGeom prst="rect">
            <a:avLst/>
          </a:prstGeom>
        </p:spPr>
      </p:pic>
      <p:sp>
        <p:nvSpPr>
          <p:cNvPr id="24" name="Text 17"/>
          <p:cNvSpPr/>
          <p:nvPr/>
        </p:nvSpPr>
        <p:spPr>
          <a:xfrm>
            <a:off x="4480560" y="491032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Leadership</a:t>
            </a:r>
            <a:endParaRPr lang="en-US" sz="1600" dirty="0"/>
          </a:p>
        </p:txBody>
      </p:sp>
      <p:sp>
        <p:nvSpPr>
          <p:cNvPr id="25" name="Text 18"/>
          <p:cNvSpPr/>
          <p:nvPr/>
        </p:nvSpPr>
        <p:spPr>
          <a:xfrm>
            <a:off x="4480560" y="527608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statewide view of the camera network: what works, what is down, where gaps are.</a:t>
            </a:r>
            <a:endParaRPr lang="en-US" sz="1300" dirty="0"/>
          </a:p>
        </p:txBody>
      </p:sp>
      <p:sp>
        <p:nvSpPr>
          <p:cNvPr id="26" name="Shape 19"/>
          <p:cNvSpPr/>
          <p:nvPr/>
        </p:nvSpPr>
        <p:spPr>
          <a:xfrm>
            <a:off x="8305250" y="1563624"/>
            <a:ext cx="2368541" cy="4828032"/>
          </a:xfrm>
          <a:prstGeom prst="roundRect">
            <a:avLst>
              <a:gd name="adj" fmla="val 11582"/>
            </a:avLst>
          </a:prstGeom>
          <a:solidFill>
            <a:srgbClr val="0F1B33"/>
          </a:solidFill>
          <a:ln w="12700">
            <a:solidFill>
              <a:srgbClr val="0F1B33"/>
            </a:solidFill>
            <a:prstDash val="solid"/>
          </a:ln>
          <a:effectLst>
            <a:outerShdw sx="100000" sy="100000" kx="0" ky="0" algn="bl" rotWithShape="0" blurRad="279400" dist="101600" dir="5400000">
              <a:srgbClr val="1F2A44">
                <a:alpha val="22000"/>
              </a:srgbClr>
            </a:outerShdw>
          </a:effectLst>
        </p:spPr>
      </p:sp>
      <p:pic>
        <p:nvPicPr>
          <p:cNvPr id="27" name="Image 4" descr="preencoded.png">    </p:cNvPr>
          <p:cNvPicPr>
            <a:picLocks noChangeAspect="1"/>
          </p:cNvPicPr>
          <p:nvPr/>
        </p:nvPicPr>
        <p:blipFill>
          <a:blip r:embed="rId5"/>
          <a:stretch>
            <a:fillRect/>
          </a:stretch>
        </p:blipFill>
        <p:spPr>
          <a:xfrm>
            <a:off x="8433266" y="1691640"/>
            <a:ext cx="2112509" cy="4572000"/>
          </a:xfrm>
          <a:prstGeom prst="rect">
            <a:avLst/>
          </a:prstGeom>
        </p:spPr>
      </p:pic>
      <p:sp>
        <p:nvSpPr>
          <p:cNvPr id="28" name="Text 20"/>
          <p:cNvSpPr/>
          <p:nvPr/>
        </p:nvSpPr>
        <p:spPr>
          <a:xfrm>
            <a:off x="7884626" y="6400800"/>
            <a:ext cx="3209789" cy="274320"/>
          </a:xfrm>
          <a:prstGeom prst="rect">
            <a:avLst/>
          </a:prstGeom>
          <a:noFill/>
          <a:ln/>
        </p:spPr>
        <p:txBody>
          <a:bodyPr wrap="square" lIns="0" tIns="0" rIns="0" bIns="0" rtlCol="0" anchor="t"/>
          <a:lstStyle/>
          <a:p>
            <a:pPr algn="ctr" indent="0" marL="0">
              <a:buNone/>
            </a:pPr>
            <a:r>
              <a:rPr lang="en-US" sz="1100" i="1" dirty="0">
                <a:solidFill>
                  <a:srgbClr val="536079"/>
                </a:solidFill>
                <a:latin typeface="Calibri" pitchFamily="34" charset="0"/>
                <a:ea typeface="Calibri" pitchFamily="34" charset="-122"/>
                <a:cs typeface="Calibri" pitchFamily="34" charset="-120"/>
              </a:rPr>
              <a:t>The field app, on an officer’s phone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AF0FD"/>
        </a:solidFill>
      </p:bgPr>
    </p:bg>
    <p:spTree>
      <p:nvGrpSpPr>
        <p:cNvPr id="1" name=""/>
        <p:cNvGrpSpPr/>
        <p:nvPr/>
      </p:nvGrpSpPr>
      <p:grpSpPr>
        <a:xfrm>
          <a:off x="0" y="0"/>
          <a:ext cx="0" cy="0"/>
          <a:chOff x="0" y="0"/>
          <a:chExt cx="0" cy="0"/>
        </a:xfrm>
      </p:grpSpPr>
      <p:sp>
        <p:nvSpPr>
          <p:cNvPr id="2" name="Text 0"/>
          <p:cNvSpPr/>
          <p:nvPr/>
        </p:nvSpPr>
        <p:spPr>
          <a:xfrm>
            <a:off x="548640" y="822960"/>
            <a:ext cx="11094415" cy="320040"/>
          </a:xfrm>
          <a:prstGeom prst="rect">
            <a:avLst/>
          </a:prstGeom>
          <a:noFill/>
          <a:ln/>
        </p:spPr>
        <p:txBody>
          <a:bodyPr wrap="square" lIns="0" tIns="0" rIns="0" bIns="0" rtlCol="0" anchor="t"/>
          <a:lstStyle/>
          <a:p>
            <a:pPr indent="0" marL="0">
              <a:buNone/>
            </a:pPr>
            <a:r>
              <a:rPr lang="en-US" sz="1300" b="1" spc="400" kern="0" dirty="0">
                <a:solidFill>
                  <a:srgbClr val="B45309"/>
                </a:solidFill>
                <a:latin typeface="Arial" pitchFamily="34" charset="0"/>
                <a:ea typeface="Arial" pitchFamily="34" charset="-122"/>
                <a:cs typeface="Arial" pitchFamily="34" charset="-120"/>
              </a:rPr>
              <a:t>LIVE DEMONSTRATION</a:t>
            </a:r>
            <a:endParaRPr lang="en-US" sz="1300" dirty="0"/>
          </a:p>
        </p:txBody>
      </p:sp>
      <p:sp>
        <p:nvSpPr>
          <p:cNvPr id="3" name="Text 1"/>
          <p:cNvSpPr/>
          <p:nvPr/>
        </p:nvSpPr>
        <p:spPr>
          <a:xfrm>
            <a:off x="548640" y="1188720"/>
            <a:ext cx="11094415" cy="822960"/>
          </a:xfrm>
          <a:prstGeom prst="rect">
            <a:avLst/>
          </a:prstGeom>
          <a:noFill/>
          <a:ln/>
        </p:spPr>
        <p:txBody>
          <a:bodyPr wrap="square" lIns="0" tIns="0" rIns="0" bIns="0" rtlCol="0" anchor="t"/>
          <a:lstStyle/>
          <a:p>
            <a:pPr indent="0" marL="0">
              <a:buNone/>
            </a:pPr>
            <a:r>
              <a:rPr lang="en-US" sz="4000" b="1" dirty="0">
                <a:solidFill>
                  <a:srgbClr val="0F1B33"/>
                </a:solidFill>
                <a:latin typeface="Arial" pitchFamily="34" charset="0"/>
                <a:ea typeface="Arial" pitchFamily="34" charset="-122"/>
                <a:cs typeface="Arial" pitchFamily="34" charset="-120"/>
              </a:rPr>
              <a:t>On today’s cameras, in front of you</a:t>
            </a:r>
            <a:endParaRPr lang="en-US" sz="4000" dirty="0"/>
          </a:p>
        </p:txBody>
      </p:sp>
      <p:sp>
        <p:nvSpPr>
          <p:cNvPr id="4" name="Shape 2"/>
          <p:cNvSpPr/>
          <p:nvPr/>
        </p:nvSpPr>
        <p:spPr>
          <a:xfrm>
            <a:off x="548640"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5" name="Text 3"/>
          <p:cNvSpPr/>
          <p:nvPr/>
        </p:nvSpPr>
        <p:spPr>
          <a:xfrm>
            <a:off x="868680"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1</a:t>
            </a:r>
            <a:endParaRPr lang="en-US" sz="6400" dirty="0"/>
          </a:p>
        </p:txBody>
      </p:sp>
      <p:sp>
        <p:nvSpPr>
          <p:cNvPr id="6" name="Shape 4"/>
          <p:cNvSpPr/>
          <p:nvPr/>
        </p:nvSpPr>
        <p:spPr>
          <a:xfrm>
            <a:off x="3042818" y="2880360"/>
            <a:ext cx="640080" cy="640080"/>
          </a:xfrm>
          <a:prstGeom prst="ellipse">
            <a:avLst/>
          </a:prstGeom>
          <a:solidFill>
            <a:srgbClr val="2456D6"/>
          </a:solidFill>
          <a:ln w="12700">
            <a:solidFill>
              <a:srgbClr val="2456D6"/>
            </a:solidFill>
            <a:prstDash val="solid"/>
          </a:ln>
        </p:spPr>
      </p:sp>
      <p:pic>
        <p:nvPicPr>
          <p:cNvPr id="7" name="Image 0" descr="preencoded.png">    </p:cNvPr>
          <p:cNvPicPr>
            <a:picLocks noChangeAspect="1"/>
          </p:cNvPicPr>
          <p:nvPr/>
        </p:nvPicPr>
        <p:blipFill>
          <a:blip r:embed="rId1"/>
          <a:stretch>
            <a:fillRect/>
          </a:stretch>
        </p:blipFill>
        <p:spPr>
          <a:xfrm>
            <a:off x="3190037" y="3027578"/>
            <a:ext cx="345643" cy="345643"/>
          </a:xfrm>
          <a:prstGeom prst="rect">
            <a:avLst/>
          </a:prstGeom>
        </p:spPr>
      </p:pic>
      <p:sp>
        <p:nvSpPr>
          <p:cNvPr id="8" name="Text 5"/>
          <p:cNvSpPr/>
          <p:nvPr/>
        </p:nvSpPr>
        <p:spPr>
          <a:xfrm>
            <a:off x="868680"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Connect and see</a:t>
            </a:r>
            <a:endParaRPr lang="en-US" sz="2000" dirty="0"/>
          </a:p>
        </p:txBody>
      </p:sp>
      <p:sp>
        <p:nvSpPr>
          <p:cNvPr id="9" name="Text 6"/>
          <p:cNvSpPr/>
          <p:nvPr/>
        </p:nvSpPr>
        <p:spPr>
          <a:xfrm>
            <a:off x="868680"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Today’s cameras on the map and the live wall, with their health.</a:t>
            </a:r>
            <a:endParaRPr lang="en-US" sz="1500" dirty="0"/>
          </a:p>
        </p:txBody>
      </p:sp>
      <p:sp>
        <p:nvSpPr>
          <p:cNvPr id="10" name="Shape 7"/>
          <p:cNvSpPr/>
          <p:nvPr/>
        </p:nvSpPr>
        <p:spPr>
          <a:xfrm>
            <a:off x="4368698"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1" name="Text 8"/>
          <p:cNvSpPr/>
          <p:nvPr/>
        </p:nvSpPr>
        <p:spPr>
          <a:xfrm>
            <a:off x="4688738"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2</a:t>
            </a:r>
            <a:endParaRPr lang="en-US" sz="6400" dirty="0"/>
          </a:p>
        </p:txBody>
      </p:sp>
      <p:sp>
        <p:nvSpPr>
          <p:cNvPr id="12" name="Shape 9"/>
          <p:cNvSpPr/>
          <p:nvPr/>
        </p:nvSpPr>
        <p:spPr>
          <a:xfrm>
            <a:off x="6862877" y="2880360"/>
            <a:ext cx="640080" cy="640080"/>
          </a:xfrm>
          <a:prstGeom prst="ellipse">
            <a:avLst/>
          </a:prstGeom>
          <a:solidFill>
            <a:srgbClr val="2456D6"/>
          </a:solidFill>
          <a:ln w="12700">
            <a:solidFill>
              <a:srgbClr val="2456D6"/>
            </a:solidFill>
            <a:prstDash val="solid"/>
          </a:ln>
        </p:spPr>
      </p:sp>
      <p:pic>
        <p:nvPicPr>
          <p:cNvPr id="13" name="Image 1" descr="preencoded.png">    </p:cNvPr>
          <p:cNvPicPr>
            <a:picLocks noChangeAspect="1"/>
          </p:cNvPicPr>
          <p:nvPr/>
        </p:nvPicPr>
        <p:blipFill>
          <a:blip r:embed="rId2"/>
          <a:stretch>
            <a:fillRect/>
          </a:stretch>
        </p:blipFill>
        <p:spPr>
          <a:xfrm>
            <a:off x="7010095" y="3027578"/>
            <a:ext cx="345643" cy="345643"/>
          </a:xfrm>
          <a:prstGeom prst="rect">
            <a:avLst/>
          </a:prstGeom>
        </p:spPr>
      </p:pic>
      <p:sp>
        <p:nvSpPr>
          <p:cNvPr id="14" name="Text 10"/>
          <p:cNvSpPr/>
          <p:nvPr/>
        </p:nvSpPr>
        <p:spPr>
          <a:xfrm>
            <a:off x="4688738"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Trace the vehicle</a:t>
            </a:r>
            <a:endParaRPr lang="en-US" sz="2000" dirty="0"/>
          </a:p>
        </p:txBody>
      </p:sp>
      <p:sp>
        <p:nvSpPr>
          <p:cNvPr id="15" name="Text 11"/>
          <p:cNvSpPr/>
          <p:nvPr/>
        </p:nvSpPr>
        <p:spPr>
          <a:xfrm>
            <a:off x="4688738"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The registration number you give us, traced camera by camera, with a report to hand over.</a:t>
            </a:r>
            <a:endParaRPr lang="en-US" sz="1500" dirty="0"/>
          </a:p>
        </p:txBody>
      </p:sp>
      <p:sp>
        <p:nvSpPr>
          <p:cNvPr id="16" name="Shape 12"/>
          <p:cNvSpPr/>
          <p:nvPr/>
        </p:nvSpPr>
        <p:spPr>
          <a:xfrm>
            <a:off x="8188757"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Text 13"/>
          <p:cNvSpPr/>
          <p:nvPr/>
        </p:nvSpPr>
        <p:spPr>
          <a:xfrm>
            <a:off x="8508797"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3</a:t>
            </a:r>
            <a:endParaRPr lang="en-US" sz="6400" dirty="0"/>
          </a:p>
        </p:txBody>
      </p:sp>
      <p:sp>
        <p:nvSpPr>
          <p:cNvPr id="18" name="Shape 14"/>
          <p:cNvSpPr/>
          <p:nvPr/>
        </p:nvSpPr>
        <p:spPr>
          <a:xfrm>
            <a:off x="10682935" y="2880360"/>
            <a:ext cx="640080" cy="640080"/>
          </a:xfrm>
          <a:prstGeom prst="ellipse">
            <a:avLst/>
          </a:prstGeom>
          <a:solidFill>
            <a:srgbClr val="2456D6"/>
          </a:solidFill>
          <a:ln w="12700">
            <a:solidFill>
              <a:srgbClr val="2456D6"/>
            </a:solidFill>
            <a:prstDash val="solid"/>
          </a:ln>
        </p:spPr>
      </p:sp>
      <p:pic>
        <p:nvPicPr>
          <p:cNvPr id="19" name="Image 2" descr="preencoded.png">    </p:cNvPr>
          <p:cNvPicPr>
            <a:picLocks noChangeAspect="1"/>
          </p:cNvPicPr>
          <p:nvPr/>
        </p:nvPicPr>
        <p:blipFill>
          <a:blip r:embed="rId3"/>
          <a:stretch>
            <a:fillRect/>
          </a:stretch>
        </p:blipFill>
        <p:spPr>
          <a:xfrm>
            <a:off x="10830154" y="3027578"/>
            <a:ext cx="345643" cy="345643"/>
          </a:xfrm>
          <a:prstGeom prst="rect">
            <a:avLst/>
          </a:prstGeom>
        </p:spPr>
      </p:pic>
      <p:sp>
        <p:nvSpPr>
          <p:cNvPr id="20" name="Text 15"/>
          <p:cNvSpPr/>
          <p:nvPr/>
        </p:nvSpPr>
        <p:spPr>
          <a:xfrm>
            <a:off x="8508797"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Get alerted</a:t>
            </a:r>
            <a:endParaRPr lang="en-US" sz="2000" dirty="0"/>
          </a:p>
        </p:txBody>
      </p:sp>
      <p:sp>
        <p:nvSpPr>
          <p:cNvPr id="21" name="Text 16"/>
          <p:cNvSpPr/>
          <p:nvPr/>
        </p:nvSpPr>
        <p:spPr>
          <a:xfrm>
            <a:off x="8508797"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A watchlist vehicle flagged on every open screen the moment it is read.</a:t>
            </a:r>
            <a:endParaRPr lang="en-US" sz="1500" dirty="0"/>
          </a:p>
        </p:txBody>
      </p:sp>
      <p:sp>
        <p:nvSpPr>
          <p:cNvPr id="22" name="Text 17"/>
          <p:cNvSpPr/>
          <p:nvPr/>
        </p:nvSpPr>
        <p:spPr>
          <a:xfrm>
            <a:off x="548640" y="5943600"/>
            <a:ext cx="11094415" cy="365760"/>
          </a:xfrm>
          <a:prstGeom prst="rect">
            <a:avLst/>
          </a:prstGeom>
          <a:noFill/>
          <a:ln/>
        </p:spPr>
        <p:txBody>
          <a:bodyPr wrap="square" lIns="0" tIns="0" rIns="0" bIns="0" rtlCol="0" anchor="t"/>
          <a:lstStyle/>
          <a:p>
            <a:pPr indent="0" marL="0">
              <a:buNone/>
            </a:pPr>
            <a:r>
              <a:rPr lang="en-US" sz="1300" i="1" dirty="0">
                <a:solidFill>
                  <a:srgbClr val="536079"/>
                </a:solidFill>
                <a:latin typeface="Calibri" pitchFamily="34" charset="0"/>
                <a:ea typeface="Calibri" pitchFamily="34" charset="-122"/>
                <a:cs typeface="Calibri" pitchFamily="34" charset="-120"/>
              </a:rPr>
              <a:t>If the venue network fails, we say which fallback we are on: our own cameras, then a recorded copy of the government grid.</a:t>
            </a:r>
            <a:endParaRPr lang="en-US" sz="1300" dirty="0"/>
          </a:p>
        </p:txBody>
      </p:sp>
      <p:sp>
        <p:nvSpPr>
          <p:cNvPr id="23" name="Text 18"/>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1 · CONNECT AND SEE</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Works with the cameras you already have</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07</a:t>
            </a:r>
            <a:endParaRPr lang="en-US" sz="900" dirty="0"/>
          </a:p>
        </p:txBody>
      </p:sp>
      <p:sp>
        <p:nvSpPr>
          <p:cNvPr id="6" name="Shape 3"/>
          <p:cNvSpPr/>
          <p:nvPr/>
        </p:nvSpPr>
        <p:spPr>
          <a:xfrm>
            <a:off x="548640" y="1673352"/>
            <a:ext cx="6437376" cy="3892424"/>
          </a:xfrm>
          <a:prstGeom prst="roundRect">
            <a:avLst>
              <a:gd name="adj" fmla="val 2349"/>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7" name="Image 0" descr="preencoded.png">    </p:cNvPr>
          <p:cNvPicPr>
            <a:picLocks noChangeAspect="1"/>
          </p:cNvPicPr>
          <p:nvPr/>
        </p:nvPicPr>
        <p:blipFill>
          <a:blip r:embed="rId1"/>
          <a:stretch>
            <a:fillRect/>
          </a:stretch>
        </p:blipFill>
        <p:spPr>
          <a:xfrm>
            <a:off x="612648" y="1737360"/>
            <a:ext cx="6309360" cy="3764408"/>
          </a:xfrm>
          <a:prstGeom prst="rect">
            <a:avLst/>
          </a:prstGeom>
        </p:spPr>
      </p:pic>
      <p:sp>
        <p:nvSpPr>
          <p:cNvPr id="8" name="Shape 4"/>
          <p:cNvSpPr/>
          <p:nvPr/>
        </p:nvSpPr>
        <p:spPr>
          <a:xfrm>
            <a:off x="7360920" y="1783080"/>
            <a:ext cx="512064" cy="512064"/>
          </a:xfrm>
          <a:prstGeom prst="ellipse">
            <a:avLst/>
          </a:prstGeom>
          <a:solidFill>
            <a:srgbClr val="2456D6"/>
          </a:solidFill>
          <a:ln w="12700">
            <a:solidFill>
              <a:srgbClr val="2456D6"/>
            </a:solidFill>
            <a:prstDash val="solid"/>
          </a:ln>
        </p:spPr>
      </p:sp>
      <p:pic>
        <p:nvPicPr>
          <p:cNvPr id="9" name="Image 1" descr="preencoded.png">    </p:cNvPr>
          <p:cNvPicPr>
            <a:picLocks noChangeAspect="1"/>
          </p:cNvPicPr>
          <p:nvPr/>
        </p:nvPicPr>
        <p:blipFill>
          <a:blip r:embed="rId2"/>
          <a:stretch>
            <a:fillRect/>
          </a:stretch>
        </p:blipFill>
        <p:spPr>
          <a:xfrm>
            <a:off x="7478695" y="1900855"/>
            <a:ext cx="276515" cy="276515"/>
          </a:xfrm>
          <a:prstGeom prst="rect">
            <a:avLst/>
          </a:prstGeom>
        </p:spPr>
      </p:pic>
      <p:sp>
        <p:nvSpPr>
          <p:cNvPr id="10" name="Text 5"/>
          <p:cNvSpPr/>
          <p:nvPr/>
        </p:nvSpPr>
        <p:spPr>
          <a:xfrm>
            <a:off x="8074152" y="1764792"/>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Upload a camera list</a:t>
            </a:r>
            <a:endParaRPr lang="en-US" sz="1500" dirty="0"/>
          </a:p>
        </p:txBody>
      </p:sp>
      <p:sp>
        <p:nvSpPr>
          <p:cNvPr id="11" name="Text 6"/>
          <p:cNvSpPr/>
          <p:nvPr/>
        </p:nvSpPr>
        <p:spPr>
          <a:xfrm>
            <a:off x="8074152" y="2084832"/>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row checked before anything is added; one bad row never blocks the rest.</a:t>
            </a:r>
            <a:endParaRPr lang="en-US" sz="1300" dirty="0"/>
          </a:p>
        </p:txBody>
      </p:sp>
      <p:sp>
        <p:nvSpPr>
          <p:cNvPr id="12" name="Shape 7"/>
          <p:cNvSpPr/>
          <p:nvPr/>
        </p:nvSpPr>
        <p:spPr>
          <a:xfrm>
            <a:off x="7360920" y="2862072"/>
            <a:ext cx="512064" cy="512064"/>
          </a:xfrm>
          <a:prstGeom prst="ellipse">
            <a:avLst/>
          </a:prstGeom>
          <a:solidFill>
            <a:srgbClr val="2456D6"/>
          </a:solidFill>
          <a:ln w="12700">
            <a:solidFill>
              <a:srgbClr val="2456D6"/>
            </a:solidFill>
            <a:prstDash val="solid"/>
          </a:ln>
        </p:spPr>
      </p:sp>
      <p:pic>
        <p:nvPicPr>
          <p:cNvPr id="13" name="Image 2" descr="preencoded.png">    </p:cNvPr>
          <p:cNvPicPr>
            <a:picLocks noChangeAspect="1"/>
          </p:cNvPicPr>
          <p:nvPr/>
        </p:nvPicPr>
        <p:blipFill>
          <a:blip r:embed="rId3"/>
          <a:stretch>
            <a:fillRect/>
          </a:stretch>
        </p:blipFill>
        <p:spPr>
          <a:xfrm>
            <a:off x="7478695" y="2979847"/>
            <a:ext cx="276515" cy="276515"/>
          </a:xfrm>
          <a:prstGeom prst="rect">
            <a:avLst/>
          </a:prstGeom>
        </p:spPr>
      </p:pic>
      <p:sp>
        <p:nvSpPr>
          <p:cNvPr id="14" name="Text 8"/>
          <p:cNvSpPr/>
          <p:nvPr/>
        </p:nvSpPr>
        <p:spPr>
          <a:xfrm>
            <a:off x="8074152" y="2843784"/>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Or discover devices</a:t>
            </a:r>
            <a:endParaRPr lang="en-US" sz="1500" dirty="0"/>
          </a:p>
        </p:txBody>
      </p:sp>
      <p:sp>
        <p:nvSpPr>
          <p:cNvPr id="15" name="Text 9"/>
          <p:cNvSpPr/>
          <p:nvPr/>
        </p:nvSpPr>
        <p:spPr>
          <a:xfrm>
            <a:off x="8074152" y="3163824"/>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Find a camera’s or recorder’s streams on the network and add them (ONVIF, Hikvision, Dahua).</a:t>
            </a:r>
            <a:endParaRPr lang="en-US" sz="1300" dirty="0"/>
          </a:p>
        </p:txBody>
      </p:sp>
      <p:sp>
        <p:nvSpPr>
          <p:cNvPr id="16" name="Shape 10"/>
          <p:cNvSpPr/>
          <p:nvPr/>
        </p:nvSpPr>
        <p:spPr>
          <a:xfrm>
            <a:off x="7360920" y="3941064"/>
            <a:ext cx="512064" cy="512064"/>
          </a:xfrm>
          <a:prstGeom prst="ellipse">
            <a:avLst/>
          </a:prstGeom>
          <a:solidFill>
            <a:srgbClr val="2456D6"/>
          </a:solidFill>
          <a:ln w="12700">
            <a:solidFill>
              <a:srgbClr val="2456D6"/>
            </a:solidFill>
            <a:prstDash val="solid"/>
          </a:ln>
        </p:spPr>
      </p:sp>
      <p:pic>
        <p:nvPicPr>
          <p:cNvPr id="17" name="Image 3" descr="preencoded.png">    </p:cNvPr>
          <p:cNvPicPr>
            <a:picLocks noChangeAspect="1"/>
          </p:cNvPicPr>
          <p:nvPr/>
        </p:nvPicPr>
        <p:blipFill>
          <a:blip r:embed="rId4"/>
          <a:stretch>
            <a:fillRect/>
          </a:stretch>
        </p:blipFill>
        <p:spPr>
          <a:xfrm>
            <a:off x="7478695" y="4058839"/>
            <a:ext cx="276515" cy="276515"/>
          </a:xfrm>
          <a:prstGeom prst="rect">
            <a:avLst/>
          </a:prstGeom>
        </p:spPr>
      </p:pic>
      <p:sp>
        <p:nvSpPr>
          <p:cNvPr id="18" name="Text 11"/>
          <p:cNvSpPr/>
          <p:nvPr/>
        </p:nvSpPr>
        <p:spPr>
          <a:xfrm>
            <a:off x="8074152" y="3922776"/>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Nothing installed</a:t>
            </a:r>
            <a:endParaRPr lang="en-US" sz="1500" dirty="0"/>
          </a:p>
        </p:txBody>
      </p:sp>
      <p:sp>
        <p:nvSpPr>
          <p:cNvPr id="19" name="Text 12"/>
          <p:cNvSpPr/>
          <p:nvPr/>
        </p:nvSpPr>
        <p:spPr>
          <a:xfrm>
            <a:off x="8074152" y="4242816"/>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Read-only access. Each department’s own system and recording keep running untouched.</a:t>
            </a:r>
            <a:endParaRPr lang="en-US" sz="1300" dirty="0"/>
          </a:p>
        </p:txBody>
      </p:sp>
      <p:sp>
        <p:nvSpPr>
          <p:cNvPr id="20" name="Shape 13"/>
          <p:cNvSpPr/>
          <p:nvPr/>
        </p:nvSpPr>
        <p:spPr>
          <a:xfrm>
            <a:off x="7360920" y="5020056"/>
            <a:ext cx="512064" cy="512064"/>
          </a:xfrm>
          <a:prstGeom prst="ellipse">
            <a:avLst/>
          </a:prstGeom>
          <a:solidFill>
            <a:srgbClr val="2456D6"/>
          </a:solidFill>
          <a:ln w="12700">
            <a:solidFill>
              <a:srgbClr val="2456D6"/>
            </a:solidFill>
            <a:prstDash val="solid"/>
          </a:ln>
        </p:spPr>
      </p:sp>
      <p:pic>
        <p:nvPicPr>
          <p:cNvPr id="21" name="Image 4" descr="preencoded.png">    </p:cNvPr>
          <p:cNvPicPr>
            <a:picLocks noChangeAspect="1"/>
          </p:cNvPicPr>
          <p:nvPr/>
        </p:nvPicPr>
        <p:blipFill>
          <a:blip r:embed="rId5"/>
          <a:stretch>
            <a:fillRect/>
          </a:stretch>
        </p:blipFill>
        <p:spPr>
          <a:xfrm>
            <a:off x="7478695" y="5137831"/>
            <a:ext cx="276515" cy="276515"/>
          </a:xfrm>
          <a:prstGeom prst="rect">
            <a:avLst/>
          </a:prstGeom>
        </p:spPr>
      </p:pic>
      <p:sp>
        <p:nvSpPr>
          <p:cNvPr id="22" name="Text 14"/>
          <p:cNvSpPr/>
          <p:nvPr/>
        </p:nvSpPr>
        <p:spPr>
          <a:xfrm>
            <a:off x="8074152" y="5001768"/>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Secure viewing</a:t>
            </a:r>
            <a:endParaRPr lang="en-US" sz="1500" dirty="0"/>
          </a:p>
        </p:txBody>
      </p:sp>
      <p:sp>
        <p:nvSpPr>
          <p:cNvPr id="23" name="Text 15"/>
          <p:cNvSpPr/>
          <p:nvPr/>
        </p:nvSpPr>
        <p:spPr>
          <a:xfrm>
            <a:off x="8074152" y="5321808"/>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connection per camera, however many watch. Passwords never reach a browser.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2 · TRACE THE VEHICLE</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Type a plate. See where it went.</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08</a:t>
            </a:r>
            <a:endParaRPr lang="en-US" sz="900" dirty="0"/>
          </a:p>
        </p:txBody>
      </p:sp>
      <p:sp>
        <p:nvSpPr>
          <p:cNvPr id="6" name="Shape 3"/>
          <p:cNvSpPr/>
          <p:nvPr/>
        </p:nvSpPr>
        <p:spPr>
          <a:xfrm>
            <a:off x="548640" y="1581912"/>
            <a:ext cx="6986016" cy="3827727"/>
          </a:xfrm>
          <a:prstGeom prst="roundRect">
            <a:avLst>
              <a:gd name="adj" fmla="val 2389"/>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7" name="Image 0" descr="preencoded.png">    </p:cNvPr>
          <p:cNvPicPr>
            <a:picLocks noChangeAspect="1"/>
          </p:cNvPicPr>
          <p:nvPr/>
        </p:nvPicPr>
        <p:blipFill>
          <a:blip r:embed="rId1"/>
          <a:stretch>
            <a:fillRect/>
          </a:stretch>
        </p:blipFill>
        <p:spPr>
          <a:xfrm>
            <a:off x="612648" y="1645920"/>
            <a:ext cx="6858000" cy="3699711"/>
          </a:xfrm>
          <a:prstGeom prst="rect">
            <a:avLst/>
          </a:prstGeom>
        </p:spPr>
      </p:pic>
      <p:sp>
        <p:nvSpPr>
          <p:cNvPr id="8" name="Shape 4"/>
          <p:cNvSpPr/>
          <p:nvPr/>
        </p:nvSpPr>
        <p:spPr>
          <a:xfrm>
            <a:off x="7955280" y="1737360"/>
            <a:ext cx="512064" cy="512064"/>
          </a:xfrm>
          <a:prstGeom prst="ellipse">
            <a:avLst/>
          </a:prstGeom>
          <a:solidFill>
            <a:srgbClr val="2456D6"/>
          </a:solidFill>
          <a:ln w="12700">
            <a:solidFill>
              <a:srgbClr val="2456D6"/>
            </a:solidFill>
            <a:prstDash val="solid"/>
          </a:ln>
        </p:spPr>
      </p:sp>
      <p:pic>
        <p:nvPicPr>
          <p:cNvPr id="9" name="Image 1" descr="preencoded.png">    </p:cNvPr>
          <p:cNvPicPr>
            <a:picLocks noChangeAspect="1"/>
          </p:cNvPicPr>
          <p:nvPr/>
        </p:nvPicPr>
        <p:blipFill>
          <a:blip r:embed="rId2"/>
          <a:stretch>
            <a:fillRect/>
          </a:stretch>
        </p:blipFill>
        <p:spPr>
          <a:xfrm>
            <a:off x="8073055" y="1855135"/>
            <a:ext cx="276515" cy="276515"/>
          </a:xfrm>
          <a:prstGeom prst="rect">
            <a:avLst/>
          </a:prstGeom>
        </p:spPr>
      </p:pic>
      <p:sp>
        <p:nvSpPr>
          <p:cNvPr id="10" name="Text 5"/>
          <p:cNvSpPr/>
          <p:nvPr/>
        </p:nvSpPr>
        <p:spPr>
          <a:xfrm>
            <a:off x="8668512" y="171907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The camera’s own clock</a:t>
            </a:r>
            <a:endParaRPr lang="en-US" sz="1500" dirty="0"/>
          </a:p>
        </p:txBody>
      </p:sp>
      <p:sp>
        <p:nvSpPr>
          <p:cNvPr id="11" name="Text 6"/>
          <p:cNvSpPr/>
          <p:nvPr/>
        </p:nvSpPr>
        <p:spPr>
          <a:xfrm>
            <a:off x="8668512" y="203911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Each stop is timed by the clock printed on its evidence frame.</a:t>
            </a:r>
            <a:endParaRPr lang="en-US" sz="1300" dirty="0"/>
          </a:p>
        </p:txBody>
      </p:sp>
      <p:sp>
        <p:nvSpPr>
          <p:cNvPr id="12" name="Shape 7"/>
          <p:cNvSpPr/>
          <p:nvPr/>
        </p:nvSpPr>
        <p:spPr>
          <a:xfrm>
            <a:off x="7955280" y="2926080"/>
            <a:ext cx="512064" cy="512064"/>
          </a:xfrm>
          <a:prstGeom prst="ellipse">
            <a:avLst/>
          </a:prstGeom>
          <a:solidFill>
            <a:srgbClr val="2456D6"/>
          </a:solidFill>
          <a:ln w="12700">
            <a:solidFill>
              <a:srgbClr val="2456D6"/>
            </a:solidFill>
            <a:prstDash val="solid"/>
          </a:ln>
        </p:spPr>
      </p:sp>
      <p:pic>
        <p:nvPicPr>
          <p:cNvPr id="13" name="Image 2" descr="preencoded.png">    </p:cNvPr>
          <p:cNvPicPr>
            <a:picLocks noChangeAspect="1"/>
          </p:cNvPicPr>
          <p:nvPr/>
        </p:nvPicPr>
        <p:blipFill>
          <a:blip r:embed="rId3"/>
          <a:stretch>
            <a:fillRect/>
          </a:stretch>
        </p:blipFill>
        <p:spPr>
          <a:xfrm>
            <a:off x="8073055" y="3043855"/>
            <a:ext cx="276515" cy="276515"/>
          </a:xfrm>
          <a:prstGeom prst="rect">
            <a:avLst/>
          </a:prstGeom>
        </p:spPr>
      </p:pic>
      <p:sp>
        <p:nvSpPr>
          <p:cNvPr id="14" name="Text 8"/>
          <p:cNvSpPr/>
          <p:nvPr/>
        </p:nvSpPr>
        <p:spPr>
          <a:xfrm>
            <a:off x="8668512" y="290779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Impossible journeys flagged</a:t>
            </a:r>
            <a:endParaRPr lang="en-US" sz="1500" dirty="0"/>
          </a:p>
        </p:txBody>
      </p:sp>
      <p:sp>
        <p:nvSpPr>
          <p:cNvPr id="15" name="Text 9"/>
          <p:cNvSpPr/>
          <p:nvPr/>
        </p:nvSpPr>
        <p:spPr>
          <a:xfrm>
            <a:off x="8668512" y="322783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hop no vehicle could make is marked — a cloned plate stands out.</a:t>
            </a:r>
            <a:endParaRPr lang="en-US" sz="1300" dirty="0"/>
          </a:p>
        </p:txBody>
      </p:sp>
      <p:sp>
        <p:nvSpPr>
          <p:cNvPr id="16" name="Shape 10"/>
          <p:cNvSpPr/>
          <p:nvPr/>
        </p:nvSpPr>
        <p:spPr>
          <a:xfrm>
            <a:off x="7955280" y="4114800"/>
            <a:ext cx="512064" cy="512064"/>
          </a:xfrm>
          <a:prstGeom prst="ellipse">
            <a:avLst/>
          </a:prstGeom>
          <a:solidFill>
            <a:srgbClr val="2456D6"/>
          </a:solidFill>
          <a:ln w="12700">
            <a:solidFill>
              <a:srgbClr val="2456D6"/>
            </a:solidFill>
            <a:prstDash val="solid"/>
          </a:ln>
        </p:spPr>
      </p:sp>
      <p:pic>
        <p:nvPicPr>
          <p:cNvPr id="17" name="Image 3" descr="preencoded.png">    </p:cNvPr>
          <p:cNvPicPr>
            <a:picLocks noChangeAspect="1"/>
          </p:cNvPicPr>
          <p:nvPr/>
        </p:nvPicPr>
        <p:blipFill>
          <a:blip r:embed="rId4"/>
          <a:stretch>
            <a:fillRect/>
          </a:stretch>
        </p:blipFill>
        <p:spPr>
          <a:xfrm>
            <a:off x="8073055" y="4232575"/>
            <a:ext cx="276515" cy="276515"/>
          </a:xfrm>
          <a:prstGeom prst="rect">
            <a:avLst/>
          </a:prstGeom>
        </p:spPr>
      </p:pic>
      <p:sp>
        <p:nvSpPr>
          <p:cNvPr id="18" name="Text 11"/>
          <p:cNvSpPr/>
          <p:nvPr/>
        </p:nvSpPr>
        <p:spPr>
          <a:xfrm>
            <a:off x="8668512" y="409651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A report to hand over</a:t>
            </a:r>
            <a:endParaRPr lang="en-US" sz="1500" dirty="0"/>
          </a:p>
        </p:txBody>
      </p:sp>
      <p:sp>
        <p:nvSpPr>
          <p:cNvPr id="19" name="Text 12"/>
          <p:cNvSpPr/>
          <p:nvPr/>
        </p:nvSpPr>
        <p:spPr>
          <a:xfrm>
            <a:off x="8668512" y="441655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Route, times and evidence frames as PDF and CSV, sealed with a tamper-evident fingerprint.</a:t>
            </a:r>
            <a:endParaRPr lang="en-US" sz="1300" dirty="0"/>
          </a:p>
        </p:txBody>
      </p:sp>
      <p:sp>
        <p:nvSpPr>
          <p:cNvPr id="20" name="Text 13"/>
          <p:cNvSpPr/>
          <p:nvPr/>
        </p:nvSpPr>
        <p:spPr>
          <a:xfrm>
            <a:off x="548640" y="5546799"/>
            <a:ext cx="6949440" cy="41148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The real console on recorded government footage: GJ39C8018 at Gandhidham, 8 Aug 2026, 21:10 — the time printed on the frame.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3 · GET ALERTED</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Flagged the moment it is seen</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09</a:t>
            </a:r>
            <a:endParaRPr lang="en-US" sz="900" dirty="0"/>
          </a:p>
        </p:txBody>
      </p:sp>
      <p:sp>
        <p:nvSpPr>
          <p:cNvPr id="6" name="Shape 3"/>
          <p:cNvSpPr/>
          <p:nvPr/>
        </p:nvSpPr>
        <p:spPr>
          <a:xfrm>
            <a:off x="548640" y="1627632"/>
            <a:ext cx="5248656" cy="3627314"/>
          </a:xfrm>
          <a:prstGeom prst="roundRect">
            <a:avLst>
              <a:gd name="adj" fmla="val 2521"/>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7" name="Image 0" descr="preencoded.png">    </p:cNvPr>
          <p:cNvPicPr>
            <a:picLocks noChangeAspect="1"/>
          </p:cNvPicPr>
          <p:nvPr/>
        </p:nvPicPr>
        <p:blipFill>
          <a:blip r:embed="rId1"/>
          <a:stretch>
            <a:fillRect/>
          </a:stretch>
        </p:blipFill>
        <p:spPr>
          <a:xfrm>
            <a:off x="612648" y="1691640"/>
            <a:ext cx="5120640" cy="3499298"/>
          </a:xfrm>
          <a:prstGeom prst="rect">
            <a:avLst/>
          </a:prstGeom>
        </p:spPr>
      </p:pic>
      <p:sp>
        <p:nvSpPr>
          <p:cNvPr id="8" name="Text 4"/>
          <p:cNvSpPr/>
          <p:nvPr/>
        </p:nvSpPr>
        <p:spPr>
          <a:xfrm>
            <a:off x="6217920" y="1691640"/>
            <a:ext cx="5425135" cy="36576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It catches the misreads cameras make</a:t>
            </a:r>
            <a:endParaRPr lang="en-US" sz="1800" dirty="0"/>
          </a:p>
        </p:txBody>
      </p:sp>
      <p:sp>
        <p:nvSpPr>
          <p:cNvPr id="9" name="Shape 5"/>
          <p:cNvSpPr/>
          <p:nvPr/>
        </p:nvSpPr>
        <p:spPr>
          <a:xfrm>
            <a:off x="6217920" y="221284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6"/>
          <p:cNvSpPr/>
          <p:nvPr/>
        </p:nvSpPr>
        <p:spPr>
          <a:xfrm>
            <a:off x="6446520" y="2441448"/>
            <a:ext cx="256032" cy="256032"/>
          </a:xfrm>
          <a:prstGeom prst="ellipse">
            <a:avLst/>
          </a:prstGeom>
          <a:solidFill>
            <a:srgbClr val="0F766E"/>
          </a:solidFill>
          <a:ln w="12700">
            <a:solidFill>
              <a:srgbClr val="0F766E"/>
            </a:solidFill>
            <a:prstDash val="solid"/>
          </a:ln>
        </p:spPr>
      </p:sp>
      <p:sp>
        <p:nvSpPr>
          <p:cNvPr id="11" name="Text 7"/>
          <p:cNvSpPr/>
          <p:nvPr/>
        </p:nvSpPr>
        <p:spPr>
          <a:xfrm>
            <a:off x="6858000" y="232257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Exact match</a:t>
            </a:r>
            <a:endParaRPr lang="en-US" sz="1500" dirty="0"/>
          </a:p>
        </p:txBody>
      </p:sp>
      <p:sp>
        <p:nvSpPr>
          <p:cNvPr id="12" name="Text 8"/>
          <p:cNvSpPr/>
          <p:nvPr/>
        </p:nvSpPr>
        <p:spPr>
          <a:xfrm>
            <a:off x="9144000" y="232257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The plate, read as it is</a:t>
            </a:r>
            <a:endParaRPr lang="en-US" sz="1300" dirty="0"/>
          </a:p>
        </p:txBody>
      </p:sp>
      <p:sp>
        <p:nvSpPr>
          <p:cNvPr id="13" name="Text 9"/>
          <p:cNvSpPr/>
          <p:nvPr/>
        </p:nvSpPr>
        <p:spPr>
          <a:xfrm>
            <a:off x="10500055" y="2322576"/>
            <a:ext cx="914400" cy="493776"/>
          </a:xfrm>
          <a:prstGeom prst="rect">
            <a:avLst/>
          </a:prstGeom>
          <a:noFill/>
          <a:ln/>
        </p:spPr>
        <p:txBody>
          <a:bodyPr wrap="square" lIns="0" tIns="0" rIns="0" bIns="0" rtlCol="0" anchor="ctr"/>
          <a:lstStyle/>
          <a:p>
            <a:pPr algn="r" indent="0" marL="0">
              <a:buNone/>
            </a:pPr>
            <a:r>
              <a:rPr lang="en-US" sz="1200" b="1" dirty="0">
                <a:solidFill>
                  <a:srgbClr val="0F766E"/>
                </a:solidFill>
                <a:latin typeface="Arial" pitchFamily="34" charset="0"/>
                <a:ea typeface="Arial" pitchFamily="34" charset="-122"/>
                <a:cs typeface="Arial" pitchFamily="34" charset="-120"/>
              </a:rPr>
              <a:t>Alert</a:t>
            </a:r>
            <a:endParaRPr lang="en-US" sz="1200" dirty="0"/>
          </a:p>
        </p:txBody>
      </p:sp>
      <p:sp>
        <p:nvSpPr>
          <p:cNvPr id="14" name="Shape 10"/>
          <p:cNvSpPr/>
          <p:nvPr/>
        </p:nvSpPr>
        <p:spPr>
          <a:xfrm>
            <a:off x="6217920" y="308152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5" name="Shape 11"/>
          <p:cNvSpPr/>
          <p:nvPr/>
        </p:nvSpPr>
        <p:spPr>
          <a:xfrm>
            <a:off x="6446520" y="3310128"/>
            <a:ext cx="256032" cy="256032"/>
          </a:xfrm>
          <a:prstGeom prst="ellipse">
            <a:avLst/>
          </a:prstGeom>
          <a:solidFill>
            <a:srgbClr val="0F766E"/>
          </a:solidFill>
          <a:ln w="12700">
            <a:solidFill>
              <a:srgbClr val="0F766E"/>
            </a:solidFill>
            <a:prstDash val="solid"/>
          </a:ln>
        </p:spPr>
      </p:sp>
      <p:sp>
        <p:nvSpPr>
          <p:cNvPr id="16" name="Text 12"/>
          <p:cNvSpPr/>
          <p:nvPr/>
        </p:nvSpPr>
        <p:spPr>
          <a:xfrm>
            <a:off x="6858000" y="319125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Look-alike characters</a:t>
            </a:r>
            <a:endParaRPr lang="en-US" sz="1500" dirty="0"/>
          </a:p>
        </p:txBody>
      </p:sp>
      <p:sp>
        <p:nvSpPr>
          <p:cNvPr id="17" name="Text 13"/>
          <p:cNvSpPr/>
          <p:nvPr/>
        </p:nvSpPr>
        <p:spPr>
          <a:xfrm>
            <a:off x="9144000" y="319125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0 for O, 1 for I, 8 for B, 5 for S</a:t>
            </a:r>
            <a:endParaRPr lang="en-US" sz="1300" dirty="0"/>
          </a:p>
        </p:txBody>
      </p:sp>
      <p:sp>
        <p:nvSpPr>
          <p:cNvPr id="18" name="Text 14"/>
          <p:cNvSpPr/>
          <p:nvPr/>
        </p:nvSpPr>
        <p:spPr>
          <a:xfrm>
            <a:off x="10500055" y="3191256"/>
            <a:ext cx="914400" cy="493776"/>
          </a:xfrm>
          <a:prstGeom prst="rect">
            <a:avLst/>
          </a:prstGeom>
          <a:noFill/>
          <a:ln/>
        </p:spPr>
        <p:txBody>
          <a:bodyPr wrap="square" lIns="0" tIns="0" rIns="0" bIns="0" rtlCol="0" anchor="ctr"/>
          <a:lstStyle/>
          <a:p>
            <a:pPr algn="r" indent="0" marL="0">
              <a:buNone/>
            </a:pPr>
            <a:r>
              <a:rPr lang="en-US" sz="1200" b="1" dirty="0">
                <a:solidFill>
                  <a:srgbClr val="0F766E"/>
                </a:solidFill>
                <a:latin typeface="Arial" pitchFamily="34" charset="0"/>
                <a:ea typeface="Arial" pitchFamily="34" charset="-122"/>
                <a:cs typeface="Arial" pitchFamily="34" charset="-120"/>
              </a:rPr>
              <a:t>Alert</a:t>
            </a:r>
            <a:endParaRPr lang="en-US" sz="1200" dirty="0"/>
          </a:p>
        </p:txBody>
      </p:sp>
      <p:sp>
        <p:nvSpPr>
          <p:cNvPr id="19" name="Shape 15"/>
          <p:cNvSpPr/>
          <p:nvPr/>
        </p:nvSpPr>
        <p:spPr>
          <a:xfrm>
            <a:off x="6217920" y="395020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Shape 16"/>
          <p:cNvSpPr/>
          <p:nvPr/>
        </p:nvSpPr>
        <p:spPr>
          <a:xfrm>
            <a:off x="6446520" y="4178808"/>
            <a:ext cx="256032" cy="256032"/>
          </a:xfrm>
          <a:prstGeom prst="ellipse">
            <a:avLst/>
          </a:prstGeom>
          <a:solidFill>
            <a:srgbClr val="D97706"/>
          </a:solidFill>
          <a:ln w="12700">
            <a:solidFill>
              <a:srgbClr val="D97706"/>
            </a:solidFill>
            <a:prstDash val="solid"/>
          </a:ln>
        </p:spPr>
      </p:sp>
      <p:sp>
        <p:nvSpPr>
          <p:cNvPr id="21" name="Text 17"/>
          <p:cNvSpPr/>
          <p:nvPr/>
        </p:nvSpPr>
        <p:spPr>
          <a:xfrm>
            <a:off x="6858000" y="405993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One character off</a:t>
            </a:r>
            <a:endParaRPr lang="en-US" sz="1500" dirty="0"/>
          </a:p>
        </p:txBody>
      </p:sp>
      <p:sp>
        <p:nvSpPr>
          <p:cNvPr id="22" name="Text 18"/>
          <p:cNvSpPr/>
          <p:nvPr/>
        </p:nvSpPr>
        <p:spPr>
          <a:xfrm>
            <a:off x="9144000" y="405993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Shown with the plate as actually read</a:t>
            </a:r>
            <a:endParaRPr lang="en-US" sz="1300" dirty="0"/>
          </a:p>
        </p:txBody>
      </p:sp>
      <p:sp>
        <p:nvSpPr>
          <p:cNvPr id="23" name="Text 19"/>
          <p:cNvSpPr/>
          <p:nvPr/>
        </p:nvSpPr>
        <p:spPr>
          <a:xfrm>
            <a:off x="10500055" y="4059936"/>
            <a:ext cx="914400" cy="493776"/>
          </a:xfrm>
          <a:prstGeom prst="rect">
            <a:avLst/>
          </a:prstGeom>
          <a:noFill/>
          <a:ln/>
        </p:spPr>
        <p:txBody>
          <a:bodyPr wrap="square" lIns="0" tIns="0" rIns="0" bIns="0" rtlCol="0" anchor="ctr"/>
          <a:lstStyle/>
          <a:p>
            <a:pPr algn="r" indent="0" marL="0">
              <a:buNone/>
            </a:pPr>
            <a:r>
              <a:rPr lang="en-US" sz="1200" b="1" dirty="0">
                <a:solidFill>
                  <a:srgbClr val="D97706"/>
                </a:solidFill>
                <a:latin typeface="Arial" pitchFamily="34" charset="0"/>
                <a:ea typeface="Arial" pitchFamily="34" charset="-122"/>
                <a:cs typeface="Arial" pitchFamily="34" charset="-120"/>
              </a:rPr>
              <a:t>Confirm</a:t>
            </a:r>
            <a:endParaRPr lang="en-US" sz="1200" dirty="0"/>
          </a:p>
        </p:txBody>
      </p:sp>
      <p:sp>
        <p:nvSpPr>
          <p:cNvPr id="24" name="Shape 20"/>
          <p:cNvSpPr/>
          <p:nvPr/>
        </p:nvSpPr>
        <p:spPr>
          <a:xfrm>
            <a:off x="6217920" y="5029200"/>
            <a:ext cx="512064" cy="512064"/>
          </a:xfrm>
          <a:prstGeom prst="ellipse">
            <a:avLst/>
          </a:prstGeom>
          <a:solidFill>
            <a:srgbClr val="D97706"/>
          </a:solidFill>
          <a:ln w="12700">
            <a:solidFill>
              <a:srgbClr val="D97706"/>
            </a:solidFill>
            <a:prstDash val="solid"/>
          </a:ln>
        </p:spPr>
      </p:sp>
      <p:pic>
        <p:nvPicPr>
          <p:cNvPr id="25" name="Image 1" descr="preencoded.png">    </p:cNvPr>
          <p:cNvPicPr>
            <a:picLocks noChangeAspect="1"/>
          </p:cNvPicPr>
          <p:nvPr/>
        </p:nvPicPr>
        <p:blipFill>
          <a:blip r:embed="rId2"/>
          <a:stretch>
            <a:fillRect/>
          </a:stretch>
        </p:blipFill>
        <p:spPr>
          <a:xfrm>
            <a:off x="6335695" y="5146975"/>
            <a:ext cx="276515" cy="276515"/>
          </a:xfrm>
          <a:prstGeom prst="rect">
            <a:avLst/>
          </a:prstGeom>
        </p:spPr>
      </p:pic>
      <p:sp>
        <p:nvSpPr>
          <p:cNvPr id="26" name="Text 21"/>
          <p:cNvSpPr/>
          <p:nvPr/>
        </p:nvSpPr>
        <p:spPr>
          <a:xfrm>
            <a:off x="6931152" y="5010912"/>
            <a:ext cx="4711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Ready for the State’s databases</a:t>
            </a:r>
            <a:endParaRPr lang="en-US" sz="1500" dirty="0"/>
          </a:p>
        </p:txBody>
      </p:sp>
      <p:sp>
        <p:nvSpPr>
          <p:cNvPr id="27" name="Text 22"/>
          <p:cNvSpPr/>
          <p:nvPr/>
        </p:nvSpPr>
        <p:spPr>
          <a:xfrm>
            <a:off x="6931152" y="5330952"/>
            <a:ext cx="4711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VAHAN, SARTHI, eGujCop, AFIS and NAFIS connectors are built. Access, once granted, is a setting.</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EVIDENCE AND PRIVACY</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Evidence that holds up. Privacy by default.</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10</a:t>
            </a:r>
            <a:endParaRPr lang="en-US" sz="900" dirty="0"/>
          </a:p>
        </p:txBody>
      </p:sp>
      <p:sp>
        <p:nvSpPr>
          <p:cNvPr id="6" name="Shape 3"/>
          <p:cNvSpPr/>
          <p:nvPr/>
        </p:nvSpPr>
        <p:spPr>
          <a:xfrm>
            <a:off x="6839712" y="1673352"/>
            <a:ext cx="4821631" cy="3318447"/>
          </a:xfrm>
          <a:prstGeom prst="roundRect">
            <a:avLst>
              <a:gd name="adj" fmla="val 2756"/>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7" name="Image 0" descr="preencoded.png">    </p:cNvPr>
          <p:cNvPicPr>
            <a:picLocks noChangeAspect="1"/>
          </p:cNvPicPr>
          <p:nvPr/>
        </p:nvPicPr>
        <p:blipFill>
          <a:blip r:embed="rId1"/>
          <a:stretch>
            <a:fillRect/>
          </a:stretch>
        </p:blipFill>
        <p:spPr>
          <a:xfrm>
            <a:off x="6903720" y="1737360"/>
            <a:ext cx="4693615" cy="3190431"/>
          </a:xfrm>
          <a:prstGeom prst="rect">
            <a:avLst/>
          </a:prstGeom>
        </p:spPr>
      </p:pic>
      <p:sp>
        <p:nvSpPr>
          <p:cNvPr id="8" name="Shape 4"/>
          <p:cNvSpPr/>
          <p:nvPr/>
        </p:nvSpPr>
        <p:spPr>
          <a:xfrm>
            <a:off x="548640" y="1783080"/>
            <a:ext cx="512064" cy="512064"/>
          </a:xfrm>
          <a:prstGeom prst="ellipse">
            <a:avLst/>
          </a:prstGeom>
          <a:solidFill>
            <a:srgbClr val="D97706"/>
          </a:solidFill>
          <a:ln w="12700">
            <a:solidFill>
              <a:srgbClr val="D97706"/>
            </a:solidFill>
            <a:prstDash val="solid"/>
          </a:ln>
        </p:spPr>
      </p:sp>
      <p:pic>
        <p:nvPicPr>
          <p:cNvPr id="9" name="Image 1" descr="preencoded.png">    </p:cNvPr>
          <p:cNvPicPr>
            <a:picLocks noChangeAspect="1"/>
          </p:cNvPicPr>
          <p:nvPr/>
        </p:nvPicPr>
        <p:blipFill>
          <a:blip r:embed="rId2"/>
          <a:stretch>
            <a:fillRect/>
          </a:stretch>
        </p:blipFill>
        <p:spPr>
          <a:xfrm>
            <a:off x="666415" y="1900855"/>
            <a:ext cx="276515" cy="276515"/>
          </a:xfrm>
          <a:prstGeom prst="rect">
            <a:avLst/>
          </a:prstGeom>
        </p:spPr>
      </p:pic>
      <p:sp>
        <p:nvSpPr>
          <p:cNvPr id="10" name="Text 5"/>
          <p:cNvSpPr/>
          <p:nvPr/>
        </p:nvSpPr>
        <p:spPr>
          <a:xfrm>
            <a:off x="1261872" y="1764792"/>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The time on the frame is the time in the report</a:t>
            </a:r>
            <a:endParaRPr lang="en-US" sz="1500" dirty="0"/>
          </a:p>
        </p:txBody>
      </p:sp>
      <p:sp>
        <p:nvSpPr>
          <p:cNvPr id="11" name="Text 6"/>
          <p:cNvSpPr/>
          <p:nvPr/>
        </p:nvSpPr>
        <p:spPr>
          <a:xfrm>
            <a:off x="1261872" y="2084832"/>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Read from the camera’s own clock. If it cannot be read, we say “time unknown” — never a guess.</a:t>
            </a:r>
            <a:endParaRPr lang="en-US" sz="1300" dirty="0"/>
          </a:p>
        </p:txBody>
      </p:sp>
      <p:sp>
        <p:nvSpPr>
          <p:cNvPr id="12" name="Shape 7"/>
          <p:cNvSpPr/>
          <p:nvPr/>
        </p:nvSpPr>
        <p:spPr>
          <a:xfrm>
            <a:off x="548640" y="2862072"/>
            <a:ext cx="512064" cy="512064"/>
          </a:xfrm>
          <a:prstGeom prst="ellipse">
            <a:avLst/>
          </a:prstGeom>
          <a:solidFill>
            <a:srgbClr val="2456D6"/>
          </a:solidFill>
          <a:ln w="12700">
            <a:solidFill>
              <a:srgbClr val="2456D6"/>
            </a:solidFill>
            <a:prstDash val="solid"/>
          </a:ln>
        </p:spPr>
      </p:sp>
      <p:pic>
        <p:nvPicPr>
          <p:cNvPr id="13" name="Image 2" descr="preencoded.png">    </p:cNvPr>
          <p:cNvPicPr>
            <a:picLocks noChangeAspect="1"/>
          </p:cNvPicPr>
          <p:nvPr/>
        </p:nvPicPr>
        <p:blipFill>
          <a:blip r:embed="rId3"/>
          <a:stretch>
            <a:fillRect/>
          </a:stretch>
        </p:blipFill>
        <p:spPr>
          <a:xfrm>
            <a:off x="666415" y="2979847"/>
            <a:ext cx="276515" cy="276515"/>
          </a:xfrm>
          <a:prstGeom prst="rect">
            <a:avLst/>
          </a:prstGeom>
        </p:spPr>
      </p:pic>
      <p:sp>
        <p:nvSpPr>
          <p:cNvPr id="14" name="Text 8"/>
          <p:cNvSpPr/>
          <p:nvPr/>
        </p:nvSpPr>
        <p:spPr>
          <a:xfrm>
            <a:off x="1261872" y="2843784"/>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Faces blurred by default</a:t>
            </a:r>
            <a:endParaRPr lang="en-US" sz="1500" dirty="0"/>
          </a:p>
        </p:txBody>
      </p:sp>
      <p:sp>
        <p:nvSpPr>
          <p:cNvPr id="15" name="Text 9"/>
          <p:cNvSpPr/>
          <p:nvPr/>
        </p:nvSpPr>
        <p:spPr>
          <a:xfrm>
            <a:off x="1261872" y="3163824"/>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Seeing an original needs a stated reason, and is recorded.</a:t>
            </a:r>
            <a:endParaRPr lang="en-US" sz="1300" dirty="0"/>
          </a:p>
        </p:txBody>
      </p:sp>
      <p:sp>
        <p:nvSpPr>
          <p:cNvPr id="16" name="Shape 10"/>
          <p:cNvSpPr/>
          <p:nvPr/>
        </p:nvSpPr>
        <p:spPr>
          <a:xfrm>
            <a:off x="548640" y="3941064"/>
            <a:ext cx="512064" cy="512064"/>
          </a:xfrm>
          <a:prstGeom prst="ellipse">
            <a:avLst/>
          </a:prstGeom>
          <a:solidFill>
            <a:srgbClr val="2456D6"/>
          </a:solidFill>
          <a:ln w="12700">
            <a:solidFill>
              <a:srgbClr val="2456D6"/>
            </a:solidFill>
            <a:prstDash val="solid"/>
          </a:ln>
        </p:spPr>
      </p:sp>
      <p:pic>
        <p:nvPicPr>
          <p:cNvPr id="17" name="Image 3" descr="preencoded.png">    </p:cNvPr>
          <p:cNvPicPr>
            <a:picLocks noChangeAspect="1"/>
          </p:cNvPicPr>
          <p:nvPr/>
        </p:nvPicPr>
        <p:blipFill>
          <a:blip r:embed="rId4"/>
          <a:stretch>
            <a:fillRect/>
          </a:stretch>
        </p:blipFill>
        <p:spPr>
          <a:xfrm>
            <a:off x="666415" y="4058839"/>
            <a:ext cx="276515" cy="276515"/>
          </a:xfrm>
          <a:prstGeom prst="rect">
            <a:avLst/>
          </a:prstGeom>
        </p:spPr>
      </p:pic>
      <p:sp>
        <p:nvSpPr>
          <p:cNvPr id="18" name="Text 11"/>
          <p:cNvSpPr/>
          <p:nvPr/>
        </p:nvSpPr>
        <p:spPr>
          <a:xfrm>
            <a:off x="1261872" y="3922776"/>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A log no one can quietly edit</a:t>
            </a:r>
            <a:endParaRPr lang="en-US" sz="1500" dirty="0"/>
          </a:p>
        </p:txBody>
      </p:sp>
      <p:sp>
        <p:nvSpPr>
          <p:cNvPr id="19" name="Text 12"/>
          <p:cNvSpPr/>
          <p:nvPr/>
        </p:nvSpPr>
        <p:spPr>
          <a:xfrm>
            <a:off x="1261872" y="4242816"/>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search, export and reveal. Change one entry and verification fails.</a:t>
            </a:r>
            <a:endParaRPr lang="en-US" sz="1300" dirty="0"/>
          </a:p>
        </p:txBody>
      </p:sp>
      <p:sp>
        <p:nvSpPr>
          <p:cNvPr id="20" name="Shape 13"/>
          <p:cNvSpPr/>
          <p:nvPr/>
        </p:nvSpPr>
        <p:spPr>
          <a:xfrm>
            <a:off x="548640" y="5020056"/>
            <a:ext cx="512064" cy="512064"/>
          </a:xfrm>
          <a:prstGeom prst="ellipse">
            <a:avLst/>
          </a:prstGeom>
          <a:solidFill>
            <a:srgbClr val="2456D6"/>
          </a:solidFill>
          <a:ln w="12700">
            <a:solidFill>
              <a:srgbClr val="2456D6"/>
            </a:solidFill>
            <a:prstDash val="solid"/>
          </a:ln>
        </p:spPr>
      </p:sp>
      <p:pic>
        <p:nvPicPr>
          <p:cNvPr id="21" name="Image 4" descr="preencoded.png">    </p:cNvPr>
          <p:cNvPicPr>
            <a:picLocks noChangeAspect="1"/>
          </p:cNvPicPr>
          <p:nvPr/>
        </p:nvPicPr>
        <p:blipFill>
          <a:blip r:embed="rId5"/>
          <a:stretch>
            <a:fillRect/>
          </a:stretch>
        </p:blipFill>
        <p:spPr>
          <a:xfrm>
            <a:off x="666415" y="5137831"/>
            <a:ext cx="276515" cy="276515"/>
          </a:xfrm>
          <a:prstGeom prst="rect">
            <a:avLst/>
          </a:prstGeom>
        </p:spPr>
      </p:pic>
      <p:sp>
        <p:nvSpPr>
          <p:cNvPr id="22" name="Text 14"/>
          <p:cNvSpPr/>
          <p:nvPr/>
        </p:nvSpPr>
        <p:spPr>
          <a:xfrm>
            <a:off x="1261872" y="5001768"/>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Each department sees its own</a:t>
            </a:r>
            <a:endParaRPr lang="en-US" sz="1500" dirty="0"/>
          </a:p>
        </p:txBody>
      </p:sp>
      <p:sp>
        <p:nvSpPr>
          <p:cNvPr id="23" name="Text 15"/>
          <p:cNvSpPr/>
          <p:nvPr/>
        </p:nvSpPr>
        <p:spPr>
          <a:xfrm>
            <a:off x="1261872" y="5321808"/>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Access scoped in the database itself; private cameras only with current consent.</a:t>
            </a:r>
            <a:endParaRPr lang="en-US" sz="1300" dirty="0"/>
          </a:p>
        </p:txBody>
      </p:sp>
      <p:sp>
        <p:nvSpPr>
          <p:cNvPr id="24" name="Text 16"/>
          <p:cNvSpPr/>
          <p:nvPr/>
        </p:nvSpPr>
        <p:spPr>
          <a:xfrm>
            <a:off x="6903720" y="5806440"/>
            <a:ext cx="4693615" cy="45720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A sighting whose clock cannot be read stays a sighting — listed, clearly labelled, and kept off the timeline.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BEYOND NUMBER PLATES</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More than plates — never identities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11</a:t>
            </a:r>
            <a:endParaRPr lang="en-US" sz="900" dirty="0"/>
          </a:p>
        </p:txBody>
      </p:sp>
      <p:sp>
        <p:nvSpPr>
          <p:cNvPr id="6" name="Shape 3"/>
          <p:cNvSpPr/>
          <p:nvPr/>
        </p:nvSpPr>
        <p:spPr>
          <a:xfrm>
            <a:off x="548640"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7" name="Shape 4"/>
          <p:cNvSpPr/>
          <p:nvPr/>
        </p:nvSpPr>
        <p:spPr>
          <a:xfrm>
            <a:off x="822960" y="2011680"/>
            <a:ext cx="548640" cy="548640"/>
          </a:xfrm>
          <a:prstGeom prst="ellipse">
            <a:avLst/>
          </a:prstGeom>
          <a:solidFill>
            <a:srgbClr val="2456D6"/>
          </a:solidFill>
          <a:ln w="12700">
            <a:solidFill>
              <a:srgbClr val="2456D6"/>
            </a:solidFill>
            <a:prstDash val="solid"/>
          </a:ln>
        </p:spPr>
      </p:sp>
      <p:pic>
        <p:nvPicPr>
          <p:cNvPr id="8" name="Image 0" descr="preencoded.png">    </p:cNvPr>
          <p:cNvPicPr>
            <a:picLocks noChangeAspect="1"/>
          </p:cNvPicPr>
          <p:nvPr/>
        </p:nvPicPr>
        <p:blipFill>
          <a:blip r:embed="rId1"/>
          <a:stretch>
            <a:fillRect/>
          </a:stretch>
        </p:blipFill>
        <p:spPr>
          <a:xfrm>
            <a:off x="949147" y="2137867"/>
            <a:ext cx="296266" cy="296266"/>
          </a:xfrm>
          <a:prstGeom prst="rect">
            <a:avLst/>
          </a:prstGeom>
        </p:spPr>
      </p:pic>
      <p:sp>
        <p:nvSpPr>
          <p:cNvPr id="9" name="Text 5"/>
          <p:cNvSpPr/>
          <p:nvPr/>
        </p:nvSpPr>
        <p:spPr>
          <a:xfrm>
            <a:off x="1554480"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Vehicle type</a:t>
            </a:r>
            <a:endParaRPr lang="en-US" sz="1700" dirty="0"/>
          </a:p>
        </p:txBody>
      </p:sp>
      <p:sp>
        <p:nvSpPr>
          <p:cNvPr id="10" name="Text 6"/>
          <p:cNvSpPr/>
          <p:nvPr/>
        </p:nvSpPr>
        <p:spPr>
          <a:xfrm>
            <a:off x="1554480"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Car, motorcycle, bus or truck — on every read.</a:t>
            </a:r>
            <a:endParaRPr lang="en-US" sz="1400" dirty="0"/>
          </a:p>
        </p:txBody>
      </p:sp>
      <p:sp>
        <p:nvSpPr>
          <p:cNvPr id="11" name="Shape 7"/>
          <p:cNvSpPr/>
          <p:nvPr/>
        </p:nvSpPr>
        <p:spPr>
          <a:xfrm>
            <a:off x="4338218"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Shape 8"/>
          <p:cNvSpPr/>
          <p:nvPr/>
        </p:nvSpPr>
        <p:spPr>
          <a:xfrm>
            <a:off x="4612538" y="2011680"/>
            <a:ext cx="548640" cy="548640"/>
          </a:xfrm>
          <a:prstGeom prst="ellipse">
            <a:avLst/>
          </a:prstGeom>
          <a:solidFill>
            <a:srgbClr val="2456D6"/>
          </a:solidFill>
          <a:ln w="12700">
            <a:solidFill>
              <a:srgbClr val="2456D6"/>
            </a:solidFill>
            <a:prstDash val="solid"/>
          </a:ln>
        </p:spPr>
      </p:sp>
      <p:pic>
        <p:nvPicPr>
          <p:cNvPr id="13" name="Image 1" descr="preencoded.png">    </p:cNvPr>
          <p:cNvPicPr>
            <a:picLocks noChangeAspect="1"/>
          </p:cNvPicPr>
          <p:nvPr/>
        </p:nvPicPr>
        <p:blipFill>
          <a:blip r:embed="rId2"/>
          <a:stretch>
            <a:fillRect/>
          </a:stretch>
        </p:blipFill>
        <p:spPr>
          <a:xfrm>
            <a:off x="4738726" y="2137867"/>
            <a:ext cx="296266" cy="296266"/>
          </a:xfrm>
          <a:prstGeom prst="rect">
            <a:avLst/>
          </a:prstGeom>
        </p:spPr>
      </p:pic>
      <p:sp>
        <p:nvSpPr>
          <p:cNvPr id="14" name="Text 9"/>
          <p:cNvSpPr/>
          <p:nvPr/>
        </p:nvSpPr>
        <p:spPr>
          <a:xfrm>
            <a:off x="5344058"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Vehicle colour</a:t>
            </a:r>
            <a:endParaRPr lang="en-US" sz="1700" dirty="0"/>
          </a:p>
        </p:txBody>
      </p:sp>
      <p:sp>
        <p:nvSpPr>
          <p:cNvPr id="15" name="Text 10"/>
          <p:cNvSpPr/>
          <p:nvPr/>
        </p:nvSpPr>
        <p:spPr>
          <a:xfrm>
            <a:off x="5344058"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Body colour attached to each sighting.</a:t>
            </a:r>
            <a:endParaRPr lang="en-US" sz="1400" dirty="0"/>
          </a:p>
        </p:txBody>
      </p:sp>
      <p:sp>
        <p:nvSpPr>
          <p:cNvPr id="16" name="Shape 11"/>
          <p:cNvSpPr/>
          <p:nvPr/>
        </p:nvSpPr>
        <p:spPr>
          <a:xfrm>
            <a:off x="8127797"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Shape 12"/>
          <p:cNvSpPr/>
          <p:nvPr/>
        </p:nvSpPr>
        <p:spPr>
          <a:xfrm>
            <a:off x="8402117" y="2011680"/>
            <a:ext cx="548640" cy="548640"/>
          </a:xfrm>
          <a:prstGeom prst="ellipse">
            <a:avLst/>
          </a:prstGeom>
          <a:solidFill>
            <a:srgbClr val="2456D6"/>
          </a:solidFill>
          <a:ln w="12700">
            <a:solidFill>
              <a:srgbClr val="2456D6"/>
            </a:solidFill>
            <a:prstDash val="solid"/>
          </a:ln>
        </p:spPr>
      </p:sp>
      <p:pic>
        <p:nvPicPr>
          <p:cNvPr id="18" name="Image 2" descr="preencoded.png">    </p:cNvPr>
          <p:cNvPicPr>
            <a:picLocks noChangeAspect="1"/>
          </p:cNvPicPr>
          <p:nvPr/>
        </p:nvPicPr>
        <p:blipFill>
          <a:blip r:embed="rId3"/>
          <a:stretch>
            <a:fillRect/>
          </a:stretch>
        </p:blipFill>
        <p:spPr>
          <a:xfrm>
            <a:off x="8528304" y="2137867"/>
            <a:ext cx="296266" cy="296266"/>
          </a:xfrm>
          <a:prstGeom prst="rect">
            <a:avLst/>
          </a:prstGeom>
        </p:spPr>
      </p:pic>
      <p:sp>
        <p:nvSpPr>
          <p:cNvPr id="19" name="Text 13"/>
          <p:cNvSpPr/>
          <p:nvPr/>
        </p:nvSpPr>
        <p:spPr>
          <a:xfrm>
            <a:off x="9133637"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People counted</a:t>
            </a:r>
            <a:endParaRPr lang="en-US" sz="1700" dirty="0"/>
          </a:p>
        </p:txBody>
      </p:sp>
      <p:sp>
        <p:nvSpPr>
          <p:cNvPr id="20" name="Text 14"/>
          <p:cNvSpPr/>
          <p:nvPr/>
        </p:nvSpPr>
        <p:spPr>
          <a:xfrm>
            <a:off x="9133637"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Counted per camera and held to zones. Never identified.</a:t>
            </a:r>
            <a:endParaRPr lang="en-US" sz="1400" dirty="0"/>
          </a:p>
        </p:txBody>
      </p:sp>
      <p:sp>
        <p:nvSpPr>
          <p:cNvPr id="21" name="Shape 15"/>
          <p:cNvSpPr/>
          <p:nvPr/>
        </p:nvSpPr>
        <p:spPr>
          <a:xfrm>
            <a:off x="548640"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2" name="Shape 16"/>
          <p:cNvSpPr/>
          <p:nvPr/>
        </p:nvSpPr>
        <p:spPr>
          <a:xfrm>
            <a:off x="822960" y="3886200"/>
            <a:ext cx="548640" cy="548640"/>
          </a:xfrm>
          <a:prstGeom prst="ellipse">
            <a:avLst/>
          </a:prstGeom>
          <a:solidFill>
            <a:srgbClr val="2456D6"/>
          </a:solidFill>
          <a:ln w="12700">
            <a:solidFill>
              <a:srgbClr val="2456D6"/>
            </a:solidFill>
            <a:prstDash val="solid"/>
          </a:ln>
        </p:spPr>
      </p:sp>
      <p:pic>
        <p:nvPicPr>
          <p:cNvPr id="23" name="Image 3" descr="preencoded.png">    </p:cNvPr>
          <p:cNvPicPr>
            <a:picLocks noChangeAspect="1"/>
          </p:cNvPicPr>
          <p:nvPr/>
        </p:nvPicPr>
        <p:blipFill>
          <a:blip r:embed="rId4"/>
          <a:stretch>
            <a:fillRect/>
          </a:stretch>
        </p:blipFill>
        <p:spPr>
          <a:xfrm>
            <a:off x="949147" y="4012387"/>
            <a:ext cx="296266" cy="296266"/>
          </a:xfrm>
          <a:prstGeom prst="rect">
            <a:avLst/>
          </a:prstGeom>
        </p:spPr>
      </p:pic>
      <p:sp>
        <p:nvSpPr>
          <p:cNvPr id="24" name="Text 17"/>
          <p:cNvSpPr/>
          <p:nvPr/>
        </p:nvSpPr>
        <p:spPr>
          <a:xfrm>
            <a:off x="1554480"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Restricted zones</a:t>
            </a:r>
            <a:endParaRPr lang="en-US" sz="1700" dirty="0"/>
          </a:p>
        </p:txBody>
      </p:sp>
      <p:sp>
        <p:nvSpPr>
          <p:cNvPr id="25" name="Text 18"/>
          <p:cNvSpPr/>
          <p:nvPr/>
        </p:nvSpPr>
        <p:spPr>
          <a:xfrm>
            <a:off x="1554480"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Intrusion and loitering, drawn on any camera.</a:t>
            </a:r>
            <a:endParaRPr lang="en-US" sz="1400" dirty="0"/>
          </a:p>
        </p:txBody>
      </p:sp>
      <p:sp>
        <p:nvSpPr>
          <p:cNvPr id="26" name="Shape 19"/>
          <p:cNvSpPr/>
          <p:nvPr/>
        </p:nvSpPr>
        <p:spPr>
          <a:xfrm>
            <a:off x="4338218"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7" name="Shape 20"/>
          <p:cNvSpPr/>
          <p:nvPr/>
        </p:nvSpPr>
        <p:spPr>
          <a:xfrm>
            <a:off x="4612538" y="3886200"/>
            <a:ext cx="548640" cy="548640"/>
          </a:xfrm>
          <a:prstGeom prst="ellipse">
            <a:avLst/>
          </a:prstGeom>
          <a:solidFill>
            <a:srgbClr val="2456D6"/>
          </a:solidFill>
          <a:ln w="12700">
            <a:solidFill>
              <a:srgbClr val="2456D6"/>
            </a:solidFill>
            <a:prstDash val="solid"/>
          </a:ln>
        </p:spPr>
      </p:sp>
      <p:pic>
        <p:nvPicPr>
          <p:cNvPr id="28" name="Image 4" descr="preencoded.png">    </p:cNvPr>
          <p:cNvPicPr>
            <a:picLocks noChangeAspect="1"/>
          </p:cNvPicPr>
          <p:nvPr/>
        </p:nvPicPr>
        <p:blipFill>
          <a:blip r:embed="rId5"/>
          <a:stretch>
            <a:fillRect/>
          </a:stretch>
        </p:blipFill>
        <p:spPr>
          <a:xfrm>
            <a:off x="4738726" y="4012387"/>
            <a:ext cx="296266" cy="296266"/>
          </a:xfrm>
          <a:prstGeom prst="rect">
            <a:avLst/>
          </a:prstGeom>
        </p:spPr>
      </p:pic>
      <p:sp>
        <p:nvSpPr>
          <p:cNvPr id="29" name="Text 21"/>
          <p:cNvSpPr/>
          <p:nvPr/>
        </p:nvSpPr>
        <p:spPr>
          <a:xfrm>
            <a:off x="5344058"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Traffic rules</a:t>
            </a:r>
            <a:endParaRPr lang="en-US" sz="1700" dirty="0"/>
          </a:p>
        </p:txBody>
      </p:sp>
      <p:sp>
        <p:nvSpPr>
          <p:cNvPr id="30" name="Text 22"/>
          <p:cNvSpPr/>
          <p:nvPr/>
        </p:nvSpPr>
        <p:spPr>
          <a:xfrm>
            <a:off x="5344058"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Wrong-way and stopped vehicles, per zone.</a:t>
            </a:r>
            <a:endParaRPr lang="en-US" sz="1400" dirty="0"/>
          </a:p>
        </p:txBody>
      </p:sp>
      <p:sp>
        <p:nvSpPr>
          <p:cNvPr id="31" name="Shape 23"/>
          <p:cNvSpPr/>
          <p:nvPr/>
        </p:nvSpPr>
        <p:spPr>
          <a:xfrm>
            <a:off x="8127797"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2" name="Shape 24"/>
          <p:cNvSpPr/>
          <p:nvPr/>
        </p:nvSpPr>
        <p:spPr>
          <a:xfrm>
            <a:off x="8402117" y="3886200"/>
            <a:ext cx="548640" cy="548640"/>
          </a:xfrm>
          <a:prstGeom prst="ellipse">
            <a:avLst/>
          </a:prstGeom>
          <a:solidFill>
            <a:srgbClr val="2456D6"/>
          </a:solidFill>
          <a:ln w="12700">
            <a:solidFill>
              <a:srgbClr val="2456D6"/>
            </a:solidFill>
            <a:prstDash val="solid"/>
          </a:ln>
        </p:spPr>
      </p:sp>
      <p:pic>
        <p:nvPicPr>
          <p:cNvPr id="33" name="Image 5" descr="preencoded.png">    </p:cNvPr>
          <p:cNvPicPr>
            <a:picLocks noChangeAspect="1"/>
          </p:cNvPicPr>
          <p:nvPr/>
        </p:nvPicPr>
        <p:blipFill>
          <a:blip r:embed="rId6"/>
          <a:stretch>
            <a:fillRect/>
          </a:stretch>
        </p:blipFill>
        <p:spPr>
          <a:xfrm>
            <a:off x="8528304" y="4012387"/>
            <a:ext cx="296266" cy="296266"/>
          </a:xfrm>
          <a:prstGeom prst="rect">
            <a:avLst/>
          </a:prstGeom>
        </p:spPr>
      </p:pic>
      <p:sp>
        <p:nvSpPr>
          <p:cNvPr id="34" name="Text 25"/>
          <p:cNvSpPr/>
          <p:nvPr/>
        </p:nvSpPr>
        <p:spPr>
          <a:xfrm>
            <a:off x="9133637"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Camera tamper</a:t>
            </a:r>
            <a:endParaRPr lang="en-US" sz="1700" dirty="0"/>
          </a:p>
        </p:txBody>
      </p:sp>
      <p:sp>
        <p:nvSpPr>
          <p:cNvPr id="35" name="Text 26"/>
          <p:cNvSpPr/>
          <p:nvPr/>
        </p:nvSpPr>
        <p:spPr>
          <a:xfrm>
            <a:off x="9133637"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Covered, blurred or moved — flagged on the camera.</a:t>
            </a:r>
            <a:endParaRPr lang="en-US" sz="1400" dirty="0"/>
          </a:p>
        </p:txBody>
      </p:sp>
      <p:sp>
        <p:nvSpPr>
          <p:cNvPr id="36" name="Shape 27"/>
          <p:cNvSpPr/>
          <p:nvPr/>
        </p:nvSpPr>
        <p:spPr>
          <a:xfrm>
            <a:off x="548640" y="5669280"/>
            <a:ext cx="420624" cy="420624"/>
          </a:xfrm>
          <a:prstGeom prst="ellipse">
            <a:avLst/>
          </a:prstGeom>
          <a:solidFill>
            <a:srgbClr val="0F766E"/>
          </a:solidFill>
          <a:ln w="12700">
            <a:solidFill>
              <a:srgbClr val="0F766E"/>
            </a:solidFill>
            <a:prstDash val="solid"/>
          </a:ln>
        </p:spPr>
      </p:sp>
      <p:pic>
        <p:nvPicPr>
          <p:cNvPr id="37" name="Image 6" descr="preencoded.png">    </p:cNvPr>
          <p:cNvPicPr>
            <a:picLocks noChangeAspect="1"/>
          </p:cNvPicPr>
          <p:nvPr/>
        </p:nvPicPr>
        <p:blipFill>
          <a:blip r:embed="rId7"/>
          <a:stretch>
            <a:fillRect/>
          </a:stretch>
        </p:blipFill>
        <p:spPr>
          <a:xfrm>
            <a:off x="645384" y="5766024"/>
            <a:ext cx="227137" cy="227137"/>
          </a:xfrm>
          <a:prstGeom prst="rect">
            <a:avLst/>
          </a:prstGeom>
        </p:spPr>
      </p:pic>
      <p:sp>
        <p:nvSpPr>
          <p:cNvPr id="38" name="Text 28"/>
          <p:cNvSpPr/>
          <p:nvPr/>
        </p:nvSpPr>
        <p:spPr>
          <a:xfrm>
            <a:off x="1143000" y="573328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No face recognition, by decision. Faces are detected only so they can be blurred.</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WHY IT SCALES</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Send meaning, not video</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12</a:t>
            </a:r>
            <a:endParaRPr lang="en-US" sz="900" dirty="0"/>
          </a:p>
        </p:txBody>
      </p:sp>
      <p:sp>
        <p:nvSpPr>
          <p:cNvPr id="6" name="Text 3"/>
          <p:cNvSpPr/>
          <p:nvPr/>
        </p:nvSpPr>
        <p:spPr>
          <a:xfrm>
            <a:off x="4754880" y="1691640"/>
            <a:ext cx="2651760" cy="320040"/>
          </a:xfrm>
          <a:prstGeom prst="rect">
            <a:avLst/>
          </a:prstGeom>
          <a:noFill/>
          <a:ln/>
        </p:spPr>
        <p:txBody>
          <a:bodyPr wrap="square" lIns="0" tIns="0" rIns="0" bIns="0" rtlCol="0" anchor="t"/>
          <a:lstStyle/>
          <a:p>
            <a:pPr indent="0" marL="0">
              <a:buNone/>
            </a:pPr>
            <a:r>
              <a:rPr lang="en-US" sz="1300" b="1" dirty="0">
                <a:solidFill>
                  <a:srgbClr val="536079"/>
                </a:solidFill>
                <a:latin typeface="Arial" pitchFamily="34" charset="0"/>
                <a:ea typeface="Arial" pitchFamily="34" charset="-122"/>
                <a:cs typeface="Arial" pitchFamily="34" charset="-120"/>
              </a:rPr>
              <a:t>Send all video to the centre</a:t>
            </a:r>
            <a:endParaRPr lang="en-US" sz="1300" dirty="0"/>
          </a:p>
        </p:txBody>
      </p:sp>
      <p:sp>
        <p:nvSpPr>
          <p:cNvPr id="7" name="Text 4"/>
          <p:cNvSpPr/>
          <p:nvPr/>
        </p:nvSpPr>
        <p:spPr>
          <a:xfrm>
            <a:off x="7498080" y="1691640"/>
            <a:ext cx="2651760" cy="320040"/>
          </a:xfrm>
          <a:prstGeom prst="rect">
            <a:avLst/>
          </a:prstGeom>
          <a:noFill/>
          <a:ln/>
        </p:spPr>
        <p:txBody>
          <a:bodyPr wrap="square" lIns="0" tIns="0" rIns="0" bIns="0" rtlCol="0" anchor="t"/>
          <a:lstStyle/>
          <a:p>
            <a:pPr indent="0" marL="0">
              <a:buNone/>
            </a:pPr>
            <a:r>
              <a:rPr lang="en-US" sz="1300" b="1" dirty="0">
                <a:solidFill>
                  <a:srgbClr val="2456D6"/>
                </a:solidFill>
                <a:latin typeface="Arial" pitchFamily="34" charset="0"/>
                <a:ea typeface="Arial" pitchFamily="34" charset="-122"/>
                <a:cs typeface="Arial" pitchFamily="34" charset="-120"/>
              </a:rPr>
              <a:t>Sentinel: analyse where filmed</a:t>
            </a:r>
            <a:endParaRPr lang="en-US" sz="1300" dirty="0"/>
          </a:p>
        </p:txBody>
      </p:sp>
      <p:sp>
        <p:nvSpPr>
          <p:cNvPr id="8" name="Shape 5"/>
          <p:cNvSpPr/>
          <p:nvPr/>
        </p:nvSpPr>
        <p:spPr>
          <a:xfrm>
            <a:off x="548640" y="2148840"/>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9" name="Shape 6"/>
          <p:cNvSpPr/>
          <p:nvPr/>
        </p:nvSpPr>
        <p:spPr>
          <a:xfrm>
            <a:off x="822960" y="2404872"/>
            <a:ext cx="512064" cy="512064"/>
          </a:xfrm>
          <a:prstGeom prst="ellipse">
            <a:avLst/>
          </a:prstGeom>
          <a:solidFill>
            <a:srgbClr val="2456D6"/>
          </a:solidFill>
          <a:ln w="12700">
            <a:solidFill>
              <a:srgbClr val="2456D6"/>
            </a:solidFill>
            <a:prstDash val="solid"/>
          </a:ln>
        </p:spPr>
      </p:sp>
      <p:pic>
        <p:nvPicPr>
          <p:cNvPr id="10" name="Image 0" descr="preencoded.png">    </p:cNvPr>
          <p:cNvPicPr>
            <a:picLocks noChangeAspect="1"/>
          </p:cNvPicPr>
          <p:nvPr/>
        </p:nvPicPr>
        <p:blipFill>
          <a:blip r:embed="rId1"/>
          <a:stretch>
            <a:fillRect/>
          </a:stretch>
        </p:blipFill>
        <p:spPr>
          <a:xfrm>
            <a:off x="940735" y="2522647"/>
            <a:ext cx="276515" cy="276515"/>
          </a:xfrm>
          <a:prstGeom prst="rect">
            <a:avLst/>
          </a:prstGeom>
        </p:spPr>
      </p:pic>
      <p:sp>
        <p:nvSpPr>
          <p:cNvPr id="11" name="Text 7"/>
          <p:cNvSpPr/>
          <p:nvPr/>
        </p:nvSpPr>
        <p:spPr>
          <a:xfrm>
            <a:off x="1536192" y="2450592"/>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Network backbone, statewide</a:t>
            </a:r>
            <a:endParaRPr lang="en-US" sz="1500" dirty="0"/>
          </a:p>
        </p:txBody>
      </p:sp>
      <p:sp>
        <p:nvSpPr>
          <p:cNvPr id="12" name="Text 8"/>
          <p:cNvSpPr/>
          <p:nvPr/>
        </p:nvSpPr>
        <p:spPr>
          <a:xfrm>
            <a:off x="4754880" y="2331720"/>
            <a:ext cx="2651760" cy="685800"/>
          </a:xfrm>
          <a:prstGeom prst="rect">
            <a:avLst/>
          </a:prstGeom>
          <a:noFill/>
          <a:ln/>
        </p:spPr>
        <p:txBody>
          <a:bodyPr wrap="square" lIns="0" tIns="0" rIns="0" bIns="0" rtlCol="0" anchor="ctr"/>
          <a:lstStyle/>
          <a:p>
            <a:pPr indent="0" marL="0">
              <a:buNone/>
            </a:pPr>
            <a:r>
              <a:rPr lang="en-US" sz="3200" b="1" dirty="0">
                <a:solidFill>
                  <a:srgbClr val="536079"/>
                </a:solidFill>
                <a:latin typeface="Arial" pitchFamily="34" charset="0"/>
                <a:ea typeface="Arial" pitchFamily="34" charset="-122"/>
                <a:cs typeface="Arial" pitchFamily="34" charset="-120"/>
              </a:rPr>
              <a:t>160 Gbps</a:t>
            </a:r>
            <a:endParaRPr lang="en-US" sz="3200" dirty="0"/>
          </a:p>
        </p:txBody>
      </p:sp>
      <p:sp>
        <p:nvSpPr>
          <p:cNvPr id="13" name="Text 9"/>
          <p:cNvSpPr/>
          <p:nvPr/>
        </p:nvSpPr>
        <p:spPr>
          <a:xfrm>
            <a:off x="7498080" y="2331720"/>
            <a:ext cx="2560320" cy="685800"/>
          </a:xfrm>
          <a:prstGeom prst="rect">
            <a:avLst/>
          </a:prstGeom>
          <a:noFill/>
          <a:ln/>
        </p:spPr>
        <p:txBody>
          <a:bodyPr wrap="square" lIns="0" tIns="0" rIns="0" bIns="0" rtlCol="0" anchor="ctr"/>
          <a:lstStyle/>
          <a:p>
            <a:pPr indent="0" marL="0">
              <a:buNone/>
            </a:pPr>
            <a:r>
              <a:rPr lang="en-US" sz="3200" b="1" dirty="0">
                <a:solidFill>
                  <a:srgbClr val="2456D6"/>
                </a:solidFill>
                <a:latin typeface="Arial" pitchFamily="34" charset="0"/>
                <a:ea typeface="Arial" pitchFamily="34" charset="-122"/>
                <a:cs typeface="Arial" pitchFamily="34" charset="-120"/>
              </a:rPr>
              <a:t>≈140 Mbps</a:t>
            </a:r>
            <a:endParaRPr lang="en-US" sz="3200" dirty="0"/>
          </a:p>
        </p:txBody>
      </p:sp>
      <p:sp>
        <p:nvSpPr>
          <p:cNvPr id="14" name="Shape 10"/>
          <p:cNvSpPr/>
          <p:nvPr/>
        </p:nvSpPr>
        <p:spPr>
          <a:xfrm>
            <a:off x="10058400" y="2441448"/>
            <a:ext cx="1310335" cy="438912"/>
          </a:xfrm>
          <a:prstGeom prst="roundRect">
            <a:avLst>
              <a:gd name="adj" fmla="val 50000"/>
            </a:avLst>
          </a:prstGeom>
          <a:solidFill>
            <a:srgbClr val="FDF1DF"/>
          </a:solidFill>
          <a:ln w="9525">
            <a:solidFill>
              <a:srgbClr val="F5D6A6"/>
            </a:solidFill>
            <a:prstDash val="solid"/>
          </a:ln>
        </p:spPr>
      </p:sp>
      <p:sp>
        <p:nvSpPr>
          <p:cNvPr id="15" name="Text 11"/>
          <p:cNvSpPr/>
          <p:nvPr/>
        </p:nvSpPr>
        <p:spPr>
          <a:xfrm>
            <a:off x="10058400" y="2441448"/>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~1,000× less</a:t>
            </a:r>
            <a:endParaRPr lang="en-US" sz="1400" dirty="0"/>
          </a:p>
        </p:txBody>
      </p:sp>
      <p:sp>
        <p:nvSpPr>
          <p:cNvPr id="16" name="Shape 12"/>
          <p:cNvSpPr/>
          <p:nvPr/>
        </p:nvSpPr>
        <p:spPr>
          <a:xfrm>
            <a:off x="548640" y="3355848"/>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Shape 13"/>
          <p:cNvSpPr/>
          <p:nvPr/>
        </p:nvSpPr>
        <p:spPr>
          <a:xfrm>
            <a:off x="822960" y="3611880"/>
            <a:ext cx="512064" cy="512064"/>
          </a:xfrm>
          <a:prstGeom prst="ellipse">
            <a:avLst/>
          </a:prstGeom>
          <a:solidFill>
            <a:srgbClr val="2456D6"/>
          </a:solidFill>
          <a:ln w="12700">
            <a:solidFill>
              <a:srgbClr val="2456D6"/>
            </a:solidFill>
            <a:prstDash val="solid"/>
          </a:ln>
        </p:spPr>
      </p:sp>
      <p:pic>
        <p:nvPicPr>
          <p:cNvPr id="18" name="Image 1" descr="preencoded.png">    </p:cNvPr>
          <p:cNvPicPr>
            <a:picLocks noChangeAspect="1"/>
          </p:cNvPicPr>
          <p:nvPr/>
        </p:nvPicPr>
        <p:blipFill>
          <a:blip r:embed="rId2"/>
          <a:stretch>
            <a:fillRect/>
          </a:stretch>
        </p:blipFill>
        <p:spPr>
          <a:xfrm>
            <a:off x="940735" y="3729655"/>
            <a:ext cx="276515" cy="276515"/>
          </a:xfrm>
          <a:prstGeom prst="rect">
            <a:avLst/>
          </a:prstGeom>
        </p:spPr>
      </p:pic>
      <p:sp>
        <p:nvSpPr>
          <p:cNvPr id="19" name="Text 14"/>
          <p:cNvSpPr/>
          <p:nvPr/>
        </p:nvSpPr>
        <p:spPr>
          <a:xfrm>
            <a:off x="1536192" y="3657600"/>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Storage for one week</a:t>
            </a:r>
            <a:endParaRPr lang="en-US" sz="1500" dirty="0"/>
          </a:p>
        </p:txBody>
      </p:sp>
      <p:sp>
        <p:nvSpPr>
          <p:cNvPr id="20" name="Text 15"/>
          <p:cNvSpPr/>
          <p:nvPr/>
        </p:nvSpPr>
        <p:spPr>
          <a:xfrm>
            <a:off x="4754880" y="3538728"/>
            <a:ext cx="2651760" cy="685800"/>
          </a:xfrm>
          <a:prstGeom prst="rect">
            <a:avLst/>
          </a:prstGeom>
          <a:noFill/>
          <a:ln/>
        </p:spPr>
        <p:txBody>
          <a:bodyPr wrap="square" lIns="0" tIns="0" rIns="0" bIns="0" rtlCol="0" anchor="ctr"/>
          <a:lstStyle/>
          <a:p>
            <a:pPr indent="0" marL="0">
              <a:buNone/>
            </a:pPr>
            <a:r>
              <a:rPr lang="en-US" sz="3200" b="1" dirty="0">
                <a:solidFill>
                  <a:srgbClr val="536079"/>
                </a:solidFill>
                <a:latin typeface="Arial" pitchFamily="34" charset="0"/>
                <a:ea typeface="Arial" pitchFamily="34" charset="-122"/>
                <a:cs typeface="Arial" pitchFamily="34" charset="-120"/>
              </a:rPr>
              <a:t>12.1 PB</a:t>
            </a:r>
            <a:endParaRPr lang="en-US" sz="3200" dirty="0"/>
          </a:p>
        </p:txBody>
      </p:sp>
      <p:sp>
        <p:nvSpPr>
          <p:cNvPr id="21" name="Text 16"/>
          <p:cNvSpPr/>
          <p:nvPr/>
        </p:nvSpPr>
        <p:spPr>
          <a:xfrm>
            <a:off x="7498080" y="3538728"/>
            <a:ext cx="2560320" cy="685800"/>
          </a:xfrm>
          <a:prstGeom prst="rect">
            <a:avLst/>
          </a:prstGeom>
          <a:noFill/>
          <a:ln/>
        </p:spPr>
        <p:txBody>
          <a:bodyPr wrap="square" lIns="0" tIns="0" rIns="0" bIns="0" rtlCol="0" anchor="ctr"/>
          <a:lstStyle/>
          <a:p>
            <a:pPr indent="0" marL="0">
              <a:buNone/>
            </a:pPr>
            <a:r>
              <a:rPr lang="en-US" sz="3200" b="1" dirty="0">
                <a:solidFill>
                  <a:srgbClr val="2456D6"/>
                </a:solidFill>
                <a:latin typeface="Arial" pitchFamily="34" charset="0"/>
                <a:ea typeface="Arial" pitchFamily="34" charset="-122"/>
                <a:cs typeface="Arial" pitchFamily="34" charset="-120"/>
              </a:rPr>
              <a:t>≈390 TB</a:t>
            </a:r>
            <a:endParaRPr lang="en-US" sz="3200" dirty="0"/>
          </a:p>
        </p:txBody>
      </p:sp>
      <p:sp>
        <p:nvSpPr>
          <p:cNvPr id="22" name="Shape 17"/>
          <p:cNvSpPr/>
          <p:nvPr/>
        </p:nvSpPr>
        <p:spPr>
          <a:xfrm>
            <a:off x="10058400" y="3648456"/>
            <a:ext cx="1310335" cy="438912"/>
          </a:xfrm>
          <a:prstGeom prst="roundRect">
            <a:avLst>
              <a:gd name="adj" fmla="val 50000"/>
            </a:avLst>
          </a:prstGeom>
          <a:solidFill>
            <a:srgbClr val="FDF1DF"/>
          </a:solidFill>
          <a:ln w="9525">
            <a:solidFill>
              <a:srgbClr val="F5D6A6"/>
            </a:solidFill>
            <a:prstDash val="solid"/>
          </a:ln>
        </p:spPr>
      </p:sp>
      <p:sp>
        <p:nvSpPr>
          <p:cNvPr id="23" name="Text 18"/>
          <p:cNvSpPr/>
          <p:nvPr/>
        </p:nvSpPr>
        <p:spPr>
          <a:xfrm>
            <a:off x="10058400" y="3648456"/>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~30× less</a:t>
            </a:r>
            <a:endParaRPr lang="en-US" sz="1400" dirty="0"/>
          </a:p>
        </p:txBody>
      </p:sp>
      <p:sp>
        <p:nvSpPr>
          <p:cNvPr id="24" name="Shape 19"/>
          <p:cNvSpPr/>
          <p:nvPr/>
        </p:nvSpPr>
        <p:spPr>
          <a:xfrm>
            <a:off x="548640" y="4562856"/>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Shape 20"/>
          <p:cNvSpPr/>
          <p:nvPr/>
        </p:nvSpPr>
        <p:spPr>
          <a:xfrm>
            <a:off x="822960" y="4818888"/>
            <a:ext cx="512064" cy="512064"/>
          </a:xfrm>
          <a:prstGeom prst="ellipse">
            <a:avLst/>
          </a:prstGeom>
          <a:solidFill>
            <a:srgbClr val="2456D6"/>
          </a:solidFill>
          <a:ln w="12700">
            <a:solidFill>
              <a:srgbClr val="2456D6"/>
            </a:solidFill>
            <a:prstDash val="solid"/>
          </a:ln>
        </p:spPr>
      </p:sp>
      <p:pic>
        <p:nvPicPr>
          <p:cNvPr id="26" name="Image 2" descr="preencoded.png">    </p:cNvPr>
          <p:cNvPicPr>
            <a:picLocks noChangeAspect="1"/>
          </p:cNvPicPr>
          <p:nvPr/>
        </p:nvPicPr>
        <p:blipFill>
          <a:blip r:embed="rId3"/>
          <a:stretch>
            <a:fillRect/>
          </a:stretch>
        </p:blipFill>
        <p:spPr>
          <a:xfrm>
            <a:off x="940735" y="4936663"/>
            <a:ext cx="276515" cy="276515"/>
          </a:xfrm>
          <a:prstGeom prst="rect">
            <a:avLst/>
          </a:prstGeom>
        </p:spPr>
      </p:pic>
      <p:sp>
        <p:nvSpPr>
          <p:cNvPr id="27" name="Text 21"/>
          <p:cNvSpPr/>
          <p:nvPr/>
        </p:nvSpPr>
        <p:spPr>
          <a:xfrm>
            <a:off x="1536192" y="4864608"/>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When a district’s link drops</a:t>
            </a:r>
            <a:endParaRPr lang="en-US" sz="1500" dirty="0"/>
          </a:p>
        </p:txBody>
      </p:sp>
      <p:sp>
        <p:nvSpPr>
          <p:cNvPr id="28" name="Text 22"/>
          <p:cNvSpPr/>
          <p:nvPr/>
        </p:nvSpPr>
        <p:spPr>
          <a:xfrm>
            <a:off x="4754880" y="4745736"/>
            <a:ext cx="2651760" cy="685800"/>
          </a:xfrm>
          <a:prstGeom prst="rect">
            <a:avLst/>
          </a:prstGeom>
          <a:noFill/>
          <a:ln/>
        </p:spPr>
        <p:txBody>
          <a:bodyPr wrap="square" lIns="0" tIns="0" rIns="0" bIns="0" rtlCol="0" anchor="ctr"/>
          <a:lstStyle/>
          <a:p>
            <a:pPr indent="0" marL="0">
              <a:buNone/>
            </a:pPr>
            <a:r>
              <a:rPr lang="en-US" sz="1900" b="1" dirty="0">
                <a:solidFill>
                  <a:srgbClr val="536079"/>
                </a:solidFill>
                <a:latin typeface="Arial" pitchFamily="34" charset="0"/>
                <a:ea typeface="Arial" pitchFamily="34" charset="-122"/>
                <a:cs typeface="Arial" pitchFamily="34" charset="-120"/>
              </a:rPr>
              <a:t>Analysis stops</a:t>
            </a:r>
            <a:endParaRPr lang="en-US" sz="1900" dirty="0"/>
          </a:p>
        </p:txBody>
      </p:sp>
      <p:sp>
        <p:nvSpPr>
          <p:cNvPr id="29" name="Text 23"/>
          <p:cNvSpPr/>
          <p:nvPr/>
        </p:nvSpPr>
        <p:spPr>
          <a:xfrm>
            <a:off x="7498080" y="4745736"/>
            <a:ext cx="2560320" cy="685800"/>
          </a:xfrm>
          <a:prstGeom prst="rect">
            <a:avLst/>
          </a:prstGeom>
          <a:noFill/>
          <a:ln/>
        </p:spPr>
        <p:txBody>
          <a:bodyPr wrap="square" lIns="0" tIns="0" rIns="0" bIns="0" rtlCol="0" anchor="ctr"/>
          <a:lstStyle/>
          <a:p>
            <a:pPr indent="0" marL="0">
              <a:buNone/>
            </a:pPr>
            <a:r>
              <a:rPr lang="en-US" sz="1900" b="1" dirty="0">
                <a:solidFill>
                  <a:srgbClr val="2456D6"/>
                </a:solidFill>
                <a:latin typeface="Arial" pitchFamily="34" charset="0"/>
                <a:ea typeface="Arial" pitchFamily="34" charset="-122"/>
                <a:cs typeface="Arial" pitchFamily="34" charset="-120"/>
              </a:rPr>
              <a:t>Keeps reading &amp; alerting</a:t>
            </a:r>
            <a:endParaRPr lang="en-US" sz="1900" dirty="0"/>
          </a:p>
        </p:txBody>
      </p:sp>
      <p:sp>
        <p:nvSpPr>
          <p:cNvPr id="30" name="Shape 24"/>
          <p:cNvSpPr/>
          <p:nvPr/>
        </p:nvSpPr>
        <p:spPr>
          <a:xfrm>
            <a:off x="10058400" y="4855464"/>
            <a:ext cx="1310335" cy="438912"/>
          </a:xfrm>
          <a:prstGeom prst="roundRect">
            <a:avLst>
              <a:gd name="adj" fmla="val 50000"/>
            </a:avLst>
          </a:prstGeom>
          <a:solidFill>
            <a:srgbClr val="FDF1DF"/>
          </a:solidFill>
          <a:ln w="9525">
            <a:solidFill>
              <a:srgbClr val="F5D6A6"/>
            </a:solidFill>
            <a:prstDash val="solid"/>
          </a:ln>
        </p:spPr>
      </p:sp>
      <p:sp>
        <p:nvSpPr>
          <p:cNvPr id="31" name="Text 25"/>
          <p:cNvSpPr/>
          <p:nvPr/>
        </p:nvSpPr>
        <p:spPr>
          <a:xfrm>
            <a:off x="10058400" y="4855464"/>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up to 72 h</a:t>
            </a:r>
            <a:endParaRPr lang="en-US" sz="1400" dirty="0"/>
          </a:p>
        </p:txBody>
      </p:sp>
      <p:sp>
        <p:nvSpPr>
          <p:cNvPr id="32" name="Text 26"/>
          <p:cNvSpPr/>
          <p:nvPr/>
        </p:nvSpPr>
        <p:spPr>
          <a:xfrm>
            <a:off x="548640" y="5852160"/>
            <a:ext cx="11094415" cy="54864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What travels is a small event and a snapshot per sighting. Video stays in the district — and in each department’s own system — until someone needs it.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HOW IT WORKS AT 80,000 CAMERAS</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Five layers, each doing one job</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13</a:t>
            </a:r>
            <a:endParaRPr lang="en-US" sz="900" dirty="0"/>
          </a:p>
        </p:txBody>
      </p:sp>
      <p:sp>
        <p:nvSpPr>
          <p:cNvPr id="6" name="Shape 3"/>
          <p:cNvSpPr/>
          <p:nvPr/>
        </p:nvSpPr>
        <p:spPr>
          <a:xfrm>
            <a:off x="548640" y="1645920"/>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7" name="Shape 4"/>
          <p:cNvSpPr/>
          <p:nvPr/>
        </p:nvSpPr>
        <p:spPr>
          <a:xfrm>
            <a:off x="731520" y="1792224"/>
            <a:ext cx="457200" cy="457200"/>
          </a:xfrm>
          <a:prstGeom prst="ellipse">
            <a:avLst/>
          </a:prstGeom>
          <a:solidFill>
            <a:srgbClr val="7A869E"/>
          </a:solidFill>
          <a:ln w="12700">
            <a:solidFill>
              <a:srgbClr val="7A869E"/>
            </a:solidFill>
            <a:prstDash val="solid"/>
          </a:ln>
        </p:spPr>
      </p:sp>
      <p:pic>
        <p:nvPicPr>
          <p:cNvPr id="8" name="Image 0" descr="preencoded.png">    </p:cNvPr>
          <p:cNvPicPr>
            <a:picLocks noChangeAspect="1"/>
          </p:cNvPicPr>
          <p:nvPr/>
        </p:nvPicPr>
        <p:blipFill>
          <a:blip r:embed="rId1"/>
          <a:stretch>
            <a:fillRect/>
          </a:stretch>
        </p:blipFill>
        <p:spPr>
          <a:xfrm>
            <a:off x="836676" y="1897380"/>
            <a:ext cx="246888" cy="246888"/>
          </a:xfrm>
          <a:prstGeom prst="rect">
            <a:avLst/>
          </a:prstGeom>
        </p:spPr>
      </p:pic>
      <p:sp>
        <p:nvSpPr>
          <p:cNvPr id="9" name="Text 5"/>
          <p:cNvSpPr/>
          <p:nvPr/>
        </p:nvSpPr>
        <p:spPr>
          <a:xfrm>
            <a:off x="1371600" y="1737360"/>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Consumers</a:t>
            </a:r>
            <a:endParaRPr lang="en-US" sz="1500" dirty="0"/>
          </a:p>
        </p:txBody>
      </p:sp>
      <p:sp>
        <p:nvSpPr>
          <p:cNvPr id="10" name="Text 6"/>
          <p:cNvSpPr/>
          <p:nvPr/>
        </p:nvSpPr>
        <p:spPr>
          <a:xfrm>
            <a:off x="1371600" y="2048256"/>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Command centres · Field app · VAHAN · SARTHI · eGujCop · AFIS · NAFIS</a:t>
            </a:r>
            <a:endParaRPr lang="en-US" sz="1200" dirty="0"/>
          </a:p>
        </p:txBody>
      </p:sp>
      <p:sp>
        <p:nvSpPr>
          <p:cNvPr id="11" name="Text 7"/>
          <p:cNvSpPr/>
          <p:nvPr/>
        </p:nvSpPr>
        <p:spPr>
          <a:xfrm>
            <a:off x="8046720" y="1810512"/>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Live alerts · open APIs</a:t>
            </a:r>
            <a:endParaRPr lang="en-US" sz="1400" dirty="0"/>
          </a:p>
        </p:txBody>
      </p:sp>
      <p:sp>
        <p:nvSpPr>
          <p:cNvPr id="12" name="Shape 8"/>
          <p:cNvSpPr/>
          <p:nvPr/>
        </p:nvSpPr>
        <p:spPr>
          <a:xfrm>
            <a:off x="877824" y="2404872"/>
            <a:ext cx="164592" cy="164592"/>
          </a:xfrm>
          <a:prstGeom prst="upArrow">
            <a:avLst/>
          </a:prstGeom>
          <a:solidFill>
            <a:srgbClr val="B8C0CE"/>
          </a:solidFill>
          <a:ln w="12700">
            <a:solidFill>
              <a:srgbClr val="B8C0CE"/>
            </a:solidFill>
            <a:prstDash val="solid"/>
          </a:ln>
        </p:spPr>
      </p:sp>
      <p:sp>
        <p:nvSpPr>
          <p:cNvPr id="13" name="Shape 9"/>
          <p:cNvSpPr/>
          <p:nvPr/>
        </p:nvSpPr>
        <p:spPr>
          <a:xfrm>
            <a:off x="548640" y="2578608"/>
            <a:ext cx="11094415" cy="749808"/>
          </a:xfrm>
          <a:prstGeom prst="roundRect">
            <a:avLst>
              <a:gd name="adj" fmla="val 14634"/>
            </a:avLst>
          </a:prstGeom>
          <a:solidFill>
            <a:srgbClr val="EAF0FD"/>
          </a:solidFill>
          <a:ln w="9525">
            <a:solidFill>
              <a:srgbClr val="C9D7F7"/>
            </a:solidFill>
            <a:prstDash val="solid"/>
          </a:ln>
        </p:spPr>
      </p:sp>
      <p:sp>
        <p:nvSpPr>
          <p:cNvPr id="14" name="Shape 10"/>
          <p:cNvSpPr/>
          <p:nvPr/>
        </p:nvSpPr>
        <p:spPr>
          <a:xfrm>
            <a:off x="731520" y="2724912"/>
            <a:ext cx="457200" cy="457200"/>
          </a:xfrm>
          <a:prstGeom prst="ellipse">
            <a:avLst/>
          </a:prstGeom>
          <a:solidFill>
            <a:srgbClr val="2456D6"/>
          </a:solidFill>
          <a:ln w="12700">
            <a:solidFill>
              <a:srgbClr val="2456D6"/>
            </a:solidFill>
            <a:prstDash val="solid"/>
          </a:ln>
        </p:spPr>
      </p:sp>
      <p:pic>
        <p:nvPicPr>
          <p:cNvPr id="15" name="Image 1" descr="preencoded.png">    </p:cNvPr>
          <p:cNvPicPr>
            <a:picLocks noChangeAspect="1"/>
          </p:cNvPicPr>
          <p:nvPr/>
        </p:nvPicPr>
        <p:blipFill>
          <a:blip r:embed="rId2"/>
          <a:stretch>
            <a:fillRect/>
          </a:stretch>
        </p:blipFill>
        <p:spPr>
          <a:xfrm>
            <a:off x="836676" y="2830068"/>
            <a:ext cx="246888" cy="246888"/>
          </a:xfrm>
          <a:prstGeom prst="rect">
            <a:avLst/>
          </a:prstGeom>
        </p:spPr>
      </p:pic>
      <p:sp>
        <p:nvSpPr>
          <p:cNvPr id="16" name="Text 11"/>
          <p:cNvSpPr/>
          <p:nvPr/>
        </p:nvSpPr>
        <p:spPr>
          <a:xfrm>
            <a:off x="1371600" y="2670048"/>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State core  ·  high availability + disaster recovery</a:t>
            </a:r>
            <a:endParaRPr lang="en-US" sz="1500" dirty="0"/>
          </a:p>
        </p:txBody>
      </p:sp>
      <p:sp>
        <p:nvSpPr>
          <p:cNvPr id="17" name="Text 12"/>
          <p:cNvSpPr/>
          <p:nvPr/>
        </p:nvSpPr>
        <p:spPr>
          <a:xfrm>
            <a:off x="1371600" y="2980944"/>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Event bus → watchlist matching → alerts · searchable sighting history</a:t>
            </a:r>
            <a:endParaRPr lang="en-US" sz="1200" dirty="0"/>
          </a:p>
        </p:txBody>
      </p:sp>
      <p:sp>
        <p:nvSpPr>
          <p:cNvPr id="18" name="Text 13"/>
          <p:cNvSpPr/>
          <p:nvPr/>
        </p:nvSpPr>
        <p:spPr>
          <a:xfrm>
            <a:off x="8046720" y="2743200"/>
            <a:ext cx="3367735" cy="420624"/>
          </a:xfrm>
          <a:prstGeom prst="rect">
            <a:avLst/>
          </a:prstGeom>
          <a:noFill/>
          <a:ln/>
        </p:spPr>
        <p:txBody>
          <a:bodyPr wrap="square" lIns="0" tIns="0" rIns="0" bIns="0" rtlCol="0" anchor="ctr"/>
          <a:lstStyle/>
          <a:p>
            <a:pPr algn="r" indent="0" marL="0">
              <a:buNone/>
            </a:pPr>
            <a:r>
              <a:rPr lang="en-US" sz="1400" b="1" dirty="0">
                <a:solidFill>
                  <a:srgbClr val="2456D6"/>
                </a:solidFill>
                <a:latin typeface="Arial" pitchFamily="34" charset="0"/>
                <a:ea typeface="Arial" pitchFamily="34" charset="-122"/>
                <a:cs typeface="Arial" pitchFamily="34" charset="-120"/>
              </a:rPr>
              <a:t>≈563 events/s · RPO 15 min</a:t>
            </a:r>
            <a:endParaRPr lang="en-US" sz="1400" dirty="0"/>
          </a:p>
        </p:txBody>
      </p:sp>
      <p:sp>
        <p:nvSpPr>
          <p:cNvPr id="19" name="Shape 14"/>
          <p:cNvSpPr/>
          <p:nvPr/>
        </p:nvSpPr>
        <p:spPr>
          <a:xfrm>
            <a:off x="877824" y="3337560"/>
            <a:ext cx="164592" cy="164592"/>
          </a:xfrm>
          <a:prstGeom prst="upArrow">
            <a:avLst/>
          </a:prstGeom>
          <a:solidFill>
            <a:srgbClr val="B8C0CE"/>
          </a:solidFill>
          <a:ln w="12700">
            <a:solidFill>
              <a:srgbClr val="B8C0CE"/>
            </a:solidFill>
            <a:prstDash val="solid"/>
          </a:ln>
        </p:spPr>
      </p:sp>
      <p:sp>
        <p:nvSpPr>
          <p:cNvPr id="20" name="Shape 15"/>
          <p:cNvSpPr/>
          <p:nvPr/>
        </p:nvSpPr>
        <p:spPr>
          <a:xfrm>
            <a:off x="548640" y="3511296"/>
            <a:ext cx="11094415" cy="749808"/>
          </a:xfrm>
          <a:prstGeom prst="roundRect">
            <a:avLst>
              <a:gd name="adj" fmla="val 14634"/>
            </a:avLst>
          </a:prstGeom>
          <a:solidFill>
            <a:srgbClr val="EAF0FD"/>
          </a:solidFill>
          <a:ln w="9525">
            <a:solidFill>
              <a:srgbClr val="C9D7F7"/>
            </a:solidFill>
            <a:prstDash val="solid"/>
          </a:ln>
        </p:spPr>
      </p:sp>
      <p:sp>
        <p:nvSpPr>
          <p:cNvPr id="21" name="Shape 16"/>
          <p:cNvSpPr/>
          <p:nvPr/>
        </p:nvSpPr>
        <p:spPr>
          <a:xfrm>
            <a:off x="731520" y="3657600"/>
            <a:ext cx="457200" cy="457200"/>
          </a:xfrm>
          <a:prstGeom prst="ellipse">
            <a:avLst/>
          </a:prstGeom>
          <a:solidFill>
            <a:srgbClr val="2456D6"/>
          </a:solidFill>
          <a:ln w="12700">
            <a:solidFill>
              <a:srgbClr val="2456D6"/>
            </a:solidFill>
            <a:prstDash val="solid"/>
          </a:ln>
        </p:spPr>
      </p:sp>
      <p:pic>
        <p:nvPicPr>
          <p:cNvPr id="22" name="Image 2" descr="preencoded.png">    </p:cNvPr>
          <p:cNvPicPr>
            <a:picLocks noChangeAspect="1"/>
          </p:cNvPicPr>
          <p:nvPr/>
        </p:nvPicPr>
        <p:blipFill>
          <a:blip r:embed="rId3"/>
          <a:stretch>
            <a:fillRect/>
          </a:stretch>
        </p:blipFill>
        <p:spPr>
          <a:xfrm>
            <a:off x="836676" y="3762756"/>
            <a:ext cx="246888" cy="246888"/>
          </a:xfrm>
          <a:prstGeom prst="rect">
            <a:avLst/>
          </a:prstGeom>
        </p:spPr>
      </p:pic>
      <p:sp>
        <p:nvSpPr>
          <p:cNvPr id="23" name="Text 17"/>
          <p:cNvSpPr/>
          <p:nvPr/>
        </p:nvSpPr>
        <p:spPr>
          <a:xfrm>
            <a:off x="1371600" y="3602736"/>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District edge  ×34  (+ edge boxes at remote sites)</a:t>
            </a:r>
            <a:endParaRPr lang="en-US" sz="1500" dirty="0"/>
          </a:p>
        </p:txBody>
      </p:sp>
      <p:sp>
        <p:nvSpPr>
          <p:cNvPr id="24" name="Text 18"/>
          <p:cNvSpPr/>
          <p:nvPr/>
        </p:nvSpPr>
        <p:spPr>
          <a:xfrm>
            <a:off x="1371600" y="3913632"/>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One connection per camera → plate reading and analytics → 72 h offline queue</a:t>
            </a:r>
            <a:endParaRPr lang="en-US" sz="1200" dirty="0"/>
          </a:p>
        </p:txBody>
      </p:sp>
      <p:sp>
        <p:nvSpPr>
          <p:cNvPr id="25" name="Text 19"/>
          <p:cNvSpPr/>
          <p:nvPr/>
        </p:nvSpPr>
        <p:spPr>
          <a:xfrm>
            <a:off x="8046720" y="3675888"/>
            <a:ext cx="3367735" cy="420624"/>
          </a:xfrm>
          <a:prstGeom prst="rect">
            <a:avLst/>
          </a:prstGeom>
          <a:noFill/>
          <a:ln/>
        </p:spPr>
        <p:txBody>
          <a:bodyPr wrap="square" lIns="0" tIns="0" rIns="0" bIns="0" rtlCol="0" anchor="ctr"/>
          <a:lstStyle/>
          <a:p>
            <a:pPr algn="r" indent="0" marL="0">
              <a:buNone/>
            </a:pPr>
            <a:r>
              <a:rPr lang="en-US" sz="1400" b="1" dirty="0">
                <a:solidFill>
                  <a:srgbClr val="2456D6"/>
                </a:solidFill>
                <a:latin typeface="Arial" pitchFamily="34" charset="0"/>
                <a:ea typeface="Arial" pitchFamily="34" charset="-122"/>
                <a:cs typeface="Arial" pitchFamily="34" charset="-120"/>
              </a:rPr>
              <a:t>AI runs here</a:t>
            </a:r>
            <a:endParaRPr lang="en-US" sz="1400" dirty="0"/>
          </a:p>
        </p:txBody>
      </p:sp>
      <p:sp>
        <p:nvSpPr>
          <p:cNvPr id="26" name="Shape 20"/>
          <p:cNvSpPr/>
          <p:nvPr/>
        </p:nvSpPr>
        <p:spPr>
          <a:xfrm>
            <a:off x="877824" y="4270248"/>
            <a:ext cx="164592" cy="164592"/>
          </a:xfrm>
          <a:prstGeom prst="upArrow">
            <a:avLst/>
          </a:prstGeom>
          <a:solidFill>
            <a:srgbClr val="B8C0CE"/>
          </a:solidFill>
          <a:ln w="12700">
            <a:solidFill>
              <a:srgbClr val="B8C0CE"/>
            </a:solidFill>
            <a:prstDash val="solid"/>
          </a:ln>
        </p:spPr>
      </p:sp>
      <p:sp>
        <p:nvSpPr>
          <p:cNvPr id="27" name="Shape 21"/>
          <p:cNvSpPr/>
          <p:nvPr/>
        </p:nvSpPr>
        <p:spPr>
          <a:xfrm>
            <a:off x="548640" y="4443984"/>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8" name="Shape 22"/>
          <p:cNvSpPr/>
          <p:nvPr/>
        </p:nvSpPr>
        <p:spPr>
          <a:xfrm>
            <a:off x="731520" y="4590288"/>
            <a:ext cx="457200" cy="457200"/>
          </a:xfrm>
          <a:prstGeom prst="ellipse">
            <a:avLst/>
          </a:prstGeom>
          <a:solidFill>
            <a:srgbClr val="7A869E"/>
          </a:solidFill>
          <a:ln w="12700">
            <a:solidFill>
              <a:srgbClr val="7A869E"/>
            </a:solidFill>
            <a:prstDash val="solid"/>
          </a:ln>
        </p:spPr>
      </p:sp>
      <p:pic>
        <p:nvPicPr>
          <p:cNvPr id="29" name="Image 3" descr="preencoded.png">    </p:cNvPr>
          <p:cNvPicPr>
            <a:picLocks noChangeAspect="1"/>
          </p:cNvPicPr>
          <p:nvPr/>
        </p:nvPicPr>
        <p:blipFill>
          <a:blip r:embed="rId4"/>
          <a:stretch>
            <a:fillRect/>
          </a:stretch>
        </p:blipFill>
        <p:spPr>
          <a:xfrm>
            <a:off x="836676" y="4695444"/>
            <a:ext cx="246888" cy="246888"/>
          </a:xfrm>
          <a:prstGeom prst="rect">
            <a:avLst/>
          </a:prstGeom>
        </p:spPr>
      </p:pic>
      <p:sp>
        <p:nvSpPr>
          <p:cNvPr id="30" name="Text 23"/>
          <p:cNvSpPr/>
          <p:nvPr/>
        </p:nvSpPr>
        <p:spPr>
          <a:xfrm>
            <a:off x="1371600" y="4535424"/>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Department systems  ·  unchanged</a:t>
            </a:r>
            <a:endParaRPr lang="en-US" sz="1500" dirty="0"/>
          </a:p>
        </p:txBody>
      </p:sp>
      <p:sp>
        <p:nvSpPr>
          <p:cNvPr id="31" name="Text 24"/>
          <p:cNvSpPr/>
          <p:nvPr/>
        </p:nvSpPr>
        <p:spPr>
          <a:xfrm>
            <a:off x="1371600" y="4846320"/>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Cameras, recorders and VMS keep their own 7–15 day retention</a:t>
            </a:r>
            <a:endParaRPr lang="en-US" sz="1200" dirty="0"/>
          </a:p>
        </p:txBody>
      </p:sp>
      <p:sp>
        <p:nvSpPr>
          <p:cNvPr id="32" name="Text 25"/>
          <p:cNvSpPr/>
          <p:nvPr/>
        </p:nvSpPr>
        <p:spPr>
          <a:xfrm>
            <a:off x="8046720" y="4608576"/>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Read-only: RTSP · ONVIF · SDK</a:t>
            </a:r>
            <a:endParaRPr lang="en-US" sz="1400" dirty="0"/>
          </a:p>
        </p:txBody>
      </p:sp>
      <p:sp>
        <p:nvSpPr>
          <p:cNvPr id="33" name="Shape 26"/>
          <p:cNvSpPr/>
          <p:nvPr/>
        </p:nvSpPr>
        <p:spPr>
          <a:xfrm>
            <a:off x="877824" y="5202936"/>
            <a:ext cx="164592" cy="164592"/>
          </a:xfrm>
          <a:prstGeom prst="upArrow">
            <a:avLst/>
          </a:prstGeom>
          <a:solidFill>
            <a:srgbClr val="B8C0CE"/>
          </a:solidFill>
          <a:ln w="12700">
            <a:solidFill>
              <a:srgbClr val="B8C0CE"/>
            </a:solidFill>
            <a:prstDash val="solid"/>
          </a:ln>
        </p:spPr>
      </p:sp>
      <p:sp>
        <p:nvSpPr>
          <p:cNvPr id="34" name="Shape 27"/>
          <p:cNvSpPr/>
          <p:nvPr/>
        </p:nvSpPr>
        <p:spPr>
          <a:xfrm>
            <a:off x="548640" y="5376672"/>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5" name="Shape 28"/>
          <p:cNvSpPr/>
          <p:nvPr/>
        </p:nvSpPr>
        <p:spPr>
          <a:xfrm>
            <a:off x="731520" y="5522976"/>
            <a:ext cx="457200" cy="457200"/>
          </a:xfrm>
          <a:prstGeom prst="ellipse">
            <a:avLst/>
          </a:prstGeom>
          <a:solidFill>
            <a:srgbClr val="7A869E"/>
          </a:solidFill>
          <a:ln w="12700">
            <a:solidFill>
              <a:srgbClr val="7A869E"/>
            </a:solidFill>
            <a:prstDash val="solid"/>
          </a:ln>
        </p:spPr>
      </p:sp>
      <p:pic>
        <p:nvPicPr>
          <p:cNvPr id="36" name="Image 4" descr="preencoded.png">    </p:cNvPr>
          <p:cNvPicPr>
            <a:picLocks noChangeAspect="1"/>
          </p:cNvPicPr>
          <p:nvPr/>
        </p:nvPicPr>
        <p:blipFill>
          <a:blip r:embed="rId5"/>
          <a:stretch>
            <a:fillRect/>
          </a:stretch>
        </p:blipFill>
        <p:spPr>
          <a:xfrm>
            <a:off x="836676" y="5628132"/>
            <a:ext cx="246888" cy="246888"/>
          </a:xfrm>
          <a:prstGeom prst="rect">
            <a:avLst/>
          </a:prstGeom>
        </p:spPr>
      </p:pic>
      <p:sp>
        <p:nvSpPr>
          <p:cNvPr id="37" name="Text 29"/>
          <p:cNvSpPr/>
          <p:nvPr/>
        </p:nvSpPr>
        <p:spPr>
          <a:xfrm>
            <a:off x="1371600" y="5468112"/>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80,000 cameras, tiered</a:t>
            </a:r>
            <a:endParaRPr lang="en-US" sz="1500" dirty="0"/>
          </a:p>
        </p:txBody>
      </p:sp>
      <p:sp>
        <p:nvSpPr>
          <p:cNvPr id="38" name="Text 30"/>
          <p:cNvSpPr/>
          <p:nvPr/>
        </p:nvSpPr>
        <p:spPr>
          <a:xfrm>
            <a:off x="1371600" y="5779008"/>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Continuous · sampled · motion-triggered · view-only</a:t>
            </a:r>
            <a:endParaRPr lang="en-US" sz="1200" dirty="0"/>
          </a:p>
        </p:txBody>
      </p:sp>
      <p:sp>
        <p:nvSpPr>
          <p:cNvPr id="39" name="Text 31"/>
          <p:cNvSpPr/>
          <p:nvPr/>
        </p:nvSpPr>
        <p:spPr>
          <a:xfrm>
            <a:off x="8046720" y="5541264"/>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Tier set per camera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AI WHERE IT MATTERS</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Not every camera needs the same attention</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14</a:t>
            </a:r>
            <a:endParaRPr lang="en-US" sz="900" dirty="0"/>
          </a:p>
        </p:txBody>
      </p:sp>
      <p:graphicFrame>
        <p:nvGraphicFramePr>
          <p:cNvPr id="6" name="Chart 0" descr=""/>
          <p:cNvGraphicFramePr/>
          <p:nvPr/>
        </p:nvGraphicFramePr>
        <p:xfrm>
          <a:off x="548640" y="1600200"/>
          <a:ext cx="4480560" cy="448056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1874520" y="3429000"/>
            <a:ext cx="1828800" cy="502920"/>
          </a:xfrm>
          <a:prstGeom prst="rect">
            <a:avLst/>
          </a:prstGeom>
          <a:noFill/>
          <a:ln/>
        </p:spPr>
        <p:txBody>
          <a:bodyPr wrap="square" lIns="0" tIns="0" rIns="0" bIns="0" rtlCol="0" anchor="t"/>
          <a:lstStyle/>
          <a:p>
            <a:pPr algn="ctr" indent="0" marL="0">
              <a:buNone/>
            </a:pPr>
            <a:r>
              <a:rPr lang="en-US" sz="2800" b="1" dirty="0">
                <a:solidFill>
                  <a:srgbClr val="0F1B33"/>
                </a:solidFill>
                <a:latin typeface="Arial" pitchFamily="34" charset="0"/>
                <a:ea typeface="Arial" pitchFamily="34" charset="-122"/>
                <a:cs typeface="Arial" pitchFamily="34" charset="-120"/>
              </a:rPr>
              <a:t>80,000</a:t>
            </a:r>
            <a:endParaRPr lang="en-US" sz="2800" dirty="0"/>
          </a:p>
        </p:txBody>
      </p:sp>
      <p:sp>
        <p:nvSpPr>
          <p:cNvPr id="8" name="Text 4"/>
          <p:cNvSpPr/>
          <p:nvPr/>
        </p:nvSpPr>
        <p:spPr>
          <a:xfrm>
            <a:off x="1874520" y="3913632"/>
            <a:ext cx="1828800" cy="320040"/>
          </a:xfrm>
          <a:prstGeom prst="rect">
            <a:avLst/>
          </a:prstGeom>
          <a:noFill/>
          <a:ln/>
        </p:spPr>
        <p:txBody>
          <a:bodyPr wrap="square" lIns="0" tIns="0" rIns="0" bIns="0" rtlCol="0" anchor="t"/>
          <a:lstStyle/>
          <a:p>
            <a:pPr algn="ct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9" name="Shape 5"/>
          <p:cNvSpPr/>
          <p:nvPr/>
        </p:nvSpPr>
        <p:spPr>
          <a:xfrm>
            <a:off x="5486400" y="1737360"/>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6"/>
          <p:cNvSpPr/>
          <p:nvPr/>
        </p:nvSpPr>
        <p:spPr>
          <a:xfrm>
            <a:off x="5715000" y="1965960"/>
            <a:ext cx="256032" cy="256032"/>
          </a:xfrm>
          <a:prstGeom prst="ellipse">
            <a:avLst/>
          </a:prstGeom>
          <a:solidFill>
            <a:srgbClr val="D97706"/>
          </a:solidFill>
          <a:ln w="6350">
            <a:solidFill>
              <a:srgbClr val="DDE3EE"/>
            </a:solidFill>
            <a:prstDash val="solid"/>
          </a:ln>
        </p:spPr>
      </p:sp>
      <p:sp>
        <p:nvSpPr>
          <p:cNvPr id="11" name="Text 7"/>
          <p:cNvSpPr/>
          <p:nvPr/>
        </p:nvSpPr>
        <p:spPr>
          <a:xfrm>
            <a:off x="6126480" y="1847088"/>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Continuous</a:t>
            </a:r>
            <a:endParaRPr lang="en-US" sz="1500" dirty="0"/>
          </a:p>
        </p:txBody>
      </p:sp>
      <p:sp>
        <p:nvSpPr>
          <p:cNvPr id="12" name="Text 8"/>
          <p:cNvSpPr/>
          <p:nvPr/>
        </p:nvSpPr>
        <p:spPr>
          <a:xfrm>
            <a:off x="8092440" y="1847088"/>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Check-posts, highways, city entry points</a:t>
            </a:r>
            <a:endParaRPr lang="en-US" sz="1200" dirty="0"/>
          </a:p>
        </p:txBody>
      </p:sp>
      <p:sp>
        <p:nvSpPr>
          <p:cNvPr id="13" name="Text 9"/>
          <p:cNvSpPr/>
          <p:nvPr/>
        </p:nvSpPr>
        <p:spPr>
          <a:xfrm>
            <a:off x="9677095" y="1847088"/>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9,600 cameras</a:t>
            </a:r>
            <a:endParaRPr lang="en-US" sz="1300" dirty="0"/>
          </a:p>
        </p:txBody>
      </p:sp>
      <p:sp>
        <p:nvSpPr>
          <p:cNvPr id="14" name="Shape 10"/>
          <p:cNvSpPr/>
          <p:nvPr/>
        </p:nvSpPr>
        <p:spPr>
          <a:xfrm>
            <a:off x="5486400" y="2578608"/>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5" name="Shape 11"/>
          <p:cNvSpPr/>
          <p:nvPr/>
        </p:nvSpPr>
        <p:spPr>
          <a:xfrm>
            <a:off x="5715000" y="2807208"/>
            <a:ext cx="256032" cy="256032"/>
          </a:xfrm>
          <a:prstGeom prst="ellipse">
            <a:avLst/>
          </a:prstGeom>
          <a:solidFill>
            <a:srgbClr val="2456D6"/>
          </a:solidFill>
          <a:ln w="6350">
            <a:solidFill>
              <a:srgbClr val="DDE3EE"/>
            </a:solidFill>
            <a:prstDash val="solid"/>
          </a:ln>
        </p:spPr>
      </p:sp>
      <p:sp>
        <p:nvSpPr>
          <p:cNvPr id="16" name="Text 12"/>
          <p:cNvSpPr/>
          <p:nvPr/>
        </p:nvSpPr>
        <p:spPr>
          <a:xfrm>
            <a:off x="6126480" y="2688336"/>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Sampled</a:t>
            </a:r>
            <a:endParaRPr lang="en-US" sz="1500" dirty="0"/>
          </a:p>
        </p:txBody>
      </p:sp>
      <p:sp>
        <p:nvSpPr>
          <p:cNvPr id="17" name="Text 13"/>
          <p:cNvSpPr/>
          <p:nvPr/>
        </p:nvSpPr>
        <p:spPr>
          <a:xfrm>
            <a:off x="8092440" y="2688336"/>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Junctions, markets and public spaces</a:t>
            </a:r>
            <a:endParaRPr lang="en-US" sz="1200" dirty="0"/>
          </a:p>
        </p:txBody>
      </p:sp>
      <p:sp>
        <p:nvSpPr>
          <p:cNvPr id="18" name="Text 14"/>
          <p:cNvSpPr/>
          <p:nvPr/>
        </p:nvSpPr>
        <p:spPr>
          <a:xfrm>
            <a:off x="9677095" y="2688336"/>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22,400 cameras</a:t>
            </a:r>
            <a:endParaRPr lang="en-US" sz="1300" dirty="0"/>
          </a:p>
        </p:txBody>
      </p:sp>
      <p:sp>
        <p:nvSpPr>
          <p:cNvPr id="19" name="Shape 15"/>
          <p:cNvSpPr/>
          <p:nvPr/>
        </p:nvSpPr>
        <p:spPr>
          <a:xfrm>
            <a:off x="5486400" y="3419856"/>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Shape 16"/>
          <p:cNvSpPr/>
          <p:nvPr/>
        </p:nvSpPr>
        <p:spPr>
          <a:xfrm>
            <a:off x="5715000" y="3648456"/>
            <a:ext cx="256032" cy="256032"/>
          </a:xfrm>
          <a:prstGeom prst="ellipse">
            <a:avLst/>
          </a:prstGeom>
          <a:solidFill>
            <a:srgbClr val="8FA9EA"/>
          </a:solidFill>
          <a:ln w="6350">
            <a:solidFill>
              <a:srgbClr val="DDE3EE"/>
            </a:solidFill>
            <a:prstDash val="solid"/>
          </a:ln>
        </p:spPr>
      </p:sp>
      <p:sp>
        <p:nvSpPr>
          <p:cNvPr id="21" name="Text 17"/>
          <p:cNvSpPr/>
          <p:nvPr/>
        </p:nvSpPr>
        <p:spPr>
          <a:xfrm>
            <a:off x="6126480" y="3529584"/>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Motion-triggered</a:t>
            </a:r>
            <a:endParaRPr lang="en-US" sz="1500" dirty="0"/>
          </a:p>
        </p:txBody>
      </p:sp>
      <p:sp>
        <p:nvSpPr>
          <p:cNvPr id="22" name="Text 18"/>
          <p:cNvSpPr/>
          <p:nvPr/>
        </p:nvSpPr>
        <p:spPr>
          <a:xfrm>
            <a:off x="8092440" y="3529584"/>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Godowns, offices and quiet premises</a:t>
            </a:r>
            <a:endParaRPr lang="en-US" sz="1200" dirty="0"/>
          </a:p>
        </p:txBody>
      </p:sp>
      <p:sp>
        <p:nvSpPr>
          <p:cNvPr id="23" name="Text 19"/>
          <p:cNvSpPr/>
          <p:nvPr/>
        </p:nvSpPr>
        <p:spPr>
          <a:xfrm>
            <a:off x="9677095" y="3529584"/>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28,000 cameras</a:t>
            </a:r>
            <a:endParaRPr lang="en-US" sz="1300" dirty="0"/>
          </a:p>
        </p:txBody>
      </p:sp>
      <p:sp>
        <p:nvSpPr>
          <p:cNvPr id="24" name="Shape 20"/>
          <p:cNvSpPr/>
          <p:nvPr/>
        </p:nvSpPr>
        <p:spPr>
          <a:xfrm>
            <a:off x="5486400" y="4261104"/>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Shape 21"/>
          <p:cNvSpPr/>
          <p:nvPr/>
        </p:nvSpPr>
        <p:spPr>
          <a:xfrm>
            <a:off x="5715000" y="4489704"/>
            <a:ext cx="256032" cy="256032"/>
          </a:xfrm>
          <a:prstGeom prst="ellipse">
            <a:avLst/>
          </a:prstGeom>
          <a:solidFill>
            <a:srgbClr val="D3DAE6"/>
          </a:solidFill>
          <a:ln w="6350">
            <a:solidFill>
              <a:srgbClr val="DDE3EE"/>
            </a:solidFill>
            <a:prstDash val="solid"/>
          </a:ln>
        </p:spPr>
      </p:sp>
      <p:sp>
        <p:nvSpPr>
          <p:cNvPr id="26" name="Text 22"/>
          <p:cNvSpPr/>
          <p:nvPr/>
        </p:nvSpPr>
        <p:spPr>
          <a:xfrm>
            <a:off x="6126480" y="4370832"/>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View only</a:t>
            </a:r>
            <a:endParaRPr lang="en-US" sz="1500" dirty="0"/>
          </a:p>
        </p:txBody>
      </p:sp>
      <p:sp>
        <p:nvSpPr>
          <p:cNvPr id="27" name="Text 23"/>
          <p:cNvSpPr/>
          <p:nvPr/>
        </p:nvSpPr>
        <p:spPr>
          <a:xfrm>
            <a:off x="8092440" y="4370832"/>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Indoor, admin and consented private feeds</a:t>
            </a:r>
            <a:endParaRPr lang="en-US" sz="1200" dirty="0"/>
          </a:p>
        </p:txBody>
      </p:sp>
      <p:sp>
        <p:nvSpPr>
          <p:cNvPr id="28" name="Text 24"/>
          <p:cNvSpPr/>
          <p:nvPr/>
        </p:nvSpPr>
        <p:spPr>
          <a:xfrm>
            <a:off x="9677095" y="4370832"/>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20,000 cameras</a:t>
            </a:r>
            <a:endParaRPr lang="en-US" sz="1300" dirty="0"/>
          </a:p>
        </p:txBody>
      </p:sp>
      <p:sp>
        <p:nvSpPr>
          <p:cNvPr id="29" name="Shape 25"/>
          <p:cNvSpPr/>
          <p:nvPr/>
        </p:nvSpPr>
        <p:spPr>
          <a:xfrm>
            <a:off x="5486400" y="5166360"/>
            <a:ext cx="6156655" cy="777240"/>
          </a:xfrm>
          <a:prstGeom prst="roundRect">
            <a:avLst>
              <a:gd name="adj" fmla="val 14118"/>
            </a:avLst>
          </a:prstGeom>
          <a:solidFill>
            <a:srgbClr val="EAF0FD"/>
          </a:solidFill>
          <a:ln w="9525">
            <a:solidFill>
              <a:srgbClr val="C9D7F7"/>
            </a:solidFill>
            <a:prstDash val="solid"/>
          </a:ln>
        </p:spPr>
      </p:sp>
      <p:sp>
        <p:nvSpPr>
          <p:cNvPr id="30" name="Shape 26"/>
          <p:cNvSpPr/>
          <p:nvPr/>
        </p:nvSpPr>
        <p:spPr>
          <a:xfrm>
            <a:off x="5669280" y="5294376"/>
            <a:ext cx="512064" cy="512064"/>
          </a:xfrm>
          <a:prstGeom prst="ellipse">
            <a:avLst/>
          </a:prstGeom>
          <a:solidFill>
            <a:srgbClr val="2456D6"/>
          </a:solidFill>
          <a:ln w="12700">
            <a:solidFill>
              <a:srgbClr val="2456D6"/>
            </a:solidFill>
            <a:prstDash val="solid"/>
          </a:ln>
        </p:spPr>
      </p:sp>
      <p:pic>
        <p:nvPicPr>
          <p:cNvPr id="31" name="Image 0" descr="preencoded.png">    </p:cNvPr>
          <p:cNvPicPr>
            <a:picLocks noChangeAspect="1"/>
          </p:cNvPicPr>
          <p:nvPr/>
        </p:nvPicPr>
        <p:blipFill>
          <a:blip r:embed="rId2"/>
          <a:stretch>
            <a:fillRect/>
          </a:stretch>
        </p:blipFill>
        <p:spPr>
          <a:xfrm>
            <a:off x="5787055" y="5412151"/>
            <a:ext cx="276515" cy="276515"/>
          </a:xfrm>
          <a:prstGeom prst="rect">
            <a:avLst/>
          </a:prstGeom>
        </p:spPr>
      </p:pic>
      <p:sp>
        <p:nvSpPr>
          <p:cNvPr id="32" name="Text 27"/>
          <p:cNvSpPr/>
          <p:nvPr/>
        </p:nvSpPr>
        <p:spPr>
          <a:xfrm>
            <a:off x="6355080" y="5239512"/>
            <a:ext cx="5105095" cy="640080"/>
          </a:xfrm>
          <a:prstGeom prst="rect">
            <a:avLst/>
          </a:prstGeom>
          <a:noFill/>
          <a:ln/>
        </p:spPr>
        <p:txBody>
          <a:bodyPr wrap="square" lIns="0" tIns="0" rIns="0" bIns="0" rtlCol="0" anchor="ctr"/>
          <a:lstStyle/>
          <a:p>
            <a:pPr indent="0" marL="0">
              <a:buNone/>
            </a:pPr>
            <a:r>
              <a:rPr lang="en-US" sz="1300" dirty="0">
                <a:solidFill>
                  <a:srgbClr val="0F1B33"/>
                </a:solidFill>
                <a:latin typeface="Calibri" pitchFamily="34" charset="0"/>
                <a:ea typeface="Calibri" pitchFamily="34" charset="-122"/>
                <a:cs typeface="Calibri" pitchFamily="34" charset="-120"/>
              </a:rPr>
              <a:t>Each department sets the tier, and can change it live — a camera moves to continuous for a bandobast and back afterwards.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WHY SENTINEL</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Designed for how Gujarat actually works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15</a:t>
            </a:r>
            <a:endParaRPr lang="en-US" sz="900" dirty="0"/>
          </a:p>
        </p:txBody>
      </p:sp>
      <p:sp>
        <p:nvSpPr>
          <p:cNvPr id="6" name="Shape 3"/>
          <p:cNvSpPr/>
          <p:nvPr/>
        </p:nvSpPr>
        <p:spPr>
          <a:xfrm>
            <a:off x="548640" y="1737360"/>
            <a:ext cx="3246120" cy="1261872"/>
          </a:xfrm>
          <a:prstGeom prst="roundRect">
            <a:avLst>
              <a:gd name="adj" fmla="val 869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7" name="Shape 4"/>
          <p:cNvSpPr/>
          <p:nvPr/>
        </p:nvSpPr>
        <p:spPr>
          <a:xfrm>
            <a:off x="777240" y="1984248"/>
            <a:ext cx="493776" cy="493776"/>
          </a:xfrm>
          <a:prstGeom prst="ellipse">
            <a:avLst/>
          </a:prstGeom>
          <a:solidFill>
            <a:srgbClr val="2456D6"/>
          </a:solidFill>
          <a:ln w="12700">
            <a:solidFill>
              <a:srgbClr val="2456D6"/>
            </a:solidFill>
            <a:prstDash val="solid"/>
          </a:ln>
        </p:spPr>
      </p:sp>
      <p:pic>
        <p:nvPicPr>
          <p:cNvPr id="8" name="Image 0" descr="preencoded.png">    </p:cNvPr>
          <p:cNvPicPr>
            <a:picLocks noChangeAspect="1"/>
          </p:cNvPicPr>
          <p:nvPr/>
        </p:nvPicPr>
        <p:blipFill>
          <a:blip r:embed="rId1"/>
          <a:stretch>
            <a:fillRect/>
          </a:stretch>
        </p:blipFill>
        <p:spPr>
          <a:xfrm>
            <a:off x="890808" y="2097816"/>
            <a:ext cx="266639" cy="266639"/>
          </a:xfrm>
          <a:prstGeom prst="rect">
            <a:avLst/>
          </a:prstGeom>
        </p:spPr>
      </p:pic>
      <p:sp>
        <p:nvSpPr>
          <p:cNvPr id="9" name="Text 5"/>
          <p:cNvSpPr/>
          <p:nvPr/>
        </p:nvSpPr>
        <p:spPr>
          <a:xfrm>
            <a:off x="1417320" y="1956816"/>
            <a:ext cx="2194560" cy="329184"/>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No rip and replace</a:t>
            </a:r>
            <a:endParaRPr lang="en-US" sz="1400" dirty="0"/>
          </a:p>
        </p:txBody>
      </p:sp>
      <p:sp>
        <p:nvSpPr>
          <p:cNvPr id="10" name="Text 6"/>
          <p:cNvSpPr/>
          <p:nvPr/>
        </p:nvSpPr>
        <p:spPr>
          <a:xfrm>
            <a:off x="1417320" y="2286000"/>
            <a:ext cx="2194560" cy="6400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Uses the cameras, recorders and VMS already installed.</a:t>
            </a:r>
            <a:endParaRPr lang="en-US" sz="1200" dirty="0"/>
          </a:p>
        </p:txBody>
      </p:sp>
      <p:sp>
        <p:nvSpPr>
          <p:cNvPr id="11" name="Shape 7"/>
          <p:cNvSpPr/>
          <p:nvPr/>
        </p:nvSpPr>
        <p:spPr>
          <a:xfrm>
            <a:off x="4069080" y="1737360"/>
            <a:ext cx="3246120" cy="1261872"/>
          </a:xfrm>
          <a:prstGeom prst="roundRect">
            <a:avLst>
              <a:gd name="adj" fmla="val 869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Shape 8"/>
          <p:cNvSpPr/>
          <p:nvPr/>
        </p:nvSpPr>
        <p:spPr>
          <a:xfrm>
            <a:off x="4297680" y="1984248"/>
            <a:ext cx="493776" cy="493776"/>
          </a:xfrm>
          <a:prstGeom prst="ellipse">
            <a:avLst/>
          </a:prstGeom>
          <a:solidFill>
            <a:srgbClr val="2456D6"/>
          </a:solidFill>
          <a:ln w="12700">
            <a:solidFill>
              <a:srgbClr val="2456D6"/>
            </a:solidFill>
            <a:prstDash val="solid"/>
          </a:ln>
        </p:spPr>
      </p:sp>
      <p:pic>
        <p:nvPicPr>
          <p:cNvPr id="13" name="Image 1" descr="preencoded.png">    </p:cNvPr>
          <p:cNvPicPr>
            <a:picLocks noChangeAspect="1"/>
          </p:cNvPicPr>
          <p:nvPr/>
        </p:nvPicPr>
        <p:blipFill>
          <a:blip r:embed="rId2"/>
          <a:stretch>
            <a:fillRect/>
          </a:stretch>
        </p:blipFill>
        <p:spPr>
          <a:xfrm>
            <a:off x="4411248" y="2097816"/>
            <a:ext cx="266639" cy="266639"/>
          </a:xfrm>
          <a:prstGeom prst="rect">
            <a:avLst/>
          </a:prstGeom>
        </p:spPr>
      </p:pic>
      <p:sp>
        <p:nvSpPr>
          <p:cNvPr id="14" name="Text 9"/>
          <p:cNvSpPr/>
          <p:nvPr/>
        </p:nvSpPr>
        <p:spPr>
          <a:xfrm>
            <a:off x="4937760" y="1956816"/>
            <a:ext cx="2194560" cy="329184"/>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No vendor lock-in</a:t>
            </a:r>
            <a:endParaRPr lang="en-US" sz="1400" dirty="0"/>
          </a:p>
        </p:txBody>
      </p:sp>
      <p:sp>
        <p:nvSpPr>
          <p:cNvPr id="15" name="Text 10"/>
          <p:cNvSpPr/>
          <p:nvPr/>
        </p:nvSpPr>
        <p:spPr>
          <a:xfrm>
            <a:off x="4937760" y="2286000"/>
            <a:ext cx="2194560" cy="6400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Open standards, open-source components, documented APIs.</a:t>
            </a:r>
            <a:endParaRPr lang="en-US" sz="1200" dirty="0"/>
          </a:p>
        </p:txBody>
      </p:sp>
      <p:sp>
        <p:nvSpPr>
          <p:cNvPr id="16" name="Shape 11"/>
          <p:cNvSpPr/>
          <p:nvPr/>
        </p:nvSpPr>
        <p:spPr>
          <a:xfrm>
            <a:off x="548640" y="3200400"/>
            <a:ext cx="3246120" cy="1261872"/>
          </a:xfrm>
          <a:prstGeom prst="roundRect">
            <a:avLst>
              <a:gd name="adj" fmla="val 869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Shape 12"/>
          <p:cNvSpPr/>
          <p:nvPr/>
        </p:nvSpPr>
        <p:spPr>
          <a:xfrm>
            <a:off x="777240" y="3447288"/>
            <a:ext cx="493776" cy="493776"/>
          </a:xfrm>
          <a:prstGeom prst="ellipse">
            <a:avLst/>
          </a:prstGeom>
          <a:solidFill>
            <a:srgbClr val="2456D6"/>
          </a:solidFill>
          <a:ln w="12700">
            <a:solidFill>
              <a:srgbClr val="2456D6"/>
            </a:solidFill>
            <a:prstDash val="solid"/>
          </a:ln>
        </p:spPr>
      </p:sp>
      <p:pic>
        <p:nvPicPr>
          <p:cNvPr id="18" name="Image 2" descr="preencoded.png">    </p:cNvPr>
          <p:cNvPicPr>
            <a:picLocks noChangeAspect="1"/>
          </p:cNvPicPr>
          <p:nvPr/>
        </p:nvPicPr>
        <p:blipFill>
          <a:blip r:embed="rId3"/>
          <a:stretch>
            <a:fillRect/>
          </a:stretch>
        </p:blipFill>
        <p:spPr>
          <a:xfrm>
            <a:off x="890808" y="3560856"/>
            <a:ext cx="266639" cy="266639"/>
          </a:xfrm>
          <a:prstGeom prst="rect">
            <a:avLst/>
          </a:prstGeom>
        </p:spPr>
      </p:pic>
      <p:sp>
        <p:nvSpPr>
          <p:cNvPr id="19" name="Text 13"/>
          <p:cNvSpPr/>
          <p:nvPr/>
        </p:nvSpPr>
        <p:spPr>
          <a:xfrm>
            <a:off x="1417320" y="3419856"/>
            <a:ext cx="2194560" cy="329184"/>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Works when links drop</a:t>
            </a:r>
            <a:endParaRPr lang="en-US" sz="1400" dirty="0"/>
          </a:p>
        </p:txBody>
      </p:sp>
      <p:sp>
        <p:nvSpPr>
          <p:cNvPr id="20" name="Text 14"/>
          <p:cNvSpPr/>
          <p:nvPr/>
        </p:nvSpPr>
        <p:spPr>
          <a:xfrm>
            <a:off x="1417320" y="3749040"/>
            <a:ext cx="2194560" cy="6400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Districts keep reading and alerting; nothing is lost.</a:t>
            </a:r>
            <a:endParaRPr lang="en-US" sz="1200" dirty="0"/>
          </a:p>
        </p:txBody>
      </p:sp>
      <p:sp>
        <p:nvSpPr>
          <p:cNvPr id="21" name="Shape 15"/>
          <p:cNvSpPr/>
          <p:nvPr/>
        </p:nvSpPr>
        <p:spPr>
          <a:xfrm>
            <a:off x="4069080" y="3200400"/>
            <a:ext cx="3246120" cy="1261872"/>
          </a:xfrm>
          <a:prstGeom prst="roundRect">
            <a:avLst>
              <a:gd name="adj" fmla="val 869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2" name="Shape 16"/>
          <p:cNvSpPr/>
          <p:nvPr/>
        </p:nvSpPr>
        <p:spPr>
          <a:xfrm>
            <a:off x="4297680" y="3447288"/>
            <a:ext cx="493776" cy="493776"/>
          </a:xfrm>
          <a:prstGeom prst="ellipse">
            <a:avLst/>
          </a:prstGeom>
          <a:solidFill>
            <a:srgbClr val="D97706"/>
          </a:solidFill>
          <a:ln w="12700">
            <a:solidFill>
              <a:srgbClr val="D97706"/>
            </a:solidFill>
            <a:prstDash val="solid"/>
          </a:ln>
        </p:spPr>
      </p:sp>
      <p:pic>
        <p:nvPicPr>
          <p:cNvPr id="23" name="Image 3" descr="preencoded.png">    </p:cNvPr>
          <p:cNvPicPr>
            <a:picLocks noChangeAspect="1"/>
          </p:cNvPicPr>
          <p:nvPr/>
        </p:nvPicPr>
        <p:blipFill>
          <a:blip r:embed="rId4"/>
          <a:stretch>
            <a:fillRect/>
          </a:stretch>
        </p:blipFill>
        <p:spPr>
          <a:xfrm>
            <a:off x="4411248" y="3560856"/>
            <a:ext cx="266639" cy="266639"/>
          </a:xfrm>
          <a:prstGeom prst="rect">
            <a:avLst/>
          </a:prstGeom>
        </p:spPr>
      </p:pic>
      <p:sp>
        <p:nvSpPr>
          <p:cNvPr id="24" name="Text 17"/>
          <p:cNvSpPr/>
          <p:nvPr/>
        </p:nvSpPr>
        <p:spPr>
          <a:xfrm>
            <a:off x="4937760" y="3419856"/>
            <a:ext cx="2194560" cy="329184"/>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Speaks Gujarati</a:t>
            </a:r>
            <a:endParaRPr lang="en-US" sz="1400" dirty="0"/>
          </a:p>
        </p:txBody>
      </p:sp>
      <p:sp>
        <p:nvSpPr>
          <p:cNvPr id="25" name="Text 18"/>
          <p:cNvSpPr/>
          <p:nvPr/>
        </p:nvSpPr>
        <p:spPr>
          <a:xfrm>
            <a:off x="4937760" y="3749040"/>
            <a:ext cx="2194560" cy="6400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The whole console in English, Hindi and Gujarati.</a:t>
            </a:r>
            <a:endParaRPr lang="en-US" sz="1200" dirty="0"/>
          </a:p>
        </p:txBody>
      </p:sp>
      <p:sp>
        <p:nvSpPr>
          <p:cNvPr id="26" name="Shape 19"/>
          <p:cNvSpPr/>
          <p:nvPr/>
        </p:nvSpPr>
        <p:spPr>
          <a:xfrm>
            <a:off x="548640" y="4663440"/>
            <a:ext cx="3246120" cy="1261872"/>
          </a:xfrm>
          <a:prstGeom prst="roundRect">
            <a:avLst>
              <a:gd name="adj" fmla="val 869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7" name="Shape 20"/>
          <p:cNvSpPr/>
          <p:nvPr/>
        </p:nvSpPr>
        <p:spPr>
          <a:xfrm>
            <a:off x="777240" y="4910328"/>
            <a:ext cx="493776" cy="493776"/>
          </a:xfrm>
          <a:prstGeom prst="ellipse">
            <a:avLst/>
          </a:prstGeom>
          <a:solidFill>
            <a:srgbClr val="2456D6"/>
          </a:solidFill>
          <a:ln w="12700">
            <a:solidFill>
              <a:srgbClr val="2456D6"/>
            </a:solidFill>
            <a:prstDash val="solid"/>
          </a:ln>
        </p:spPr>
      </p:sp>
      <p:pic>
        <p:nvPicPr>
          <p:cNvPr id="28" name="Image 4" descr="preencoded.png">    </p:cNvPr>
          <p:cNvPicPr>
            <a:picLocks noChangeAspect="1"/>
          </p:cNvPicPr>
          <p:nvPr/>
        </p:nvPicPr>
        <p:blipFill>
          <a:blip r:embed="rId5"/>
          <a:stretch>
            <a:fillRect/>
          </a:stretch>
        </p:blipFill>
        <p:spPr>
          <a:xfrm>
            <a:off x="890808" y="5023896"/>
            <a:ext cx="266639" cy="266639"/>
          </a:xfrm>
          <a:prstGeom prst="rect">
            <a:avLst/>
          </a:prstGeom>
        </p:spPr>
      </p:pic>
      <p:sp>
        <p:nvSpPr>
          <p:cNvPr id="29" name="Text 21"/>
          <p:cNvSpPr/>
          <p:nvPr/>
        </p:nvSpPr>
        <p:spPr>
          <a:xfrm>
            <a:off x="1417320" y="4882896"/>
            <a:ext cx="2194560" cy="329184"/>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Ready to integrate</a:t>
            </a:r>
            <a:endParaRPr lang="en-US" sz="1400" dirty="0"/>
          </a:p>
        </p:txBody>
      </p:sp>
      <p:sp>
        <p:nvSpPr>
          <p:cNvPr id="30" name="Text 22"/>
          <p:cNvSpPr/>
          <p:nvPr/>
        </p:nvSpPr>
        <p:spPr>
          <a:xfrm>
            <a:off x="1417320" y="5212080"/>
            <a:ext cx="2194560" cy="6400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VAHAN, SARTHI, eGujCop, AFIS and NAFIS connectors built.</a:t>
            </a:r>
            <a:endParaRPr lang="en-US" sz="1200" dirty="0"/>
          </a:p>
        </p:txBody>
      </p:sp>
      <p:sp>
        <p:nvSpPr>
          <p:cNvPr id="31" name="Shape 23"/>
          <p:cNvSpPr/>
          <p:nvPr/>
        </p:nvSpPr>
        <p:spPr>
          <a:xfrm>
            <a:off x="4069080" y="4663440"/>
            <a:ext cx="3246120" cy="1261872"/>
          </a:xfrm>
          <a:prstGeom prst="roundRect">
            <a:avLst>
              <a:gd name="adj" fmla="val 869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2" name="Shape 24"/>
          <p:cNvSpPr/>
          <p:nvPr/>
        </p:nvSpPr>
        <p:spPr>
          <a:xfrm>
            <a:off x="4297680" y="4910328"/>
            <a:ext cx="493776" cy="493776"/>
          </a:xfrm>
          <a:prstGeom prst="ellipse">
            <a:avLst/>
          </a:prstGeom>
          <a:solidFill>
            <a:srgbClr val="2456D6"/>
          </a:solidFill>
          <a:ln w="12700">
            <a:solidFill>
              <a:srgbClr val="2456D6"/>
            </a:solidFill>
            <a:prstDash val="solid"/>
          </a:ln>
        </p:spPr>
      </p:sp>
      <p:pic>
        <p:nvPicPr>
          <p:cNvPr id="33" name="Image 5" descr="preencoded.png">    </p:cNvPr>
          <p:cNvPicPr>
            <a:picLocks noChangeAspect="1"/>
          </p:cNvPicPr>
          <p:nvPr/>
        </p:nvPicPr>
        <p:blipFill>
          <a:blip r:embed="rId6"/>
          <a:stretch>
            <a:fillRect/>
          </a:stretch>
        </p:blipFill>
        <p:spPr>
          <a:xfrm>
            <a:off x="4411248" y="5023896"/>
            <a:ext cx="266639" cy="266639"/>
          </a:xfrm>
          <a:prstGeom prst="rect">
            <a:avLst/>
          </a:prstGeom>
        </p:spPr>
      </p:pic>
      <p:sp>
        <p:nvSpPr>
          <p:cNvPr id="34" name="Text 25"/>
          <p:cNvSpPr/>
          <p:nvPr/>
        </p:nvSpPr>
        <p:spPr>
          <a:xfrm>
            <a:off x="4937760" y="4882896"/>
            <a:ext cx="2194560" cy="329184"/>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Secure by design</a:t>
            </a:r>
            <a:endParaRPr lang="en-US" sz="1400" dirty="0"/>
          </a:p>
        </p:txBody>
      </p:sp>
      <p:sp>
        <p:nvSpPr>
          <p:cNvPr id="35" name="Text 26"/>
          <p:cNvSpPr/>
          <p:nvPr/>
        </p:nvSpPr>
        <p:spPr>
          <a:xfrm>
            <a:off x="4937760" y="5212080"/>
            <a:ext cx="2194560" cy="6400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Encrypted links, scoped access, tamper-evident logging.</a:t>
            </a:r>
            <a:endParaRPr lang="en-US" sz="1200" dirty="0"/>
          </a:p>
        </p:txBody>
      </p:sp>
      <p:sp>
        <p:nvSpPr>
          <p:cNvPr id="36" name="Shape 27"/>
          <p:cNvSpPr/>
          <p:nvPr/>
        </p:nvSpPr>
        <p:spPr>
          <a:xfrm>
            <a:off x="7662672" y="1719072"/>
            <a:ext cx="4044391" cy="4408705"/>
          </a:xfrm>
          <a:prstGeom prst="roundRect">
            <a:avLst>
              <a:gd name="adj" fmla="val 2261"/>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37" name="Image 6" descr="preencoded.png">    </p:cNvPr>
          <p:cNvPicPr>
            <a:picLocks noChangeAspect="1"/>
          </p:cNvPicPr>
          <p:nvPr/>
        </p:nvPicPr>
        <p:blipFill>
          <a:blip r:embed="rId7"/>
          <a:stretch>
            <a:fillRect/>
          </a:stretch>
        </p:blipFill>
        <p:spPr>
          <a:xfrm>
            <a:off x="7726680" y="1783080"/>
            <a:ext cx="3916375" cy="4280689"/>
          </a:xfrm>
          <a:prstGeom prst="rect">
            <a:avLst/>
          </a:prstGeom>
        </p:spPr>
      </p:pic>
      <p:sp>
        <p:nvSpPr>
          <p:cNvPr id="38" name="Text 28"/>
          <p:cNvSpPr/>
          <p:nvPr/>
        </p:nvSpPr>
        <p:spPr>
          <a:xfrm>
            <a:off x="7726680" y="6228361"/>
            <a:ext cx="3916375" cy="27432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The same console, in Gujarati</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PROVEN, NOT PROMISED</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Measured on real government footage</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16</a:t>
            </a:r>
            <a:endParaRPr lang="en-US" sz="900" dirty="0"/>
          </a:p>
        </p:txBody>
      </p:sp>
      <p:sp>
        <p:nvSpPr>
          <p:cNvPr id="6" name="Shape 3"/>
          <p:cNvSpPr/>
          <p:nvPr/>
        </p:nvSpPr>
        <p:spPr>
          <a:xfrm>
            <a:off x="548640"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7" name="Text 4"/>
          <p:cNvSpPr/>
          <p:nvPr/>
        </p:nvSpPr>
        <p:spPr>
          <a:xfrm>
            <a:off x="822960"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78%</a:t>
            </a:r>
            <a:endParaRPr lang="en-US" sz="4400" dirty="0"/>
          </a:p>
        </p:txBody>
      </p:sp>
      <p:sp>
        <p:nvSpPr>
          <p:cNvPr id="8" name="Text 5"/>
          <p:cNvSpPr/>
          <p:nvPr/>
        </p:nvSpPr>
        <p:spPr>
          <a:xfrm>
            <a:off x="822960"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plates read exactly</a:t>
            </a:r>
            <a:endParaRPr lang="en-US" sz="1400" dirty="0"/>
          </a:p>
        </p:txBody>
      </p:sp>
      <p:sp>
        <p:nvSpPr>
          <p:cNvPr id="9" name="Text 6"/>
          <p:cNvSpPr/>
          <p:nvPr/>
        </p:nvSpPr>
        <p:spPr>
          <a:xfrm>
            <a:off x="822960"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On 81 hand-checked real government plates; 88% of characters correct</a:t>
            </a:r>
            <a:endParaRPr lang="en-US" sz="1200" dirty="0"/>
          </a:p>
        </p:txBody>
      </p:sp>
      <p:sp>
        <p:nvSpPr>
          <p:cNvPr id="10" name="Shape 7"/>
          <p:cNvSpPr/>
          <p:nvPr/>
        </p:nvSpPr>
        <p:spPr>
          <a:xfrm>
            <a:off x="3390824"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1" name="Text 8"/>
          <p:cNvSpPr/>
          <p:nvPr/>
        </p:nvSpPr>
        <p:spPr>
          <a:xfrm>
            <a:off x="3665144"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16</a:t>
            </a:r>
            <a:endParaRPr lang="en-US" sz="4400" dirty="0"/>
          </a:p>
        </p:txBody>
      </p:sp>
      <p:sp>
        <p:nvSpPr>
          <p:cNvPr id="12" name="Text 9"/>
          <p:cNvSpPr/>
          <p:nvPr/>
        </p:nvSpPr>
        <p:spPr>
          <a:xfrm>
            <a:off x="3665144"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frames a second, on one laptop</a:t>
            </a:r>
            <a:endParaRPr lang="en-US" sz="1400" dirty="0"/>
          </a:p>
        </p:txBody>
      </p:sp>
      <p:sp>
        <p:nvSpPr>
          <p:cNvPr id="13" name="Text 10"/>
          <p:cNvSpPr/>
          <p:nvPr/>
        </p:nvSpPr>
        <p:spPr>
          <a:xfrm>
            <a:off x="3665144"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End-to-end live analysis on a CPU — the on-site set-up</a:t>
            </a:r>
            <a:endParaRPr lang="en-US" sz="1200" dirty="0"/>
          </a:p>
        </p:txBody>
      </p:sp>
      <p:sp>
        <p:nvSpPr>
          <p:cNvPr id="14" name="Shape 11"/>
          <p:cNvSpPr/>
          <p:nvPr/>
        </p:nvSpPr>
        <p:spPr>
          <a:xfrm>
            <a:off x="6233008"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5" name="Text 12"/>
          <p:cNvSpPr/>
          <p:nvPr/>
        </p:nvSpPr>
        <p:spPr>
          <a:xfrm>
            <a:off x="6507328"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600+</a:t>
            </a:r>
            <a:endParaRPr lang="en-US" sz="4400" dirty="0"/>
          </a:p>
        </p:txBody>
      </p:sp>
      <p:sp>
        <p:nvSpPr>
          <p:cNvPr id="16" name="Text 13"/>
          <p:cNvSpPr/>
          <p:nvPr/>
        </p:nvSpPr>
        <p:spPr>
          <a:xfrm>
            <a:off x="6507328"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automated tests</a:t>
            </a:r>
            <a:endParaRPr lang="en-US" sz="1400" dirty="0"/>
          </a:p>
        </p:txBody>
      </p:sp>
      <p:sp>
        <p:nvSpPr>
          <p:cNvPr id="17" name="Text 14"/>
          <p:cNvSpPr/>
          <p:nvPr/>
        </p:nvSpPr>
        <p:spPr>
          <a:xfrm>
            <a:off x="6507328"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Plus interface tests in three languages and two themes</a:t>
            </a:r>
            <a:endParaRPr lang="en-US" sz="1200" dirty="0"/>
          </a:p>
        </p:txBody>
      </p:sp>
      <p:sp>
        <p:nvSpPr>
          <p:cNvPr id="18" name="Shape 15"/>
          <p:cNvSpPr/>
          <p:nvPr/>
        </p:nvSpPr>
        <p:spPr>
          <a:xfrm>
            <a:off x="9075191"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9" name="Text 16"/>
          <p:cNvSpPr/>
          <p:nvPr/>
        </p:nvSpPr>
        <p:spPr>
          <a:xfrm>
            <a:off x="9349511"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5.7 s</a:t>
            </a:r>
            <a:endParaRPr lang="en-US" sz="4400" dirty="0"/>
          </a:p>
        </p:txBody>
      </p:sp>
      <p:sp>
        <p:nvSpPr>
          <p:cNvPr id="20" name="Text 17"/>
          <p:cNvSpPr/>
          <p:nvPr/>
        </p:nvSpPr>
        <p:spPr>
          <a:xfrm>
            <a:off x="9349511"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to restore a million records</a:t>
            </a:r>
            <a:endParaRPr lang="en-US" sz="1400" dirty="0"/>
          </a:p>
        </p:txBody>
      </p:sp>
      <p:sp>
        <p:nvSpPr>
          <p:cNvPr id="21" name="Text 18"/>
          <p:cNvSpPr/>
          <p:nvPr/>
        </p:nvSpPr>
        <p:spPr>
          <a:xfrm>
            <a:off x="9349511"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Disaster-recovery drill, with tampering detected</a:t>
            </a:r>
            <a:endParaRPr lang="en-US" sz="1200" dirty="0"/>
          </a:p>
        </p:txBody>
      </p:sp>
      <p:sp>
        <p:nvSpPr>
          <p:cNvPr id="22" name="Shape 19"/>
          <p:cNvSpPr/>
          <p:nvPr/>
        </p:nvSpPr>
        <p:spPr>
          <a:xfrm>
            <a:off x="548640" y="4526280"/>
            <a:ext cx="11094415" cy="1463040"/>
          </a:xfrm>
          <a:prstGeom prst="roundRect">
            <a:avLst>
              <a:gd name="adj" fmla="val 7500"/>
            </a:avLst>
          </a:prstGeom>
          <a:solidFill>
            <a:srgbClr val="F3F5FA"/>
          </a:solidFill>
          <a:ln w="9525">
            <a:solidFill>
              <a:srgbClr val="DDE3EE"/>
            </a:solidFill>
            <a:prstDash val="solid"/>
          </a:ln>
        </p:spPr>
      </p:sp>
      <p:sp>
        <p:nvSpPr>
          <p:cNvPr id="23" name="Shape 20"/>
          <p:cNvSpPr/>
          <p:nvPr/>
        </p:nvSpPr>
        <p:spPr>
          <a:xfrm>
            <a:off x="868680" y="4754880"/>
            <a:ext cx="512064" cy="512064"/>
          </a:xfrm>
          <a:prstGeom prst="ellipse">
            <a:avLst/>
          </a:prstGeom>
          <a:solidFill>
            <a:srgbClr val="D97706"/>
          </a:solidFill>
          <a:ln w="12700">
            <a:solidFill>
              <a:srgbClr val="D97706"/>
            </a:solidFill>
            <a:prstDash val="solid"/>
          </a:ln>
        </p:spPr>
      </p:sp>
      <p:pic>
        <p:nvPicPr>
          <p:cNvPr id="24" name="Image 0" descr="preencoded.png">    </p:cNvPr>
          <p:cNvPicPr>
            <a:picLocks noChangeAspect="1"/>
          </p:cNvPicPr>
          <p:nvPr/>
        </p:nvPicPr>
        <p:blipFill>
          <a:blip r:embed="rId1"/>
          <a:stretch>
            <a:fillRect/>
          </a:stretch>
        </p:blipFill>
        <p:spPr>
          <a:xfrm>
            <a:off x="986455" y="4872655"/>
            <a:ext cx="276515" cy="276515"/>
          </a:xfrm>
          <a:prstGeom prst="rect">
            <a:avLst/>
          </a:prstGeom>
        </p:spPr>
      </p:pic>
      <p:sp>
        <p:nvSpPr>
          <p:cNvPr id="25" name="Text 21"/>
          <p:cNvSpPr/>
          <p:nvPr/>
        </p:nvSpPr>
        <p:spPr>
          <a:xfrm>
            <a:off x="1554480" y="4754880"/>
            <a:ext cx="3657600" cy="36576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Stated plainly</a:t>
            </a:r>
            <a:endParaRPr lang="en-US" sz="1700" dirty="0"/>
          </a:p>
        </p:txBody>
      </p:sp>
      <p:sp>
        <p:nvSpPr>
          <p:cNvPr id="26" name="Text 22"/>
          <p:cNvSpPr/>
          <p:nvPr/>
        </p:nvSpPr>
        <p:spPr>
          <a:xfrm>
            <a:off x="1554480" y="5166360"/>
            <a:ext cx="493776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Plate accuracy is below our own 85% target</a:t>
            </a:r>
            <a:endParaRPr lang="en-US" sz="1400" dirty="0"/>
          </a:p>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Statewide compute is sized from vendor benchmarks</a:t>
            </a:r>
            <a:endParaRPr lang="en-US" sz="1400" dirty="0"/>
          </a:p>
        </p:txBody>
      </p:sp>
      <p:sp>
        <p:nvSpPr>
          <p:cNvPr id="27" name="Text 23"/>
          <p:cNvSpPr/>
          <p:nvPr/>
        </p:nvSpPr>
        <p:spPr>
          <a:xfrm>
            <a:off x="6583680" y="5166360"/>
            <a:ext cx="512064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Matching vehicles with no readable plate is designed, not built</a:t>
            </a:r>
            <a:endParaRPr lang="en-US" sz="1400" dirty="0"/>
          </a:p>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The pilot replaces every estimate with a measurement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441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PATH TO STATEWIDE</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Useful from the first district. No big-bang switch-over.</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17</a:t>
            </a:r>
            <a:endParaRPr lang="en-US" sz="900" dirty="0"/>
          </a:p>
        </p:txBody>
      </p:sp>
      <p:sp>
        <p:nvSpPr>
          <p:cNvPr id="6" name="Shape 3"/>
          <p:cNvSpPr/>
          <p:nvPr/>
        </p:nvSpPr>
        <p:spPr>
          <a:xfrm>
            <a:off x="832104" y="1938528"/>
            <a:ext cx="10527487" cy="0"/>
          </a:xfrm>
          <a:prstGeom prst="line">
            <a:avLst/>
          </a:prstGeom>
          <a:noFill/>
          <a:ln w="25400">
            <a:solidFill>
              <a:srgbClr val="DDE3EE"/>
            </a:solidFill>
            <a:prstDash val="solid"/>
          </a:ln>
        </p:spPr>
      </p:sp>
      <p:sp>
        <p:nvSpPr>
          <p:cNvPr id="7" name="Shape 4"/>
          <p:cNvSpPr/>
          <p:nvPr/>
        </p:nvSpPr>
        <p:spPr>
          <a:xfrm>
            <a:off x="685800" y="1792224"/>
            <a:ext cx="292608" cy="292608"/>
          </a:xfrm>
          <a:prstGeom prst="ellipse">
            <a:avLst/>
          </a:prstGeom>
          <a:solidFill>
            <a:srgbClr val="D97706"/>
          </a:solidFill>
          <a:ln w="38100">
            <a:solidFill>
              <a:srgbClr val="FFFFFF"/>
            </a:solidFill>
            <a:prstDash val="solid"/>
          </a:ln>
        </p:spPr>
      </p:sp>
      <p:sp>
        <p:nvSpPr>
          <p:cNvPr id="8" name="Text 5"/>
          <p:cNvSpPr/>
          <p:nvPr/>
        </p:nvSpPr>
        <p:spPr>
          <a:xfrm>
            <a:off x="548640" y="2240280"/>
            <a:ext cx="2567864" cy="274320"/>
          </a:xfrm>
          <a:prstGeom prst="rect">
            <a:avLst/>
          </a:prstGeom>
          <a:noFill/>
          <a:ln/>
        </p:spPr>
        <p:txBody>
          <a:bodyPr wrap="square" lIns="0" tIns="0" rIns="0" bIns="0" rtlCol="0" anchor="t"/>
          <a:lstStyle/>
          <a:p>
            <a:pPr indent="0" marL="0">
              <a:buNone/>
            </a:pPr>
            <a:r>
              <a:rPr lang="en-US" sz="1200" b="1" dirty="0">
                <a:solidFill>
                  <a:srgbClr val="B45309"/>
                </a:solidFill>
                <a:latin typeface="Arial" pitchFamily="34" charset="0"/>
                <a:ea typeface="Arial" pitchFamily="34" charset="-122"/>
                <a:cs typeface="Arial" pitchFamily="34" charset="-120"/>
              </a:rPr>
              <a:t>Pilot  ·  0–3 months</a:t>
            </a:r>
            <a:endParaRPr lang="en-US" sz="1200" dirty="0"/>
          </a:p>
        </p:txBody>
      </p:sp>
      <p:sp>
        <p:nvSpPr>
          <p:cNvPr id="9" name="Shape 6"/>
          <p:cNvSpPr/>
          <p:nvPr/>
        </p:nvSpPr>
        <p:spPr>
          <a:xfrm>
            <a:off x="548640" y="2651760"/>
            <a:ext cx="2567864" cy="3246120"/>
          </a:xfrm>
          <a:prstGeom prst="roundRect">
            <a:avLst>
              <a:gd name="adj" fmla="val 4273"/>
            </a:avLst>
          </a:prstGeom>
          <a:solidFill>
            <a:srgbClr val="EAF0FD"/>
          </a:solidFill>
          <a:ln w="9525">
            <a:solidFill>
              <a:srgbClr val="C9D7F7"/>
            </a:solidFill>
            <a:prstDash val="solid"/>
          </a:ln>
        </p:spPr>
      </p:sp>
      <p:sp>
        <p:nvSpPr>
          <p:cNvPr id="10" name="Text 7"/>
          <p:cNvSpPr/>
          <p:nvPr/>
        </p:nvSpPr>
        <p:spPr>
          <a:xfrm>
            <a:off x="822960"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~500</a:t>
            </a:r>
            <a:endParaRPr lang="en-US" sz="3600" dirty="0"/>
          </a:p>
        </p:txBody>
      </p:sp>
      <p:sp>
        <p:nvSpPr>
          <p:cNvPr id="11" name="Text 8"/>
          <p:cNvSpPr/>
          <p:nvPr/>
        </p:nvSpPr>
        <p:spPr>
          <a:xfrm>
            <a:off x="822960"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12" name="Text 9"/>
          <p:cNvSpPr/>
          <p:nvPr/>
        </p:nvSpPr>
        <p:spPr>
          <a:xfrm>
            <a:off x="822960"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1 district, 2 departments</a:t>
            </a:r>
            <a:endParaRPr lang="en-US" sz="1400" dirty="0"/>
          </a:p>
        </p:txBody>
      </p:sp>
      <p:sp>
        <p:nvSpPr>
          <p:cNvPr id="13" name="Text 10"/>
          <p:cNvSpPr/>
          <p:nvPr/>
        </p:nvSpPr>
        <p:spPr>
          <a:xfrm>
            <a:off x="822960"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Plate reading validated on live feeds; operators sign off</a:t>
            </a:r>
            <a:endParaRPr lang="en-US" sz="1300" dirty="0"/>
          </a:p>
        </p:txBody>
      </p:sp>
      <p:sp>
        <p:nvSpPr>
          <p:cNvPr id="14" name="Shape 11"/>
          <p:cNvSpPr/>
          <p:nvPr/>
        </p:nvSpPr>
        <p:spPr>
          <a:xfrm>
            <a:off x="3527984" y="1792224"/>
            <a:ext cx="292608" cy="292608"/>
          </a:xfrm>
          <a:prstGeom prst="ellipse">
            <a:avLst/>
          </a:prstGeom>
          <a:solidFill>
            <a:srgbClr val="2456D6"/>
          </a:solidFill>
          <a:ln w="38100">
            <a:solidFill>
              <a:srgbClr val="FFFFFF"/>
            </a:solidFill>
            <a:prstDash val="solid"/>
          </a:ln>
        </p:spPr>
      </p:sp>
      <p:sp>
        <p:nvSpPr>
          <p:cNvPr id="15" name="Text 12"/>
          <p:cNvSpPr/>
          <p:nvPr/>
        </p:nvSpPr>
        <p:spPr>
          <a:xfrm>
            <a:off x="3390824"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Expand  ·  3–9 months</a:t>
            </a:r>
            <a:endParaRPr lang="en-US" sz="1200" dirty="0"/>
          </a:p>
        </p:txBody>
      </p:sp>
      <p:sp>
        <p:nvSpPr>
          <p:cNvPr id="16" name="Shape 13"/>
          <p:cNvSpPr/>
          <p:nvPr/>
        </p:nvSpPr>
        <p:spPr>
          <a:xfrm>
            <a:off x="3390824"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Text 14"/>
          <p:cNvSpPr/>
          <p:nvPr/>
        </p:nvSpPr>
        <p:spPr>
          <a:xfrm>
            <a:off x="3665144"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~5,000</a:t>
            </a:r>
            <a:endParaRPr lang="en-US" sz="3600" dirty="0"/>
          </a:p>
        </p:txBody>
      </p:sp>
      <p:sp>
        <p:nvSpPr>
          <p:cNvPr id="18" name="Text 15"/>
          <p:cNvSpPr/>
          <p:nvPr/>
        </p:nvSpPr>
        <p:spPr>
          <a:xfrm>
            <a:off x="3665144"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19" name="Text 16"/>
          <p:cNvSpPr/>
          <p:nvPr/>
        </p:nvSpPr>
        <p:spPr>
          <a:xfrm>
            <a:off x="3665144"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4 districts, 6 departments</a:t>
            </a:r>
            <a:endParaRPr lang="en-US" sz="1400" dirty="0"/>
          </a:p>
        </p:txBody>
      </p:sp>
      <p:sp>
        <p:nvSpPr>
          <p:cNvPr id="20" name="Text 17"/>
          <p:cNvSpPr/>
          <p:nvPr/>
        </p:nvSpPr>
        <p:spPr>
          <a:xfrm>
            <a:off x="3665144"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Main VMS vendors connected; VAHAN and eGujCop live</a:t>
            </a:r>
            <a:endParaRPr lang="en-US" sz="1300" dirty="0"/>
          </a:p>
        </p:txBody>
      </p:sp>
      <p:sp>
        <p:nvSpPr>
          <p:cNvPr id="21" name="Shape 18"/>
          <p:cNvSpPr/>
          <p:nvPr/>
        </p:nvSpPr>
        <p:spPr>
          <a:xfrm>
            <a:off x="6370168" y="1792224"/>
            <a:ext cx="292608" cy="292608"/>
          </a:xfrm>
          <a:prstGeom prst="ellipse">
            <a:avLst/>
          </a:prstGeom>
          <a:solidFill>
            <a:srgbClr val="2456D6"/>
          </a:solidFill>
          <a:ln w="38100">
            <a:solidFill>
              <a:srgbClr val="FFFFFF"/>
            </a:solidFill>
            <a:prstDash val="solid"/>
          </a:ln>
        </p:spPr>
      </p:sp>
      <p:sp>
        <p:nvSpPr>
          <p:cNvPr id="22" name="Text 19"/>
          <p:cNvSpPr/>
          <p:nvPr/>
        </p:nvSpPr>
        <p:spPr>
          <a:xfrm>
            <a:off x="6233008"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Statewide  ·  9–21 months</a:t>
            </a:r>
            <a:endParaRPr lang="en-US" sz="1200" dirty="0"/>
          </a:p>
        </p:txBody>
      </p:sp>
      <p:sp>
        <p:nvSpPr>
          <p:cNvPr id="23" name="Shape 20"/>
          <p:cNvSpPr/>
          <p:nvPr/>
        </p:nvSpPr>
        <p:spPr>
          <a:xfrm>
            <a:off x="6233008"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4" name="Text 21"/>
          <p:cNvSpPr/>
          <p:nvPr/>
        </p:nvSpPr>
        <p:spPr>
          <a:xfrm>
            <a:off x="6507328"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~30,000</a:t>
            </a:r>
            <a:endParaRPr lang="en-US" sz="3600" dirty="0"/>
          </a:p>
        </p:txBody>
      </p:sp>
      <p:sp>
        <p:nvSpPr>
          <p:cNvPr id="25" name="Text 22"/>
          <p:cNvSpPr/>
          <p:nvPr/>
        </p:nvSpPr>
        <p:spPr>
          <a:xfrm>
            <a:off x="6507328"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26" name="Text 23"/>
          <p:cNvSpPr/>
          <p:nvPr/>
        </p:nvSpPr>
        <p:spPr>
          <a:xfrm>
            <a:off x="6507328"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All 34 districts</a:t>
            </a:r>
            <a:endParaRPr lang="en-US" sz="1400" dirty="0"/>
          </a:p>
        </p:txBody>
      </p:sp>
      <p:sp>
        <p:nvSpPr>
          <p:cNvPr id="27" name="Text 24"/>
          <p:cNvSpPr/>
          <p:nvPr/>
        </p:nvSpPr>
        <p:spPr>
          <a:xfrm>
            <a:off x="6507328"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Statewide vehicle tracking; operations centre in place</a:t>
            </a:r>
            <a:endParaRPr lang="en-US" sz="1300" dirty="0"/>
          </a:p>
        </p:txBody>
      </p:sp>
      <p:sp>
        <p:nvSpPr>
          <p:cNvPr id="28" name="Shape 25"/>
          <p:cNvSpPr/>
          <p:nvPr/>
        </p:nvSpPr>
        <p:spPr>
          <a:xfrm>
            <a:off x="9212351" y="1792224"/>
            <a:ext cx="292608" cy="292608"/>
          </a:xfrm>
          <a:prstGeom prst="ellipse">
            <a:avLst/>
          </a:prstGeom>
          <a:solidFill>
            <a:srgbClr val="2456D6"/>
          </a:solidFill>
          <a:ln w="38100">
            <a:solidFill>
              <a:srgbClr val="FFFFFF"/>
            </a:solidFill>
            <a:prstDash val="solid"/>
          </a:ln>
        </p:spPr>
      </p:sp>
      <p:sp>
        <p:nvSpPr>
          <p:cNvPr id="29" name="Text 26"/>
          <p:cNvSpPr/>
          <p:nvPr/>
        </p:nvSpPr>
        <p:spPr>
          <a:xfrm>
            <a:off x="9075191"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Complete  ·  21–36 months</a:t>
            </a:r>
            <a:endParaRPr lang="en-US" sz="1200" dirty="0"/>
          </a:p>
        </p:txBody>
      </p:sp>
      <p:sp>
        <p:nvSpPr>
          <p:cNvPr id="30" name="Shape 27"/>
          <p:cNvSpPr/>
          <p:nvPr/>
        </p:nvSpPr>
        <p:spPr>
          <a:xfrm>
            <a:off x="9075191"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1" name="Text 28"/>
          <p:cNvSpPr/>
          <p:nvPr/>
        </p:nvSpPr>
        <p:spPr>
          <a:xfrm>
            <a:off x="9349511"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80,000</a:t>
            </a:r>
            <a:endParaRPr lang="en-US" sz="3600" dirty="0"/>
          </a:p>
        </p:txBody>
      </p:sp>
      <p:sp>
        <p:nvSpPr>
          <p:cNvPr id="32" name="Text 29"/>
          <p:cNvSpPr/>
          <p:nvPr/>
        </p:nvSpPr>
        <p:spPr>
          <a:xfrm>
            <a:off x="9349511"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33" name="Text 30"/>
          <p:cNvSpPr/>
          <p:nvPr/>
        </p:nvSpPr>
        <p:spPr>
          <a:xfrm>
            <a:off x="9349511"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Plus consented private cameras</a:t>
            </a:r>
            <a:endParaRPr lang="en-US" sz="1400" dirty="0"/>
          </a:p>
        </p:txBody>
      </p:sp>
      <p:sp>
        <p:nvSpPr>
          <p:cNvPr id="34" name="Text 31"/>
          <p:cNvSpPr/>
          <p:nvPr/>
        </p:nvSpPr>
        <p:spPr>
          <a:xfrm>
            <a:off x="9349511"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Full coverage, with policy and audit established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AF0FD"/>
        </a:solidFill>
      </p:bgPr>
    </p:bg>
    <p:spTree>
      <p:nvGrpSpPr>
        <p:cNvPr id="1" name=""/>
        <p:cNvGrpSpPr/>
        <p:nvPr/>
      </p:nvGrpSpPr>
      <p:grpSpPr>
        <a:xfrm>
          <a:off x="0" y="0"/>
          <a:ext cx="0" cy="0"/>
          <a:chOff x="0" y="0"/>
          <a:chExt cx="0" cy="0"/>
        </a:xfrm>
      </p:grpSpPr>
      <p:sp>
        <p:nvSpPr>
          <p:cNvPr id="2" name="Text 0"/>
          <p:cNvSpPr/>
          <p:nvPr/>
        </p:nvSpPr>
        <p:spPr>
          <a:xfrm>
            <a:off x="548640" y="731520"/>
            <a:ext cx="11094415" cy="320040"/>
          </a:xfrm>
          <a:prstGeom prst="rect">
            <a:avLst/>
          </a:prstGeom>
          <a:noFill/>
          <a:ln/>
        </p:spPr>
        <p:txBody>
          <a:bodyPr wrap="square" lIns="0" tIns="0" rIns="0" bIns="0" rtlCol="0" anchor="t"/>
          <a:lstStyle/>
          <a:p>
            <a:pPr indent="0" marL="0">
              <a:buNone/>
            </a:pPr>
            <a:r>
              <a:rPr lang="en-US" sz="1300" b="1" spc="400" kern="0" dirty="0">
                <a:solidFill>
                  <a:srgbClr val="B45309"/>
                </a:solidFill>
                <a:latin typeface="Arial" pitchFamily="34" charset="0"/>
                <a:ea typeface="Arial" pitchFamily="34" charset="-122"/>
                <a:cs typeface="Arial" pitchFamily="34" charset="-120"/>
              </a:rPr>
              <a:t>THE NEXT STEP</a:t>
            </a:r>
            <a:endParaRPr lang="en-US" sz="1300" dirty="0"/>
          </a:p>
        </p:txBody>
      </p:sp>
      <p:sp>
        <p:nvSpPr>
          <p:cNvPr id="3" name="Text 1"/>
          <p:cNvSpPr/>
          <p:nvPr/>
        </p:nvSpPr>
        <p:spPr>
          <a:xfrm>
            <a:off x="548640" y="1097280"/>
            <a:ext cx="11094415" cy="77724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Start with a 90-day pilot in one district</a:t>
            </a:r>
            <a:endParaRPr lang="en-US" sz="3600" dirty="0"/>
          </a:p>
        </p:txBody>
      </p:sp>
      <p:sp>
        <p:nvSpPr>
          <p:cNvPr id="4" name="Shape 2"/>
          <p:cNvSpPr/>
          <p:nvPr/>
        </p:nvSpPr>
        <p:spPr>
          <a:xfrm>
            <a:off x="548640" y="2240280"/>
            <a:ext cx="3484778" cy="2651760"/>
          </a:xfrm>
          <a:prstGeom prst="roundRect">
            <a:avLst>
              <a:gd name="adj" fmla="val 4138"/>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5" name="Shape 3"/>
          <p:cNvSpPr/>
          <p:nvPr/>
        </p:nvSpPr>
        <p:spPr>
          <a:xfrm>
            <a:off x="868680" y="2514600"/>
            <a:ext cx="603504" cy="603504"/>
          </a:xfrm>
          <a:prstGeom prst="ellipse">
            <a:avLst/>
          </a:prstGeom>
          <a:solidFill>
            <a:srgbClr val="2456D6"/>
          </a:solidFill>
          <a:ln w="12700">
            <a:solidFill>
              <a:srgbClr val="2456D6"/>
            </a:solidFill>
            <a:prstDash val="solid"/>
          </a:ln>
        </p:spPr>
      </p:sp>
      <p:pic>
        <p:nvPicPr>
          <p:cNvPr id="6" name="Image 0" descr="preencoded.png">    </p:cNvPr>
          <p:cNvPicPr>
            <a:picLocks noChangeAspect="1"/>
          </p:cNvPicPr>
          <p:nvPr/>
        </p:nvPicPr>
        <p:blipFill>
          <a:blip r:embed="rId1"/>
          <a:stretch>
            <a:fillRect/>
          </a:stretch>
        </p:blipFill>
        <p:spPr>
          <a:xfrm>
            <a:off x="1007486" y="2653406"/>
            <a:ext cx="325892" cy="325892"/>
          </a:xfrm>
          <a:prstGeom prst="rect">
            <a:avLst/>
          </a:prstGeom>
        </p:spPr>
      </p:pic>
      <p:sp>
        <p:nvSpPr>
          <p:cNvPr id="7" name="Text 4"/>
          <p:cNvSpPr/>
          <p:nvPr/>
        </p:nvSpPr>
        <p:spPr>
          <a:xfrm>
            <a:off x="868680" y="3291840"/>
            <a:ext cx="2844698" cy="50292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A camera inventory</a:t>
            </a:r>
            <a:endParaRPr lang="en-US" sz="1800" dirty="0"/>
          </a:p>
        </p:txBody>
      </p:sp>
      <p:sp>
        <p:nvSpPr>
          <p:cNvPr id="8" name="Text 5"/>
          <p:cNvSpPr/>
          <p:nvPr/>
        </p:nvSpPr>
        <p:spPr>
          <a:xfrm>
            <a:off x="868680" y="3822192"/>
            <a:ext cx="2844698" cy="91440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One template per department: cameras, recorders, network, locations — and whether each feed shows the date and time.</a:t>
            </a:r>
            <a:endParaRPr lang="en-US" sz="1400" dirty="0"/>
          </a:p>
        </p:txBody>
      </p:sp>
      <p:sp>
        <p:nvSpPr>
          <p:cNvPr id="9" name="Shape 6"/>
          <p:cNvSpPr/>
          <p:nvPr/>
        </p:nvSpPr>
        <p:spPr>
          <a:xfrm>
            <a:off x="4353458" y="2240280"/>
            <a:ext cx="3484778" cy="2651760"/>
          </a:xfrm>
          <a:prstGeom prst="roundRect">
            <a:avLst>
              <a:gd name="adj" fmla="val 4138"/>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7"/>
          <p:cNvSpPr/>
          <p:nvPr/>
        </p:nvSpPr>
        <p:spPr>
          <a:xfrm>
            <a:off x="4673498" y="2514600"/>
            <a:ext cx="603504" cy="603504"/>
          </a:xfrm>
          <a:prstGeom prst="ellipse">
            <a:avLst/>
          </a:prstGeom>
          <a:solidFill>
            <a:srgbClr val="2456D6"/>
          </a:solidFill>
          <a:ln w="12700">
            <a:solidFill>
              <a:srgbClr val="2456D6"/>
            </a:solidFill>
            <a:prstDash val="solid"/>
          </a:ln>
        </p:spPr>
      </p:sp>
      <p:pic>
        <p:nvPicPr>
          <p:cNvPr id="11" name="Image 1" descr="preencoded.png">    </p:cNvPr>
          <p:cNvPicPr>
            <a:picLocks noChangeAspect="1"/>
          </p:cNvPicPr>
          <p:nvPr/>
        </p:nvPicPr>
        <p:blipFill>
          <a:blip r:embed="rId2"/>
          <a:stretch>
            <a:fillRect/>
          </a:stretch>
        </p:blipFill>
        <p:spPr>
          <a:xfrm>
            <a:off x="4812304" y="2653406"/>
            <a:ext cx="325892" cy="325892"/>
          </a:xfrm>
          <a:prstGeom prst="rect">
            <a:avLst/>
          </a:prstGeom>
        </p:spPr>
      </p:pic>
      <p:sp>
        <p:nvSpPr>
          <p:cNvPr id="12" name="Text 8"/>
          <p:cNvSpPr/>
          <p:nvPr/>
        </p:nvSpPr>
        <p:spPr>
          <a:xfrm>
            <a:off x="4673498" y="3291840"/>
            <a:ext cx="2844698" cy="50292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Read-only access</a:t>
            </a:r>
            <a:endParaRPr lang="en-US" sz="1800" dirty="0"/>
          </a:p>
        </p:txBody>
      </p:sp>
      <p:sp>
        <p:nvSpPr>
          <p:cNvPr id="13" name="Text 9"/>
          <p:cNvSpPr/>
          <p:nvPr/>
        </p:nvSpPr>
        <p:spPr>
          <a:xfrm>
            <a:off x="4673498" y="3822192"/>
            <a:ext cx="2844698" cy="91440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To the streams or each VMS. Nothing installed on department infrastructure.</a:t>
            </a:r>
            <a:endParaRPr lang="en-US" sz="1400" dirty="0"/>
          </a:p>
        </p:txBody>
      </p:sp>
      <p:sp>
        <p:nvSpPr>
          <p:cNvPr id="14" name="Shape 10"/>
          <p:cNvSpPr/>
          <p:nvPr/>
        </p:nvSpPr>
        <p:spPr>
          <a:xfrm>
            <a:off x="8158277" y="2240280"/>
            <a:ext cx="3484778" cy="2651760"/>
          </a:xfrm>
          <a:prstGeom prst="roundRect">
            <a:avLst>
              <a:gd name="adj" fmla="val 4138"/>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5" name="Shape 11"/>
          <p:cNvSpPr/>
          <p:nvPr/>
        </p:nvSpPr>
        <p:spPr>
          <a:xfrm>
            <a:off x="8478317" y="2514600"/>
            <a:ext cx="603504" cy="603504"/>
          </a:xfrm>
          <a:prstGeom prst="ellipse">
            <a:avLst/>
          </a:prstGeom>
          <a:solidFill>
            <a:srgbClr val="2456D6"/>
          </a:solidFill>
          <a:ln w="12700">
            <a:solidFill>
              <a:srgbClr val="2456D6"/>
            </a:solidFill>
            <a:prstDash val="solid"/>
          </a:ln>
        </p:spPr>
      </p:sp>
      <p:pic>
        <p:nvPicPr>
          <p:cNvPr id="16" name="Image 2" descr="preencoded.png">    </p:cNvPr>
          <p:cNvPicPr>
            <a:picLocks noChangeAspect="1"/>
          </p:cNvPicPr>
          <p:nvPr/>
        </p:nvPicPr>
        <p:blipFill>
          <a:blip r:embed="rId3"/>
          <a:stretch>
            <a:fillRect/>
          </a:stretch>
        </p:blipFill>
        <p:spPr>
          <a:xfrm>
            <a:off x="8617123" y="2653406"/>
            <a:ext cx="325892" cy="325892"/>
          </a:xfrm>
          <a:prstGeom prst="rect">
            <a:avLst/>
          </a:prstGeom>
        </p:spPr>
      </p:pic>
      <p:sp>
        <p:nvSpPr>
          <p:cNvPr id="17" name="Text 12"/>
          <p:cNvSpPr/>
          <p:nvPr/>
        </p:nvSpPr>
        <p:spPr>
          <a:xfrm>
            <a:off x="8478317" y="3291840"/>
            <a:ext cx="2844698" cy="50292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Database access</a:t>
            </a:r>
            <a:endParaRPr lang="en-US" sz="1800" dirty="0"/>
          </a:p>
        </p:txBody>
      </p:sp>
      <p:sp>
        <p:nvSpPr>
          <p:cNvPr id="18" name="Text 13"/>
          <p:cNvSpPr/>
          <p:nvPr/>
        </p:nvSpPr>
        <p:spPr>
          <a:xfrm>
            <a:off x="8478317" y="3822192"/>
            <a:ext cx="2844698" cy="91440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When ready: VAHAN, SARTHI, eGujCop, AFIS, NAFIS — switched on as a setting the day it is granted.</a:t>
            </a:r>
            <a:endParaRPr lang="en-US" sz="1400" dirty="0"/>
          </a:p>
        </p:txBody>
      </p:sp>
      <p:sp>
        <p:nvSpPr>
          <p:cNvPr id="19" name="Text 14"/>
          <p:cNvSpPr/>
          <p:nvPr/>
        </p:nvSpPr>
        <p:spPr>
          <a:xfrm>
            <a:off x="548640" y="5212080"/>
            <a:ext cx="11094415" cy="731520"/>
          </a:xfrm>
          <a:prstGeom prst="rect">
            <a:avLst/>
          </a:prstGeom>
          <a:noFill/>
          <a:ln/>
        </p:spPr>
        <p:txBody>
          <a:bodyPr wrap="square" lIns="0" tIns="0" rIns="0" bIns="0" rtlCol="0" anchor="t"/>
          <a:lstStyle/>
          <a:p>
            <a:pPr indent="0" marL="0">
              <a:buNone/>
            </a:pPr>
            <a:r>
              <a:rPr lang="en-US" sz="3400" b="1" dirty="0">
                <a:solidFill>
                  <a:srgbClr val="2456D6"/>
                </a:solidFill>
                <a:latin typeface="Arial" pitchFamily="34" charset="0"/>
                <a:ea typeface="Arial" pitchFamily="34" charset="-122"/>
                <a:cs typeface="Arial" pitchFamily="34" charset="-120"/>
              </a:rPr>
              <a:t>Type a plate. See where it went.</a:t>
            </a:r>
            <a:endParaRPr lang="en-US" sz="3400" dirty="0"/>
          </a:p>
        </p:txBody>
      </p:sp>
      <p:sp>
        <p:nvSpPr>
          <p:cNvPr id="20" name="Text 15"/>
          <p:cNvSpPr/>
          <p:nvPr/>
        </p:nvSpPr>
        <p:spPr>
          <a:xfrm>
            <a:off x="548640" y="5943600"/>
            <a:ext cx="11094415" cy="41148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Thank you — questions welcome.</a:t>
            </a:r>
            <a:endParaRPr lang="en-US" sz="1800" dirty="0"/>
          </a:p>
        </p:txBody>
      </p:sp>
      <p:sp>
        <p:nvSpPr>
          <p:cNvPr id="21" name="Text 16"/>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find any vehicle across every government camera in Gujarat</dc:title>
  <dc:subject>PptxGenJS Presentation</dc:subject>
  <dc:creator>Sentinel Platform</dc:creator>
  <cp:lastModifiedBy>Sentinel Platform</cp:lastModifiedBy>
  <cp:revision>1</cp:revision>
  <dcterms:created xsi:type="dcterms:W3CDTF">2026-10-11T06:28:06Z</dcterms:created>
  <dcterms:modified xsi:type="dcterms:W3CDTF">2026-10-11T06:28:06Z</dcterms:modified>
</cp:coreProperties>
</file>