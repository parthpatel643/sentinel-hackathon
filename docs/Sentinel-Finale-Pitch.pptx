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Cameras by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7706"/>
              </a:solidFill>
              <a:effectLst/>
            </c:spPr>
          </c:dPt>
          <c:dPt>
            <c:idx val="1"/>
            <c:bubble3D val="0"/>
            <c:spPr>
              <a:solidFill>
                <a:srgbClr val="2456D6"/>
              </a:solidFill>
              <a:effectLst/>
            </c:spPr>
          </c:dPt>
          <c:dPt>
            <c:idx val="2"/>
            <c:bubble3D val="0"/>
            <c:spPr>
              <a:solidFill>
                <a:srgbClr val="8FA9EA"/>
              </a:solidFill>
              <a:effectLst/>
            </c:spPr>
          </c:dPt>
          <c:dPt>
            <c:idx val="3"/>
            <c:bubble3D val="0"/>
            <c:spPr>
              <a:solidFill>
                <a:srgbClr val="D3DAE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F1B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F1B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F1B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F1B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Continuous</c:v>
                </c:pt>
                <c:pt idx="1">
                  <c:v>Sampled</c:v>
                </c:pt>
                <c:pt idx="2">
                  <c:v>Motion-triggered</c:v>
                </c:pt>
                <c:pt idx="3">
                  <c:v>View only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9600</c:v>
                </c:pt>
                <c:pt idx="1">
                  <c:v>22400</c:v>
                </c:pt>
                <c:pt idx="2">
                  <c:v>28000</c:v>
                </c:pt>
                <c:pt idx="3">
                  <c:v>20000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outcome, not the technology. "Sentinel lets an officer type a registration number and see where that vehicle went, across every government camera, in seconds — and be told the moment it is seen again." If the jury gives the vehicle number now, go straight to the demonstration (slide 6) and come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the picture for the non-technical members of the jury. Gujarat already has the cameras — around eighty thousand of them across twenty-six departments. What it does not have is a way to use them together. When a stolen car leaves Ahmedabad for Rajkot, tracing it is phone calls, separate logins and manual review, while the footage quietly ages out after a week or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pitch on one slide. Read the right-hand column. Nothing on the left is replaced — every department keeps its cameras and its system — Sentinel sits across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jobs, one console. See: every camera from every department on one map and one live wall, with its health. Find: any vehicle by its plate — route, evidence and a report you can hand over. Alert: stolen, wanted and missing vehicles are checked against every read, and officers are told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personal. The operator gets one screen instead of many. The investigator gets the route and a report they can put in a case file. The officer on patrol gets alerts and a plate lookup on their phone — it even works on a poor connection. Leadership gets a statewide picture: which cameras are working, where coverage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what you will do before you do it. The narrator faces the jury; the driver only clicks. If the vehicle number was already given, run step 2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replaced and nothing is installed on a department’s system. A camera list, a device on the network or a department’s catalogue — each is onboarded in minutes and appears on the map and the live wall. For the technical jury: RTSP, ONVIF, Hikvision and Dahua drivers; one connection per camera however many people watch; credentials never reach a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the number — spacing and case do not matter. Every sighting appears on the map and the timeline, in the order the cameras’ own clocks give. Open a stop: the camera, the time printed on the frame, the plate as read, the snapshot with faces blurred. Arm a watch for future sightings. Then export the Movement Report and hand it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plate any camera reads is checked against the watchlist — stolen, wanted, missing — automatically. A match raises a prioritised alert on every open console and on officers’ phones, with a sound, and repeat sightings at a red light do not flood anyone. It also catches the misreads cameras make: a zero read as an O, a one as an I. Anything less than an exact match is shown as probable, for an officer to confirm on the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legal and leadership side of the room. The time we report is the time the camera printed on its own frame — and if it cannot be read, we say “time unknown” rather than guess. Faces are blurred by default; revealing one needs a reason and is logged. Every search, export and reveal is in a tamper-evident log. We do no face recognition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cameras answer more questions at no extra effort: what kind of vehicle, what colour, how many people, did anyone enter a restricted zone or loiter, is a vehicle going the wrong way, has a camera been covered or moved. And one thing we will not do: identify 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design scales where others cannot. Pulling every camera’s video to one centre would need a 160-gigabit backbone from sites a thousand kilometres apart, and petabytes of storage for a single week. Sentinel reads plates in the district where the video is filmed and sends only what it found — a few kilobytes per sighting. And if a district’s link drops, it keeps reading and alerting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technical jury, bottom to top. Cameras, tiered by how much analysis they need. Department systems stay — we pull read-only. Each district decodes and analyses its own video and queues what it finds if its link drops. The state core is about search and storage, not throughput, with a warm disaster-recovery site. And the consumers: control rooms, the field app and the national and state databases. What you saw today is the district layer, on a laptop: the same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highway check-post and a ration-shop godown are different jobs. About one camera in eight reads plates continuously; a quarter are view-only. The tier is a setting each department controls and can change live — a camera goes to continuous for a bandobast and back afterwards. That is what makes eighty thousand cameras tractable.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“why you”. Three things, each with its proof. One: it is already proven on Gujarat’s own cameras — we connected the government grid from its live catalogue and measured plate reading on its footage, not on demo videos. Two: the evidence holds up — every time is the camera’s own, every stop has its frame, nothing is ever guessed, and the record cannot be quietly changed. Three: it fits what Gujarat already owns — any vendor, nothing replaced, analysis in each district so it keeps working when links drop. Then point at the strip: Gujarati, the State’s databases, open standards, and no face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really two other ways to do this. Leave every department on its own system — nothing changes, and nothing connects. Or pull every camera into one central system — it connects everything, but it re-routes all the video, needs a backbone the State does not have, and stops when a link drops. Sentinel gets the reach of the second without disturbing anything in the first. We compare approaches here, not named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“we measured that”. The plate accuracy is measured on hand-checked plates from the government grid — and it is below our own target, which we say plainly; it started at under ten percent and the measurement is what drove it up. The rest is the discipline behind it: a laptop handling live analysis, more than six hundred automated tests, and a disaster-recovery drill that restores a million records in seconds and proves nothing was altered.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is useful on its own and none needs a big-bang cutover: one district pilot in three months, four districts and the main VMS vendors by nine, every district by twenty-one months, and consented private cameras in the last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then the line. Hand over the Movement Report from the demonstration if it has not been handed over already. Questions: see docs/13-SHOWCASE-PREP.md §10.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72200" y="0"/>
            <a:ext cx="6019495" cy="6858000"/>
          </a:xfrm>
          <a:prstGeom prst="rect">
            <a:avLst/>
          </a:prstGeom>
          <a:solidFill>
            <a:srgbClr val="EAF0FD"/>
          </a:solidFill>
          <a:ln w="12700">
            <a:solidFill>
              <a:srgbClr val="EAF0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73952" y="1946770"/>
            <a:ext cx="5385816" cy="2964461"/>
          </a:xfrm>
          <a:prstGeom prst="roundRect">
            <a:avLst>
              <a:gd name="adj" fmla="val 308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254000" dist="76200" dir="5400000">
              <a:srgbClr val="1F2A44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010778"/>
            <a:ext cx="5257800" cy="28364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645018"/>
            <a:ext cx="28346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025896" y="1754746"/>
            <a:ext cx="347472" cy="347472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815" y="1834664"/>
            <a:ext cx="187635" cy="1876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64808" y="175474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traced across cameras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9128455" y="4618622"/>
            <a:ext cx="2560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256471" y="4728350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390" y="4808269"/>
            <a:ext cx="187635" cy="18763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5383" y="4728350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 alert raised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864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GUJARAT POLICE INNOVATION CHALLENGE 2026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48640" y="15544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6600" dirty="0"/>
          </a:p>
        </p:txBody>
      </p:sp>
      <p:sp>
        <p:nvSpPr>
          <p:cNvPr id="15" name="Text 10"/>
          <p:cNvSpPr/>
          <p:nvPr/>
        </p:nvSpPr>
        <p:spPr>
          <a:xfrm>
            <a:off x="548640" y="27432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any vehicle, across every government camera in Gujarat — in seconds.</a:t>
            </a:r>
            <a:endParaRPr lang="en-US" sz="2500" dirty="0"/>
          </a:p>
        </p:txBody>
      </p:sp>
      <p:sp>
        <p:nvSpPr>
          <p:cNvPr id="16" name="Text 11"/>
          <p:cNvSpPr/>
          <p:nvPr/>
        </p:nvSpPr>
        <p:spPr>
          <a:xfrm>
            <a:off x="548640" y="4069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connects the cameras departments already run, reads number plates where they are filmed, and alerts officers the moment a vehicle of interest is seen.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576072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71" y="5849051"/>
            <a:ext cx="207386" cy="20738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5833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 ·  i-Hub Gujarat, Ahmedabad  ·  12–13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vehicle disappears, every minute counts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56786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65960"/>
            <a:ext cx="475488" cy="475488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322" y="2075322"/>
            <a:ext cx="256764" cy="2567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6060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~80,000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822960" y="338328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already installed across the State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90824" y="1737360"/>
            <a:ext cx="256786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65144" y="1965960"/>
            <a:ext cx="475488" cy="475488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506" y="2075322"/>
            <a:ext cx="256764" cy="2567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65144" y="26060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3800" dirty="0"/>
          </a:p>
        </p:txBody>
      </p:sp>
      <p:sp>
        <p:nvSpPr>
          <p:cNvPr id="15" name="Text 10"/>
          <p:cNvSpPr/>
          <p:nvPr/>
        </p:nvSpPr>
        <p:spPr>
          <a:xfrm>
            <a:off x="3665144" y="338328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departments, each with its own system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33008" y="1737360"/>
            <a:ext cx="256786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07328" y="1965960"/>
            <a:ext cx="475488" cy="475488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690" y="2075322"/>
            <a:ext cx="256764" cy="2567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07328" y="26060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7–15</a:t>
            </a:r>
            <a:endParaRPr lang="en-US" sz="3800" dirty="0"/>
          </a:p>
        </p:txBody>
      </p:sp>
      <p:sp>
        <p:nvSpPr>
          <p:cNvPr id="20" name="Text 14"/>
          <p:cNvSpPr/>
          <p:nvPr/>
        </p:nvSpPr>
        <p:spPr>
          <a:xfrm>
            <a:off x="6507328" y="338328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before footage is overwritten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9075191" y="1737360"/>
            <a:ext cx="2567864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49511" y="1965960"/>
            <a:ext cx="475488" cy="475488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874" y="2075322"/>
            <a:ext cx="256764" cy="2567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49511" y="2606040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~1,000</a:t>
            </a:r>
            <a:endParaRPr lang="en-US" sz="3800" dirty="0"/>
          </a:p>
        </p:txBody>
      </p:sp>
      <p:sp>
        <p:nvSpPr>
          <p:cNvPr id="25" name="Text 18"/>
          <p:cNvSpPr/>
          <p:nvPr/>
        </p:nvSpPr>
        <p:spPr>
          <a:xfrm>
            <a:off x="9349511" y="338328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between the farthest camera sites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548640" y="4434840"/>
            <a:ext cx="11094415" cy="1508760"/>
          </a:xfrm>
          <a:prstGeom prst="roundRect">
            <a:avLst>
              <a:gd name="adj" fmla="val 7273"/>
            </a:avLst>
          </a:prstGeom>
          <a:solidFill>
            <a:srgbClr val="FFF4EC"/>
          </a:solidFill>
          <a:ln w="9525">
            <a:solidFill>
              <a:srgbClr val="F6D9C4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68680" y="4873752"/>
            <a:ext cx="640080" cy="64008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898" y="5020970"/>
            <a:ext cx="345643" cy="34564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737360" y="4709160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a stolen car leaves Ahmedabad for Rajkot.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1737360" y="5138928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it means phone calls to several departments — each with its own viewer, its own login and its own retention — while the footage ages out and the vehicle moves 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phone calls to one search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F3F5FA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68135" y="1691640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EAF0FD"/>
          </a:solidFill>
          <a:ln w="9525">
            <a:solidFill>
              <a:srgbClr val="C9D7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88175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Sentinel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423160"/>
            <a:ext cx="347472" cy="347472"/>
          </a:xfrm>
          <a:prstGeom prst="ellipse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599" y="2503079"/>
            <a:ext cx="187635" cy="187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4048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systems, 26 logins, no shared map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888175" y="2423160"/>
            <a:ext cx="347472" cy="347472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094" y="2503079"/>
            <a:ext cx="187635" cy="1876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91095" y="24048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 on one map, behind one login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68680" y="3154680"/>
            <a:ext cx="347472" cy="347472"/>
          </a:xfrm>
          <a:prstGeom prst="ellipse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99" y="3234599"/>
            <a:ext cx="187635" cy="1876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1363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vehicle traced by phoning departments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888175" y="3154680"/>
            <a:ext cx="347472" cy="347472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094" y="3234599"/>
            <a:ext cx="187635" cy="18763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91095" y="31363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plate; see its route and evidence in seconds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868680" y="3886200"/>
            <a:ext cx="347472" cy="347472"/>
          </a:xfrm>
          <a:prstGeom prst="ellipse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599" y="3966119"/>
            <a:ext cx="187635" cy="18763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71600" y="38679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 checked by hand, if at all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6888175" y="3886200"/>
            <a:ext cx="347472" cy="347472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8094" y="3966119"/>
            <a:ext cx="187635" cy="18763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391095" y="38679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plate read is checked automatically, around the clock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868680" y="4617720"/>
            <a:ext cx="347472" cy="347472"/>
          </a:xfrm>
          <a:prstGeom prst="ellipse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599" y="4697639"/>
            <a:ext cx="187635" cy="18763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371600" y="4599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Footage ages out before anyone asks</a:t>
            </a:r>
            <a:endParaRPr lang="en-US" sz="1500" dirty="0"/>
          </a:p>
        </p:txBody>
      </p:sp>
      <p:sp>
        <p:nvSpPr>
          <p:cNvPr id="31" name="Shape 21"/>
          <p:cNvSpPr/>
          <p:nvPr/>
        </p:nvSpPr>
        <p:spPr>
          <a:xfrm>
            <a:off x="6888175" y="4617720"/>
            <a:ext cx="347472" cy="347472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8094" y="4697639"/>
            <a:ext cx="187635" cy="18763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391095" y="4599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Sightings stay searchable, with the frame as evidence</a:t>
            </a:r>
            <a:endParaRPr lang="en-US" sz="1500" dirty="0"/>
          </a:p>
        </p:txBody>
      </p:sp>
      <p:sp>
        <p:nvSpPr>
          <p:cNvPr id="34" name="Shape 23"/>
          <p:cNvSpPr/>
          <p:nvPr/>
        </p:nvSpPr>
        <p:spPr>
          <a:xfrm>
            <a:off x="868680" y="5349240"/>
            <a:ext cx="347472" cy="347472"/>
          </a:xfrm>
          <a:prstGeom prst="ellipse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599" y="5429159"/>
            <a:ext cx="187635" cy="187635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371600" y="53309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means replacing systems</a:t>
            </a:r>
            <a:endParaRPr lang="en-US" sz="1500" dirty="0"/>
          </a:p>
        </p:txBody>
      </p:sp>
      <p:sp>
        <p:nvSpPr>
          <p:cNvPr id="37" name="Shape 25"/>
          <p:cNvSpPr/>
          <p:nvPr/>
        </p:nvSpPr>
        <p:spPr>
          <a:xfrm>
            <a:off x="6888175" y="5349240"/>
            <a:ext cx="347472" cy="347472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8094" y="5429159"/>
            <a:ext cx="187635" cy="187635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7391095" y="533095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the cameras and VMS already installed</a:t>
            </a:r>
            <a:endParaRPr lang="en-US" sz="1500" dirty="0"/>
          </a:p>
        </p:txBody>
      </p:sp>
      <p:sp>
        <p:nvSpPr>
          <p:cNvPr id="40" name="Shape 27"/>
          <p:cNvSpPr/>
          <p:nvPr/>
        </p:nvSpPr>
        <p:spPr>
          <a:xfrm>
            <a:off x="5821528" y="3685032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7715" y="3811219"/>
            <a:ext cx="296266" cy="2962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platform, three jobs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484778" cy="361188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165" y="2190445"/>
            <a:ext cx="419710" cy="4197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97180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914400" y="3639312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camera, from every department, on one map and one live wall — with its health at a glance.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14400" y="48006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control rooms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53458" y="1691640"/>
            <a:ext cx="3484778" cy="361188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19218" y="2011680"/>
            <a:ext cx="777240" cy="7772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984" y="2190445"/>
            <a:ext cx="419710" cy="4197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19218" y="297180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4719218" y="3639312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vehicle by its registration number: its route, the evidence at every stop, and a signed report.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719218" y="48006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investigators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1691640"/>
            <a:ext cx="3484778" cy="3611880"/>
          </a:xfrm>
          <a:prstGeom prst="roundRect">
            <a:avLst>
              <a:gd name="adj" fmla="val 3149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24037" y="2011680"/>
            <a:ext cx="777240" cy="7772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802" y="2190445"/>
            <a:ext cx="419710" cy="4197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24037" y="2971800"/>
            <a:ext cx="2753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8524037" y="3639312"/>
            <a:ext cx="2753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Stolen, wanted and missing vehicles flagged the moment any camera reads them — on every console and phone.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524037" y="48006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patrol and command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66928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84" y="5766024"/>
            <a:ext cx="227137" cy="22713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" y="5733288"/>
            <a:ext cx="10500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people counting, zone intrusion and camera-tamper alerts — in English, Hindi and Gujarati.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SERVES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everyone who keeps Gujarat safe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2137867"/>
            <a:ext cx="296266" cy="2962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670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Control-room operator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30358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wall for every department’s cameras; alerts arrive with a sound, on screen.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06240" y="173736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0560" y="2011680"/>
            <a:ext cx="548640" cy="5486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747" y="2137867"/>
            <a:ext cx="296266" cy="2962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80560" y="2670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Investigating officer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480560" y="30358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timestamps and evidence frames for any plate, exported as a case-ready report.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4378147"/>
            <a:ext cx="296266" cy="2962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" y="4910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on patrol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22960" y="52760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plate lookup on a phone, with an offline mode for weak signal.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206240" y="397764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480560" y="4251960"/>
            <a:ext cx="548640" cy="5486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6747" y="4378147"/>
            <a:ext cx="296266" cy="2962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80560" y="4910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4480560" y="52760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statewide view of the camera network: what works, what is down, where gaps are.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305250" y="1563624"/>
            <a:ext cx="2368541" cy="4828032"/>
          </a:xfrm>
          <a:prstGeom prst="roundRect">
            <a:avLst>
              <a:gd name="adj" fmla="val 11582"/>
            </a:avLst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  <a:effectLst>
            <a:outerShdw sx="100000" sy="100000" kx="0" ky="0" algn="bl" rotWithShape="0" blurRad="279400" dist="101600" dir="5400000">
              <a:srgbClr val="1F2A44">
                <a:alpha val="2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3266" y="1691640"/>
            <a:ext cx="2112509" cy="45720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884626" y="6400800"/>
            <a:ext cx="32097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app, on an officer’s phone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0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today’s cameras, in front of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97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3042818" y="2880360"/>
            <a:ext cx="640080" cy="64008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0037" y="3027578"/>
            <a:ext cx="345643" cy="3456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862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and see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438912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cameras on the map and the live wall, with their health.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68698" y="251460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88738" y="2697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12" name="Shape 9"/>
          <p:cNvSpPr/>
          <p:nvPr/>
        </p:nvSpPr>
        <p:spPr>
          <a:xfrm>
            <a:off x="6862877" y="2880360"/>
            <a:ext cx="640080" cy="64008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095" y="3027578"/>
            <a:ext cx="345643" cy="3456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88738" y="38862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vehicle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88738" y="438912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registration number you give us, traced camera by camera, with a report to hand over.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88757" y="251460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508797" y="2697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18" name="Shape 14"/>
          <p:cNvSpPr/>
          <p:nvPr/>
        </p:nvSpPr>
        <p:spPr>
          <a:xfrm>
            <a:off x="10682935" y="2880360"/>
            <a:ext cx="640080" cy="64008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0154" y="3027578"/>
            <a:ext cx="345643" cy="34564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08797" y="388620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alerted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508797" y="4389120"/>
            <a:ext cx="28142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watchlist vehicle flagged on every open screen the moment it is read.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venue network fails, we say which fallback we are on: our own cameras, then a recorded copy of the government grid.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CONNECT AND SEE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the cameras you already have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73352"/>
            <a:ext cx="6437376" cy="3892424"/>
          </a:xfrm>
          <a:prstGeom prst="roundRect">
            <a:avLst>
              <a:gd name="adj" fmla="val 2349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254000" dist="76200" dir="5400000">
              <a:srgbClr val="1F2A44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37360"/>
            <a:ext cx="6309360" cy="37644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60920" y="1783080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695" y="1900855"/>
            <a:ext cx="276515" cy="2765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4152" y="1764792"/>
            <a:ext cx="35689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camera list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074152" y="2084832"/>
            <a:ext cx="35689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checked before anything is added; one bad row never blocks the rest.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360920" y="2862072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95" y="2979847"/>
            <a:ext cx="276515" cy="2765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74152" y="2843784"/>
            <a:ext cx="35689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discover devices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8074152" y="3163824"/>
            <a:ext cx="35689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camera’s or recorder’s streams on the network and add them (ONVIF, Hikvision, Dahua).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360920" y="3941064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8695" y="4058839"/>
            <a:ext cx="276515" cy="27651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74152" y="3922776"/>
            <a:ext cx="35689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installed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8074152" y="4242816"/>
            <a:ext cx="35689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access. Each department’s own system and recording keep running untouched.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7360920" y="5020056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695" y="5137831"/>
            <a:ext cx="276515" cy="27651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074152" y="5001768"/>
            <a:ext cx="35689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viewing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8074152" y="5321808"/>
            <a:ext cx="35689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connection per camera, however many watch. Passwords never reach a browser.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TRACE THE VEHICLE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plate. See where it went.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81912"/>
            <a:ext cx="6986016" cy="3827727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254000" dist="76200" dir="5400000">
              <a:srgbClr val="1F2A44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45920"/>
            <a:ext cx="6858000" cy="369971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55280" y="1737360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055" y="1855135"/>
            <a:ext cx="276515" cy="2765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68512" y="1719072"/>
            <a:ext cx="29745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camera’s own clock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668512" y="2039112"/>
            <a:ext cx="29745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stop is timed by the clock printed on its evidence frame.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7955280" y="2926080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055" y="3043855"/>
            <a:ext cx="276515" cy="2765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68512" y="2907792"/>
            <a:ext cx="29745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journeys flagged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8668512" y="3227832"/>
            <a:ext cx="29745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hop no vehicle could make is marked — a cloned plate stands out.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955280" y="4114800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055" y="4232575"/>
            <a:ext cx="276515" cy="27651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68512" y="4096512"/>
            <a:ext cx="29745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 to hand over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8668512" y="4416552"/>
            <a:ext cx="29745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times and evidence frames as PDF and CSV, sealed with a tamper-evident fingerprint.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548640" y="5546799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console on recorded government footage: GJ39C8018 at Gandhidham, 8 Aug 2026, 21:10 — the time printed on the frame.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GET ALERTED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the moment it is seen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248656" cy="3627314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254000" dist="76200" dir="5400000">
              <a:srgbClr val="1F2A44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691640"/>
            <a:ext cx="5120640" cy="34992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1691640"/>
            <a:ext cx="542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catches the misreads cameras make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217920" y="2212848"/>
            <a:ext cx="5425135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46520" y="2441448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0" y="232257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144000" y="2322576"/>
            <a:ext cx="1310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plate, read as it is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00055" y="232257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3081528"/>
            <a:ext cx="5425135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3310128"/>
            <a:ext cx="256032" cy="25603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0" y="319125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Look-alike characters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144000" y="3191256"/>
            <a:ext cx="1310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for O, 1 for I, 8 for B, 5 for 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0500055" y="319125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7920" y="3950208"/>
            <a:ext cx="5425135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46520" y="4178808"/>
            <a:ext cx="256032" cy="25603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58000" y="405993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character off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144000" y="4059936"/>
            <a:ext cx="13103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with the plate as actually read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0500055" y="405993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217920" y="5029200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695" y="5146975"/>
            <a:ext cx="276515" cy="27651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31152" y="5010912"/>
            <a:ext cx="47119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State’s databases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6931152" y="5330952"/>
            <a:ext cx="47119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VAHAN, SARTHI, eGujCop, AFIS and NAFIS connectors are built. Access, once granted, is a setting.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AND PRIVACY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that holds up. Privacy by default.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839712" y="1673352"/>
            <a:ext cx="4821631" cy="3318447"/>
          </a:xfrm>
          <a:prstGeom prst="roundRect">
            <a:avLst>
              <a:gd name="adj" fmla="val 2756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254000" dist="76200" dir="5400000">
              <a:srgbClr val="1F2A44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737360"/>
            <a:ext cx="4693615" cy="319043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783080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15" y="1900855"/>
            <a:ext cx="276515" cy="2765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61872" y="1764792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on the frame is the time in the report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261872" y="2084832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camera’s own clock. If it cannot be read, we say “time unknown” — never a guess.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548640" y="2862072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15" y="2979847"/>
            <a:ext cx="276515" cy="2765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1872" y="2843784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Faces blurred by default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1261872" y="3163824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an original needs a stated reason, and is recorded.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3941064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5" y="4058839"/>
            <a:ext cx="276515" cy="27651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61872" y="3922776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 no one can quietly edit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1261872" y="4242816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search, export and reveal. Change one entry and verification fails.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48640" y="5020056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15" y="5137831"/>
            <a:ext cx="276515" cy="27651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61872" y="5001768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department sees its own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1261872" y="5321808"/>
            <a:ext cx="5138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scoped in the database itself; private cameras only with current consent.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6903720" y="5806440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sighting whose clock cannot be read stays a sighting — listed, clearly labelled, and kept off the timeline.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NUMBER PLATES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plates — never identities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2137867"/>
            <a:ext cx="296266" cy="29626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29968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type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554480" y="2487168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Car, motorcycle, bus or truck — on every read.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38218" y="173736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12538" y="2011680"/>
            <a:ext cx="548640" cy="5486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726" y="2137867"/>
            <a:ext cx="296266" cy="2962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44058" y="2029968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colour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5344058" y="2487168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colour attached to each sighting.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27797" y="173736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02117" y="2011680"/>
            <a:ext cx="548640" cy="5486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8304" y="2137867"/>
            <a:ext cx="296266" cy="2962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33637" y="2029968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counted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9133637" y="2487168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per camera and held to zones. Never identified.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361188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3886200"/>
            <a:ext cx="548640" cy="5486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47" y="4012387"/>
            <a:ext cx="296266" cy="29626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3904488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zones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1554480" y="4361688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and loitering, drawn on any camera.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338218" y="361188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12538" y="3886200"/>
            <a:ext cx="548640" cy="5486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726" y="4012387"/>
            <a:ext cx="296266" cy="29626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4058" y="3904488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rules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5344058" y="4361688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Wrong-way and stopped vehicles, per zone.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8127797" y="3611880"/>
            <a:ext cx="3515258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02117" y="3886200"/>
            <a:ext cx="548640" cy="54864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8304" y="4012387"/>
            <a:ext cx="296266" cy="29626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133637" y="3904488"/>
            <a:ext cx="2280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tamper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9133637" y="4361688"/>
            <a:ext cx="2280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Covered, blurred or moved — flagged on the camera.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548640" y="566928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84" y="5766024"/>
            <a:ext cx="227137" cy="227137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143000" y="5733288"/>
            <a:ext cx="10500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 recognition, by decision. Faces are detected only so they can be blurred.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SCALES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meaning, not video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5488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all video to the centre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9808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Sentinel: analyse where filmed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11094415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404872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522647"/>
            <a:ext cx="276515" cy="2765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24505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backbone, statewide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54880" y="2331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Gbps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7498080" y="2331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≈140 Mbps</a:t>
            </a:r>
            <a:endParaRPr lang="en-US" sz="3200" dirty="0"/>
          </a:p>
        </p:txBody>
      </p:sp>
      <p:sp>
        <p:nvSpPr>
          <p:cNvPr id="14" name="Shape 10"/>
          <p:cNvSpPr/>
          <p:nvPr/>
        </p:nvSpPr>
        <p:spPr>
          <a:xfrm>
            <a:off x="10058400" y="2441448"/>
            <a:ext cx="1310335" cy="438912"/>
          </a:xfrm>
          <a:prstGeom prst="roundRect">
            <a:avLst>
              <a:gd name="adj" fmla="val 50000"/>
            </a:avLst>
          </a:prstGeom>
          <a:solidFill>
            <a:srgbClr val="FDF1DF"/>
          </a:solidFill>
          <a:ln w="9525">
            <a:solidFill>
              <a:srgbClr val="F5D6A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0" y="2441448"/>
            <a:ext cx="1310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~1,000× less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355848"/>
            <a:ext cx="11094415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611880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5" y="3729655"/>
            <a:ext cx="276515" cy="2765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6192" y="3657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for one week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754880" y="353872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 PB</a:t>
            </a:r>
            <a:endParaRPr lang="en-US" sz="3200" dirty="0"/>
          </a:p>
        </p:txBody>
      </p:sp>
      <p:sp>
        <p:nvSpPr>
          <p:cNvPr id="21" name="Text 16"/>
          <p:cNvSpPr/>
          <p:nvPr/>
        </p:nvSpPr>
        <p:spPr>
          <a:xfrm>
            <a:off x="7498080" y="35387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≈390 TB</a:t>
            </a:r>
            <a:endParaRPr lang="en-US" sz="3200" dirty="0"/>
          </a:p>
        </p:txBody>
      </p:sp>
      <p:sp>
        <p:nvSpPr>
          <p:cNvPr id="22" name="Shape 17"/>
          <p:cNvSpPr/>
          <p:nvPr/>
        </p:nvSpPr>
        <p:spPr>
          <a:xfrm>
            <a:off x="10058400" y="3648456"/>
            <a:ext cx="1310335" cy="438912"/>
          </a:xfrm>
          <a:prstGeom prst="roundRect">
            <a:avLst>
              <a:gd name="adj" fmla="val 50000"/>
            </a:avLst>
          </a:prstGeom>
          <a:solidFill>
            <a:srgbClr val="FDF1DF"/>
          </a:solidFill>
          <a:ln w="9525">
            <a:solidFill>
              <a:srgbClr val="F5D6A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058400" y="3648456"/>
            <a:ext cx="1310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~30× less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48640" y="4562856"/>
            <a:ext cx="11094415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818888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35" y="4936663"/>
            <a:ext cx="276515" cy="27651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36192" y="4864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district’s link drops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4754880" y="474573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stops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7498080" y="474573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reading &amp; alerting</a:t>
            </a:r>
            <a:endParaRPr lang="en-US" sz="1900" dirty="0"/>
          </a:p>
        </p:txBody>
      </p:sp>
      <p:sp>
        <p:nvSpPr>
          <p:cNvPr id="30" name="Shape 24"/>
          <p:cNvSpPr/>
          <p:nvPr/>
        </p:nvSpPr>
        <p:spPr>
          <a:xfrm>
            <a:off x="10058400" y="4855464"/>
            <a:ext cx="1310335" cy="438912"/>
          </a:xfrm>
          <a:prstGeom prst="roundRect">
            <a:avLst>
              <a:gd name="adj" fmla="val 50000"/>
            </a:avLst>
          </a:prstGeom>
          <a:solidFill>
            <a:srgbClr val="FDF1DF"/>
          </a:solidFill>
          <a:ln w="9525">
            <a:solidFill>
              <a:srgbClr val="F5D6A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058400" y="4855464"/>
            <a:ext cx="1310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72 h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travels is a small event and a snapshot per sighting. Video stays in the district — and in each department’s own system — until someone needs it.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AT 80,000 CAMERAS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layers, each doing one job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792224"/>
            <a:ext cx="457200" cy="457200"/>
          </a:xfrm>
          <a:prstGeom prst="ellipse">
            <a:avLst/>
          </a:prstGeom>
          <a:solidFill>
            <a:srgbClr val="7A869E"/>
          </a:solidFill>
          <a:ln w="12700">
            <a:solidFill>
              <a:srgbClr val="7A869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897380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73736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371600" y="204825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centres · Field app · VAHAN · SARTHI · eGujCop · AFIS · NAFIS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046720" y="1810512"/>
            <a:ext cx="3367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alerts · open APIs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77824" y="2404872"/>
            <a:ext cx="164592" cy="164592"/>
          </a:xfrm>
          <a:prstGeom prst="upArrow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2578608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EAF0FD"/>
          </a:solidFill>
          <a:ln w="9525">
            <a:solidFill>
              <a:srgbClr val="C9D7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2724912"/>
            <a:ext cx="457200" cy="45720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830068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6700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core  ·  high availability + disaster recovery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71600" y="29809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 → watchlist matching → alerts · searchable sighting history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046720" y="2743200"/>
            <a:ext cx="3367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≈563 events/s · RPO 15 min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77824" y="3337560"/>
            <a:ext cx="164592" cy="164592"/>
          </a:xfrm>
          <a:prstGeom prst="upArrow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3511296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EAF0FD"/>
          </a:solidFill>
          <a:ln w="9525">
            <a:solidFill>
              <a:srgbClr val="C9D7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76275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360273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edge  ×34  (+ edge boxes at remote sites)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371600" y="39136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connection per camera → plate reading and analytics → 72 h offline queue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046720" y="3675888"/>
            <a:ext cx="3367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runs here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77824" y="4270248"/>
            <a:ext cx="164592" cy="164592"/>
          </a:xfrm>
          <a:prstGeom prst="upArrow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48640" y="4443984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31520" y="4590288"/>
            <a:ext cx="457200" cy="457200"/>
          </a:xfrm>
          <a:prstGeom prst="ellipse">
            <a:avLst/>
          </a:prstGeom>
          <a:solidFill>
            <a:srgbClr val="7A869E"/>
          </a:solidFill>
          <a:ln w="12700">
            <a:solidFill>
              <a:srgbClr val="7A869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4695444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5354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systems  ·  unchanged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371600" y="484632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Cameras, recorders and VMS keep their own 7–15 day retention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046720" y="4608576"/>
            <a:ext cx="3367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Read-only: RTSP · ONVIF · SDK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877824" y="5202936"/>
            <a:ext cx="164592" cy="164592"/>
          </a:xfrm>
          <a:prstGeom prst="upArrow">
            <a:avLst/>
          </a:prstGeom>
          <a:solidFill>
            <a:srgbClr val="B8C0CE"/>
          </a:solidFill>
          <a:ln w="12700">
            <a:solidFill>
              <a:srgbClr val="B8C0CE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48640" y="5376672"/>
            <a:ext cx="1109441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31520" y="5522976"/>
            <a:ext cx="457200" cy="457200"/>
          </a:xfrm>
          <a:prstGeom prst="ellipse">
            <a:avLst/>
          </a:prstGeom>
          <a:solidFill>
            <a:srgbClr val="7A869E"/>
          </a:solidFill>
          <a:ln w="12700">
            <a:solidFill>
              <a:srgbClr val="7A869E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5628132"/>
            <a:ext cx="246888" cy="2468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71600" y="54681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cameras, tiered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1371600" y="57790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· sampled · motion-triggered · view-only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8046720" y="5541264"/>
            <a:ext cx="3367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set per camera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WHERE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camera needs the same attention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4480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1874520" y="3429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1874520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0" y="1737360"/>
            <a:ext cx="6156655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715000" y="1965960"/>
            <a:ext cx="256032" cy="256032"/>
          </a:xfrm>
          <a:prstGeom prst="ellipse">
            <a:avLst/>
          </a:prstGeom>
          <a:solidFill>
            <a:srgbClr val="D97706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26480" y="184708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092440" y="1847088"/>
            <a:ext cx="15389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Check-posts, highways, city entry points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677095" y="184708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9,600 cameras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0" y="2578608"/>
            <a:ext cx="6156655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15000" y="2807208"/>
            <a:ext cx="256032" cy="256032"/>
          </a:xfrm>
          <a:prstGeom prst="ellipse">
            <a:avLst/>
          </a:prstGeom>
          <a:solidFill>
            <a:srgbClr val="2456D6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26480" y="268833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092440" y="2688336"/>
            <a:ext cx="15389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Junctions, markets and public spaces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9677095" y="268833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22,400 cameras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0" y="3419856"/>
            <a:ext cx="6156655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15000" y="3648456"/>
            <a:ext cx="256032" cy="256032"/>
          </a:xfrm>
          <a:prstGeom prst="ellipse">
            <a:avLst/>
          </a:prstGeom>
          <a:solidFill>
            <a:srgbClr val="8FA9E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26480" y="3529584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Motion-triggered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092440" y="3529584"/>
            <a:ext cx="15389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Godowns, offices and quiet premises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677095" y="352958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28,000 cameras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0" y="4261104"/>
            <a:ext cx="6156655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715000" y="4489704"/>
            <a:ext cx="256032" cy="256032"/>
          </a:xfrm>
          <a:prstGeom prst="ellipse">
            <a:avLst/>
          </a:prstGeom>
          <a:solidFill>
            <a:srgbClr val="D3DAE6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26480" y="43708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only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8092440" y="4370832"/>
            <a:ext cx="15389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Indoor, admin and consented private feeds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9677095" y="4370832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cameras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486400" y="5166360"/>
            <a:ext cx="6156655" cy="777240"/>
          </a:xfrm>
          <a:prstGeom prst="roundRect">
            <a:avLst>
              <a:gd name="adj" fmla="val 14118"/>
            </a:avLst>
          </a:prstGeom>
          <a:solidFill>
            <a:srgbClr val="EAF0FD"/>
          </a:solidFill>
          <a:ln w="9525">
            <a:solidFill>
              <a:srgbClr val="C9D7F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669280" y="5294376"/>
            <a:ext cx="512064" cy="51206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055" y="5412151"/>
            <a:ext cx="276515" cy="276515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355080" y="5239512"/>
            <a:ext cx="5105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sets the tier, and can change it live — a camera moves to continuous for a bandobast and back afterwards.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SENTINEL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sets Sentinel apart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0FD"/>
          </a:solidFill>
          <a:ln w="9525">
            <a:solidFill>
              <a:srgbClr val="C9D7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645920"/>
            <a:ext cx="10454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traces a vehicle across every department’s cameras — on the systems Gujarat already owns, with evidence that holds up.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351525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971800"/>
            <a:ext cx="603504" cy="6035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766" y="3110606"/>
            <a:ext cx="325892" cy="3258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990088"/>
            <a:ext cx="22808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on Gujarat’s own cameras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22960" y="37490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lab demonstration: built and tested on the government’s own camera grid.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2960" y="4544568"/>
            <a:ext cx="2966618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68172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054" y="4744822"/>
            <a:ext cx="148133" cy="14813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22960" y="5001768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grid cameras onboarded from the live catalogue; plate reading measured on 81 hand-checked plates from that footage.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338218" y="2697480"/>
            <a:ext cx="351525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12538" y="2971800"/>
            <a:ext cx="603504" cy="60350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344" y="3110606"/>
            <a:ext cx="325892" cy="3258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44058" y="2990088"/>
            <a:ext cx="22808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that holds up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4612538" y="37490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sighting carries the camera’s own time, its frame, and a record no one can quietly change.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612538" y="4544568"/>
            <a:ext cx="2966618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612538" y="468172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632" y="4744822"/>
            <a:ext cx="148133" cy="14813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978298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612538" y="5001768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read off the frame — “time unknown” when unreadable, never a guess; impossible journeys flagged; reports digitally sealed.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27797" y="2697480"/>
            <a:ext cx="3515258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02117" y="2971800"/>
            <a:ext cx="603504" cy="60350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923" y="3110606"/>
            <a:ext cx="325892" cy="3258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33637" y="2990088"/>
            <a:ext cx="228081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what Gujarat already owns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402117" y="37490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vendor’s cameras and VMS, nothing replaced, analysis in each district.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8402117" y="4544568"/>
            <a:ext cx="2966618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402117" y="468172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5210" y="4744822"/>
            <a:ext cx="148133" cy="14813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767877" y="4681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8402117" y="5001768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RTSP, ONVIF, Hikvision and Dahua; about 1,000× less network than centralising; keeps alerting offline for 72 hours.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548640" y="59893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5" y="6073445"/>
            <a:ext cx="197510" cy="19751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24128" y="59893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 and Gujarati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3322244" y="59893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369" y="6073445"/>
            <a:ext cx="197510" cy="19751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797732" y="59893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VAHAN, eGujCop and more: ready</a:t>
            </a:r>
            <a:endParaRPr lang="en-US" sz="1200" dirty="0"/>
          </a:p>
        </p:txBody>
      </p:sp>
      <p:sp>
        <p:nvSpPr>
          <p:cNvPr id="44" name="Shape 33"/>
          <p:cNvSpPr/>
          <p:nvPr/>
        </p:nvSpPr>
        <p:spPr>
          <a:xfrm>
            <a:off x="6095848" y="59893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9972" y="6073445"/>
            <a:ext cx="197510" cy="19751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6571336" y="59893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standards, no lock-in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8869451" y="59893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3576" y="6073445"/>
            <a:ext cx="197510" cy="19751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9344939" y="5989320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 recognition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Sentinel compares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011717" y="1618488"/>
            <a:ext cx="2585618" cy="4352544"/>
          </a:xfrm>
          <a:prstGeom prst="roundRect">
            <a:avLst>
              <a:gd name="adj" fmla="val 4244"/>
            </a:avLst>
          </a:prstGeom>
          <a:solidFill>
            <a:srgbClr val="EAF0FD"/>
          </a:solidFill>
          <a:ln w="9525">
            <a:solidFill>
              <a:srgbClr val="C9D7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0" y="169164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department systems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17538" y="169164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 every camera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94597" y="169164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240280"/>
            <a:ext cx="11094415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35000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a vehicle across all departments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45973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1960" y="233172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and manual review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538" y="245973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9018" y="233172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597" y="245973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6077" y="233172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search, seconds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2971800"/>
            <a:ext cx="11094415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8640" y="308152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 alerts statewide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19125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51960" y="306324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 on its own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538" y="3191256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29018" y="306324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4597" y="3191256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606077" y="306324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read, automatically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548640" y="3703320"/>
            <a:ext cx="11094415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548640" y="381304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Departments’ systems left untouched</a:t>
            </a:r>
            <a:endParaRPr lang="en-US" sz="14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3922776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4251960" y="379476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Untouched, but isolated</a:t>
            </a:r>
            <a:endParaRPr lang="en-US" sz="13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7538" y="3922776"/>
            <a:ext cx="292608" cy="29260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929018" y="379476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video re-routed centrally</a:t>
            </a:r>
            <a:endParaRPr lang="en-US" sz="13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4597" y="3922776"/>
            <a:ext cx="292608" cy="29260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606077" y="379476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</a:t>
            </a:r>
            <a:endParaRPr lang="en-US" sz="1300" dirty="0"/>
          </a:p>
        </p:txBody>
      </p:sp>
      <p:sp>
        <p:nvSpPr>
          <p:cNvPr id="34" name="Shape 22"/>
          <p:cNvSpPr/>
          <p:nvPr/>
        </p:nvSpPr>
        <p:spPr>
          <a:xfrm>
            <a:off x="548640" y="4434840"/>
            <a:ext cx="11094415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35" name="Text 23"/>
          <p:cNvSpPr/>
          <p:nvPr/>
        </p:nvSpPr>
        <p:spPr>
          <a:xfrm>
            <a:off x="548640" y="454456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the State must provide</a:t>
            </a:r>
            <a:endParaRPr lang="en-US" sz="14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40480" y="4654296"/>
            <a:ext cx="292608" cy="29260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4251960" y="452628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— nothing is shared</a:t>
            </a:r>
            <a:endParaRPr lang="en-US" sz="13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7538" y="4654296"/>
            <a:ext cx="292608" cy="292608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929018" y="452628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≈160 Gbps, sustained</a:t>
            </a:r>
            <a:endParaRPr lang="en-US" sz="13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4597" y="4654296"/>
            <a:ext cx="292608" cy="29260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9606077" y="452628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≈140 Mbps</a:t>
            </a:r>
            <a:endParaRPr lang="en-US" sz="1300" dirty="0"/>
          </a:p>
        </p:txBody>
      </p:sp>
      <p:sp>
        <p:nvSpPr>
          <p:cNvPr id="42" name="Shape 27"/>
          <p:cNvSpPr/>
          <p:nvPr/>
        </p:nvSpPr>
        <p:spPr>
          <a:xfrm>
            <a:off x="548640" y="5166360"/>
            <a:ext cx="11094415" cy="0"/>
          </a:xfrm>
          <a:prstGeom prst="line">
            <a:avLst/>
          </a:prstGeom>
          <a:noFill/>
          <a:ln w="9525">
            <a:solidFill>
              <a:srgbClr val="DDE3EE"/>
            </a:solidFill>
            <a:prstDash val="solid"/>
          </a:ln>
        </p:spPr>
      </p:sp>
      <p:sp>
        <p:nvSpPr>
          <p:cNvPr id="43" name="Text 28"/>
          <p:cNvSpPr/>
          <p:nvPr/>
        </p:nvSpPr>
        <p:spPr>
          <a:xfrm>
            <a:off x="548640" y="5276088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district’s link drops</a:t>
            </a:r>
            <a:endParaRPr lang="en-US" sz="14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480" y="5385816"/>
            <a:ext cx="292608" cy="292608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4251960" y="525780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locally, still isolated</a:t>
            </a:r>
            <a:endParaRPr lang="en-US" sz="13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7538" y="5385816"/>
            <a:ext cx="292608" cy="292608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6929018" y="525780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stops</a:t>
            </a:r>
            <a:endParaRPr lang="en-US" sz="13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94597" y="5385816"/>
            <a:ext cx="292608" cy="292608"/>
          </a:xfrm>
          <a:prstGeom prst="rect">
            <a:avLst/>
          </a:prstGeom>
        </p:spPr>
      </p:pic>
      <p:sp>
        <p:nvSpPr>
          <p:cNvPr id="49" name="Text 31"/>
          <p:cNvSpPr/>
          <p:nvPr/>
        </p:nvSpPr>
        <p:spPr>
          <a:xfrm>
            <a:off x="9606077" y="5257800"/>
            <a:ext cx="1808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reading and alerting</a:t>
            </a:r>
            <a:endParaRPr lang="en-US" sz="1300" dirty="0"/>
          </a:p>
        </p:txBody>
      </p:sp>
      <p:sp>
        <p:nvSpPr>
          <p:cNvPr id="50" name="Text 32"/>
          <p:cNvSpPr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compared, not named products. Network figures are for ~80,000 cameras, from our scale plan.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PROVEN, NOT PROMISED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real government footage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567864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745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plates read exactly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310128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81 hand-checked real government plates; 88% of characters correct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90824" y="1691640"/>
            <a:ext cx="2567864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65144" y="18745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665144" y="274320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a second, on one laptop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65144" y="3310128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live analysis on a CPU — the on-site set-up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1691640"/>
            <a:ext cx="2567864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07328" y="18745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600+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507328" y="274320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507328" y="3310128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interface tests in three languages and two themes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075191" y="1691640"/>
            <a:ext cx="2567864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349511" y="18745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 s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9349511" y="274320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restore a million records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349511" y="3310128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Disaster-recovery drill, with tampering detected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52628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9525">
            <a:solidFill>
              <a:srgbClr val="DDE3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4754880"/>
            <a:ext cx="512064" cy="51206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455" y="4872655"/>
            <a:ext cx="276515" cy="27651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55448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plainly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1554480" y="5166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accuracy is below our own 85% target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compute is sized from vendor benchmarks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583680" y="5166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vehicles with no readable plate is designed, not built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replaces every estimate with a measurement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STATEWIDE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from the first district. No big-bang switch-over.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32104" y="1938528"/>
            <a:ext cx="10527487" cy="0"/>
          </a:xfrm>
          <a:prstGeom prst="line">
            <a:avLst/>
          </a:prstGeom>
          <a:noFill/>
          <a:ln w="25400">
            <a:solidFill>
              <a:srgbClr val="DDE3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792224"/>
            <a:ext cx="292608" cy="292608"/>
          </a:xfrm>
          <a:prstGeom prst="ellipse">
            <a:avLst/>
          </a:prstGeom>
          <a:solidFill>
            <a:srgbClr val="D9770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2402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 ·  0–3 months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2567864" cy="3246120"/>
          </a:xfrm>
          <a:prstGeom prst="roundRect">
            <a:avLst>
              <a:gd name="adj" fmla="val 4273"/>
            </a:avLst>
          </a:prstGeom>
          <a:solidFill>
            <a:srgbClr val="EAF0FD"/>
          </a:solidFill>
          <a:ln w="9525">
            <a:solidFill>
              <a:srgbClr val="C9D7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83464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822960" y="349300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9319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district, 2 departments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452628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reading validated on live feeds; operators sign off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527984" y="1792224"/>
            <a:ext cx="292608" cy="292608"/>
          </a:xfrm>
          <a:prstGeom prst="ellipse">
            <a:avLst/>
          </a:prstGeom>
          <a:solidFill>
            <a:srgbClr val="2456D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90824" y="22402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 ·  3–9 months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90824" y="2651760"/>
            <a:ext cx="2567864" cy="324612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65144" y="283464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3665144" y="349300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65144" y="39319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districts, 6 departments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665144" y="452628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VMS vendors connected; VAHAN and eGujCop live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70168" y="1792224"/>
            <a:ext cx="292608" cy="292608"/>
          </a:xfrm>
          <a:prstGeom prst="ellipse">
            <a:avLst/>
          </a:prstGeom>
          <a:solidFill>
            <a:srgbClr val="2456D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33008" y="22402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Statewide  ·  9–21 months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33008" y="2651760"/>
            <a:ext cx="2567864" cy="324612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507328" y="283464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~30,000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6507328" y="349300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507328" y="39319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34 districts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507328" y="452628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Statewide vehicle tracking; operations centre in place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212351" y="1792224"/>
            <a:ext cx="292608" cy="292608"/>
          </a:xfrm>
          <a:prstGeom prst="ellipse">
            <a:avLst/>
          </a:prstGeom>
          <a:solidFill>
            <a:srgbClr val="2456D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75191" y="22402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 ·  21–36 months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9075191" y="2651760"/>
            <a:ext cx="2567864" cy="324612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9349511" y="283464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</a:t>
            </a:r>
            <a:endParaRPr lang="en-US" sz="3600" dirty="0"/>
          </a:p>
        </p:txBody>
      </p:sp>
      <p:sp>
        <p:nvSpPr>
          <p:cNvPr id="32" name="Text 29"/>
          <p:cNvSpPr/>
          <p:nvPr/>
        </p:nvSpPr>
        <p:spPr>
          <a:xfrm>
            <a:off x="9349511" y="3493008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349511" y="3931920"/>
            <a:ext cx="2019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consented private cameras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349511" y="452628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coverage, with policy and audit established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0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STEP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90-day pilot in one district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48477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14600"/>
            <a:ext cx="603504" cy="60350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86" y="2653406"/>
            <a:ext cx="325892" cy="3258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9184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inventory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822192"/>
            <a:ext cx="2844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template per department: cameras, recorders, network, locations — and whether each feed shows the date and 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3458" y="2240280"/>
            <a:ext cx="348477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3498" y="2514600"/>
            <a:ext cx="603504" cy="60350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304" y="2653406"/>
            <a:ext cx="325892" cy="3258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3498" y="329184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access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73498" y="3822192"/>
            <a:ext cx="2844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streams or each VMS. Nothing installed on department infrastructure.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58277" y="2240280"/>
            <a:ext cx="348477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DE3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8317" y="2514600"/>
            <a:ext cx="603504" cy="603504"/>
          </a:xfrm>
          <a:prstGeom prst="ellipse">
            <a:avLst/>
          </a:prstGeom>
          <a:solidFill>
            <a:srgbClr val="2456D6"/>
          </a:solidFill>
          <a:ln w="12700">
            <a:solidFill>
              <a:srgbClr val="2456D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123" y="2653406"/>
            <a:ext cx="325892" cy="3258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8317" y="3291840"/>
            <a:ext cx="2844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access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78317" y="3822192"/>
            <a:ext cx="28446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ready: VAHAN, SARTHI, eGujCop, AFIS, NAFIS — switched on as a setting the day it is granted.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52120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plate. See where it went.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3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1094415" y="64465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find any vehicle across every government camera in Gujarat</dc:title>
  <dc:subject>PptxGenJS Presentation</dc:subject>
  <dc:creator>Sentinel Platform</dc:creator>
  <cp:lastModifiedBy>Sentinel Platform</cp:lastModifiedBy>
  <cp:revision>1</cp:revision>
  <dcterms:created xsi:type="dcterms:W3CDTF">2026-10-11T06:36:21Z</dcterms:created>
  <dcterms:modified xsi:type="dcterms:W3CDTF">2026-10-11T06:36:21Z</dcterms:modified>
</cp:coreProperties>
</file>