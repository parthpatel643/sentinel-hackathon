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36079"/>
                </a:solidFill>
                <a:latin typeface="Arial"/>
              </a:defRPr>
            </a:pPr>
            <a:r>
              <a:rPr sz="1300" b="0" i="0" u="none" strike="noStrike">
                <a:solidFill>
                  <a:srgbClr val="536079"/>
                </a:solidFill>
                <a:latin typeface="Arial"/>
              </a:rPr>
              <a:t>Build cost (capex), ₹ crore</a:t>
            </a:r>
          </a:p>
        </c:rich>
      </c:tx>
      <c:layout/>
      <c:overlay val="0"/>
    </c:title>
    <c:autoTitleDeleted val="0"/>
    <c:plotArea>
      <c:layout/>
      <c:barChart>
        <c:barDir val="bar"/>
        <c:grouping val="clustered"/>
        <c:varyColors val="0"/>
        <c:ser>
          <c:idx val="0"/>
          <c:order val="0"/>
          <c:tx>
            <c:strRef>
              <c:f>Sheet1!$B$1</c:f>
              <c:strCache>
                <c:ptCount val="1"/>
                <c:pt idx="0">
                  <c:v>Capex</c:v>
                </c:pt>
              </c:strCache>
            </c:strRef>
          </c:tx>
          <c:spPr>
            <a:solidFill>
              <a:srgbClr val="2456D6"/>
            </a:solidFill>
            <a:effectLst/>
          </c:spPr>
          <c:invertIfNegative val="0"/>
          <c:dLbls>
            <c:numFmt formatCode="&quot;₹&quot;General&quot; cr&quot;" sourceLinked="0"/>
            <c:txPr>
              <a:bodyPr/>
              <a:lstStyle/>
              <a:p>
                <a:pPr>
                  <a:defRPr b="1" i="0" strike="noStrike" sz="1300" u="none">
                    <a:solidFill>
                      <a:srgbClr val="0F1B33"/>
                    </a:solidFill>
                    <a:latin typeface="Arial"/>
                  </a:defRPr>
                </a:pPr>
              </a:p>
            </c:txPr>
            <c:showLegendKey val="0"/>
            <c:showVal val="1"/>
            <c:showCatName val="0"/>
            <c:showSerName val="0"/>
            <c:showPercent val="0"/>
            <c:showBubbleSize val="0"/>
            <c:showLeaderLines val="0"/>
          </c:dLbls>
          <c:cat>
            <c:multiLvlStrRef>
              <c:f>Sheet1!$A$2:$A$7</c:f>
              <c:multiLvlStrCache>
                <c:ptCount val="6"/>
                <c:lvl>
                  <c:pt idx="0">
                    <c:v>District analysis servers</c:v>
                  </c:pt>
                  <c:pt idx="1">
                    <c:v>State data centre</c:v>
                  </c:pt>
                  <c:pt idx="2">
                    <c:v>Integration &amp; rollout</c:v>
                  </c:pt>
                  <c:pt idx="3">
                    <c:v>Remote edge boxes</c:v>
                  </c:pt>
                  <c:pt idx="4">
                    <c:v>Network uplinks</c:v>
                  </c:pt>
                  <c:pt idx="5">
                    <c:v>Disaster-recovery site</c:v>
                  </c:pt>
                </c:lvl>
              </c:multiLvlStrCache>
            </c:multiLvlStrRef>
          </c:cat>
          <c:val>
            <c:numRef>
              <c:f>Sheet1!$B$2:$B$7</c:f>
              <c:numCache>
                <c:formatCode>General</c:formatCode>
                <c:ptCount val="6"/>
                <c:pt idx="0">
                  <c:v>28</c:v>
                </c:pt>
                <c:pt idx="1">
                  <c:v>14</c:v>
                </c:pt>
                <c:pt idx="2">
                  <c:v>12</c:v>
                </c:pt>
                <c:pt idx="3">
                  <c:v>10.5</c:v>
                </c:pt>
                <c:pt idx="4">
                  <c:v>9</c:v>
                </c:pt>
                <c:pt idx="5">
                  <c:v>7</c:v>
                </c:pt>
              </c:numCache>
            </c:numRef>
          </c:val>
        </c:ser>
        <c:dLbls>
          <c:numFmt formatCode="&quot;₹&quot;General&quot; cr&quot;" sourceLinked="0"/>
          <c:txPr>
            <a:bodyPr/>
            <a:lstStyle/>
            <a:p>
              <a:pPr>
                <a:defRPr b="1" i="0" strike="noStrike" sz="1300" u="none">
                  <a:solidFill>
                    <a:srgbClr val="0F1B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0F1B33"/>
                </a:solidFill>
                <a:latin typeface="Calibri"/>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D97706"/>
              </a:solidFill>
              <a:effectLst/>
            </c:spPr>
          </c:dPt>
          <c:dPt>
            <c:idx val="1"/>
            <c:bubble3D val="0"/>
            <c:spPr>
              <a:solidFill>
                <a:srgbClr val="2456D6"/>
              </a:solidFill>
              <a:effectLst/>
            </c:spPr>
          </c:dPt>
          <c:dPt>
            <c:idx val="2"/>
            <c:bubble3D val="0"/>
            <c:spPr>
              <a:solidFill>
                <a:srgbClr val="8FA9EA"/>
              </a:solidFill>
              <a:effectLst/>
            </c:spPr>
          </c:dPt>
          <c:dPt>
            <c:idx val="3"/>
            <c:bubble3D val="0"/>
            <c:spPr>
              <a:solidFill>
                <a:srgbClr val="D3DAE6"/>
              </a:solidFill>
              <a:effectLst/>
            </c:spPr>
          </c:dPt>
          <c:dLbls>
            <c:dLbl>
              <c:idx val="0"/>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not the technology. "Sentinel lets an officer type a registration number and see where that vehicle went, across every government camera, in seconds — and be told the moment it is seen again." Two sentences, then move: this room has heard many pitches. If the jury gives the vehicle number now, go straight to the demonstration (slide 5)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no more. "We are Invental Data Labs. I am Parth Patel — I lead the team; I am a consulting AI solution architect who has worked with IBM and United Airlines, and I hold an MTech in Data Science from IIT Bombay. With me is Anuj Patel, a data scientist from Göttingen, Germany." Then straight into the challenge: the background is there to earn trust, not to take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to the officers first. Gujarat already has about eighty thousand cameras across twenty-six departments — Home, Civil Supplies, RTO and the rest. What it lacks is a way to use them together. When a vehicle is used in a crime, tracing it is phone calls to each department, separate logins and manual review, while the footage is overwritten within a week or two. The right-hand side is what the next eighteen minutes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per column, in plain words. See: every camera, from every department, on one map and one live wall. Find: any vehicle by its plate — the route, the evidence at every stop, and a report for the case file. Alert: stolen, wanted and missing vehicles flagged the moment any camera reads them. Each job maps to a role the officers in the room already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seven minutes, live. Say what you will do before you do it; the narrator faces the jury and the driver only clicks. If the vehicle number was already given, run step 2 first. For the officers, narrate it as an investigation: the number comes in, the route comes out, the report goes into the case file. For the professors, name the method at each step in one sentence — the camera’s own clock, the speed check, the hash-sealed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both halves of the room. For the officers: the time in the report is the time printed on the camera’s own frame, and if it cannot be read we say “time unknown” rather than guess — a record that holds up under cross-examination. Every search, export and reveal is logged in a hash chain; change one entry and verification fails. For the professors: the clock reading is accepted only when a second reading agrees, and exports carry a SHA-256 manifest. And we do no face recognition at all — faces are detected only to be blurred. If time allows, show Admin, then Audit, then Verify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brief’s “which model, and why”. A hybrid. Model 1’s registry and GIS is the foundation everything stands on. Model 2 gives one console that views and analyses every accessible stream. Model 3’s adapters mean no department changes its system — a new vendor is a driver, not a release. Model 4’s central recording is used only where it pays off. The next slide is the reason we do not centralise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this is the argument the design rests on; for the officers, it is why it will work in Dahod and Dwarka, not only in Ahmedabad. Pulling every camera’s video to one centre needs about 160 gigabits a second sustained, from sites up to a thousand kilometres apart, and petabytes of storage for a single week. Reading plates where the video is filmed and sending only what was found needs about 140 megabits — roughly a thousand times less — and a district that loses its link keeps reading and alerting for up to three days. Every figure here re-derives from five formulas in our scale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to top, one sentence each. Cameras, tiered by how much analysis they need. Department systems stay as they are; we pull read-only. Each district decodes and analyses its own video and queues what it finds if its link drops. The state core does search, storage and alerts, with a warm disaster-recovery site. At the top, the control rooms, the field app and the State’s databases. What you just saw is the district layer running on a laptop — the same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estimated costs, so we show them — and say “order of magnitude” before the first number. About eighty crore to build and twenty-four crore a year to run for eighty thousand cameras: roughly ten thousand rupees a camera to build and three thousand a year to run. The largest line, district servers, follows from the camera tiering in Appendix A6, which is our planning assumption until departments’ inventories replace it. No software licences. Centralising every camera is conservatively four hundred crore to build. The saving is reuse: nothing installed is replaced. The pilot replaces every estimate with a measured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you”, in three claims, each with its proof. Proven on Gujarat’s own cameras — the government grid, its footage, its plates. Evidence that holds up — the camera’s own clock, the frame at every stop, a record no one can quietly change. Fits what Gujarat already owns — any vendor, nothing replaced, analysis in each district. Then read the stated-plainly line aloud: the professors will respect it, and the officers will trust the rest more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calmly. Each phase is useful on its own — a district pilot in three months, then four districts, then every district, then consented private cameras — and none needs a big-bang cutover. To begin we need three things: each department’s camera inventory, read-only access, and database access when it is ready. Then the line, and stop talking. Hand over the Movement Report from the demonstration if it has not been handed over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Jump here from a question: each appendix slide is numbered A1–A9 in its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personal. The operator gets one screen instead of many. The investigator gets the route and a report they can put in a case file. The officer on patrol gets alerts and a plate lookup on their phone — it even works on a poor connection. Leadership gets a statewide picture: which cameras are working, where coverage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replaced and nothing is installed on a department’s system. A camera list, a device on the network or a department’s catalogue — each is onboarded in minutes and appears on the map and the live wall. For the technical jury: RTSP, ONVIF, Hikvision and Dahua drivers; one connection per camera however many people watch; credentials never reach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number — spacing and case do not matter. Every sighting appears on the map and the timeline, in the order the cameras’ own clocks give. Open a stop: the camera, the time printed on the frame, the plate as read, the snapshot with faces blurred. Arm a watch for future sightings. Then export the Movement Report and hand it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plate any camera reads is checked against the watchlist — stolen, wanted, missing — automatically. A match raises a prioritised alert on every open console and on officers’ phones, with a sound, and repeat sightings at a red light do not flood anyone. It also catches the misreads cameras make: a zero read as an O, a one as an I. Anything less than an exact match is shown as probable, for an officer to confirm on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what kind of vehicle, what colour, how many people, did anyone enter a restricted zone or loiter, is a vehicle going the wrong way, has a camera been covered or moved. And one thing we will not do: identify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highway check-post and a ration-shop godown are different jobs. About one camera in eight reads plates continuously; a quarter are view-only. The tier is a setting each department controls and can change live — a camera goes to continuous for a bandobast and back afterwards. That is what makes eighty thousand cameras tractable. Be clear that the split is our planning assumption: the brief gives the eighty thousand total and how departments use their cameras, not a breakdown. The GPU count and the server cost follow from it, and each department’s inventory replaces it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really two other ways to do this. Leave every department on its own system — nothing changes, and nothing connects. Or pull every camera into one central system — it connects everything, but it re-routes all the video, needs a backbone the State does not have, and stops when a link drops. Sentinel gets the reach of the second without disturbing anything in the first. We compare approaches here, not named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measured that”. The plate accuracy is measured on hand-checked plates from the government grid — and it is below our own target, which we say plainly; it started at under ten percent and the measurement is what drove it up. The rest is the discipline behind it: a laptop handling live analysis, more than six hundred automated tests, and a disaster-recovery drill that restores a million records in seconds and proves nothing was altered.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is useful on its own and none needs a big-bang cutover: one district pilot in three months, four districts and the main VMS vendors by nine, every district by twenty-one months, and consented private cameras in the last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172200" y="0"/>
            <a:ext cx="6019495" cy="6858000"/>
          </a:xfrm>
          <a:prstGeom prst="rect">
            <a:avLst/>
          </a:prstGeom>
          <a:solidFill>
            <a:srgbClr val="EAF0FD"/>
          </a:solidFill>
          <a:ln w="12700">
            <a:solidFill>
              <a:srgbClr val="EAF0FD"/>
            </a:solidFill>
            <a:prstDash val="solid"/>
          </a:ln>
        </p:spPr>
      </p:sp>
      <p:sp>
        <p:nvSpPr>
          <p:cNvPr id="3" name="Shape 1"/>
          <p:cNvSpPr/>
          <p:nvPr/>
        </p:nvSpPr>
        <p:spPr>
          <a:xfrm>
            <a:off x="6473952" y="1946770"/>
            <a:ext cx="5385816" cy="2964461"/>
          </a:xfrm>
          <a:prstGeom prst="roundRect">
            <a:avLst>
              <a:gd name="adj" fmla="val 3085"/>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4" name="Image 0" descr="preencoded.png">    </p:cNvPr>
          <p:cNvPicPr>
            <a:picLocks noChangeAspect="1"/>
          </p:cNvPicPr>
          <p:nvPr/>
        </p:nvPicPr>
        <p:blipFill>
          <a:blip r:embed="rId1"/>
          <a:stretch>
            <a:fillRect/>
          </a:stretch>
        </p:blipFill>
        <p:spPr>
          <a:xfrm>
            <a:off x="6537960" y="2010778"/>
            <a:ext cx="5257800" cy="2836445"/>
          </a:xfrm>
          <a:prstGeom prst="rect">
            <a:avLst/>
          </a:prstGeom>
        </p:spPr>
      </p:pic>
      <p:sp>
        <p:nvSpPr>
          <p:cNvPr id="5" name="Shape 2"/>
          <p:cNvSpPr/>
          <p:nvPr/>
        </p:nvSpPr>
        <p:spPr>
          <a:xfrm>
            <a:off x="5897880" y="1645018"/>
            <a:ext cx="283464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6" name="Shape 3"/>
          <p:cNvSpPr/>
          <p:nvPr/>
        </p:nvSpPr>
        <p:spPr>
          <a:xfrm>
            <a:off x="6025896" y="1754746"/>
            <a:ext cx="347472" cy="347472"/>
          </a:xfrm>
          <a:prstGeom prst="ellipse">
            <a:avLst/>
          </a:prstGeom>
          <a:solidFill>
            <a:srgbClr val="2456D6"/>
          </a:solidFill>
          <a:ln w="12700">
            <a:solidFill>
              <a:srgbClr val="2456D6"/>
            </a:solidFill>
            <a:prstDash val="solid"/>
          </a:ln>
        </p:spPr>
      </p:sp>
      <p:pic>
        <p:nvPicPr>
          <p:cNvPr id="7" name="Image 1" descr="preencoded.png">    </p:cNvPr>
          <p:cNvPicPr>
            <a:picLocks noChangeAspect="1"/>
          </p:cNvPicPr>
          <p:nvPr/>
        </p:nvPicPr>
        <p:blipFill>
          <a:blip r:embed="rId2"/>
          <a:stretch>
            <a:fillRect/>
          </a:stretch>
        </p:blipFill>
        <p:spPr>
          <a:xfrm>
            <a:off x="6105815" y="1834664"/>
            <a:ext cx="187635" cy="187635"/>
          </a:xfrm>
          <a:prstGeom prst="rect">
            <a:avLst/>
          </a:prstGeom>
        </p:spPr>
      </p:pic>
      <p:sp>
        <p:nvSpPr>
          <p:cNvPr id="8" name="Text 4"/>
          <p:cNvSpPr/>
          <p:nvPr/>
        </p:nvSpPr>
        <p:spPr>
          <a:xfrm>
            <a:off x="6464808" y="1754746"/>
            <a:ext cx="217627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Route traced across cameras</a:t>
            </a:r>
            <a:endParaRPr lang="en-US" sz="1200" dirty="0"/>
          </a:p>
        </p:txBody>
      </p:sp>
      <p:sp>
        <p:nvSpPr>
          <p:cNvPr id="9" name="Shape 5"/>
          <p:cNvSpPr/>
          <p:nvPr/>
        </p:nvSpPr>
        <p:spPr>
          <a:xfrm>
            <a:off x="9128455" y="4618622"/>
            <a:ext cx="256032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6"/>
          <p:cNvSpPr/>
          <p:nvPr/>
        </p:nvSpPr>
        <p:spPr>
          <a:xfrm>
            <a:off x="9256471" y="4728350"/>
            <a:ext cx="347472" cy="347472"/>
          </a:xfrm>
          <a:prstGeom prst="ellipse">
            <a:avLst/>
          </a:prstGeom>
          <a:solidFill>
            <a:srgbClr val="D97706"/>
          </a:solidFill>
          <a:ln w="12700">
            <a:solidFill>
              <a:srgbClr val="D97706"/>
            </a:solidFill>
            <a:prstDash val="solid"/>
          </a:ln>
        </p:spPr>
      </p:sp>
      <p:pic>
        <p:nvPicPr>
          <p:cNvPr id="11" name="Image 2" descr="preencoded.png">    </p:cNvPr>
          <p:cNvPicPr>
            <a:picLocks noChangeAspect="1"/>
          </p:cNvPicPr>
          <p:nvPr/>
        </p:nvPicPr>
        <p:blipFill>
          <a:blip r:embed="rId3"/>
          <a:stretch>
            <a:fillRect/>
          </a:stretch>
        </p:blipFill>
        <p:spPr>
          <a:xfrm>
            <a:off x="9336390" y="4808269"/>
            <a:ext cx="187635" cy="187635"/>
          </a:xfrm>
          <a:prstGeom prst="rect">
            <a:avLst/>
          </a:prstGeom>
        </p:spPr>
      </p:pic>
      <p:sp>
        <p:nvSpPr>
          <p:cNvPr id="12" name="Text 7"/>
          <p:cNvSpPr/>
          <p:nvPr/>
        </p:nvSpPr>
        <p:spPr>
          <a:xfrm>
            <a:off x="9695383" y="4728350"/>
            <a:ext cx="190195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Watchlist alert raised</a:t>
            </a:r>
            <a:endParaRPr lang="en-US" sz="1200" dirty="0"/>
          </a:p>
        </p:txBody>
      </p:sp>
      <p:sp>
        <p:nvSpPr>
          <p:cNvPr id="13" name="Text 8"/>
          <p:cNvSpPr/>
          <p:nvPr/>
        </p:nvSpPr>
        <p:spPr>
          <a:xfrm>
            <a:off x="548640" y="1143000"/>
            <a:ext cx="5303520"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GUJARAT POLICE INNOVATION CHALLENGE 2026</a:t>
            </a:r>
            <a:endParaRPr lang="en-US" sz="1100" dirty="0"/>
          </a:p>
        </p:txBody>
      </p:sp>
      <p:sp>
        <p:nvSpPr>
          <p:cNvPr id="14" name="Text 9"/>
          <p:cNvSpPr/>
          <p:nvPr/>
        </p:nvSpPr>
        <p:spPr>
          <a:xfrm>
            <a:off x="548640" y="1554480"/>
            <a:ext cx="5303520" cy="1097280"/>
          </a:xfrm>
          <a:prstGeom prst="rect">
            <a:avLst/>
          </a:prstGeom>
          <a:noFill/>
          <a:ln/>
        </p:spPr>
        <p:txBody>
          <a:bodyPr wrap="square" lIns="0" tIns="0" rIns="0" bIns="0" rtlCol="0" anchor="t"/>
          <a:lstStyle/>
          <a:p>
            <a:pPr indent="0" marL="0">
              <a:buNone/>
            </a:pPr>
            <a:r>
              <a:rPr lang="en-US" sz="6600" b="1" dirty="0">
                <a:solidFill>
                  <a:srgbClr val="0F1B33"/>
                </a:solidFill>
                <a:latin typeface="Arial" pitchFamily="34" charset="0"/>
                <a:ea typeface="Arial" pitchFamily="34" charset="-122"/>
                <a:cs typeface="Arial" pitchFamily="34" charset="-120"/>
              </a:rPr>
              <a:t>Sentinel</a:t>
            </a:r>
            <a:endParaRPr lang="en-US" sz="6600" dirty="0"/>
          </a:p>
        </p:txBody>
      </p:sp>
      <p:sp>
        <p:nvSpPr>
          <p:cNvPr id="15" name="Text 10"/>
          <p:cNvSpPr/>
          <p:nvPr/>
        </p:nvSpPr>
        <p:spPr>
          <a:xfrm>
            <a:off x="548640" y="2743200"/>
            <a:ext cx="5212080" cy="1188720"/>
          </a:xfrm>
          <a:prstGeom prst="rect">
            <a:avLst/>
          </a:prstGeom>
          <a:noFill/>
          <a:ln/>
        </p:spPr>
        <p:txBody>
          <a:bodyPr wrap="square" lIns="0" tIns="0" rIns="0" bIns="0" rtlCol="0" anchor="t"/>
          <a:lstStyle/>
          <a:p>
            <a:pPr indent="0" marL="0">
              <a:buNone/>
            </a:pPr>
            <a:r>
              <a:rPr lang="en-US" sz="2500" dirty="0">
                <a:solidFill>
                  <a:srgbClr val="0F1B33"/>
                </a:solidFill>
                <a:latin typeface="Arial" pitchFamily="34" charset="0"/>
                <a:ea typeface="Arial" pitchFamily="34" charset="-122"/>
                <a:cs typeface="Arial" pitchFamily="34" charset="-120"/>
              </a:rPr>
              <a:t>Find any vehicle, across every government camera in Gujarat — in seconds.</a:t>
            </a:r>
            <a:endParaRPr lang="en-US" sz="2500" dirty="0"/>
          </a:p>
        </p:txBody>
      </p:sp>
      <p:sp>
        <p:nvSpPr>
          <p:cNvPr id="16" name="Text 11"/>
          <p:cNvSpPr/>
          <p:nvPr/>
        </p:nvSpPr>
        <p:spPr>
          <a:xfrm>
            <a:off x="548640" y="4069080"/>
            <a:ext cx="5120640" cy="100584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One platform that connects the cameras departments already run, reads number plates where they are filmed, and alerts officers the moment a vehicle of interest is seen.</a:t>
            </a:r>
            <a:endParaRPr lang="en-US" sz="1500" dirty="0"/>
          </a:p>
        </p:txBody>
      </p:sp>
      <p:sp>
        <p:nvSpPr>
          <p:cNvPr id="17" name="Text 12"/>
          <p:cNvSpPr/>
          <p:nvPr/>
        </p:nvSpPr>
        <p:spPr>
          <a:xfrm>
            <a:off x="548640" y="5230368"/>
            <a:ext cx="5120640" cy="320040"/>
          </a:xfrm>
          <a:prstGeom prst="rect">
            <a:avLst/>
          </a:prstGeom>
          <a:noFill/>
          <a:ln/>
        </p:spPr>
        <p:txBody>
          <a:bodyPr wrap="square" lIns="0" tIns="0" rIns="0" bIns="0" rtlCol="0" anchor="t"/>
          <a:lstStyle/>
          <a:p>
            <a:pPr indent="0" marL="0">
              <a:buNone/>
            </a:pPr>
            <a:r>
              <a:rPr lang="en-US" sz="1400" b="1" dirty="0">
                <a:solidFill>
                  <a:srgbClr val="2456D6"/>
                </a:solidFill>
                <a:latin typeface="Arial" pitchFamily="34" charset="0"/>
                <a:ea typeface="Arial" pitchFamily="34" charset="-122"/>
                <a:cs typeface="Arial" pitchFamily="34" charset="-120"/>
              </a:rPr>
              <a:t>Presented by Invental Data Labs</a:t>
            </a:r>
            <a:endParaRPr lang="en-US" sz="1400" dirty="0"/>
          </a:p>
        </p:txBody>
      </p:sp>
      <p:sp>
        <p:nvSpPr>
          <p:cNvPr id="18" name="Shape 13"/>
          <p:cNvSpPr/>
          <p:nvPr/>
        </p:nvSpPr>
        <p:spPr>
          <a:xfrm>
            <a:off x="548640" y="5760720"/>
            <a:ext cx="384048" cy="384048"/>
          </a:xfrm>
          <a:prstGeom prst="ellipse">
            <a:avLst/>
          </a:prstGeom>
          <a:solidFill>
            <a:srgbClr val="D97706"/>
          </a:solidFill>
          <a:ln w="12700">
            <a:solidFill>
              <a:srgbClr val="D97706"/>
            </a:solidFill>
            <a:prstDash val="solid"/>
          </a:ln>
        </p:spPr>
      </p:sp>
      <p:pic>
        <p:nvPicPr>
          <p:cNvPr id="19" name="Image 3" descr="preencoded.png">    </p:cNvPr>
          <p:cNvPicPr>
            <a:picLocks noChangeAspect="1"/>
          </p:cNvPicPr>
          <p:nvPr/>
        </p:nvPicPr>
        <p:blipFill>
          <a:blip r:embed="rId4"/>
          <a:stretch>
            <a:fillRect/>
          </a:stretch>
        </p:blipFill>
        <p:spPr>
          <a:xfrm>
            <a:off x="636971" y="5849051"/>
            <a:ext cx="207386" cy="207386"/>
          </a:xfrm>
          <a:prstGeom prst="rect">
            <a:avLst/>
          </a:prstGeom>
        </p:spPr>
      </p:pic>
      <p:sp>
        <p:nvSpPr>
          <p:cNvPr id="20" name="Text 14"/>
          <p:cNvSpPr/>
          <p:nvPr/>
        </p:nvSpPr>
        <p:spPr>
          <a:xfrm>
            <a:off x="1097280" y="5833872"/>
            <a:ext cx="5120640"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Grand Finale  ·  i-Hub Gujarat, Ahmedabad  ·  12–13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WHO WE ARE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Invental Data Labs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02</a:t>
            </a:r>
            <a:endParaRPr lang="en-US" sz="900" dirty="0"/>
          </a:p>
        </p:txBody>
      </p:sp>
      <p:sp>
        <p:nvSpPr>
          <p:cNvPr id="6" name="Text 3"/>
          <p:cNvSpPr/>
          <p:nvPr/>
        </p:nvSpPr>
        <p:spPr>
          <a:xfrm>
            <a:off x="548640" y="1417320"/>
            <a:ext cx="11094415" cy="365760"/>
          </a:xfrm>
          <a:prstGeom prst="rect">
            <a:avLst/>
          </a:prstGeom>
          <a:noFill/>
          <a:ln/>
        </p:spPr>
        <p:txBody>
          <a:bodyPr wrap="square" lIns="0" tIns="0" rIns="0" bIns="0" rtlCol="0" anchor="t"/>
          <a:lstStyle/>
          <a:p>
            <a:pPr indent="0" marL="0">
              <a:buNone/>
            </a:pPr>
            <a:r>
              <a:rPr lang="en-US" sz="1600" dirty="0">
                <a:solidFill>
                  <a:srgbClr val="536079"/>
                </a:solidFill>
                <a:latin typeface="Calibri" pitchFamily="34" charset="0"/>
                <a:ea typeface="Calibri" pitchFamily="34" charset="-122"/>
                <a:cs typeface="Calibri" pitchFamily="34" charset="-120"/>
              </a:rPr>
              <a:t>Enterprise AI architecture and applied data science — built into a platform for Gujarat Police.</a:t>
            </a:r>
            <a:endParaRPr lang="en-US" sz="1600" dirty="0"/>
          </a:p>
        </p:txBody>
      </p:sp>
      <p:sp>
        <p:nvSpPr>
          <p:cNvPr id="7" name="Shape 4"/>
          <p:cNvSpPr/>
          <p:nvPr/>
        </p:nvSpPr>
        <p:spPr>
          <a:xfrm>
            <a:off x="548640" y="2103120"/>
            <a:ext cx="5364328" cy="3977640"/>
          </a:xfrm>
          <a:prstGeom prst="roundRect">
            <a:avLst>
              <a:gd name="adj" fmla="val 275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960120" y="2514600"/>
            <a:ext cx="1325880" cy="1325880"/>
          </a:xfrm>
          <a:prstGeom prst="ellipse">
            <a:avLst/>
          </a:prstGeom>
          <a:solidFill>
            <a:srgbClr val="2456D6"/>
          </a:solidFill>
          <a:ln w="12700">
            <a:solidFill>
              <a:srgbClr val="2456D6"/>
            </a:solidFill>
            <a:prstDash val="solid"/>
          </a:ln>
        </p:spPr>
      </p:sp>
      <p:sp>
        <p:nvSpPr>
          <p:cNvPr id="9" name="Text 6"/>
          <p:cNvSpPr/>
          <p:nvPr/>
        </p:nvSpPr>
        <p:spPr>
          <a:xfrm>
            <a:off x="960120" y="2514600"/>
            <a:ext cx="1325880" cy="132588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PP</a:t>
            </a:r>
            <a:endParaRPr lang="en-US" sz="4000" dirty="0"/>
          </a:p>
        </p:txBody>
      </p:sp>
      <p:sp>
        <p:nvSpPr>
          <p:cNvPr id="10" name="Text 7"/>
          <p:cNvSpPr/>
          <p:nvPr/>
        </p:nvSpPr>
        <p:spPr>
          <a:xfrm>
            <a:off x="2514600" y="2606040"/>
            <a:ext cx="3124048" cy="548640"/>
          </a:xfrm>
          <a:prstGeom prst="rect">
            <a:avLst/>
          </a:prstGeom>
          <a:noFill/>
          <a:ln/>
        </p:spPr>
        <p:txBody>
          <a:bodyPr wrap="square" lIns="0" tIns="0" rIns="0" bIns="0" rtlCol="0" anchor="t"/>
          <a:lstStyle/>
          <a:p>
            <a:pPr indent="0" marL="0">
              <a:buNone/>
            </a:pPr>
            <a:r>
              <a:rPr lang="en-US" sz="2800" b="1" dirty="0">
                <a:solidFill>
                  <a:srgbClr val="0F1B33"/>
                </a:solidFill>
                <a:latin typeface="Arial" pitchFamily="34" charset="0"/>
                <a:ea typeface="Arial" pitchFamily="34" charset="-122"/>
                <a:cs typeface="Arial" pitchFamily="34" charset="-120"/>
              </a:rPr>
              <a:t>Parth Patel</a:t>
            </a:r>
            <a:endParaRPr lang="en-US" sz="2800" dirty="0"/>
          </a:p>
        </p:txBody>
      </p:sp>
      <p:sp>
        <p:nvSpPr>
          <p:cNvPr id="11" name="Shape 8"/>
          <p:cNvSpPr/>
          <p:nvPr/>
        </p:nvSpPr>
        <p:spPr>
          <a:xfrm>
            <a:off x="2514600" y="3246120"/>
            <a:ext cx="1600200" cy="384048"/>
          </a:xfrm>
          <a:prstGeom prst="roundRect">
            <a:avLst>
              <a:gd name="adj" fmla="val 50000"/>
            </a:avLst>
          </a:prstGeom>
          <a:solidFill>
            <a:srgbClr val="EAF0FD"/>
          </a:solidFill>
          <a:ln w="9525">
            <a:solidFill>
              <a:srgbClr val="2456D6"/>
            </a:solidFill>
            <a:prstDash val="solid"/>
          </a:ln>
        </p:spPr>
      </p:sp>
      <p:sp>
        <p:nvSpPr>
          <p:cNvPr id="12" name="Text 9"/>
          <p:cNvSpPr/>
          <p:nvPr/>
        </p:nvSpPr>
        <p:spPr>
          <a:xfrm>
            <a:off x="2514600" y="3246120"/>
            <a:ext cx="1600200" cy="384048"/>
          </a:xfrm>
          <a:prstGeom prst="rect">
            <a:avLst/>
          </a:prstGeom>
          <a:noFill/>
          <a:ln/>
        </p:spPr>
        <p:txBody>
          <a:bodyPr wrap="square" lIns="0" tIns="0" rIns="0" bIns="0" rtlCol="0" anchor="ctr"/>
          <a:lstStyle/>
          <a:p>
            <a:pPr algn="ctr" indent="0" marL="0">
              <a:buNone/>
            </a:pPr>
            <a:r>
              <a:rPr lang="en-US" sz="1100" b="1" spc="200" kern="0" dirty="0">
                <a:solidFill>
                  <a:srgbClr val="2456D6"/>
                </a:solidFill>
                <a:latin typeface="Arial" pitchFamily="34" charset="0"/>
                <a:ea typeface="Arial" pitchFamily="34" charset="-122"/>
                <a:cs typeface="Arial" pitchFamily="34" charset="-120"/>
              </a:rPr>
              <a:t>TEAM LEAD</a:t>
            </a:r>
            <a:endParaRPr lang="en-US" sz="1100" dirty="0"/>
          </a:p>
        </p:txBody>
      </p:sp>
      <p:sp>
        <p:nvSpPr>
          <p:cNvPr id="13" name="Shape 10"/>
          <p:cNvSpPr/>
          <p:nvPr/>
        </p:nvSpPr>
        <p:spPr>
          <a:xfrm>
            <a:off x="960120" y="4160520"/>
            <a:ext cx="402336" cy="402336"/>
          </a:xfrm>
          <a:prstGeom prst="ellipse">
            <a:avLst/>
          </a:prstGeom>
          <a:solidFill>
            <a:srgbClr val="2456D6"/>
          </a:solidFill>
          <a:ln w="12700">
            <a:solidFill>
              <a:srgbClr val="2456D6"/>
            </a:solidFill>
            <a:prstDash val="solid"/>
          </a:ln>
        </p:spPr>
      </p:sp>
      <p:pic>
        <p:nvPicPr>
          <p:cNvPr id="14" name="Image 0" descr="preencoded.png">    </p:cNvPr>
          <p:cNvPicPr>
            <a:picLocks noChangeAspect="1"/>
          </p:cNvPicPr>
          <p:nvPr/>
        </p:nvPicPr>
        <p:blipFill>
          <a:blip r:embed="rId1"/>
          <a:stretch>
            <a:fillRect/>
          </a:stretch>
        </p:blipFill>
        <p:spPr>
          <a:xfrm>
            <a:off x="1052657" y="4253057"/>
            <a:ext cx="217261" cy="217261"/>
          </a:xfrm>
          <a:prstGeom prst="rect">
            <a:avLst/>
          </a:prstGeom>
        </p:spPr>
      </p:pic>
      <p:sp>
        <p:nvSpPr>
          <p:cNvPr id="15" name="Text 11"/>
          <p:cNvSpPr/>
          <p:nvPr/>
        </p:nvSpPr>
        <p:spPr>
          <a:xfrm>
            <a:off x="1554480" y="4178808"/>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Consulting AI Solution Architect</a:t>
            </a:r>
            <a:endParaRPr lang="en-US" sz="1700" dirty="0"/>
          </a:p>
        </p:txBody>
      </p:sp>
      <p:sp>
        <p:nvSpPr>
          <p:cNvPr id="16" name="Shape 12"/>
          <p:cNvSpPr/>
          <p:nvPr/>
        </p:nvSpPr>
        <p:spPr>
          <a:xfrm>
            <a:off x="960120" y="4727448"/>
            <a:ext cx="402336" cy="402336"/>
          </a:xfrm>
          <a:prstGeom prst="ellipse">
            <a:avLst/>
          </a:prstGeom>
          <a:solidFill>
            <a:srgbClr val="2456D6"/>
          </a:solidFill>
          <a:ln w="12700">
            <a:solidFill>
              <a:srgbClr val="2456D6"/>
            </a:solidFill>
            <a:prstDash val="solid"/>
          </a:ln>
        </p:spPr>
      </p:sp>
      <p:pic>
        <p:nvPicPr>
          <p:cNvPr id="17" name="Image 1" descr="preencoded.png">    </p:cNvPr>
          <p:cNvPicPr>
            <a:picLocks noChangeAspect="1"/>
          </p:cNvPicPr>
          <p:nvPr/>
        </p:nvPicPr>
        <p:blipFill>
          <a:blip r:embed="rId2"/>
          <a:stretch>
            <a:fillRect/>
          </a:stretch>
        </p:blipFill>
        <p:spPr>
          <a:xfrm>
            <a:off x="1052657" y="4819985"/>
            <a:ext cx="217261" cy="217261"/>
          </a:xfrm>
          <a:prstGeom prst="rect">
            <a:avLst/>
          </a:prstGeom>
        </p:spPr>
      </p:pic>
      <p:sp>
        <p:nvSpPr>
          <p:cNvPr id="18" name="Text 13"/>
          <p:cNvSpPr/>
          <p:nvPr/>
        </p:nvSpPr>
        <p:spPr>
          <a:xfrm>
            <a:off x="1554480" y="4745736"/>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IBM  ·  United Airlines</a:t>
            </a:r>
            <a:endParaRPr lang="en-US" sz="1700" dirty="0"/>
          </a:p>
        </p:txBody>
      </p:sp>
      <p:sp>
        <p:nvSpPr>
          <p:cNvPr id="19" name="Shape 14"/>
          <p:cNvSpPr/>
          <p:nvPr/>
        </p:nvSpPr>
        <p:spPr>
          <a:xfrm>
            <a:off x="960120" y="5294376"/>
            <a:ext cx="402336" cy="402336"/>
          </a:xfrm>
          <a:prstGeom prst="ellipse">
            <a:avLst/>
          </a:prstGeom>
          <a:solidFill>
            <a:srgbClr val="2456D6"/>
          </a:solidFill>
          <a:ln w="12700">
            <a:solidFill>
              <a:srgbClr val="2456D6"/>
            </a:solidFill>
            <a:prstDash val="solid"/>
          </a:ln>
        </p:spPr>
      </p:sp>
      <p:pic>
        <p:nvPicPr>
          <p:cNvPr id="20" name="Image 2" descr="preencoded.png">    </p:cNvPr>
          <p:cNvPicPr>
            <a:picLocks noChangeAspect="1"/>
          </p:cNvPicPr>
          <p:nvPr/>
        </p:nvPicPr>
        <p:blipFill>
          <a:blip r:embed="rId3"/>
          <a:stretch>
            <a:fillRect/>
          </a:stretch>
        </p:blipFill>
        <p:spPr>
          <a:xfrm>
            <a:off x="1052657" y="5386913"/>
            <a:ext cx="217261" cy="217261"/>
          </a:xfrm>
          <a:prstGeom prst="rect">
            <a:avLst/>
          </a:prstGeom>
        </p:spPr>
      </p:pic>
      <p:sp>
        <p:nvSpPr>
          <p:cNvPr id="21" name="Text 15"/>
          <p:cNvSpPr/>
          <p:nvPr/>
        </p:nvSpPr>
        <p:spPr>
          <a:xfrm>
            <a:off x="1554480" y="5312664"/>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MTech, Data Science — IIT Bombay</a:t>
            </a:r>
            <a:endParaRPr lang="en-US" sz="1700" dirty="0"/>
          </a:p>
        </p:txBody>
      </p:sp>
      <p:sp>
        <p:nvSpPr>
          <p:cNvPr id="22" name="Shape 16"/>
          <p:cNvSpPr/>
          <p:nvPr/>
        </p:nvSpPr>
        <p:spPr>
          <a:xfrm>
            <a:off x="6278728" y="2103120"/>
            <a:ext cx="5364328" cy="3977640"/>
          </a:xfrm>
          <a:prstGeom prst="roundRect">
            <a:avLst>
              <a:gd name="adj" fmla="val 275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6690208" y="2514600"/>
            <a:ext cx="1325880" cy="1325880"/>
          </a:xfrm>
          <a:prstGeom prst="ellipse">
            <a:avLst/>
          </a:prstGeom>
          <a:solidFill>
            <a:srgbClr val="0F766E"/>
          </a:solidFill>
          <a:ln w="12700">
            <a:solidFill>
              <a:srgbClr val="0F766E"/>
            </a:solidFill>
            <a:prstDash val="solid"/>
          </a:ln>
        </p:spPr>
      </p:sp>
      <p:sp>
        <p:nvSpPr>
          <p:cNvPr id="24" name="Text 18"/>
          <p:cNvSpPr/>
          <p:nvPr/>
        </p:nvSpPr>
        <p:spPr>
          <a:xfrm>
            <a:off x="6690208" y="2514600"/>
            <a:ext cx="1325880" cy="132588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AP</a:t>
            </a:r>
            <a:endParaRPr lang="en-US" sz="4000" dirty="0"/>
          </a:p>
        </p:txBody>
      </p:sp>
      <p:sp>
        <p:nvSpPr>
          <p:cNvPr id="25" name="Text 19"/>
          <p:cNvSpPr/>
          <p:nvPr/>
        </p:nvSpPr>
        <p:spPr>
          <a:xfrm>
            <a:off x="8244688" y="2606040"/>
            <a:ext cx="3124048" cy="548640"/>
          </a:xfrm>
          <a:prstGeom prst="rect">
            <a:avLst/>
          </a:prstGeom>
          <a:noFill/>
          <a:ln/>
        </p:spPr>
        <p:txBody>
          <a:bodyPr wrap="square" lIns="0" tIns="0" rIns="0" bIns="0" rtlCol="0" anchor="t"/>
          <a:lstStyle/>
          <a:p>
            <a:pPr indent="0" marL="0">
              <a:buNone/>
            </a:pPr>
            <a:r>
              <a:rPr lang="en-US" sz="2800" b="1" dirty="0">
                <a:solidFill>
                  <a:srgbClr val="0F1B33"/>
                </a:solidFill>
                <a:latin typeface="Arial" pitchFamily="34" charset="0"/>
                <a:ea typeface="Arial" pitchFamily="34" charset="-122"/>
                <a:cs typeface="Arial" pitchFamily="34" charset="-120"/>
              </a:rPr>
              <a:t>Anuj Patel</a:t>
            </a:r>
            <a:endParaRPr lang="en-US" sz="2800" dirty="0"/>
          </a:p>
        </p:txBody>
      </p:sp>
      <p:sp>
        <p:nvSpPr>
          <p:cNvPr id="26" name="Shape 20"/>
          <p:cNvSpPr/>
          <p:nvPr/>
        </p:nvSpPr>
        <p:spPr>
          <a:xfrm>
            <a:off x="8244688" y="3246120"/>
            <a:ext cx="1600200" cy="384048"/>
          </a:xfrm>
          <a:prstGeom prst="roundRect">
            <a:avLst>
              <a:gd name="adj" fmla="val 50000"/>
            </a:avLst>
          </a:prstGeom>
          <a:solidFill>
            <a:srgbClr val="E3F4F1"/>
          </a:solidFill>
          <a:ln w="9525">
            <a:solidFill>
              <a:srgbClr val="0F766E"/>
            </a:solidFill>
            <a:prstDash val="solid"/>
          </a:ln>
        </p:spPr>
      </p:sp>
      <p:sp>
        <p:nvSpPr>
          <p:cNvPr id="27" name="Text 21"/>
          <p:cNvSpPr/>
          <p:nvPr/>
        </p:nvSpPr>
        <p:spPr>
          <a:xfrm>
            <a:off x="8244688" y="3246120"/>
            <a:ext cx="1600200" cy="384048"/>
          </a:xfrm>
          <a:prstGeom prst="rect">
            <a:avLst/>
          </a:prstGeom>
          <a:noFill/>
          <a:ln/>
        </p:spPr>
        <p:txBody>
          <a:bodyPr wrap="square" lIns="0" tIns="0" rIns="0" bIns="0" rtlCol="0" anchor="ctr"/>
          <a:lstStyle/>
          <a:p>
            <a:pPr algn="ctr" indent="0" marL="0">
              <a:buNone/>
            </a:pPr>
            <a:r>
              <a:rPr lang="en-US" sz="1100" b="1" spc="200" kern="0" dirty="0">
                <a:solidFill>
                  <a:srgbClr val="0F766E"/>
                </a:solidFill>
                <a:latin typeface="Arial" pitchFamily="34" charset="0"/>
                <a:ea typeface="Arial" pitchFamily="34" charset="-122"/>
                <a:cs typeface="Arial" pitchFamily="34" charset="-120"/>
              </a:rPr>
              <a:t>ASSOCIATE</a:t>
            </a:r>
            <a:endParaRPr lang="en-US" sz="1100" dirty="0"/>
          </a:p>
        </p:txBody>
      </p:sp>
      <p:sp>
        <p:nvSpPr>
          <p:cNvPr id="28" name="Shape 22"/>
          <p:cNvSpPr/>
          <p:nvPr/>
        </p:nvSpPr>
        <p:spPr>
          <a:xfrm>
            <a:off x="6690208" y="4160520"/>
            <a:ext cx="402336" cy="402336"/>
          </a:xfrm>
          <a:prstGeom prst="ellipse">
            <a:avLst/>
          </a:prstGeom>
          <a:solidFill>
            <a:srgbClr val="0F766E"/>
          </a:solidFill>
          <a:ln w="12700">
            <a:solidFill>
              <a:srgbClr val="0F766E"/>
            </a:solidFill>
            <a:prstDash val="solid"/>
          </a:ln>
        </p:spPr>
      </p:sp>
      <p:pic>
        <p:nvPicPr>
          <p:cNvPr id="29" name="Image 3" descr="preencoded.png">    </p:cNvPr>
          <p:cNvPicPr>
            <a:picLocks noChangeAspect="1"/>
          </p:cNvPicPr>
          <p:nvPr/>
        </p:nvPicPr>
        <p:blipFill>
          <a:blip r:embed="rId4"/>
          <a:stretch>
            <a:fillRect/>
          </a:stretch>
        </p:blipFill>
        <p:spPr>
          <a:xfrm>
            <a:off x="6782745" y="4253057"/>
            <a:ext cx="217261" cy="217261"/>
          </a:xfrm>
          <a:prstGeom prst="rect">
            <a:avLst/>
          </a:prstGeom>
        </p:spPr>
      </p:pic>
      <p:sp>
        <p:nvSpPr>
          <p:cNvPr id="30" name="Text 23"/>
          <p:cNvSpPr/>
          <p:nvPr/>
        </p:nvSpPr>
        <p:spPr>
          <a:xfrm>
            <a:off x="7284568" y="4178808"/>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Data Scientist</a:t>
            </a:r>
            <a:endParaRPr lang="en-US" sz="1700" dirty="0"/>
          </a:p>
        </p:txBody>
      </p:sp>
      <p:sp>
        <p:nvSpPr>
          <p:cNvPr id="31" name="Shape 24"/>
          <p:cNvSpPr/>
          <p:nvPr/>
        </p:nvSpPr>
        <p:spPr>
          <a:xfrm>
            <a:off x="6690208" y="4727448"/>
            <a:ext cx="402336" cy="402336"/>
          </a:xfrm>
          <a:prstGeom prst="ellipse">
            <a:avLst/>
          </a:prstGeom>
          <a:solidFill>
            <a:srgbClr val="0F766E"/>
          </a:solidFill>
          <a:ln w="12700">
            <a:solidFill>
              <a:srgbClr val="0F766E"/>
            </a:solidFill>
            <a:prstDash val="solid"/>
          </a:ln>
        </p:spPr>
      </p:sp>
      <p:pic>
        <p:nvPicPr>
          <p:cNvPr id="32" name="Image 4" descr="preencoded.png">    </p:cNvPr>
          <p:cNvPicPr>
            <a:picLocks noChangeAspect="1"/>
          </p:cNvPicPr>
          <p:nvPr/>
        </p:nvPicPr>
        <p:blipFill>
          <a:blip r:embed="rId5"/>
          <a:stretch>
            <a:fillRect/>
          </a:stretch>
        </p:blipFill>
        <p:spPr>
          <a:xfrm>
            <a:off x="6782745" y="4819985"/>
            <a:ext cx="217261" cy="217261"/>
          </a:xfrm>
          <a:prstGeom prst="rect">
            <a:avLst/>
          </a:prstGeom>
        </p:spPr>
      </p:pic>
      <p:sp>
        <p:nvSpPr>
          <p:cNvPr id="33" name="Text 25"/>
          <p:cNvSpPr/>
          <p:nvPr/>
        </p:nvSpPr>
        <p:spPr>
          <a:xfrm>
            <a:off x="7284568" y="4745736"/>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Göttingen, Germany</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CHALLENGE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2456D6"/>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The cameras exist. They don’t work together.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03</a:t>
            </a:r>
            <a:endParaRPr lang="en-US" sz="900" dirty="0"/>
          </a:p>
        </p:txBody>
      </p:sp>
      <p:sp>
        <p:nvSpPr>
          <p:cNvPr id="7" name="Shape 4"/>
          <p:cNvSpPr/>
          <p:nvPr/>
        </p:nvSpPr>
        <p:spPr>
          <a:xfrm>
            <a:off x="548640"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777240" y="1892808"/>
            <a:ext cx="512064" cy="512064"/>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895015" y="2010583"/>
            <a:ext cx="276515" cy="276515"/>
          </a:xfrm>
          <a:prstGeom prst="rect">
            <a:avLst/>
          </a:prstGeom>
        </p:spPr>
      </p:pic>
      <p:sp>
        <p:nvSpPr>
          <p:cNvPr id="10" name="Text 6"/>
          <p:cNvSpPr/>
          <p:nvPr/>
        </p:nvSpPr>
        <p:spPr>
          <a:xfrm>
            <a:off x="1444752"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~80,000</a:t>
            </a:r>
            <a:endParaRPr lang="en-US" sz="2600" dirty="0"/>
          </a:p>
        </p:txBody>
      </p:sp>
      <p:sp>
        <p:nvSpPr>
          <p:cNvPr id="11" name="Text 7"/>
          <p:cNvSpPr/>
          <p:nvPr/>
        </p:nvSpPr>
        <p:spPr>
          <a:xfrm>
            <a:off x="1444752"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cameras already installed</a:t>
            </a:r>
            <a:endParaRPr lang="en-US" sz="1200" dirty="0"/>
          </a:p>
        </p:txBody>
      </p:sp>
      <p:sp>
        <p:nvSpPr>
          <p:cNvPr id="12" name="Shape 8"/>
          <p:cNvSpPr/>
          <p:nvPr/>
        </p:nvSpPr>
        <p:spPr>
          <a:xfrm>
            <a:off x="3390824"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3619424" y="1892808"/>
            <a:ext cx="512064" cy="512064"/>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3737199" y="2010583"/>
            <a:ext cx="276515" cy="276515"/>
          </a:xfrm>
          <a:prstGeom prst="rect">
            <a:avLst/>
          </a:prstGeom>
        </p:spPr>
      </p:pic>
      <p:sp>
        <p:nvSpPr>
          <p:cNvPr id="15" name="Text 10"/>
          <p:cNvSpPr/>
          <p:nvPr/>
        </p:nvSpPr>
        <p:spPr>
          <a:xfrm>
            <a:off x="4286936"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26</a:t>
            </a:r>
            <a:endParaRPr lang="en-US" sz="2600" dirty="0"/>
          </a:p>
        </p:txBody>
      </p:sp>
      <p:sp>
        <p:nvSpPr>
          <p:cNvPr id="16" name="Text 11"/>
          <p:cNvSpPr/>
          <p:nvPr/>
        </p:nvSpPr>
        <p:spPr>
          <a:xfrm>
            <a:off x="4286936"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departments, each its own system</a:t>
            </a:r>
            <a:endParaRPr lang="en-US" sz="1200" dirty="0"/>
          </a:p>
        </p:txBody>
      </p:sp>
      <p:sp>
        <p:nvSpPr>
          <p:cNvPr id="17" name="Shape 12"/>
          <p:cNvSpPr/>
          <p:nvPr/>
        </p:nvSpPr>
        <p:spPr>
          <a:xfrm>
            <a:off x="6233008"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6461608" y="1892808"/>
            <a:ext cx="512064" cy="512064"/>
          </a:xfrm>
          <a:prstGeom prst="ellipse">
            <a:avLst/>
          </a:prstGeom>
          <a:solidFill>
            <a:srgbClr val="2456D6"/>
          </a:solidFill>
          <a:ln w="12700">
            <a:solidFill>
              <a:srgbClr val="2456D6"/>
            </a:solidFill>
            <a:prstDash val="solid"/>
          </a:ln>
        </p:spPr>
      </p:sp>
      <p:pic>
        <p:nvPicPr>
          <p:cNvPr id="19" name="Image 2" descr="preencoded.png">    </p:cNvPr>
          <p:cNvPicPr>
            <a:picLocks noChangeAspect="1"/>
          </p:cNvPicPr>
          <p:nvPr/>
        </p:nvPicPr>
        <p:blipFill>
          <a:blip r:embed="rId3"/>
          <a:stretch>
            <a:fillRect/>
          </a:stretch>
        </p:blipFill>
        <p:spPr>
          <a:xfrm>
            <a:off x="6579382" y="2010583"/>
            <a:ext cx="276515" cy="276515"/>
          </a:xfrm>
          <a:prstGeom prst="rect">
            <a:avLst/>
          </a:prstGeom>
        </p:spPr>
      </p:pic>
      <p:sp>
        <p:nvSpPr>
          <p:cNvPr id="20" name="Text 14"/>
          <p:cNvSpPr/>
          <p:nvPr/>
        </p:nvSpPr>
        <p:spPr>
          <a:xfrm>
            <a:off x="7129120"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7–15</a:t>
            </a:r>
            <a:endParaRPr lang="en-US" sz="2600" dirty="0"/>
          </a:p>
        </p:txBody>
      </p:sp>
      <p:sp>
        <p:nvSpPr>
          <p:cNvPr id="21" name="Text 15"/>
          <p:cNvSpPr/>
          <p:nvPr/>
        </p:nvSpPr>
        <p:spPr>
          <a:xfrm>
            <a:off x="7129120"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days before footage is overwritten</a:t>
            </a:r>
            <a:endParaRPr lang="en-US" sz="1200" dirty="0"/>
          </a:p>
        </p:txBody>
      </p:sp>
      <p:sp>
        <p:nvSpPr>
          <p:cNvPr id="22" name="Shape 16"/>
          <p:cNvSpPr/>
          <p:nvPr/>
        </p:nvSpPr>
        <p:spPr>
          <a:xfrm>
            <a:off x="9075191"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9303791" y="1892808"/>
            <a:ext cx="512064" cy="512064"/>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9421566" y="2010583"/>
            <a:ext cx="276515" cy="276515"/>
          </a:xfrm>
          <a:prstGeom prst="rect">
            <a:avLst/>
          </a:prstGeom>
        </p:spPr>
      </p:pic>
      <p:sp>
        <p:nvSpPr>
          <p:cNvPr id="25" name="Text 18"/>
          <p:cNvSpPr/>
          <p:nvPr/>
        </p:nvSpPr>
        <p:spPr>
          <a:xfrm>
            <a:off x="9971303"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~1,000</a:t>
            </a:r>
            <a:endParaRPr lang="en-US" sz="2600" dirty="0"/>
          </a:p>
        </p:txBody>
      </p:sp>
      <p:sp>
        <p:nvSpPr>
          <p:cNvPr id="26" name="Text 19"/>
          <p:cNvSpPr/>
          <p:nvPr/>
        </p:nvSpPr>
        <p:spPr>
          <a:xfrm>
            <a:off x="9971303"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km between the farthest sites</a:t>
            </a:r>
            <a:endParaRPr lang="en-US" sz="1200" dirty="0"/>
          </a:p>
        </p:txBody>
      </p:sp>
      <p:sp>
        <p:nvSpPr>
          <p:cNvPr id="27" name="Shape 20"/>
          <p:cNvSpPr/>
          <p:nvPr/>
        </p:nvSpPr>
        <p:spPr>
          <a:xfrm>
            <a:off x="548640" y="2971800"/>
            <a:ext cx="5074920" cy="3291840"/>
          </a:xfrm>
          <a:prstGeom prst="roundRect">
            <a:avLst>
              <a:gd name="adj" fmla="val 3333"/>
            </a:avLst>
          </a:prstGeom>
          <a:solidFill>
            <a:srgbClr val="F3F5FA"/>
          </a:solidFill>
          <a:ln w="9525">
            <a:solidFill>
              <a:srgbClr val="DDE3EE"/>
            </a:solidFill>
            <a:prstDash val="solid"/>
          </a:ln>
        </p:spPr>
      </p:sp>
      <p:sp>
        <p:nvSpPr>
          <p:cNvPr id="28" name="Shape 21"/>
          <p:cNvSpPr/>
          <p:nvPr/>
        </p:nvSpPr>
        <p:spPr>
          <a:xfrm>
            <a:off x="6568135" y="2971800"/>
            <a:ext cx="5074920" cy="3291840"/>
          </a:xfrm>
          <a:prstGeom prst="roundRect">
            <a:avLst>
              <a:gd name="adj" fmla="val 3333"/>
            </a:avLst>
          </a:prstGeom>
          <a:solidFill>
            <a:srgbClr val="EAF0FD"/>
          </a:solidFill>
          <a:ln w="9525">
            <a:solidFill>
              <a:srgbClr val="C9D7F7"/>
            </a:solidFill>
            <a:prstDash val="solid"/>
          </a:ln>
        </p:spPr>
      </p:sp>
      <p:sp>
        <p:nvSpPr>
          <p:cNvPr id="29" name="Text 22"/>
          <p:cNvSpPr/>
          <p:nvPr/>
        </p:nvSpPr>
        <p:spPr>
          <a:xfrm>
            <a:off x="868680" y="3200400"/>
            <a:ext cx="2743200" cy="365760"/>
          </a:xfrm>
          <a:prstGeom prst="rect">
            <a:avLst/>
          </a:prstGeom>
          <a:noFill/>
          <a:ln/>
        </p:spPr>
        <p:txBody>
          <a:bodyPr wrap="square" lIns="0" tIns="0" rIns="0" bIns="0" rtlCol="0" anchor="t"/>
          <a:lstStyle/>
          <a:p>
            <a:pPr indent="0" marL="0">
              <a:buNone/>
            </a:pPr>
            <a:r>
              <a:rPr lang="en-US" sz="1800" b="1" dirty="0">
                <a:solidFill>
                  <a:srgbClr val="536079"/>
                </a:solidFill>
                <a:latin typeface="Arial" pitchFamily="34" charset="0"/>
                <a:ea typeface="Arial" pitchFamily="34" charset="-122"/>
                <a:cs typeface="Arial" pitchFamily="34" charset="-120"/>
              </a:rPr>
              <a:t>Today</a:t>
            </a:r>
            <a:endParaRPr lang="en-US" sz="1800" dirty="0"/>
          </a:p>
        </p:txBody>
      </p:sp>
      <p:sp>
        <p:nvSpPr>
          <p:cNvPr id="30" name="Text 23"/>
          <p:cNvSpPr/>
          <p:nvPr/>
        </p:nvSpPr>
        <p:spPr>
          <a:xfrm>
            <a:off x="6888175" y="3200400"/>
            <a:ext cx="2743200" cy="365760"/>
          </a:xfrm>
          <a:prstGeom prst="rect">
            <a:avLst/>
          </a:prstGeom>
          <a:noFill/>
          <a:ln/>
        </p:spPr>
        <p:txBody>
          <a:bodyPr wrap="square" lIns="0" tIns="0" rIns="0" bIns="0" rtlCol="0" anchor="t"/>
          <a:lstStyle/>
          <a:p>
            <a:pPr indent="0" marL="0">
              <a:buNone/>
            </a:pPr>
            <a:r>
              <a:rPr lang="en-US" sz="1800" b="1" dirty="0">
                <a:solidFill>
                  <a:srgbClr val="2456D6"/>
                </a:solidFill>
                <a:latin typeface="Arial" pitchFamily="34" charset="0"/>
                <a:ea typeface="Arial" pitchFamily="34" charset="-122"/>
                <a:cs typeface="Arial" pitchFamily="34" charset="-120"/>
              </a:rPr>
              <a:t>With Sentinel</a:t>
            </a:r>
            <a:endParaRPr lang="en-US" sz="1800" dirty="0"/>
          </a:p>
        </p:txBody>
      </p:sp>
      <p:sp>
        <p:nvSpPr>
          <p:cNvPr id="31" name="Shape 24"/>
          <p:cNvSpPr/>
          <p:nvPr/>
        </p:nvSpPr>
        <p:spPr>
          <a:xfrm>
            <a:off x="868680" y="3913632"/>
            <a:ext cx="347472" cy="347472"/>
          </a:xfrm>
          <a:prstGeom prst="ellipse">
            <a:avLst/>
          </a:prstGeom>
          <a:solidFill>
            <a:srgbClr val="B8C0CE"/>
          </a:solidFill>
          <a:ln w="12700">
            <a:solidFill>
              <a:srgbClr val="B8C0CE"/>
            </a:solidFill>
            <a:prstDash val="solid"/>
          </a:ln>
        </p:spPr>
      </p:sp>
      <p:pic>
        <p:nvPicPr>
          <p:cNvPr id="32" name="Image 4" descr="preencoded.png">    </p:cNvPr>
          <p:cNvPicPr>
            <a:picLocks noChangeAspect="1"/>
          </p:cNvPicPr>
          <p:nvPr/>
        </p:nvPicPr>
        <p:blipFill>
          <a:blip r:embed="rId5"/>
          <a:stretch>
            <a:fillRect/>
          </a:stretch>
        </p:blipFill>
        <p:spPr>
          <a:xfrm>
            <a:off x="948599" y="3993551"/>
            <a:ext cx="187635" cy="187635"/>
          </a:xfrm>
          <a:prstGeom prst="rect">
            <a:avLst/>
          </a:prstGeom>
        </p:spPr>
      </p:pic>
      <p:sp>
        <p:nvSpPr>
          <p:cNvPr id="33" name="Text 25"/>
          <p:cNvSpPr/>
          <p:nvPr/>
        </p:nvSpPr>
        <p:spPr>
          <a:xfrm>
            <a:off x="1371600" y="384048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A vehicle is traced by phoning departments, one by one</a:t>
            </a:r>
            <a:endParaRPr lang="en-US" sz="1500" dirty="0"/>
          </a:p>
        </p:txBody>
      </p:sp>
      <p:sp>
        <p:nvSpPr>
          <p:cNvPr id="34" name="Shape 26"/>
          <p:cNvSpPr/>
          <p:nvPr/>
        </p:nvSpPr>
        <p:spPr>
          <a:xfrm>
            <a:off x="6888175" y="3913632"/>
            <a:ext cx="347472" cy="347472"/>
          </a:xfrm>
          <a:prstGeom prst="ellipse">
            <a:avLst/>
          </a:prstGeom>
          <a:solidFill>
            <a:srgbClr val="2456D6"/>
          </a:solidFill>
          <a:ln w="12700">
            <a:solidFill>
              <a:srgbClr val="2456D6"/>
            </a:solidFill>
            <a:prstDash val="solid"/>
          </a:ln>
        </p:spPr>
      </p:sp>
      <p:pic>
        <p:nvPicPr>
          <p:cNvPr id="35" name="Image 5" descr="preencoded.png">    </p:cNvPr>
          <p:cNvPicPr>
            <a:picLocks noChangeAspect="1"/>
          </p:cNvPicPr>
          <p:nvPr/>
        </p:nvPicPr>
        <p:blipFill>
          <a:blip r:embed="rId6"/>
          <a:stretch>
            <a:fillRect/>
          </a:stretch>
        </p:blipFill>
        <p:spPr>
          <a:xfrm>
            <a:off x="6968094" y="3993551"/>
            <a:ext cx="187635" cy="187635"/>
          </a:xfrm>
          <a:prstGeom prst="rect">
            <a:avLst/>
          </a:prstGeom>
        </p:spPr>
      </p:pic>
      <p:sp>
        <p:nvSpPr>
          <p:cNvPr id="36" name="Text 27"/>
          <p:cNvSpPr/>
          <p:nvPr/>
        </p:nvSpPr>
        <p:spPr>
          <a:xfrm>
            <a:off x="7391095" y="384048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One search traces it across every department’s cameras</a:t>
            </a:r>
            <a:endParaRPr lang="en-US" sz="1500" dirty="0"/>
          </a:p>
        </p:txBody>
      </p:sp>
      <p:sp>
        <p:nvSpPr>
          <p:cNvPr id="37" name="Shape 28"/>
          <p:cNvSpPr/>
          <p:nvPr/>
        </p:nvSpPr>
        <p:spPr>
          <a:xfrm>
            <a:off x="868680" y="4690872"/>
            <a:ext cx="347472" cy="347472"/>
          </a:xfrm>
          <a:prstGeom prst="ellipse">
            <a:avLst/>
          </a:prstGeom>
          <a:solidFill>
            <a:srgbClr val="B8C0CE"/>
          </a:solidFill>
          <a:ln w="12700">
            <a:solidFill>
              <a:srgbClr val="B8C0CE"/>
            </a:solidFill>
            <a:prstDash val="solid"/>
          </a:ln>
        </p:spPr>
      </p:sp>
      <p:pic>
        <p:nvPicPr>
          <p:cNvPr id="38" name="Image 6" descr="preencoded.png">    </p:cNvPr>
          <p:cNvPicPr>
            <a:picLocks noChangeAspect="1"/>
          </p:cNvPicPr>
          <p:nvPr/>
        </p:nvPicPr>
        <p:blipFill>
          <a:blip r:embed="rId7"/>
          <a:stretch>
            <a:fillRect/>
          </a:stretch>
        </p:blipFill>
        <p:spPr>
          <a:xfrm>
            <a:off x="948599" y="4770791"/>
            <a:ext cx="187635" cy="187635"/>
          </a:xfrm>
          <a:prstGeom prst="rect">
            <a:avLst/>
          </a:prstGeom>
        </p:spPr>
      </p:pic>
      <p:sp>
        <p:nvSpPr>
          <p:cNvPr id="39" name="Text 29"/>
          <p:cNvSpPr/>
          <p:nvPr/>
        </p:nvSpPr>
        <p:spPr>
          <a:xfrm>
            <a:off x="1371600" y="461772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26 systems, 26 logins, no shared map</a:t>
            </a:r>
            <a:endParaRPr lang="en-US" sz="1500" dirty="0"/>
          </a:p>
        </p:txBody>
      </p:sp>
      <p:sp>
        <p:nvSpPr>
          <p:cNvPr id="40" name="Shape 30"/>
          <p:cNvSpPr/>
          <p:nvPr/>
        </p:nvSpPr>
        <p:spPr>
          <a:xfrm>
            <a:off x="6888175" y="4690872"/>
            <a:ext cx="347472" cy="347472"/>
          </a:xfrm>
          <a:prstGeom prst="ellipse">
            <a:avLst/>
          </a:prstGeom>
          <a:solidFill>
            <a:srgbClr val="2456D6"/>
          </a:solidFill>
          <a:ln w="12700">
            <a:solidFill>
              <a:srgbClr val="2456D6"/>
            </a:solidFill>
            <a:prstDash val="solid"/>
          </a:ln>
        </p:spPr>
      </p:sp>
      <p:pic>
        <p:nvPicPr>
          <p:cNvPr id="41" name="Image 7" descr="preencoded.png">    </p:cNvPr>
          <p:cNvPicPr>
            <a:picLocks noChangeAspect="1"/>
          </p:cNvPicPr>
          <p:nvPr/>
        </p:nvPicPr>
        <p:blipFill>
          <a:blip r:embed="rId8"/>
          <a:stretch>
            <a:fillRect/>
          </a:stretch>
        </p:blipFill>
        <p:spPr>
          <a:xfrm>
            <a:off x="6968094" y="4770791"/>
            <a:ext cx="187635" cy="187635"/>
          </a:xfrm>
          <a:prstGeom prst="rect">
            <a:avLst/>
          </a:prstGeom>
        </p:spPr>
      </p:pic>
      <p:sp>
        <p:nvSpPr>
          <p:cNvPr id="42" name="Text 31"/>
          <p:cNvSpPr/>
          <p:nvPr/>
        </p:nvSpPr>
        <p:spPr>
          <a:xfrm>
            <a:off x="7391095" y="461772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Every camera on one map, behind one login</a:t>
            </a:r>
            <a:endParaRPr lang="en-US" sz="1500" dirty="0"/>
          </a:p>
        </p:txBody>
      </p:sp>
      <p:sp>
        <p:nvSpPr>
          <p:cNvPr id="43" name="Shape 32"/>
          <p:cNvSpPr/>
          <p:nvPr/>
        </p:nvSpPr>
        <p:spPr>
          <a:xfrm>
            <a:off x="868680" y="5468112"/>
            <a:ext cx="347472" cy="347472"/>
          </a:xfrm>
          <a:prstGeom prst="ellipse">
            <a:avLst/>
          </a:prstGeom>
          <a:solidFill>
            <a:srgbClr val="B8C0CE"/>
          </a:solidFill>
          <a:ln w="12700">
            <a:solidFill>
              <a:srgbClr val="B8C0CE"/>
            </a:solidFill>
            <a:prstDash val="solid"/>
          </a:ln>
        </p:spPr>
      </p:sp>
      <p:pic>
        <p:nvPicPr>
          <p:cNvPr id="44" name="Image 8" descr="preencoded.png">    </p:cNvPr>
          <p:cNvPicPr>
            <a:picLocks noChangeAspect="1"/>
          </p:cNvPicPr>
          <p:nvPr/>
        </p:nvPicPr>
        <p:blipFill>
          <a:blip r:embed="rId9"/>
          <a:stretch>
            <a:fillRect/>
          </a:stretch>
        </p:blipFill>
        <p:spPr>
          <a:xfrm>
            <a:off x="948599" y="5548031"/>
            <a:ext cx="187635" cy="187635"/>
          </a:xfrm>
          <a:prstGeom prst="rect">
            <a:avLst/>
          </a:prstGeom>
        </p:spPr>
      </p:pic>
      <p:sp>
        <p:nvSpPr>
          <p:cNvPr id="45" name="Text 33"/>
          <p:cNvSpPr/>
          <p:nvPr/>
        </p:nvSpPr>
        <p:spPr>
          <a:xfrm>
            <a:off x="1371600" y="539496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Footage is overwritten before anyone asks for it</a:t>
            </a:r>
            <a:endParaRPr lang="en-US" sz="1500" dirty="0"/>
          </a:p>
        </p:txBody>
      </p:sp>
      <p:sp>
        <p:nvSpPr>
          <p:cNvPr id="46" name="Shape 34"/>
          <p:cNvSpPr/>
          <p:nvPr/>
        </p:nvSpPr>
        <p:spPr>
          <a:xfrm>
            <a:off x="6888175" y="5468112"/>
            <a:ext cx="347472" cy="347472"/>
          </a:xfrm>
          <a:prstGeom prst="ellipse">
            <a:avLst/>
          </a:prstGeom>
          <a:solidFill>
            <a:srgbClr val="2456D6"/>
          </a:solidFill>
          <a:ln w="12700">
            <a:solidFill>
              <a:srgbClr val="2456D6"/>
            </a:solidFill>
            <a:prstDash val="solid"/>
          </a:ln>
        </p:spPr>
      </p:sp>
      <p:pic>
        <p:nvPicPr>
          <p:cNvPr id="47" name="Image 9" descr="preencoded.png">    </p:cNvPr>
          <p:cNvPicPr>
            <a:picLocks noChangeAspect="1"/>
          </p:cNvPicPr>
          <p:nvPr/>
        </p:nvPicPr>
        <p:blipFill>
          <a:blip r:embed="rId10"/>
          <a:stretch>
            <a:fillRect/>
          </a:stretch>
        </p:blipFill>
        <p:spPr>
          <a:xfrm>
            <a:off x="6968094" y="5548031"/>
            <a:ext cx="187635" cy="187635"/>
          </a:xfrm>
          <a:prstGeom prst="rect">
            <a:avLst/>
          </a:prstGeom>
        </p:spPr>
      </p:pic>
      <p:sp>
        <p:nvSpPr>
          <p:cNvPr id="48" name="Text 35"/>
          <p:cNvSpPr/>
          <p:nvPr/>
        </p:nvSpPr>
        <p:spPr>
          <a:xfrm>
            <a:off x="7391095" y="539496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Each sighting is kept, with its frame as evidence</a:t>
            </a:r>
            <a:endParaRPr lang="en-US" sz="1500" dirty="0"/>
          </a:p>
        </p:txBody>
      </p:sp>
      <p:sp>
        <p:nvSpPr>
          <p:cNvPr id="49" name="Shape 36"/>
          <p:cNvSpPr/>
          <p:nvPr/>
        </p:nvSpPr>
        <p:spPr>
          <a:xfrm>
            <a:off x="5821528" y="4343400"/>
            <a:ext cx="548640" cy="548640"/>
          </a:xfrm>
          <a:prstGeom prst="ellipse">
            <a:avLst/>
          </a:prstGeom>
          <a:solidFill>
            <a:srgbClr val="D97706"/>
          </a:solidFill>
          <a:ln w="12700">
            <a:solidFill>
              <a:srgbClr val="D97706"/>
            </a:solidFill>
            <a:prstDash val="solid"/>
          </a:ln>
        </p:spPr>
      </p:sp>
      <p:pic>
        <p:nvPicPr>
          <p:cNvPr id="50" name="Image 10" descr="preencoded.png">    </p:cNvPr>
          <p:cNvPicPr>
            <a:picLocks noChangeAspect="1"/>
          </p:cNvPicPr>
          <p:nvPr/>
        </p:nvPicPr>
        <p:blipFill>
          <a:blip r:embed="rId11"/>
          <a:stretch>
            <a:fillRect/>
          </a:stretch>
        </p:blipFill>
        <p:spPr>
          <a:xfrm>
            <a:off x="5947715" y="4469587"/>
            <a:ext cx="296266" cy="29626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PLATFORM</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One platform, three jobs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04</a:t>
            </a:r>
            <a:endParaRPr lang="en-US" sz="900" dirty="0"/>
          </a:p>
        </p:txBody>
      </p:sp>
      <p:sp>
        <p:nvSpPr>
          <p:cNvPr id="7" name="Shape 4"/>
          <p:cNvSpPr/>
          <p:nvPr/>
        </p:nvSpPr>
        <p:spPr>
          <a:xfrm>
            <a:off x="548640"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914400" y="2011680"/>
            <a:ext cx="777240" cy="7772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1093165" y="2190445"/>
            <a:ext cx="419710" cy="419710"/>
          </a:xfrm>
          <a:prstGeom prst="rect">
            <a:avLst/>
          </a:prstGeom>
        </p:spPr>
      </p:pic>
      <p:sp>
        <p:nvSpPr>
          <p:cNvPr id="10" name="Text 6"/>
          <p:cNvSpPr/>
          <p:nvPr/>
        </p:nvSpPr>
        <p:spPr>
          <a:xfrm>
            <a:off x="914400"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See</a:t>
            </a:r>
            <a:endParaRPr lang="en-US" sz="3000" dirty="0"/>
          </a:p>
        </p:txBody>
      </p:sp>
      <p:sp>
        <p:nvSpPr>
          <p:cNvPr id="11" name="Text 7"/>
          <p:cNvSpPr/>
          <p:nvPr/>
        </p:nvSpPr>
        <p:spPr>
          <a:xfrm>
            <a:off x="914400"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Every camera, from every department, on one map and one live wall — with its health at a glance.</a:t>
            </a:r>
            <a:endParaRPr lang="en-US" sz="1500" dirty="0"/>
          </a:p>
        </p:txBody>
      </p:sp>
      <p:sp>
        <p:nvSpPr>
          <p:cNvPr id="12" name="Text 8"/>
          <p:cNvSpPr/>
          <p:nvPr/>
        </p:nvSpPr>
        <p:spPr>
          <a:xfrm>
            <a:off x="914400"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control rooms</a:t>
            </a:r>
            <a:endParaRPr lang="en-US" sz="1200" dirty="0"/>
          </a:p>
        </p:txBody>
      </p:sp>
      <p:sp>
        <p:nvSpPr>
          <p:cNvPr id="13" name="Shape 9"/>
          <p:cNvSpPr/>
          <p:nvPr/>
        </p:nvSpPr>
        <p:spPr>
          <a:xfrm>
            <a:off x="4353458"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4" name="Shape 10"/>
          <p:cNvSpPr/>
          <p:nvPr/>
        </p:nvSpPr>
        <p:spPr>
          <a:xfrm>
            <a:off x="4719218" y="2011680"/>
            <a:ext cx="777240" cy="777240"/>
          </a:xfrm>
          <a:prstGeom prst="ellipse">
            <a:avLst/>
          </a:prstGeom>
          <a:solidFill>
            <a:srgbClr val="2456D6"/>
          </a:solidFill>
          <a:ln w="12700">
            <a:solidFill>
              <a:srgbClr val="2456D6"/>
            </a:solidFill>
            <a:prstDash val="solid"/>
          </a:ln>
        </p:spPr>
      </p:sp>
      <p:pic>
        <p:nvPicPr>
          <p:cNvPr id="15" name="Image 1" descr="preencoded.png">    </p:cNvPr>
          <p:cNvPicPr>
            <a:picLocks noChangeAspect="1"/>
          </p:cNvPicPr>
          <p:nvPr/>
        </p:nvPicPr>
        <p:blipFill>
          <a:blip r:embed="rId2"/>
          <a:stretch>
            <a:fillRect/>
          </a:stretch>
        </p:blipFill>
        <p:spPr>
          <a:xfrm>
            <a:off x="4897984" y="2190445"/>
            <a:ext cx="419710" cy="419710"/>
          </a:xfrm>
          <a:prstGeom prst="rect">
            <a:avLst/>
          </a:prstGeom>
        </p:spPr>
      </p:pic>
      <p:sp>
        <p:nvSpPr>
          <p:cNvPr id="16" name="Text 11"/>
          <p:cNvSpPr/>
          <p:nvPr/>
        </p:nvSpPr>
        <p:spPr>
          <a:xfrm>
            <a:off x="4719218"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Find</a:t>
            </a:r>
            <a:endParaRPr lang="en-US" sz="3000" dirty="0"/>
          </a:p>
        </p:txBody>
      </p:sp>
      <p:sp>
        <p:nvSpPr>
          <p:cNvPr id="17" name="Text 12"/>
          <p:cNvSpPr/>
          <p:nvPr/>
        </p:nvSpPr>
        <p:spPr>
          <a:xfrm>
            <a:off x="4719218"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Any vehicle by its registration number: its route, the evidence at every stop, and a signed report.</a:t>
            </a:r>
            <a:endParaRPr lang="en-US" sz="1500" dirty="0"/>
          </a:p>
        </p:txBody>
      </p:sp>
      <p:sp>
        <p:nvSpPr>
          <p:cNvPr id="18" name="Text 13"/>
          <p:cNvSpPr/>
          <p:nvPr/>
        </p:nvSpPr>
        <p:spPr>
          <a:xfrm>
            <a:off x="4719218"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investigators</a:t>
            </a:r>
            <a:endParaRPr lang="en-US" sz="1200" dirty="0"/>
          </a:p>
        </p:txBody>
      </p:sp>
      <p:sp>
        <p:nvSpPr>
          <p:cNvPr id="19" name="Shape 14"/>
          <p:cNvSpPr/>
          <p:nvPr/>
        </p:nvSpPr>
        <p:spPr>
          <a:xfrm>
            <a:off x="8158277"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5"/>
          <p:cNvSpPr/>
          <p:nvPr/>
        </p:nvSpPr>
        <p:spPr>
          <a:xfrm>
            <a:off x="8524037" y="2011680"/>
            <a:ext cx="777240" cy="777240"/>
          </a:xfrm>
          <a:prstGeom prst="ellipse">
            <a:avLst/>
          </a:prstGeom>
          <a:solidFill>
            <a:srgbClr val="D97706"/>
          </a:solidFill>
          <a:ln w="12700">
            <a:solidFill>
              <a:srgbClr val="D97706"/>
            </a:solidFill>
            <a:prstDash val="solid"/>
          </a:ln>
        </p:spPr>
      </p:sp>
      <p:pic>
        <p:nvPicPr>
          <p:cNvPr id="21" name="Image 2" descr="preencoded.png">    </p:cNvPr>
          <p:cNvPicPr>
            <a:picLocks noChangeAspect="1"/>
          </p:cNvPicPr>
          <p:nvPr/>
        </p:nvPicPr>
        <p:blipFill>
          <a:blip r:embed="rId3"/>
          <a:stretch>
            <a:fillRect/>
          </a:stretch>
        </p:blipFill>
        <p:spPr>
          <a:xfrm>
            <a:off x="8702802" y="2190445"/>
            <a:ext cx="419710" cy="419710"/>
          </a:xfrm>
          <a:prstGeom prst="rect">
            <a:avLst/>
          </a:prstGeom>
        </p:spPr>
      </p:pic>
      <p:sp>
        <p:nvSpPr>
          <p:cNvPr id="22" name="Text 16"/>
          <p:cNvSpPr/>
          <p:nvPr/>
        </p:nvSpPr>
        <p:spPr>
          <a:xfrm>
            <a:off x="8524037"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Alert</a:t>
            </a:r>
            <a:endParaRPr lang="en-US" sz="3000" dirty="0"/>
          </a:p>
        </p:txBody>
      </p:sp>
      <p:sp>
        <p:nvSpPr>
          <p:cNvPr id="23" name="Text 17"/>
          <p:cNvSpPr/>
          <p:nvPr/>
        </p:nvSpPr>
        <p:spPr>
          <a:xfrm>
            <a:off x="8524037"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Stolen, wanted and missing vehicles flagged the moment any camera reads them — on every console and phone.</a:t>
            </a:r>
            <a:endParaRPr lang="en-US" sz="1500" dirty="0"/>
          </a:p>
        </p:txBody>
      </p:sp>
      <p:sp>
        <p:nvSpPr>
          <p:cNvPr id="24" name="Text 18"/>
          <p:cNvSpPr/>
          <p:nvPr/>
        </p:nvSpPr>
        <p:spPr>
          <a:xfrm>
            <a:off x="8524037"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patrol and command</a:t>
            </a:r>
            <a:endParaRPr lang="en-US" sz="1200" dirty="0"/>
          </a:p>
        </p:txBody>
      </p:sp>
      <p:sp>
        <p:nvSpPr>
          <p:cNvPr id="25" name="Shape 19"/>
          <p:cNvSpPr/>
          <p:nvPr/>
        </p:nvSpPr>
        <p:spPr>
          <a:xfrm>
            <a:off x="548640" y="5669280"/>
            <a:ext cx="420624" cy="420624"/>
          </a:xfrm>
          <a:prstGeom prst="ellipse">
            <a:avLst/>
          </a:prstGeom>
          <a:solidFill>
            <a:srgbClr val="0F766E"/>
          </a:solidFill>
          <a:ln w="12700">
            <a:solidFill>
              <a:srgbClr val="0F766E"/>
            </a:solidFill>
            <a:prstDash val="solid"/>
          </a:ln>
        </p:spPr>
      </p:sp>
      <p:pic>
        <p:nvPicPr>
          <p:cNvPr id="26" name="Image 3" descr="preencoded.png">    </p:cNvPr>
          <p:cNvPicPr>
            <a:picLocks noChangeAspect="1"/>
          </p:cNvPicPr>
          <p:nvPr/>
        </p:nvPicPr>
        <p:blipFill>
          <a:blip r:embed="rId4"/>
          <a:stretch>
            <a:fillRect/>
          </a:stretch>
        </p:blipFill>
        <p:spPr>
          <a:xfrm>
            <a:off x="645384" y="5766024"/>
            <a:ext cx="227137" cy="227137"/>
          </a:xfrm>
          <a:prstGeom prst="rect">
            <a:avLst/>
          </a:prstGeom>
        </p:spPr>
      </p:pic>
      <p:sp>
        <p:nvSpPr>
          <p:cNvPr id="27" name="Text 20"/>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Plus people counting, zone intrusion and camera-tamper alerts — in English, Hindi and Gujarati.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3" name="Text 1"/>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LIVE DEMONSTRATION</a:t>
            </a:r>
            <a:endParaRPr lang="en-US" sz="1300" dirty="0"/>
          </a:p>
        </p:txBody>
      </p:sp>
      <p:sp>
        <p:nvSpPr>
          <p:cNvPr id="4" name="Text 2"/>
          <p:cNvSpPr/>
          <p:nvPr/>
        </p:nvSpPr>
        <p:spPr>
          <a:xfrm>
            <a:off x="548640" y="1188720"/>
            <a:ext cx="11094415" cy="822960"/>
          </a:xfrm>
          <a:prstGeom prst="rect">
            <a:avLst/>
          </a:prstGeom>
          <a:noFill/>
          <a:ln/>
        </p:spPr>
        <p:txBody>
          <a:bodyPr wrap="square" lIns="0" tIns="0" rIns="0" bIns="0" rtlCol="0" anchor="t"/>
          <a:lstStyle/>
          <a:p>
            <a:pPr indent="0" marL="0">
              <a:buNone/>
            </a:pPr>
            <a:r>
              <a:rPr lang="en-US" sz="4000" b="1" dirty="0">
                <a:solidFill>
                  <a:srgbClr val="0F1B33"/>
                </a:solidFill>
                <a:latin typeface="Arial" pitchFamily="34" charset="0"/>
                <a:ea typeface="Arial" pitchFamily="34" charset="-122"/>
                <a:cs typeface="Arial" pitchFamily="34" charset="-120"/>
              </a:rPr>
              <a:t>On today’s cameras, in front of you</a:t>
            </a:r>
            <a:endParaRPr lang="en-US" sz="4000" dirty="0"/>
          </a:p>
        </p:txBody>
      </p:sp>
      <p:sp>
        <p:nvSpPr>
          <p:cNvPr id="5" name="Shape 3"/>
          <p:cNvSpPr/>
          <p:nvPr/>
        </p:nvSpPr>
        <p:spPr>
          <a:xfrm>
            <a:off x="548640"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6" name="Text 4"/>
          <p:cNvSpPr/>
          <p:nvPr/>
        </p:nvSpPr>
        <p:spPr>
          <a:xfrm>
            <a:off x="868680"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1</a:t>
            </a:r>
            <a:endParaRPr lang="en-US" sz="6400" dirty="0"/>
          </a:p>
        </p:txBody>
      </p:sp>
      <p:sp>
        <p:nvSpPr>
          <p:cNvPr id="7" name="Shape 5"/>
          <p:cNvSpPr/>
          <p:nvPr/>
        </p:nvSpPr>
        <p:spPr>
          <a:xfrm>
            <a:off x="3042818" y="2880360"/>
            <a:ext cx="640080" cy="640080"/>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3190037" y="3027578"/>
            <a:ext cx="345643" cy="345643"/>
          </a:xfrm>
          <a:prstGeom prst="rect">
            <a:avLst/>
          </a:prstGeom>
        </p:spPr>
      </p:pic>
      <p:sp>
        <p:nvSpPr>
          <p:cNvPr id="9" name="Text 6"/>
          <p:cNvSpPr/>
          <p:nvPr/>
        </p:nvSpPr>
        <p:spPr>
          <a:xfrm>
            <a:off x="868680"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Connect and see</a:t>
            </a:r>
            <a:endParaRPr lang="en-US" sz="2000" dirty="0"/>
          </a:p>
        </p:txBody>
      </p:sp>
      <p:sp>
        <p:nvSpPr>
          <p:cNvPr id="10" name="Text 7"/>
          <p:cNvSpPr/>
          <p:nvPr/>
        </p:nvSpPr>
        <p:spPr>
          <a:xfrm>
            <a:off x="868680"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Today’s cameras on the map and the live wall, with their health.</a:t>
            </a:r>
            <a:endParaRPr lang="en-US" sz="1500" dirty="0"/>
          </a:p>
        </p:txBody>
      </p:sp>
      <p:sp>
        <p:nvSpPr>
          <p:cNvPr id="11" name="Shape 8"/>
          <p:cNvSpPr/>
          <p:nvPr/>
        </p:nvSpPr>
        <p:spPr>
          <a:xfrm>
            <a:off x="4368698"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4688738"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2</a:t>
            </a:r>
            <a:endParaRPr lang="en-US" sz="6400" dirty="0"/>
          </a:p>
        </p:txBody>
      </p:sp>
      <p:sp>
        <p:nvSpPr>
          <p:cNvPr id="13" name="Shape 10"/>
          <p:cNvSpPr/>
          <p:nvPr/>
        </p:nvSpPr>
        <p:spPr>
          <a:xfrm>
            <a:off x="6862877" y="2880360"/>
            <a:ext cx="640080" cy="64008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7010095" y="3027578"/>
            <a:ext cx="345643" cy="345643"/>
          </a:xfrm>
          <a:prstGeom prst="rect">
            <a:avLst/>
          </a:prstGeom>
        </p:spPr>
      </p:pic>
      <p:sp>
        <p:nvSpPr>
          <p:cNvPr id="15" name="Text 11"/>
          <p:cNvSpPr/>
          <p:nvPr/>
        </p:nvSpPr>
        <p:spPr>
          <a:xfrm>
            <a:off x="4688738"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Trace the vehicle</a:t>
            </a:r>
            <a:endParaRPr lang="en-US" sz="2000" dirty="0"/>
          </a:p>
        </p:txBody>
      </p:sp>
      <p:sp>
        <p:nvSpPr>
          <p:cNvPr id="16" name="Text 12"/>
          <p:cNvSpPr/>
          <p:nvPr/>
        </p:nvSpPr>
        <p:spPr>
          <a:xfrm>
            <a:off x="4688738"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The registration number you give us, traced camera by camera, with a report to hand over.</a:t>
            </a:r>
            <a:endParaRPr lang="en-US" sz="1500" dirty="0"/>
          </a:p>
        </p:txBody>
      </p:sp>
      <p:sp>
        <p:nvSpPr>
          <p:cNvPr id="17" name="Shape 13"/>
          <p:cNvSpPr/>
          <p:nvPr/>
        </p:nvSpPr>
        <p:spPr>
          <a:xfrm>
            <a:off x="8188757"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4"/>
          <p:cNvSpPr/>
          <p:nvPr/>
        </p:nvSpPr>
        <p:spPr>
          <a:xfrm>
            <a:off x="8508797"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3</a:t>
            </a:r>
            <a:endParaRPr lang="en-US" sz="6400" dirty="0"/>
          </a:p>
        </p:txBody>
      </p:sp>
      <p:sp>
        <p:nvSpPr>
          <p:cNvPr id="19" name="Shape 15"/>
          <p:cNvSpPr/>
          <p:nvPr/>
        </p:nvSpPr>
        <p:spPr>
          <a:xfrm>
            <a:off x="10682935" y="2880360"/>
            <a:ext cx="640080" cy="640080"/>
          </a:xfrm>
          <a:prstGeom prst="ellipse">
            <a:avLst/>
          </a:prstGeom>
          <a:solidFill>
            <a:srgbClr val="2456D6"/>
          </a:solidFill>
          <a:ln w="12700">
            <a:solidFill>
              <a:srgbClr val="2456D6"/>
            </a:solidFill>
            <a:prstDash val="solid"/>
          </a:ln>
        </p:spPr>
      </p:sp>
      <p:pic>
        <p:nvPicPr>
          <p:cNvPr id="20" name="Image 2" descr="preencoded.png">    </p:cNvPr>
          <p:cNvPicPr>
            <a:picLocks noChangeAspect="1"/>
          </p:cNvPicPr>
          <p:nvPr/>
        </p:nvPicPr>
        <p:blipFill>
          <a:blip r:embed="rId3"/>
          <a:stretch>
            <a:fillRect/>
          </a:stretch>
        </p:blipFill>
        <p:spPr>
          <a:xfrm>
            <a:off x="10830154" y="3027578"/>
            <a:ext cx="345643" cy="345643"/>
          </a:xfrm>
          <a:prstGeom prst="rect">
            <a:avLst/>
          </a:prstGeom>
        </p:spPr>
      </p:pic>
      <p:sp>
        <p:nvSpPr>
          <p:cNvPr id="21" name="Text 16"/>
          <p:cNvSpPr/>
          <p:nvPr/>
        </p:nvSpPr>
        <p:spPr>
          <a:xfrm>
            <a:off x="8508797"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Get alerted</a:t>
            </a:r>
            <a:endParaRPr lang="en-US" sz="2000" dirty="0"/>
          </a:p>
        </p:txBody>
      </p:sp>
      <p:sp>
        <p:nvSpPr>
          <p:cNvPr id="22" name="Text 17"/>
          <p:cNvSpPr/>
          <p:nvPr/>
        </p:nvSpPr>
        <p:spPr>
          <a:xfrm>
            <a:off x="8508797"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 watchlist vehicle flagged on every open screen the moment it is read.</a:t>
            </a:r>
            <a:endParaRPr lang="en-US" sz="1500" dirty="0"/>
          </a:p>
        </p:txBody>
      </p:sp>
      <p:sp>
        <p:nvSpPr>
          <p:cNvPr id="23" name="Text 18"/>
          <p:cNvSpPr/>
          <p:nvPr/>
        </p:nvSpPr>
        <p:spPr>
          <a:xfrm>
            <a:off x="548640" y="5943600"/>
            <a:ext cx="11094415" cy="365760"/>
          </a:xfrm>
          <a:prstGeom prst="rect">
            <a:avLst/>
          </a:prstGeom>
          <a:noFill/>
          <a:ln/>
        </p:spPr>
        <p:txBody>
          <a:bodyPr wrap="square" lIns="0" tIns="0" rIns="0" bIns="0" rtlCol="0" anchor="t"/>
          <a:lstStyle/>
          <a:p>
            <a:pPr indent="0" marL="0">
              <a:buNone/>
            </a:pPr>
            <a:r>
              <a:rPr lang="en-US" sz="1300" i="1" dirty="0">
                <a:solidFill>
                  <a:srgbClr val="536079"/>
                </a:solidFill>
                <a:latin typeface="Calibri" pitchFamily="34" charset="0"/>
                <a:ea typeface="Calibri" pitchFamily="34" charset="-122"/>
                <a:cs typeface="Calibri" pitchFamily="34" charset="-120"/>
              </a:rPr>
              <a:t>If the venue network fails, we say which fallback we are on: our own cameras, then a recorded copy of the government grid. Screens of each step are in Appendix A2–A4.</a:t>
            </a:r>
            <a:endParaRPr lang="en-US" sz="1300" dirty="0"/>
          </a:p>
        </p:txBody>
      </p:sp>
      <p:sp>
        <p:nvSpPr>
          <p:cNvPr id="24" name="Text 19"/>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EVIDENCE AND PRIVACY</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Evidence that holds up. Privacy by default.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06</a:t>
            </a:r>
            <a:endParaRPr lang="en-US" sz="900" dirty="0"/>
          </a:p>
        </p:txBody>
      </p:sp>
      <p:sp>
        <p:nvSpPr>
          <p:cNvPr id="7" name="Shape 4"/>
          <p:cNvSpPr/>
          <p:nvPr/>
        </p:nvSpPr>
        <p:spPr>
          <a:xfrm>
            <a:off x="6839712" y="1673352"/>
            <a:ext cx="4821631" cy="3318447"/>
          </a:xfrm>
          <a:prstGeom prst="roundRect">
            <a:avLst>
              <a:gd name="adj" fmla="val 2756"/>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903720" y="1737360"/>
            <a:ext cx="4693615" cy="3190431"/>
          </a:xfrm>
          <a:prstGeom prst="rect">
            <a:avLst/>
          </a:prstGeom>
        </p:spPr>
      </p:pic>
      <p:sp>
        <p:nvSpPr>
          <p:cNvPr id="9" name="Shape 5"/>
          <p:cNvSpPr/>
          <p:nvPr/>
        </p:nvSpPr>
        <p:spPr>
          <a:xfrm>
            <a:off x="548640" y="1783080"/>
            <a:ext cx="512064" cy="512064"/>
          </a:xfrm>
          <a:prstGeom prst="ellipse">
            <a:avLst/>
          </a:prstGeom>
          <a:solidFill>
            <a:srgbClr val="D97706"/>
          </a:solidFill>
          <a:ln w="12700">
            <a:solidFill>
              <a:srgbClr val="D97706"/>
            </a:solidFill>
            <a:prstDash val="solid"/>
          </a:ln>
        </p:spPr>
      </p:sp>
      <p:pic>
        <p:nvPicPr>
          <p:cNvPr id="10" name="Image 1" descr="preencoded.png">    </p:cNvPr>
          <p:cNvPicPr>
            <a:picLocks noChangeAspect="1"/>
          </p:cNvPicPr>
          <p:nvPr/>
        </p:nvPicPr>
        <p:blipFill>
          <a:blip r:embed="rId2"/>
          <a:stretch>
            <a:fillRect/>
          </a:stretch>
        </p:blipFill>
        <p:spPr>
          <a:xfrm>
            <a:off x="666415" y="1900855"/>
            <a:ext cx="276515" cy="276515"/>
          </a:xfrm>
          <a:prstGeom prst="rect">
            <a:avLst/>
          </a:prstGeom>
        </p:spPr>
      </p:pic>
      <p:sp>
        <p:nvSpPr>
          <p:cNvPr id="11" name="Text 6"/>
          <p:cNvSpPr/>
          <p:nvPr/>
        </p:nvSpPr>
        <p:spPr>
          <a:xfrm>
            <a:off x="1261872" y="1764792"/>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time on the frame is the time in the report</a:t>
            </a:r>
            <a:endParaRPr lang="en-US" sz="1500" dirty="0"/>
          </a:p>
        </p:txBody>
      </p:sp>
      <p:sp>
        <p:nvSpPr>
          <p:cNvPr id="12" name="Text 7"/>
          <p:cNvSpPr/>
          <p:nvPr/>
        </p:nvSpPr>
        <p:spPr>
          <a:xfrm>
            <a:off x="1261872" y="2084832"/>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 from the camera’s own clock. If it cannot be read, we say “time unknown” — never a guess.</a:t>
            </a:r>
            <a:endParaRPr lang="en-US" sz="1300" dirty="0"/>
          </a:p>
        </p:txBody>
      </p:sp>
      <p:sp>
        <p:nvSpPr>
          <p:cNvPr id="13" name="Shape 8"/>
          <p:cNvSpPr/>
          <p:nvPr/>
        </p:nvSpPr>
        <p:spPr>
          <a:xfrm>
            <a:off x="548640" y="2862072"/>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666415" y="2979847"/>
            <a:ext cx="276515" cy="276515"/>
          </a:xfrm>
          <a:prstGeom prst="rect">
            <a:avLst/>
          </a:prstGeom>
        </p:spPr>
      </p:pic>
      <p:sp>
        <p:nvSpPr>
          <p:cNvPr id="15" name="Text 9"/>
          <p:cNvSpPr/>
          <p:nvPr/>
        </p:nvSpPr>
        <p:spPr>
          <a:xfrm>
            <a:off x="1261872" y="2843784"/>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Faces blurred by default</a:t>
            </a:r>
            <a:endParaRPr lang="en-US" sz="1500" dirty="0"/>
          </a:p>
        </p:txBody>
      </p:sp>
      <p:sp>
        <p:nvSpPr>
          <p:cNvPr id="16" name="Text 10"/>
          <p:cNvSpPr/>
          <p:nvPr/>
        </p:nvSpPr>
        <p:spPr>
          <a:xfrm>
            <a:off x="1261872" y="3163824"/>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Seeing an original needs a stated reason, and is recorded.</a:t>
            </a:r>
            <a:endParaRPr lang="en-US" sz="1300" dirty="0"/>
          </a:p>
        </p:txBody>
      </p:sp>
      <p:sp>
        <p:nvSpPr>
          <p:cNvPr id="17" name="Shape 11"/>
          <p:cNvSpPr/>
          <p:nvPr/>
        </p:nvSpPr>
        <p:spPr>
          <a:xfrm>
            <a:off x="548640" y="3941064"/>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666415" y="4058839"/>
            <a:ext cx="276515" cy="276515"/>
          </a:xfrm>
          <a:prstGeom prst="rect">
            <a:avLst/>
          </a:prstGeom>
        </p:spPr>
      </p:pic>
      <p:sp>
        <p:nvSpPr>
          <p:cNvPr id="19" name="Text 12"/>
          <p:cNvSpPr/>
          <p:nvPr/>
        </p:nvSpPr>
        <p:spPr>
          <a:xfrm>
            <a:off x="1261872" y="3922776"/>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chain of custody no one can quietly edit</a:t>
            </a:r>
            <a:endParaRPr lang="en-US" sz="1500" dirty="0"/>
          </a:p>
        </p:txBody>
      </p:sp>
      <p:sp>
        <p:nvSpPr>
          <p:cNvPr id="20" name="Text 13"/>
          <p:cNvSpPr/>
          <p:nvPr/>
        </p:nvSpPr>
        <p:spPr>
          <a:xfrm>
            <a:off x="1261872" y="4242816"/>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search, export and reveal is logged and hash-chained; reports carry a SHA-256 manifest.</a:t>
            </a:r>
            <a:endParaRPr lang="en-US" sz="1300" dirty="0"/>
          </a:p>
        </p:txBody>
      </p:sp>
      <p:sp>
        <p:nvSpPr>
          <p:cNvPr id="21" name="Shape 14"/>
          <p:cNvSpPr/>
          <p:nvPr/>
        </p:nvSpPr>
        <p:spPr>
          <a:xfrm>
            <a:off x="548640" y="5020056"/>
            <a:ext cx="512064" cy="512064"/>
          </a:xfrm>
          <a:prstGeom prst="ellipse">
            <a:avLst/>
          </a:prstGeom>
          <a:solidFill>
            <a:srgbClr val="2456D6"/>
          </a:solidFill>
          <a:ln w="12700">
            <a:solidFill>
              <a:srgbClr val="2456D6"/>
            </a:solidFill>
            <a:prstDash val="solid"/>
          </a:ln>
        </p:spPr>
      </p:sp>
      <p:pic>
        <p:nvPicPr>
          <p:cNvPr id="22" name="Image 4" descr="preencoded.png">    </p:cNvPr>
          <p:cNvPicPr>
            <a:picLocks noChangeAspect="1"/>
          </p:cNvPicPr>
          <p:nvPr/>
        </p:nvPicPr>
        <p:blipFill>
          <a:blip r:embed="rId5"/>
          <a:stretch>
            <a:fillRect/>
          </a:stretch>
        </p:blipFill>
        <p:spPr>
          <a:xfrm>
            <a:off x="666415" y="5137831"/>
            <a:ext cx="276515" cy="276515"/>
          </a:xfrm>
          <a:prstGeom prst="rect">
            <a:avLst/>
          </a:prstGeom>
        </p:spPr>
      </p:pic>
      <p:sp>
        <p:nvSpPr>
          <p:cNvPr id="23" name="Text 15"/>
          <p:cNvSpPr/>
          <p:nvPr/>
        </p:nvSpPr>
        <p:spPr>
          <a:xfrm>
            <a:off x="1261872" y="5001768"/>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Each department sees its own</a:t>
            </a:r>
            <a:endParaRPr lang="en-US" sz="1500" dirty="0"/>
          </a:p>
        </p:txBody>
      </p:sp>
      <p:sp>
        <p:nvSpPr>
          <p:cNvPr id="24" name="Text 16"/>
          <p:cNvSpPr/>
          <p:nvPr/>
        </p:nvSpPr>
        <p:spPr>
          <a:xfrm>
            <a:off x="1261872" y="5321808"/>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Access scoped in the database itself; private cameras only with current consent.</a:t>
            </a:r>
            <a:endParaRPr lang="en-US" sz="1300" dirty="0"/>
          </a:p>
        </p:txBody>
      </p:sp>
      <p:sp>
        <p:nvSpPr>
          <p:cNvPr id="25" name="Text 17"/>
          <p:cNvSpPr/>
          <p:nvPr/>
        </p:nvSpPr>
        <p:spPr>
          <a:xfrm>
            <a:off x="6903720" y="5806440"/>
            <a:ext cx="4693615" cy="45720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A sighting whose clock cannot be read stays a sighting — listed, clearly labelled, and kept off the timeline.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OUR APPROACH</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A hybrid of the four reference models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07</a:t>
            </a:r>
            <a:endParaRPr lang="en-US" sz="900" dirty="0"/>
          </a:p>
        </p:txBody>
      </p:sp>
      <p:sp>
        <p:nvSpPr>
          <p:cNvPr id="7" name="Shape 4"/>
          <p:cNvSpPr/>
          <p:nvPr/>
        </p:nvSpPr>
        <p:spPr>
          <a:xfrm>
            <a:off x="548640"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1965960"/>
            <a:ext cx="566928" cy="566928"/>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53353" y="2096353"/>
            <a:ext cx="306141" cy="306141"/>
          </a:xfrm>
          <a:prstGeom prst="rect">
            <a:avLst/>
          </a:prstGeom>
        </p:spPr>
      </p:pic>
      <p:sp>
        <p:nvSpPr>
          <p:cNvPr id="10" name="Shape 6"/>
          <p:cNvSpPr/>
          <p:nvPr/>
        </p:nvSpPr>
        <p:spPr>
          <a:xfrm>
            <a:off x="1790624" y="2084832"/>
            <a:ext cx="1051560" cy="329184"/>
          </a:xfrm>
          <a:prstGeom prst="roundRect">
            <a:avLst>
              <a:gd name="adj" fmla="val 50000"/>
            </a:avLst>
          </a:prstGeom>
          <a:solidFill>
            <a:srgbClr val="EAF0FD"/>
          </a:solidFill>
          <a:ln w="9525">
            <a:solidFill>
              <a:srgbClr val="C9D7F7"/>
            </a:solidFill>
            <a:prstDash val="solid"/>
          </a:ln>
        </p:spPr>
      </p:sp>
      <p:sp>
        <p:nvSpPr>
          <p:cNvPr id="11" name="Text 7"/>
          <p:cNvSpPr/>
          <p:nvPr/>
        </p:nvSpPr>
        <p:spPr>
          <a:xfrm>
            <a:off x="1790624"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Foundation</a:t>
            </a:r>
            <a:endParaRPr lang="en-US" sz="1100" dirty="0"/>
          </a:p>
        </p:txBody>
      </p:sp>
      <p:sp>
        <p:nvSpPr>
          <p:cNvPr id="12" name="Text 8"/>
          <p:cNvSpPr/>
          <p:nvPr/>
        </p:nvSpPr>
        <p:spPr>
          <a:xfrm>
            <a:off x="822960"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1</a:t>
            </a:r>
            <a:endParaRPr lang="en-US" sz="1100" dirty="0"/>
          </a:p>
        </p:txBody>
      </p:sp>
      <p:sp>
        <p:nvSpPr>
          <p:cNvPr id="13" name="Text 9"/>
          <p:cNvSpPr/>
          <p:nvPr/>
        </p:nvSpPr>
        <p:spPr>
          <a:xfrm>
            <a:off x="822960"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Registry &amp; GIS</a:t>
            </a:r>
            <a:endParaRPr lang="en-US" sz="1800" dirty="0"/>
          </a:p>
        </p:txBody>
      </p:sp>
      <p:sp>
        <p:nvSpPr>
          <p:cNvPr id="14" name="Text 10"/>
          <p:cNvSpPr/>
          <p:nvPr/>
        </p:nvSpPr>
        <p:spPr>
          <a:xfrm>
            <a:off x="822960"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camera on one map, with health, coverage gaps and an ageing-asset work list.</a:t>
            </a:r>
            <a:endParaRPr lang="en-US" sz="1300" dirty="0"/>
          </a:p>
        </p:txBody>
      </p:sp>
      <p:sp>
        <p:nvSpPr>
          <p:cNvPr id="15" name="Shape 11"/>
          <p:cNvSpPr/>
          <p:nvPr/>
        </p:nvSpPr>
        <p:spPr>
          <a:xfrm>
            <a:off x="822960" y="4617720"/>
            <a:ext cx="2019224" cy="0"/>
          </a:xfrm>
          <a:prstGeom prst="line">
            <a:avLst/>
          </a:prstGeom>
          <a:noFill/>
          <a:ln w="9525">
            <a:solidFill>
              <a:srgbClr val="DDE3EE"/>
            </a:solidFill>
            <a:prstDash val="solid"/>
          </a:ln>
        </p:spPr>
      </p:sp>
      <p:sp>
        <p:nvSpPr>
          <p:cNvPr id="16" name="Text 12"/>
          <p:cNvSpPr/>
          <p:nvPr/>
        </p:nvSpPr>
        <p:spPr>
          <a:xfrm>
            <a:off x="822960"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The foundation every other part stands on.</a:t>
            </a:r>
            <a:endParaRPr lang="en-US" sz="1300" dirty="0"/>
          </a:p>
        </p:txBody>
      </p:sp>
      <p:sp>
        <p:nvSpPr>
          <p:cNvPr id="17" name="Shape 13"/>
          <p:cNvSpPr/>
          <p:nvPr/>
        </p:nvSpPr>
        <p:spPr>
          <a:xfrm>
            <a:off x="3390824"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4"/>
          <p:cNvSpPr/>
          <p:nvPr/>
        </p:nvSpPr>
        <p:spPr>
          <a:xfrm>
            <a:off x="3665144" y="1965960"/>
            <a:ext cx="566928" cy="566928"/>
          </a:xfrm>
          <a:prstGeom prst="ellipse">
            <a:avLst/>
          </a:prstGeom>
          <a:solidFill>
            <a:srgbClr val="2456D6"/>
          </a:solidFill>
          <a:ln w="12700">
            <a:solidFill>
              <a:srgbClr val="2456D6"/>
            </a:solidFill>
            <a:prstDash val="solid"/>
          </a:ln>
        </p:spPr>
      </p:sp>
      <p:pic>
        <p:nvPicPr>
          <p:cNvPr id="19" name="Image 1" descr="preencoded.png">    </p:cNvPr>
          <p:cNvPicPr>
            <a:picLocks noChangeAspect="1"/>
          </p:cNvPicPr>
          <p:nvPr/>
        </p:nvPicPr>
        <p:blipFill>
          <a:blip r:embed="rId2"/>
          <a:stretch>
            <a:fillRect/>
          </a:stretch>
        </p:blipFill>
        <p:spPr>
          <a:xfrm>
            <a:off x="3795537" y="2096353"/>
            <a:ext cx="306141" cy="306141"/>
          </a:xfrm>
          <a:prstGeom prst="rect">
            <a:avLst/>
          </a:prstGeom>
        </p:spPr>
      </p:pic>
      <p:sp>
        <p:nvSpPr>
          <p:cNvPr id="20" name="Shape 15"/>
          <p:cNvSpPr/>
          <p:nvPr/>
        </p:nvSpPr>
        <p:spPr>
          <a:xfrm>
            <a:off x="4632808" y="2084832"/>
            <a:ext cx="1051560" cy="329184"/>
          </a:xfrm>
          <a:prstGeom prst="roundRect">
            <a:avLst>
              <a:gd name="adj" fmla="val 50000"/>
            </a:avLst>
          </a:prstGeom>
          <a:solidFill>
            <a:srgbClr val="EAF0FD"/>
          </a:solidFill>
          <a:ln w="9525">
            <a:solidFill>
              <a:srgbClr val="C9D7F7"/>
            </a:solidFill>
            <a:prstDash val="solid"/>
          </a:ln>
        </p:spPr>
      </p:sp>
      <p:sp>
        <p:nvSpPr>
          <p:cNvPr id="21" name="Text 16"/>
          <p:cNvSpPr/>
          <p:nvPr/>
        </p:nvSpPr>
        <p:spPr>
          <a:xfrm>
            <a:off x="4632808"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Adopted</a:t>
            </a:r>
            <a:endParaRPr lang="en-US" sz="1100" dirty="0"/>
          </a:p>
        </p:txBody>
      </p:sp>
      <p:sp>
        <p:nvSpPr>
          <p:cNvPr id="22" name="Text 17"/>
          <p:cNvSpPr/>
          <p:nvPr/>
        </p:nvSpPr>
        <p:spPr>
          <a:xfrm>
            <a:off x="3665144"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2</a:t>
            </a:r>
            <a:endParaRPr lang="en-US" sz="1100" dirty="0"/>
          </a:p>
        </p:txBody>
      </p:sp>
      <p:sp>
        <p:nvSpPr>
          <p:cNvPr id="23" name="Text 18"/>
          <p:cNvSpPr/>
          <p:nvPr/>
        </p:nvSpPr>
        <p:spPr>
          <a:xfrm>
            <a:off x="3665144"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Unified viewing &amp; analytics</a:t>
            </a:r>
            <a:endParaRPr lang="en-US" sz="1800" dirty="0"/>
          </a:p>
        </p:txBody>
      </p:sp>
      <p:sp>
        <p:nvSpPr>
          <p:cNvPr id="24" name="Text 19"/>
          <p:cNvSpPr/>
          <p:nvPr/>
        </p:nvSpPr>
        <p:spPr>
          <a:xfrm>
            <a:off x="3665144"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live wall and plate reading on every accessible stream.</a:t>
            </a:r>
            <a:endParaRPr lang="en-US" sz="1300" dirty="0"/>
          </a:p>
        </p:txBody>
      </p:sp>
      <p:sp>
        <p:nvSpPr>
          <p:cNvPr id="25" name="Shape 20"/>
          <p:cNvSpPr/>
          <p:nvPr/>
        </p:nvSpPr>
        <p:spPr>
          <a:xfrm>
            <a:off x="3665144" y="4617720"/>
            <a:ext cx="2019224" cy="0"/>
          </a:xfrm>
          <a:prstGeom prst="line">
            <a:avLst/>
          </a:prstGeom>
          <a:noFill/>
          <a:ln w="9525">
            <a:solidFill>
              <a:srgbClr val="DDE3EE"/>
            </a:solidFill>
            <a:prstDash val="solid"/>
          </a:ln>
        </p:spPr>
      </p:sp>
      <p:sp>
        <p:nvSpPr>
          <p:cNvPr id="26" name="Text 21"/>
          <p:cNvSpPr/>
          <p:nvPr/>
        </p:nvSpPr>
        <p:spPr>
          <a:xfrm>
            <a:off x="3665144"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One console, instead of one per department.</a:t>
            </a:r>
            <a:endParaRPr lang="en-US" sz="1300" dirty="0"/>
          </a:p>
        </p:txBody>
      </p:sp>
      <p:sp>
        <p:nvSpPr>
          <p:cNvPr id="27" name="Shape 22"/>
          <p:cNvSpPr/>
          <p:nvPr/>
        </p:nvSpPr>
        <p:spPr>
          <a:xfrm>
            <a:off x="6233008"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8" name="Shape 23"/>
          <p:cNvSpPr/>
          <p:nvPr/>
        </p:nvSpPr>
        <p:spPr>
          <a:xfrm>
            <a:off x="6507328" y="1965960"/>
            <a:ext cx="566928" cy="566928"/>
          </a:xfrm>
          <a:prstGeom prst="ellipse">
            <a:avLst/>
          </a:prstGeom>
          <a:solidFill>
            <a:srgbClr val="2456D6"/>
          </a:solidFill>
          <a:ln w="12700">
            <a:solidFill>
              <a:srgbClr val="2456D6"/>
            </a:solidFill>
            <a:prstDash val="solid"/>
          </a:ln>
        </p:spPr>
      </p:sp>
      <p:pic>
        <p:nvPicPr>
          <p:cNvPr id="29" name="Image 2" descr="preencoded.png">    </p:cNvPr>
          <p:cNvPicPr>
            <a:picLocks noChangeAspect="1"/>
          </p:cNvPicPr>
          <p:nvPr/>
        </p:nvPicPr>
        <p:blipFill>
          <a:blip r:embed="rId3"/>
          <a:stretch>
            <a:fillRect/>
          </a:stretch>
        </p:blipFill>
        <p:spPr>
          <a:xfrm>
            <a:off x="6637721" y="2096353"/>
            <a:ext cx="306141" cy="306141"/>
          </a:xfrm>
          <a:prstGeom prst="rect">
            <a:avLst/>
          </a:prstGeom>
        </p:spPr>
      </p:pic>
      <p:sp>
        <p:nvSpPr>
          <p:cNvPr id="30" name="Shape 24"/>
          <p:cNvSpPr/>
          <p:nvPr/>
        </p:nvSpPr>
        <p:spPr>
          <a:xfrm>
            <a:off x="7474991" y="2084832"/>
            <a:ext cx="1051560" cy="329184"/>
          </a:xfrm>
          <a:prstGeom prst="roundRect">
            <a:avLst>
              <a:gd name="adj" fmla="val 50000"/>
            </a:avLst>
          </a:prstGeom>
          <a:solidFill>
            <a:srgbClr val="EAF0FD"/>
          </a:solidFill>
          <a:ln w="9525">
            <a:solidFill>
              <a:srgbClr val="C9D7F7"/>
            </a:solidFill>
            <a:prstDash val="solid"/>
          </a:ln>
        </p:spPr>
      </p:sp>
      <p:sp>
        <p:nvSpPr>
          <p:cNvPr id="31" name="Text 25"/>
          <p:cNvSpPr/>
          <p:nvPr/>
        </p:nvSpPr>
        <p:spPr>
          <a:xfrm>
            <a:off x="7474991"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Adopted</a:t>
            </a:r>
            <a:endParaRPr lang="en-US" sz="1100" dirty="0"/>
          </a:p>
        </p:txBody>
      </p:sp>
      <p:sp>
        <p:nvSpPr>
          <p:cNvPr id="32" name="Text 26"/>
          <p:cNvSpPr/>
          <p:nvPr/>
        </p:nvSpPr>
        <p:spPr>
          <a:xfrm>
            <a:off x="6507328"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3</a:t>
            </a:r>
            <a:endParaRPr lang="en-US" sz="1100" dirty="0"/>
          </a:p>
        </p:txBody>
      </p:sp>
      <p:sp>
        <p:nvSpPr>
          <p:cNvPr id="33" name="Text 27"/>
          <p:cNvSpPr/>
          <p:nvPr/>
        </p:nvSpPr>
        <p:spPr>
          <a:xfrm>
            <a:off x="6507328"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Federation adapters</a:t>
            </a:r>
            <a:endParaRPr lang="en-US" sz="1800" dirty="0"/>
          </a:p>
        </p:txBody>
      </p:sp>
      <p:sp>
        <p:nvSpPr>
          <p:cNvPr id="34" name="Text 28"/>
          <p:cNvSpPr/>
          <p:nvPr/>
        </p:nvSpPr>
        <p:spPr>
          <a:xfrm>
            <a:off x="6507328"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RTSP, ONVIF, Hikvision, Dahua, Genetec and Milestone drivers.</a:t>
            </a:r>
            <a:endParaRPr lang="en-US" sz="1300" dirty="0"/>
          </a:p>
        </p:txBody>
      </p:sp>
      <p:sp>
        <p:nvSpPr>
          <p:cNvPr id="35" name="Shape 29"/>
          <p:cNvSpPr/>
          <p:nvPr/>
        </p:nvSpPr>
        <p:spPr>
          <a:xfrm>
            <a:off x="6507328" y="4617720"/>
            <a:ext cx="2019224" cy="0"/>
          </a:xfrm>
          <a:prstGeom prst="line">
            <a:avLst/>
          </a:prstGeom>
          <a:noFill/>
          <a:ln w="9525">
            <a:solidFill>
              <a:srgbClr val="DDE3EE"/>
            </a:solidFill>
            <a:prstDash val="solid"/>
          </a:ln>
        </p:spPr>
      </p:sp>
      <p:sp>
        <p:nvSpPr>
          <p:cNvPr id="36" name="Text 30"/>
          <p:cNvSpPr/>
          <p:nvPr/>
        </p:nvSpPr>
        <p:spPr>
          <a:xfrm>
            <a:off x="6507328"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No department changes its system; a new vendor is a driver.</a:t>
            </a:r>
            <a:endParaRPr lang="en-US" sz="1300" dirty="0"/>
          </a:p>
        </p:txBody>
      </p:sp>
      <p:sp>
        <p:nvSpPr>
          <p:cNvPr id="37" name="Shape 31"/>
          <p:cNvSpPr/>
          <p:nvPr/>
        </p:nvSpPr>
        <p:spPr>
          <a:xfrm>
            <a:off x="9075191"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8" name="Shape 32"/>
          <p:cNvSpPr/>
          <p:nvPr/>
        </p:nvSpPr>
        <p:spPr>
          <a:xfrm>
            <a:off x="9349511" y="1965960"/>
            <a:ext cx="566928" cy="566928"/>
          </a:xfrm>
          <a:prstGeom prst="ellipse">
            <a:avLst/>
          </a:prstGeom>
          <a:solidFill>
            <a:srgbClr val="7A869E"/>
          </a:solidFill>
          <a:ln w="12700">
            <a:solidFill>
              <a:srgbClr val="7A869E"/>
            </a:solidFill>
            <a:prstDash val="solid"/>
          </a:ln>
        </p:spPr>
      </p:sp>
      <p:pic>
        <p:nvPicPr>
          <p:cNvPr id="39" name="Image 3" descr="preencoded.png">    </p:cNvPr>
          <p:cNvPicPr>
            <a:picLocks noChangeAspect="1"/>
          </p:cNvPicPr>
          <p:nvPr/>
        </p:nvPicPr>
        <p:blipFill>
          <a:blip r:embed="rId4"/>
          <a:stretch>
            <a:fillRect/>
          </a:stretch>
        </p:blipFill>
        <p:spPr>
          <a:xfrm>
            <a:off x="9479905" y="2096353"/>
            <a:ext cx="306141" cy="306141"/>
          </a:xfrm>
          <a:prstGeom prst="rect">
            <a:avLst/>
          </a:prstGeom>
        </p:spPr>
      </p:pic>
      <p:sp>
        <p:nvSpPr>
          <p:cNvPr id="40" name="Shape 33"/>
          <p:cNvSpPr/>
          <p:nvPr/>
        </p:nvSpPr>
        <p:spPr>
          <a:xfrm>
            <a:off x="10317175" y="2084832"/>
            <a:ext cx="1051560" cy="329184"/>
          </a:xfrm>
          <a:prstGeom prst="roundRect">
            <a:avLst>
              <a:gd name="adj" fmla="val 50000"/>
            </a:avLst>
          </a:prstGeom>
          <a:solidFill>
            <a:srgbClr val="FFFFFF"/>
          </a:solidFill>
          <a:ln w="9525">
            <a:solidFill>
              <a:srgbClr val="B8C0CE"/>
            </a:solidFill>
            <a:prstDash val="solid"/>
          </a:ln>
        </p:spPr>
      </p:sp>
      <p:sp>
        <p:nvSpPr>
          <p:cNvPr id="41" name="Text 34"/>
          <p:cNvSpPr/>
          <p:nvPr/>
        </p:nvSpPr>
        <p:spPr>
          <a:xfrm>
            <a:off x="10317175" y="2084832"/>
            <a:ext cx="1051560" cy="329184"/>
          </a:xfrm>
          <a:prstGeom prst="rect">
            <a:avLst/>
          </a:prstGeom>
          <a:noFill/>
          <a:ln/>
        </p:spPr>
        <p:txBody>
          <a:bodyPr wrap="square" lIns="0" tIns="0" rIns="0" bIns="0" rtlCol="0" anchor="ctr"/>
          <a:lstStyle/>
          <a:p>
            <a:pPr algn="ctr" indent="0" marL="0">
              <a:buNone/>
            </a:pPr>
            <a:r>
              <a:rPr lang="en-US" sz="1100" b="1" dirty="0">
                <a:solidFill>
                  <a:srgbClr val="536079"/>
                </a:solidFill>
                <a:latin typeface="Arial" pitchFamily="34" charset="0"/>
                <a:ea typeface="Arial" pitchFamily="34" charset="-122"/>
                <a:cs typeface="Arial" pitchFamily="34" charset="-120"/>
              </a:rPr>
              <a:t>Selective</a:t>
            </a:r>
            <a:endParaRPr lang="en-US" sz="1100" dirty="0"/>
          </a:p>
        </p:txBody>
      </p:sp>
      <p:sp>
        <p:nvSpPr>
          <p:cNvPr id="42" name="Text 35"/>
          <p:cNvSpPr/>
          <p:nvPr/>
        </p:nvSpPr>
        <p:spPr>
          <a:xfrm>
            <a:off x="9349511"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4</a:t>
            </a:r>
            <a:endParaRPr lang="en-US" sz="1100" dirty="0"/>
          </a:p>
        </p:txBody>
      </p:sp>
      <p:sp>
        <p:nvSpPr>
          <p:cNvPr id="43" name="Text 36"/>
          <p:cNvSpPr/>
          <p:nvPr/>
        </p:nvSpPr>
        <p:spPr>
          <a:xfrm>
            <a:off x="9349511"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Central recording</a:t>
            </a:r>
            <a:endParaRPr lang="en-US" sz="1800" dirty="0"/>
          </a:p>
        </p:txBody>
      </p:sp>
      <p:sp>
        <p:nvSpPr>
          <p:cNvPr id="44" name="Text 37"/>
          <p:cNvSpPr/>
          <p:nvPr/>
        </p:nvSpPr>
        <p:spPr>
          <a:xfrm>
            <a:off x="9349511"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Only critical cameras and alert clips are recorded centrally.</a:t>
            </a:r>
            <a:endParaRPr lang="en-US" sz="1300" dirty="0"/>
          </a:p>
        </p:txBody>
      </p:sp>
      <p:sp>
        <p:nvSpPr>
          <p:cNvPr id="45" name="Shape 38"/>
          <p:cNvSpPr/>
          <p:nvPr/>
        </p:nvSpPr>
        <p:spPr>
          <a:xfrm>
            <a:off x="9349511" y="4617720"/>
            <a:ext cx="2019224" cy="0"/>
          </a:xfrm>
          <a:prstGeom prst="line">
            <a:avLst/>
          </a:prstGeom>
          <a:noFill/>
          <a:ln w="9525">
            <a:solidFill>
              <a:srgbClr val="DDE3EE"/>
            </a:solidFill>
            <a:prstDash val="solid"/>
          </a:ln>
        </p:spPr>
      </p:sp>
      <p:sp>
        <p:nvSpPr>
          <p:cNvPr id="46" name="Text 39"/>
          <p:cNvSpPr/>
          <p:nvPr/>
        </p:nvSpPr>
        <p:spPr>
          <a:xfrm>
            <a:off x="9349511"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Full centralisation needs a backbone the State does not have.</a:t>
            </a:r>
            <a:endParaRPr lang="en-US" sz="1300" dirty="0"/>
          </a:p>
        </p:txBody>
      </p:sp>
      <p:sp>
        <p:nvSpPr>
          <p:cNvPr id="47" name="Shape 40"/>
          <p:cNvSpPr/>
          <p:nvPr/>
        </p:nvSpPr>
        <p:spPr>
          <a:xfrm>
            <a:off x="548640" y="5852160"/>
            <a:ext cx="420624" cy="420624"/>
          </a:xfrm>
          <a:prstGeom prst="ellipse">
            <a:avLst/>
          </a:prstGeom>
          <a:solidFill>
            <a:srgbClr val="0F766E"/>
          </a:solidFill>
          <a:ln w="12700">
            <a:solidFill>
              <a:srgbClr val="0F766E"/>
            </a:solidFill>
            <a:prstDash val="solid"/>
          </a:ln>
        </p:spPr>
      </p:sp>
      <p:pic>
        <p:nvPicPr>
          <p:cNvPr id="48" name="Image 4" descr="preencoded.png">    </p:cNvPr>
          <p:cNvPicPr>
            <a:picLocks noChangeAspect="1"/>
          </p:cNvPicPr>
          <p:nvPr/>
        </p:nvPicPr>
        <p:blipFill>
          <a:blip r:embed="rId5"/>
          <a:stretch>
            <a:fillRect/>
          </a:stretch>
        </p:blipFill>
        <p:spPr>
          <a:xfrm>
            <a:off x="645384" y="5948904"/>
            <a:ext cx="227137" cy="227137"/>
          </a:xfrm>
          <a:prstGeom prst="rect">
            <a:avLst/>
          </a:prstGeom>
        </p:spPr>
      </p:pic>
      <p:sp>
        <p:nvSpPr>
          <p:cNvPr id="49" name="Text 41"/>
          <p:cNvSpPr/>
          <p:nvPr/>
        </p:nvSpPr>
        <p:spPr>
          <a:xfrm>
            <a:off x="1143000" y="591616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Read-only and pull-based throughout: nothing is installed on a department’s cameras or VMS.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IT SCALES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Send meaning, not video</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08</a:t>
            </a:r>
            <a:endParaRPr lang="en-US" sz="900" dirty="0"/>
          </a:p>
        </p:txBody>
      </p:sp>
      <p:sp>
        <p:nvSpPr>
          <p:cNvPr id="7" name="Text 4"/>
          <p:cNvSpPr/>
          <p:nvPr/>
        </p:nvSpPr>
        <p:spPr>
          <a:xfrm>
            <a:off x="4754880" y="1691640"/>
            <a:ext cx="2651760" cy="320040"/>
          </a:xfrm>
          <a:prstGeom prst="rect">
            <a:avLst/>
          </a:prstGeom>
          <a:noFill/>
          <a:ln/>
        </p:spPr>
        <p:txBody>
          <a:bodyPr wrap="square" lIns="0" tIns="0" rIns="0" bIns="0" rtlCol="0" anchor="t"/>
          <a:lstStyle/>
          <a:p>
            <a:pPr indent="0" marL="0">
              <a:buNone/>
            </a:pPr>
            <a:r>
              <a:rPr lang="en-US" sz="1300" b="1" dirty="0">
                <a:solidFill>
                  <a:srgbClr val="536079"/>
                </a:solidFill>
                <a:latin typeface="Arial" pitchFamily="34" charset="0"/>
                <a:ea typeface="Arial" pitchFamily="34" charset="-122"/>
                <a:cs typeface="Arial" pitchFamily="34" charset="-120"/>
              </a:rPr>
              <a:t>Send all video to the centre</a:t>
            </a:r>
            <a:endParaRPr lang="en-US" sz="1300" dirty="0"/>
          </a:p>
        </p:txBody>
      </p:sp>
      <p:sp>
        <p:nvSpPr>
          <p:cNvPr id="8" name="Text 5"/>
          <p:cNvSpPr/>
          <p:nvPr/>
        </p:nvSpPr>
        <p:spPr>
          <a:xfrm>
            <a:off x="7498080" y="1691640"/>
            <a:ext cx="2651760" cy="320040"/>
          </a:xfrm>
          <a:prstGeom prst="rect">
            <a:avLst/>
          </a:prstGeom>
          <a:noFill/>
          <a:ln/>
        </p:spPr>
        <p:txBody>
          <a:bodyPr wrap="square" lIns="0" tIns="0" rIns="0" bIns="0" rtlCol="0" anchor="t"/>
          <a:lstStyle/>
          <a:p>
            <a:pPr indent="0" marL="0">
              <a:buNone/>
            </a:pPr>
            <a:r>
              <a:rPr lang="en-US" sz="1300" b="1" dirty="0">
                <a:solidFill>
                  <a:srgbClr val="2456D6"/>
                </a:solidFill>
                <a:latin typeface="Arial" pitchFamily="34" charset="0"/>
                <a:ea typeface="Arial" pitchFamily="34" charset="-122"/>
                <a:cs typeface="Arial" pitchFamily="34" charset="-120"/>
              </a:rPr>
              <a:t>Sentinel: analyse where filmed</a:t>
            </a:r>
            <a:endParaRPr lang="en-US" sz="1300" dirty="0"/>
          </a:p>
        </p:txBody>
      </p:sp>
      <p:sp>
        <p:nvSpPr>
          <p:cNvPr id="9" name="Shape 6"/>
          <p:cNvSpPr/>
          <p:nvPr/>
        </p:nvSpPr>
        <p:spPr>
          <a:xfrm>
            <a:off x="548640" y="2148840"/>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7"/>
          <p:cNvSpPr/>
          <p:nvPr/>
        </p:nvSpPr>
        <p:spPr>
          <a:xfrm>
            <a:off x="822960" y="2404872"/>
            <a:ext cx="512064" cy="512064"/>
          </a:xfrm>
          <a:prstGeom prst="ellipse">
            <a:avLst/>
          </a:prstGeom>
          <a:solidFill>
            <a:srgbClr val="2456D6"/>
          </a:solidFill>
          <a:ln w="12700">
            <a:solidFill>
              <a:srgbClr val="2456D6"/>
            </a:solidFill>
            <a:prstDash val="solid"/>
          </a:ln>
        </p:spPr>
      </p:sp>
      <p:pic>
        <p:nvPicPr>
          <p:cNvPr id="11" name="Image 0" descr="preencoded.png">    </p:cNvPr>
          <p:cNvPicPr>
            <a:picLocks noChangeAspect="1"/>
          </p:cNvPicPr>
          <p:nvPr/>
        </p:nvPicPr>
        <p:blipFill>
          <a:blip r:embed="rId1"/>
          <a:stretch>
            <a:fillRect/>
          </a:stretch>
        </p:blipFill>
        <p:spPr>
          <a:xfrm>
            <a:off x="940735" y="2522647"/>
            <a:ext cx="276515" cy="276515"/>
          </a:xfrm>
          <a:prstGeom prst="rect">
            <a:avLst/>
          </a:prstGeom>
        </p:spPr>
      </p:pic>
      <p:sp>
        <p:nvSpPr>
          <p:cNvPr id="12" name="Text 8"/>
          <p:cNvSpPr/>
          <p:nvPr/>
        </p:nvSpPr>
        <p:spPr>
          <a:xfrm>
            <a:off x="1536192" y="2450592"/>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Network backbone, statewide</a:t>
            </a:r>
            <a:endParaRPr lang="en-US" sz="1500" dirty="0"/>
          </a:p>
        </p:txBody>
      </p:sp>
      <p:sp>
        <p:nvSpPr>
          <p:cNvPr id="13" name="Text 9"/>
          <p:cNvSpPr/>
          <p:nvPr/>
        </p:nvSpPr>
        <p:spPr>
          <a:xfrm>
            <a:off x="4754880" y="2331720"/>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160 Gbps</a:t>
            </a:r>
            <a:endParaRPr lang="en-US" sz="3200" dirty="0"/>
          </a:p>
        </p:txBody>
      </p:sp>
      <p:sp>
        <p:nvSpPr>
          <p:cNvPr id="14" name="Text 10"/>
          <p:cNvSpPr/>
          <p:nvPr/>
        </p:nvSpPr>
        <p:spPr>
          <a:xfrm>
            <a:off x="7498080" y="2331720"/>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≈140 Mbps</a:t>
            </a:r>
            <a:endParaRPr lang="en-US" sz="3200" dirty="0"/>
          </a:p>
        </p:txBody>
      </p:sp>
      <p:sp>
        <p:nvSpPr>
          <p:cNvPr id="15" name="Shape 11"/>
          <p:cNvSpPr/>
          <p:nvPr/>
        </p:nvSpPr>
        <p:spPr>
          <a:xfrm>
            <a:off x="10058400" y="2441448"/>
            <a:ext cx="1310335" cy="438912"/>
          </a:xfrm>
          <a:prstGeom prst="roundRect">
            <a:avLst>
              <a:gd name="adj" fmla="val 50000"/>
            </a:avLst>
          </a:prstGeom>
          <a:solidFill>
            <a:srgbClr val="FDF1DF"/>
          </a:solidFill>
          <a:ln w="9525">
            <a:solidFill>
              <a:srgbClr val="F5D6A6"/>
            </a:solidFill>
            <a:prstDash val="solid"/>
          </a:ln>
        </p:spPr>
      </p:sp>
      <p:sp>
        <p:nvSpPr>
          <p:cNvPr id="16" name="Text 12"/>
          <p:cNvSpPr/>
          <p:nvPr/>
        </p:nvSpPr>
        <p:spPr>
          <a:xfrm>
            <a:off x="10058400" y="2441448"/>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~1,000× less</a:t>
            </a:r>
            <a:endParaRPr lang="en-US" sz="1400" dirty="0"/>
          </a:p>
        </p:txBody>
      </p:sp>
      <p:sp>
        <p:nvSpPr>
          <p:cNvPr id="17" name="Shape 13"/>
          <p:cNvSpPr/>
          <p:nvPr/>
        </p:nvSpPr>
        <p:spPr>
          <a:xfrm>
            <a:off x="548640" y="3355848"/>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4"/>
          <p:cNvSpPr/>
          <p:nvPr/>
        </p:nvSpPr>
        <p:spPr>
          <a:xfrm>
            <a:off x="822960" y="3611880"/>
            <a:ext cx="512064" cy="512064"/>
          </a:xfrm>
          <a:prstGeom prst="ellipse">
            <a:avLst/>
          </a:prstGeom>
          <a:solidFill>
            <a:srgbClr val="2456D6"/>
          </a:solidFill>
          <a:ln w="12700">
            <a:solidFill>
              <a:srgbClr val="2456D6"/>
            </a:solidFill>
            <a:prstDash val="solid"/>
          </a:ln>
        </p:spPr>
      </p:sp>
      <p:pic>
        <p:nvPicPr>
          <p:cNvPr id="19" name="Image 1" descr="preencoded.png">    </p:cNvPr>
          <p:cNvPicPr>
            <a:picLocks noChangeAspect="1"/>
          </p:cNvPicPr>
          <p:nvPr/>
        </p:nvPicPr>
        <p:blipFill>
          <a:blip r:embed="rId2"/>
          <a:stretch>
            <a:fillRect/>
          </a:stretch>
        </p:blipFill>
        <p:spPr>
          <a:xfrm>
            <a:off x="940735" y="3729655"/>
            <a:ext cx="276515" cy="276515"/>
          </a:xfrm>
          <a:prstGeom prst="rect">
            <a:avLst/>
          </a:prstGeom>
        </p:spPr>
      </p:pic>
      <p:sp>
        <p:nvSpPr>
          <p:cNvPr id="20" name="Text 15"/>
          <p:cNvSpPr/>
          <p:nvPr/>
        </p:nvSpPr>
        <p:spPr>
          <a:xfrm>
            <a:off x="1536192" y="3657600"/>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Storage for one week</a:t>
            </a:r>
            <a:endParaRPr lang="en-US" sz="1500" dirty="0"/>
          </a:p>
        </p:txBody>
      </p:sp>
      <p:sp>
        <p:nvSpPr>
          <p:cNvPr id="21" name="Text 16"/>
          <p:cNvSpPr/>
          <p:nvPr/>
        </p:nvSpPr>
        <p:spPr>
          <a:xfrm>
            <a:off x="4754880" y="3538728"/>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12.1 PB</a:t>
            </a:r>
            <a:endParaRPr lang="en-US" sz="3200" dirty="0"/>
          </a:p>
        </p:txBody>
      </p:sp>
      <p:sp>
        <p:nvSpPr>
          <p:cNvPr id="22" name="Text 17"/>
          <p:cNvSpPr/>
          <p:nvPr/>
        </p:nvSpPr>
        <p:spPr>
          <a:xfrm>
            <a:off x="7498080" y="3538728"/>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≈390 TB</a:t>
            </a:r>
            <a:endParaRPr lang="en-US" sz="3200" dirty="0"/>
          </a:p>
        </p:txBody>
      </p:sp>
      <p:sp>
        <p:nvSpPr>
          <p:cNvPr id="23" name="Shape 18"/>
          <p:cNvSpPr/>
          <p:nvPr/>
        </p:nvSpPr>
        <p:spPr>
          <a:xfrm>
            <a:off x="10058400" y="3648456"/>
            <a:ext cx="1310335" cy="438912"/>
          </a:xfrm>
          <a:prstGeom prst="roundRect">
            <a:avLst>
              <a:gd name="adj" fmla="val 50000"/>
            </a:avLst>
          </a:prstGeom>
          <a:solidFill>
            <a:srgbClr val="FDF1DF"/>
          </a:solidFill>
          <a:ln w="9525">
            <a:solidFill>
              <a:srgbClr val="F5D6A6"/>
            </a:solidFill>
            <a:prstDash val="solid"/>
          </a:ln>
        </p:spPr>
      </p:sp>
      <p:sp>
        <p:nvSpPr>
          <p:cNvPr id="24" name="Text 19"/>
          <p:cNvSpPr/>
          <p:nvPr/>
        </p:nvSpPr>
        <p:spPr>
          <a:xfrm>
            <a:off x="10058400" y="3648456"/>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~30× less</a:t>
            </a:r>
            <a:endParaRPr lang="en-US" sz="1400" dirty="0"/>
          </a:p>
        </p:txBody>
      </p:sp>
      <p:sp>
        <p:nvSpPr>
          <p:cNvPr id="25" name="Shape 20"/>
          <p:cNvSpPr/>
          <p:nvPr/>
        </p:nvSpPr>
        <p:spPr>
          <a:xfrm>
            <a:off x="548640" y="4562856"/>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6" name="Shape 21"/>
          <p:cNvSpPr/>
          <p:nvPr/>
        </p:nvSpPr>
        <p:spPr>
          <a:xfrm>
            <a:off x="822960" y="4818888"/>
            <a:ext cx="512064" cy="512064"/>
          </a:xfrm>
          <a:prstGeom prst="ellipse">
            <a:avLst/>
          </a:prstGeom>
          <a:solidFill>
            <a:srgbClr val="2456D6"/>
          </a:solidFill>
          <a:ln w="12700">
            <a:solidFill>
              <a:srgbClr val="2456D6"/>
            </a:solidFill>
            <a:prstDash val="solid"/>
          </a:ln>
        </p:spPr>
      </p:sp>
      <p:pic>
        <p:nvPicPr>
          <p:cNvPr id="27" name="Image 2" descr="preencoded.png">    </p:cNvPr>
          <p:cNvPicPr>
            <a:picLocks noChangeAspect="1"/>
          </p:cNvPicPr>
          <p:nvPr/>
        </p:nvPicPr>
        <p:blipFill>
          <a:blip r:embed="rId3"/>
          <a:stretch>
            <a:fillRect/>
          </a:stretch>
        </p:blipFill>
        <p:spPr>
          <a:xfrm>
            <a:off x="940735" y="4936663"/>
            <a:ext cx="276515" cy="276515"/>
          </a:xfrm>
          <a:prstGeom prst="rect">
            <a:avLst/>
          </a:prstGeom>
        </p:spPr>
      </p:pic>
      <p:sp>
        <p:nvSpPr>
          <p:cNvPr id="28" name="Text 22"/>
          <p:cNvSpPr/>
          <p:nvPr/>
        </p:nvSpPr>
        <p:spPr>
          <a:xfrm>
            <a:off x="1536192" y="4864608"/>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When a district’s link drops</a:t>
            </a:r>
            <a:endParaRPr lang="en-US" sz="1500" dirty="0"/>
          </a:p>
        </p:txBody>
      </p:sp>
      <p:sp>
        <p:nvSpPr>
          <p:cNvPr id="29" name="Text 23"/>
          <p:cNvSpPr/>
          <p:nvPr/>
        </p:nvSpPr>
        <p:spPr>
          <a:xfrm>
            <a:off x="4754880" y="4745736"/>
            <a:ext cx="2651760" cy="685800"/>
          </a:xfrm>
          <a:prstGeom prst="rect">
            <a:avLst/>
          </a:prstGeom>
          <a:noFill/>
          <a:ln/>
        </p:spPr>
        <p:txBody>
          <a:bodyPr wrap="square" lIns="0" tIns="0" rIns="0" bIns="0" rtlCol="0" anchor="ctr"/>
          <a:lstStyle/>
          <a:p>
            <a:pPr indent="0" marL="0">
              <a:buNone/>
            </a:pPr>
            <a:r>
              <a:rPr lang="en-US" sz="1900" b="1" dirty="0">
                <a:solidFill>
                  <a:srgbClr val="536079"/>
                </a:solidFill>
                <a:latin typeface="Arial" pitchFamily="34" charset="0"/>
                <a:ea typeface="Arial" pitchFamily="34" charset="-122"/>
                <a:cs typeface="Arial" pitchFamily="34" charset="-120"/>
              </a:rPr>
              <a:t>Analysis stops</a:t>
            </a:r>
            <a:endParaRPr lang="en-US" sz="1900" dirty="0"/>
          </a:p>
        </p:txBody>
      </p:sp>
      <p:sp>
        <p:nvSpPr>
          <p:cNvPr id="30" name="Text 24"/>
          <p:cNvSpPr/>
          <p:nvPr/>
        </p:nvSpPr>
        <p:spPr>
          <a:xfrm>
            <a:off x="7498080" y="4745736"/>
            <a:ext cx="2560320" cy="685800"/>
          </a:xfrm>
          <a:prstGeom prst="rect">
            <a:avLst/>
          </a:prstGeom>
          <a:noFill/>
          <a:ln/>
        </p:spPr>
        <p:txBody>
          <a:bodyPr wrap="square" lIns="0" tIns="0" rIns="0" bIns="0" rtlCol="0" anchor="ctr"/>
          <a:lstStyle/>
          <a:p>
            <a:pPr indent="0" marL="0">
              <a:buNone/>
            </a:pPr>
            <a:r>
              <a:rPr lang="en-US" sz="1900" b="1" dirty="0">
                <a:solidFill>
                  <a:srgbClr val="2456D6"/>
                </a:solidFill>
                <a:latin typeface="Arial" pitchFamily="34" charset="0"/>
                <a:ea typeface="Arial" pitchFamily="34" charset="-122"/>
                <a:cs typeface="Arial" pitchFamily="34" charset="-120"/>
              </a:rPr>
              <a:t>Keeps reading &amp; alerting</a:t>
            </a:r>
            <a:endParaRPr lang="en-US" sz="1900" dirty="0"/>
          </a:p>
        </p:txBody>
      </p:sp>
      <p:sp>
        <p:nvSpPr>
          <p:cNvPr id="31" name="Shape 25"/>
          <p:cNvSpPr/>
          <p:nvPr/>
        </p:nvSpPr>
        <p:spPr>
          <a:xfrm>
            <a:off x="10058400" y="4855464"/>
            <a:ext cx="1310335" cy="438912"/>
          </a:xfrm>
          <a:prstGeom prst="roundRect">
            <a:avLst>
              <a:gd name="adj" fmla="val 50000"/>
            </a:avLst>
          </a:prstGeom>
          <a:solidFill>
            <a:srgbClr val="FDF1DF"/>
          </a:solidFill>
          <a:ln w="9525">
            <a:solidFill>
              <a:srgbClr val="F5D6A6"/>
            </a:solidFill>
            <a:prstDash val="solid"/>
          </a:ln>
        </p:spPr>
      </p:sp>
      <p:sp>
        <p:nvSpPr>
          <p:cNvPr id="32" name="Text 26"/>
          <p:cNvSpPr/>
          <p:nvPr/>
        </p:nvSpPr>
        <p:spPr>
          <a:xfrm>
            <a:off x="10058400" y="4855464"/>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up to 72 h</a:t>
            </a:r>
            <a:endParaRPr lang="en-US" sz="1400" dirty="0"/>
          </a:p>
        </p:txBody>
      </p:sp>
      <p:sp>
        <p:nvSpPr>
          <p:cNvPr id="33" name="Text 27"/>
          <p:cNvSpPr/>
          <p:nvPr/>
        </p:nvSpPr>
        <p:spPr>
          <a:xfrm>
            <a:off x="548640" y="5852160"/>
            <a:ext cx="11094415"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What travels is a small event and a snapshot per sighting. Video stays in the district — and in each department’s own system — until someone needs 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HOW IT WORKS AT 80,000 CAMERAS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Five layers, each doing one job</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09</a:t>
            </a:r>
            <a:endParaRPr lang="en-US" sz="900" dirty="0"/>
          </a:p>
        </p:txBody>
      </p:sp>
      <p:sp>
        <p:nvSpPr>
          <p:cNvPr id="7" name="Shape 4"/>
          <p:cNvSpPr/>
          <p:nvPr/>
        </p:nvSpPr>
        <p:spPr>
          <a:xfrm>
            <a:off x="548640" y="164592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731520" y="1792224"/>
            <a:ext cx="457200" cy="457200"/>
          </a:xfrm>
          <a:prstGeom prst="ellipse">
            <a:avLst/>
          </a:prstGeom>
          <a:solidFill>
            <a:srgbClr val="7A869E"/>
          </a:solidFill>
          <a:ln w="12700">
            <a:solidFill>
              <a:srgbClr val="7A869E"/>
            </a:solidFill>
            <a:prstDash val="solid"/>
          </a:ln>
        </p:spPr>
      </p:sp>
      <p:pic>
        <p:nvPicPr>
          <p:cNvPr id="9" name="Image 0" descr="preencoded.png">    </p:cNvPr>
          <p:cNvPicPr>
            <a:picLocks noChangeAspect="1"/>
          </p:cNvPicPr>
          <p:nvPr/>
        </p:nvPicPr>
        <p:blipFill>
          <a:blip r:embed="rId1"/>
          <a:stretch>
            <a:fillRect/>
          </a:stretch>
        </p:blipFill>
        <p:spPr>
          <a:xfrm>
            <a:off x="836676" y="1897380"/>
            <a:ext cx="246888" cy="246888"/>
          </a:xfrm>
          <a:prstGeom prst="rect">
            <a:avLst/>
          </a:prstGeom>
        </p:spPr>
      </p:pic>
      <p:sp>
        <p:nvSpPr>
          <p:cNvPr id="10" name="Text 6"/>
          <p:cNvSpPr/>
          <p:nvPr/>
        </p:nvSpPr>
        <p:spPr>
          <a:xfrm>
            <a:off x="1371600" y="1737360"/>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Consumers</a:t>
            </a:r>
            <a:endParaRPr lang="en-US" sz="1500" dirty="0"/>
          </a:p>
        </p:txBody>
      </p:sp>
      <p:sp>
        <p:nvSpPr>
          <p:cNvPr id="11" name="Text 7"/>
          <p:cNvSpPr/>
          <p:nvPr/>
        </p:nvSpPr>
        <p:spPr>
          <a:xfrm>
            <a:off x="1371600" y="2048256"/>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Command centres · Field app · VAHAN · SARTHI · eGujCop · AFIS · NAFIS</a:t>
            </a:r>
            <a:endParaRPr lang="en-US" sz="1200" dirty="0"/>
          </a:p>
        </p:txBody>
      </p:sp>
      <p:sp>
        <p:nvSpPr>
          <p:cNvPr id="12" name="Text 8"/>
          <p:cNvSpPr/>
          <p:nvPr/>
        </p:nvSpPr>
        <p:spPr>
          <a:xfrm>
            <a:off x="8046720" y="1810512"/>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Live alerts · open APIs</a:t>
            </a:r>
            <a:endParaRPr lang="en-US" sz="1400" dirty="0"/>
          </a:p>
        </p:txBody>
      </p:sp>
      <p:sp>
        <p:nvSpPr>
          <p:cNvPr id="13" name="Shape 9"/>
          <p:cNvSpPr/>
          <p:nvPr/>
        </p:nvSpPr>
        <p:spPr>
          <a:xfrm>
            <a:off x="877824" y="2404872"/>
            <a:ext cx="164592" cy="164592"/>
          </a:xfrm>
          <a:prstGeom prst="upArrow">
            <a:avLst/>
          </a:prstGeom>
          <a:solidFill>
            <a:srgbClr val="B8C0CE"/>
          </a:solidFill>
          <a:ln w="12700">
            <a:solidFill>
              <a:srgbClr val="B8C0CE"/>
            </a:solidFill>
            <a:prstDash val="solid"/>
          </a:ln>
        </p:spPr>
      </p:sp>
      <p:sp>
        <p:nvSpPr>
          <p:cNvPr id="14" name="Shape 10"/>
          <p:cNvSpPr/>
          <p:nvPr/>
        </p:nvSpPr>
        <p:spPr>
          <a:xfrm>
            <a:off x="548640" y="2578608"/>
            <a:ext cx="11094415" cy="749808"/>
          </a:xfrm>
          <a:prstGeom prst="roundRect">
            <a:avLst>
              <a:gd name="adj" fmla="val 14634"/>
            </a:avLst>
          </a:prstGeom>
          <a:solidFill>
            <a:srgbClr val="EAF0FD"/>
          </a:solidFill>
          <a:ln w="9525">
            <a:solidFill>
              <a:srgbClr val="C9D7F7"/>
            </a:solidFill>
            <a:prstDash val="solid"/>
          </a:ln>
        </p:spPr>
      </p:sp>
      <p:sp>
        <p:nvSpPr>
          <p:cNvPr id="15" name="Shape 11"/>
          <p:cNvSpPr/>
          <p:nvPr/>
        </p:nvSpPr>
        <p:spPr>
          <a:xfrm>
            <a:off x="731520" y="2724912"/>
            <a:ext cx="457200" cy="457200"/>
          </a:xfrm>
          <a:prstGeom prst="ellipse">
            <a:avLst/>
          </a:prstGeom>
          <a:solidFill>
            <a:srgbClr val="2456D6"/>
          </a:solidFill>
          <a:ln w="12700">
            <a:solidFill>
              <a:srgbClr val="2456D6"/>
            </a:solidFill>
            <a:prstDash val="solid"/>
          </a:ln>
        </p:spPr>
      </p:sp>
      <p:pic>
        <p:nvPicPr>
          <p:cNvPr id="16" name="Image 1" descr="preencoded.png">    </p:cNvPr>
          <p:cNvPicPr>
            <a:picLocks noChangeAspect="1"/>
          </p:cNvPicPr>
          <p:nvPr/>
        </p:nvPicPr>
        <p:blipFill>
          <a:blip r:embed="rId2"/>
          <a:stretch>
            <a:fillRect/>
          </a:stretch>
        </p:blipFill>
        <p:spPr>
          <a:xfrm>
            <a:off x="836676" y="2830068"/>
            <a:ext cx="246888" cy="246888"/>
          </a:xfrm>
          <a:prstGeom prst="rect">
            <a:avLst/>
          </a:prstGeom>
        </p:spPr>
      </p:pic>
      <p:sp>
        <p:nvSpPr>
          <p:cNvPr id="17" name="Text 12"/>
          <p:cNvSpPr/>
          <p:nvPr/>
        </p:nvSpPr>
        <p:spPr>
          <a:xfrm>
            <a:off x="1371600" y="2670048"/>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State core  ·  high availability + disaster recovery</a:t>
            </a:r>
            <a:endParaRPr lang="en-US" sz="1500" dirty="0"/>
          </a:p>
        </p:txBody>
      </p:sp>
      <p:sp>
        <p:nvSpPr>
          <p:cNvPr id="18" name="Text 13"/>
          <p:cNvSpPr/>
          <p:nvPr/>
        </p:nvSpPr>
        <p:spPr>
          <a:xfrm>
            <a:off x="1371600" y="2980944"/>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Event bus → watchlist matching → alerts · searchable sighting history</a:t>
            </a:r>
            <a:endParaRPr lang="en-US" sz="1200" dirty="0"/>
          </a:p>
        </p:txBody>
      </p:sp>
      <p:sp>
        <p:nvSpPr>
          <p:cNvPr id="19" name="Text 14"/>
          <p:cNvSpPr/>
          <p:nvPr/>
        </p:nvSpPr>
        <p:spPr>
          <a:xfrm>
            <a:off x="8046720" y="2743200"/>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≈563 events/s · RPO 15 min</a:t>
            </a:r>
            <a:endParaRPr lang="en-US" sz="1400" dirty="0"/>
          </a:p>
        </p:txBody>
      </p:sp>
      <p:sp>
        <p:nvSpPr>
          <p:cNvPr id="20" name="Shape 15"/>
          <p:cNvSpPr/>
          <p:nvPr/>
        </p:nvSpPr>
        <p:spPr>
          <a:xfrm>
            <a:off x="877824" y="3337560"/>
            <a:ext cx="164592" cy="164592"/>
          </a:xfrm>
          <a:prstGeom prst="upArrow">
            <a:avLst/>
          </a:prstGeom>
          <a:solidFill>
            <a:srgbClr val="B8C0CE"/>
          </a:solidFill>
          <a:ln w="12700">
            <a:solidFill>
              <a:srgbClr val="B8C0CE"/>
            </a:solidFill>
            <a:prstDash val="solid"/>
          </a:ln>
        </p:spPr>
      </p:sp>
      <p:sp>
        <p:nvSpPr>
          <p:cNvPr id="21" name="Shape 16"/>
          <p:cNvSpPr/>
          <p:nvPr/>
        </p:nvSpPr>
        <p:spPr>
          <a:xfrm>
            <a:off x="548640" y="3511296"/>
            <a:ext cx="11094415" cy="749808"/>
          </a:xfrm>
          <a:prstGeom prst="roundRect">
            <a:avLst>
              <a:gd name="adj" fmla="val 14634"/>
            </a:avLst>
          </a:prstGeom>
          <a:solidFill>
            <a:srgbClr val="EAF0FD"/>
          </a:solidFill>
          <a:ln w="9525">
            <a:solidFill>
              <a:srgbClr val="C9D7F7"/>
            </a:solidFill>
            <a:prstDash val="solid"/>
          </a:ln>
        </p:spPr>
      </p:sp>
      <p:sp>
        <p:nvSpPr>
          <p:cNvPr id="22" name="Shape 17"/>
          <p:cNvSpPr/>
          <p:nvPr/>
        </p:nvSpPr>
        <p:spPr>
          <a:xfrm>
            <a:off x="731520" y="3657600"/>
            <a:ext cx="457200" cy="457200"/>
          </a:xfrm>
          <a:prstGeom prst="ellipse">
            <a:avLst/>
          </a:prstGeom>
          <a:solidFill>
            <a:srgbClr val="2456D6"/>
          </a:solidFill>
          <a:ln w="12700">
            <a:solidFill>
              <a:srgbClr val="2456D6"/>
            </a:solidFill>
            <a:prstDash val="solid"/>
          </a:ln>
        </p:spPr>
      </p:sp>
      <p:pic>
        <p:nvPicPr>
          <p:cNvPr id="23" name="Image 2" descr="preencoded.png">    </p:cNvPr>
          <p:cNvPicPr>
            <a:picLocks noChangeAspect="1"/>
          </p:cNvPicPr>
          <p:nvPr/>
        </p:nvPicPr>
        <p:blipFill>
          <a:blip r:embed="rId3"/>
          <a:stretch>
            <a:fillRect/>
          </a:stretch>
        </p:blipFill>
        <p:spPr>
          <a:xfrm>
            <a:off x="836676" y="3762756"/>
            <a:ext cx="246888" cy="246888"/>
          </a:xfrm>
          <a:prstGeom prst="rect">
            <a:avLst/>
          </a:prstGeom>
        </p:spPr>
      </p:pic>
      <p:sp>
        <p:nvSpPr>
          <p:cNvPr id="24" name="Text 18"/>
          <p:cNvSpPr/>
          <p:nvPr/>
        </p:nvSpPr>
        <p:spPr>
          <a:xfrm>
            <a:off x="1371600" y="3602736"/>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District edge  ×34  (+ edge boxes at remote sites)</a:t>
            </a:r>
            <a:endParaRPr lang="en-US" sz="1500" dirty="0"/>
          </a:p>
        </p:txBody>
      </p:sp>
      <p:sp>
        <p:nvSpPr>
          <p:cNvPr id="25" name="Text 19"/>
          <p:cNvSpPr/>
          <p:nvPr/>
        </p:nvSpPr>
        <p:spPr>
          <a:xfrm>
            <a:off x="1371600" y="3913632"/>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One connection per camera → plate reading and analytics → 72 h offline queue</a:t>
            </a:r>
            <a:endParaRPr lang="en-US" sz="1200" dirty="0"/>
          </a:p>
        </p:txBody>
      </p:sp>
      <p:sp>
        <p:nvSpPr>
          <p:cNvPr id="26" name="Text 20"/>
          <p:cNvSpPr/>
          <p:nvPr/>
        </p:nvSpPr>
        <p:spPr>
          <a:xfrm>
            <a:off x="8046720" y="3675888"/>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AI runs here</a:t>
            </a:r>
            <a:endParaRPr lang="en-US" sz="1400" dirty="0"/>
          </a:p>
        </p:txBody>
      </p:sp>
      <p:sp>
        <p:nvSpPr>
          <p:cNvPr id="27" name="Shape 21"/>
          <p:cNvSpPr/>
          <p:nvPr/>
        </p:nvSpPr>
        <p:spPr>
          <a:xfrm>
            <a:off x="877824" y="4270248"/>
            <a:ext cx="164592" cy="164592"/>
          </a:xfrm>
          <a:prstGeom prst="upArrow">
            <a:avLst/>
          </a:prstGeom>
          <a:solidFill>
            <a:srgbClr val="B8C0CE"/>
          </a:solidFill>
          <a:ln w="12700">
            <a:solidFill>
              <a:srgbClr val="B8C0CE"/>
            </a:solidFill>
            <a:prstDash val="solid"/>
          </a:ln>
        </p:spPr>
      </p:sp>
      <p:sp>
        <p:nvSpPr>
          <p:cNvPr id="28" name="Shape 22"/>
          <p:cNvSpPr/>
          <p:nvPr/>
        </p:nvSpPr>
        <p:spPr>
          <a:xfrm>
            <a:off x="548640" y="4443984"/>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9" name="Shape 23"/>
          <p:cNvSpPr/>
          <p:nvPr/>
        </p:nvSpPr>
        <p:spPr>
          <a:xfrm>
            <a:off x="731520" y="4590288"/>
            <a:ext cx="457200" cy="457200"/>
          </a:xfrm>
          <a:prstGeom prst="ellipse">
            <a:avLst/>
          </a:prstGeom>
          <a:solidFill>
            <a:srgbClr val="7A869E"/>
          </a:solidFill>
          <a:ln w="12700">
            <a:solidFill>
              <a:srgbClr val="7A869E"/>
            </a:solidFill>
            <a:prstDash val="solid"/>
          </a:ln>
        </p:spPr>
      </p:sp>
      <p:pic>
        <p:nvPicPr>
          <p:cNvPr id="30" name="Image 3" descr="preencoded.png">    </p:cNvPr>
          <p:cNvPicPr>
            <a:picLocks noChangeAspect="1"/>
          </p:cNvPicPr>
          <p:nvPr/>
        </p:nvPicPr>
        <p:blipFill>
          <a:blip r:embed="rId4"/>
          <a:stretch>
            <a:fillRect/>
          </a:stretch>
        </p:blipFill>
        <p:spPr>
          <a:xfrm>
            <a:off x="836676" y="4695444"/>
            <a:ext cx="246888" cy="246888"/>
          </a:xfrm>
          <a:prstGeom prst="rect">
            <a:avLst/>
          </a:prstGeom>
        </p:spPr>
      </p:pic>
      <p:sp>
        <p:nvSpPr>
          <p:cNvPr id="31" name="Text 24"/>
          <p:cNvSpPr/>
          <p:nvPr/>
        </p:nvSpPr>
        <p:spPr>
          <a:xfrm>
            <a:off x="1371600" y="4535424"/>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Department systems  ·  unchanged</a:t>
            </a:r>
            <a:endParaRPr lang="en-US" sz="1500" dirty="0"/>
          </a:p>
        </p:txBody>
      </p:sp>
      <p:sp>
        <p:nvSpPr>
          <p:cNvPr id="32" name="Text 25"/>
          <p:cNvSpPr/>
          <p:nvPr/>
        </p:nvSpPr>
        <p:spPr>
          <a:xfrm>
            <a:off x="1371600" y="4846320"/>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Cameras, recorders and VMS keep their own 7–15 day retention</a:t>
            </a:r>
            <a:endParaRPr lang="en-US" sz="1200" dirty="0"/>
          </a:p>
        </p:txBody>
      </p:sp>
      <p:sp>
        <p:nvSpPr>
          <p:cNvPr id="33" name="Text 26"/>
          <p:cNvSpPr/>
          <p:nvPr/>
        </p:nvSpPr>
        <p:spPr>
          <a:xfrm>
            <a:off x="8046720" y="4608576"/>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Read-only: RTSP · ONVIF · SDK</a:t>
            </a:r>
            <a:endParaRPr lang="en-US" sz="1400" dirty="0"/>
          </a:p>
        </p:txBody>
      </p:sp>
      <p:sp>
        <p:nvSpPr>
          <p:cNvPr id="34" name="Shape 27"/>
          <p:cNvSpPr/>
          <p:nvPr/>
        </p:nvSpPr>
        <p:spPr>
          <a:xfrm>
            <a:off x="877824" y="5202936"/>
            <a:ext cx="164592" cy="164592"/>
          </a:xfrm>
          <a:prstGeom prst="upArrow">
            <a:avLst/>
          </a:prstGeom>
          <a:solidFill>
            <a:srgbClr val="B8C0CE"/>
          </a:solidFill>
          <a:ln w="12700">
            <a:solidFill>
              <a:srgbClr val="B8C0CE"/>
            </a:solidFill>
            <a:prstDash val="solid"/>
          </a:ln>
        </p:spPr>
      </p:sp>
      <p:sp>
        <p:nvSpPr>
          <p:cNvPr id="35" name="Shape 28"/>
          <p:cNvSpPr/>
          <p:nvPr/>
        </p:nvSpPr>
        <p:spPr>
          <a:xfrm>
            <a:off x="548640" y="5376672"/>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6" name="Shape 29"/>
          <p:cNvSpPr/>
          <p:nvPr/>
        </p:nvSpPr>
        <p:spPr>
          <a:xfrm>
            <a:off x="731520" y="5522976"/>
            <a:ext cx="457200" cy="457200"/>
          </a:xfrm>
          <a:prstGeom prst="ellipse">
            <a:avLst/>
          </a:prstGeom>
          <a:solidFill>
            <a:srgbClr val="7A869E"/>
          </a:solidFill>
          <a:ln w="12700">
            <a:solidFill>
              <a:srgbClr val="7A869E"/>
            </a:solidFill>
            <a:prstDash val="solid"/>
          </a:ln>
        </p:spPr>
      </p:sp>
      <p:pic>
        <p:nvPicPr>
          <p:cNvPr id="37" name="Image 4" descr="preencoded.png">    </p:cNvPr>
          <p:cNvPicPr>
            <a:picLocks noChangeAspect="1"/>
          </p:cNvPicPr>
          <p:nvPr/>
        </p:nvPicPr>
        <p:blipFill>
          <a:blip r:embed="rId5"/>
          <a:stretch>
            <a:fillRect/>
          </a:stretch>
        </p:blipFill>
        <p:spPr>
          <a:xfrm>
            <a:off x="836676" y="5628132"/>
            <a:ext cx="246888" cy="246888"/>
          </a:xfrm>
          <a:prstGeom prst="rect">
            <a:avLst/>
          </a:prstGeom>
        </p:spPr>
      </p:pic>
      <p:sp>
        <p:nvSpPr>
          <p:cNvPr id="38" name="Text 30"/>
          <p:cNvSpPr/>
          <p:nvPr/>
        </p:nvSpPr>
        <p:spPr>
          <a:xfrm>
            <a:off x="1371600" y="5468112"/>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80,000 cameras, tiered</a:t>
            </a:r>
            <a:endParaRPr lang="en-US" sz="1500" dirty="0"/>
          </a:p>
        </p:txBody>
      </p:sp>
      <p:sp>
        <p:nvSpPr>
          <p:cNvPr id="39" name="Text 31"/>
          <p:cNvSpPr/>
          <p:nvPr/>
        </p:nvSpPr>
        <p:spPr>
          <a:xfrm>
            <a:off x="1371600" y="5779008"/>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Continuous · sampled · motion-triggered · view-only</a:t>
            </a:r>
            <a:endParaRPr lang="en-US" sz="1200" dirty="0"/>
          </a:p>
        </p:txBody>
      </p:sp>
      <p:sp>
        <p:nvSpPr>
          <p:cNvPr id="40" name="Text 32"/>
          <p:cNvSpPr/>
          <p:nvPr/>
        </p:nvSpPr>
        <p:spPr>
          <a:xfrm>
            <a:off x="8046720" y="5541264"/>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Tier set per camera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ESTIMATED COST</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What it takes to run statewide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10</a:t>
            </a:r>
            <a:endParaRPr lang="en-US" sz="900" dirty="0"/>
          </a:p>
        </p:txBody>
      </p:sp>
      <p:graphicFrame>
        <p:nvGraphicFramePr>
          <p:cNvPr id="7" name="Chart 0" descr=""/>
          <p:cNvGraphicFramePr/>
          <p:nvPr/>
        </p:nvGraphicFramePr>
        <p:xfrm>
          <a:off x="548640" y="1600200"/>
          <a:ext cx="6126480" cy="3703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040880" y="16916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9" name="Text 5"/>
          <p:cNvSpPr/>
          <p:nvPr/>
        </p:nvSpPr>
        <p:spPr>
          <a:xfrm>
            <a:off x="7269480" y="1856232"/>
            <a:ext cx="1706728" cy="54864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≈₹80 cr</a:t>
            </a:r>
            <a:endParaRPr lang="en-US" sz="2600" dirty="0"/>
          </a:p>
        </p:txBody>
      </p:sp>
      <p:sp>
        <p:nvSpPr>
          <p:cNvPr id="10" name="Text 6"/>
          <p:cNvSpPr/>
          <p:nvPr/>
        </p:nvSpPr>
        <p:spPr>
          <a:xfrm>
            <a:off x="7269480" y="24231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to build</a:t>
            </a:r>
            <a:endParaRPr lang="en-US" sz="1300" dirty="0"/>
          </a:p>
        </p:txBody>
      </p:sp>
      <p:sp>
        <p:nvSpPr>
          <p:cNvPr id="11" name="Shape 7"/>
          <p:cNvSpPr/>
          <p:nvPr/>
        </p:nvSpPr>
        <p:spPr>
          <a:xfrm>
            <a:off x="9479128" y="16916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8"/>
          <p:cNvSpPr/>
          <p:nvPr/>
        </p:nvSpPr>
        <p:spPr>
          <a:xfrm>
            <a:off x="9707728" y="1856232"/>
            <a:ext cx="1706728" cy="54864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≈₹24 cr</a:t>
            </a:r>
            <a:endParaRPr lang="en-US" sz="2600" dirty="0"/>
          </a:p>
        </p:txBody>
      </p:sp>
      <p:sp>
        <p:nvSpPr>
          <p:cNvPr id="13" name="Text 9"/>
          <p:cNvSpPr/>
          <p:nvPr/>
        </p:nvSpPr>
        <p:spPr>
          <a:xfrm>
            <a:off x="9707728" y="24231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year to run</a:t>
            </a:r>
            <a:endParaRPr lang="en-US" sz="1300" dirty="0"/>
          </a:p>
        </p:txBody>
      </p:sp>
      <p:sp>
        <p:nvSpPr>
          <p:cNvPr id="14" name="Shape 10"/>
          <p:cNvSpPr/>
          <p:nvPr/>
        </p:nvSpPr>
        <p:spPr>
          <a:xfrm>
            <a:off x="7040880" y="30632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5" name="Text 11"/>
          <p:cNvSpPr/>
          <p:nvPr/>
        </p:nvSpPr>
        <p:spPr>
          <a:xfrm>
            <a:off x="7269480" y="3227832"/>
            <a:ext cx="1706728" cy="548640"/>
          </a:xfrm>
          <a:prstGeom prst="rect">
            <a:avLst/>
          </a:prstGeom>
          <a:noFill/>
          <a:ln/>
        </p:spPr>
        <p:txBody>
          <a:bodyPr wrap="square" lIns="0" tIns="0" rIns="0" bIns="0" rtlCol="0" anchor="t"/>
          <a:lstStyle/>
          <a:p>
            <a:pPr indent="0" marL="0">
              <a:buNone/>
            </a:pPr>
            <a:r>
              <a:rPr lang="en-US" sz="2600" b="1" dirty="0">
                <a:solidFill>
                  <a:srgbClr val="2456D6"/>
                </a:solidFill>
                <a:latin typeface="Arial" pitchFamily="34" charset="0"/>
                <a:ea typeface="Arial" pitchFamily="34" charset="-122"/>
                <a:cs typeface="Arial" pitchFamily="34" charset="-120"/>
              </a:rPr>
              <a:t>≈₹10,000</a:t>
            </a:r>
            <a:endParaRPr lang="en-US" sz="2600" dirty="0"/>
          </a:p>
        </p:txBody>
      </p:sp>
      <p:sp>
        <p:nvSpPr>
          <p:cNvPr id="16" name="Text 12"/>
          <p:cNvSpPr/>
          <p:nvPr/>
        </p:nvSpPr>
        <p:spPr>
          <a:xfrm>
            <a:off x="7269480" y="37947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per camera to build</a:t>
            </a:r>
            <a:endParaRPr lang="en-US" sz="1300" dirty="0"/>
          </a:p>
        </p:txBody>
      </p:sp>
      <p:sp>
        <p:nvSpPr>
          <p:cNvPr id="17" name="Shape 13"/>
          <p:cNvSpPr/>
          <p:nvPr/>
        </p:nvSpPr>
        <p:spPr>
          <a:xfrm>
            <a:off x="9479128" y="30632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4"/>
          <p:cNvSpPr/>
          <p:nvPr/>
        </p:nvSpPr>
        <p:spPr>
          <a:xfrm>
            <a:off x="9707728" y="3227832"/>
            <a:ext cx="1706728" cy="548640"/>
          </a:xfrm>
          <a:prstGeom prst="rect">
            <a:avLst/>
          </a:prstGeom>
          <a:noFill/>
          <a:ln/>
        </p:spPr>
        <p:txBody>
          <a:bodyPr wrap="square" lIns="0" tIns="0" rIns="0" bIns="0" rtlCol="0" anchor="t"/>
          <a:lstStyle/>
          <a:p>
            <a:pPr indent="0" marL="0">
              <a:buNone/>
            </a:pPr>
            <a:r>
              <a:rPr lang="en-US" sz="2600" b="1" dirty="0">
                <a:solidFill>
                  <a:srgbClr val="2456D6"/>
                </a:solidFill>
                <a:latin typeface="Arial" pitchFamily="34" charset="0"/>
                <a:ea typeface="Arial" pitchFamily="34" charset="-122"/>
                <a:cs typeface="Arial" pitchFamily="34" charset="-120"/>
              </a:rPr>
              <a:t>≈₹3,000</a:t>
            </a:r>
            <a:endParaRPr lang="en-US" sz="2600" dirty="0"/>
          </a:p>
        </p:txBody>
      </p:sp>
      <p:sp>
        <p:nvSpPr>
          <p:cNvPr id="19" name="Text 15"/>
          <p:cNvSpPr/>
          <p:nvPr/>
        </p:nvSpPr>
        <p:spPr>
          <a:xfrm>
            <a:off x="9707728" y="37947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per camera, per year</a:t>
            </a:r>
            <a:endParaRPr lang="en-US" sz="1300" dirty="0"/>
          </a:p>
        </p:txBody>
      </p:sp>
      <p:sp>
        <p:nvSpPr>
          <p:cNvPr id="20" name="Shape 16"/>
          <p:cNvSpPr/>
          <p:nvPr/>
        </p:nvSpPr>
        <p:spPr>
          <a:xfrm>
            <a:off x="7040880" y="4480560"/>
            <a:ext cx="4602175" cy="914400"/>
          </a:xfrm>
          <a:prstGeom prst="roundRect">
            <a:avLst>
              <a:gd name="adj" fmla="val 12000"/>
            </a:avLst>
          </a:prstGeom>
          <a:solidFill>
            <a:srgbClr val="EAF0FD"/>
          </a:solidFill>
          <a:ln w="9525">
            <a:solidFill>
              <a:srgbClr val="C9D7F7"/>
            </a:solidFill>
            <a:prstDash val="solid"/>
          </a:ln>
        </p:spPr>
      </p:sp>
      <p:sp>
        <p:nvSpPr>
          <p:cNvPr id="21" name="Shape 17"/>
          <p:cNvSpPr/>
          <p:nvPr/>
        </p:nvSpPr>
        <p:spPr>
          <a:xfrm>
            <a:off x="7242048" y="4681728"/>
            <a:ext cx="512064" cy="512064"/>
          </a:xfrm>
          <a:prstGeom prst="ellipse">
            <a:avLst/>
          </a:prstGeom>
          <a:solidFill>
            <a:srgbClr val="0F766E"/>
          </a:solidFill>
          <a:ln w="12700">
            <a:solidFill>
              <a:srgbClr val="0F766E"/>
            </a:solidFill>
            <a:prstDash val="solid"/>
          </a:ln>
        </p:spPr>
      </p:sp>
      <p:pic>
        <p:nvPicPr>
          <p:cNvPr id="22" name="Image 0" descr="preencoded.png">    </p:cNvPr>
          <p:cNvPicPr>
            <a:picLocks noChangeAspect="1"/>
          </p:cNvPicPr>
          <p:nvPr/>
        </p:nvPicPr>
        <p:blipFill>
          <a:blip r:embed="rId2"/>
          <a:stretch>
            <a:fillRect/>
          </a:stretch>
        </p:blipFill>
        <p:spPr>
          <a:xfrm>
            <a:off x="7359823" y="4799503"/>
            <a:ext cx="276515" cy="276515"/>
          </a:xfrm>
          <a:prstGeom prst="rect">
            <a:avLst/>
          </a:prstGeom>
        </p:spPr>
      </p:pic>
      <p:sp>
        <p:nvSpPr>
          <p:cNvPr id="23" name="Text 18"/>
          <p:cNvSpPr/>
          <p:nvPr/>
        </p:nvSpPr>
        <p:spPr>
          <a:xfrm>
            <a:off x="7909560" y="4590288"/>
            <a:ext cx="3550615" cy="329184"/>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₹0 in software licences</a:t>
            </a:r>
            <a:endParaRPr lang="en-US" sz="1500" dirty="0"/>
          </a:p>
        </p:txBody>
      </p:sp>
      <p:sp>
        <p:nvSpPr>
          <p:cNvPr id="24" name="Text 19"/>
          <p:cNvSpPr/>
          <p:nvPr/>
        </p:nvSpPr>
        <p:spPr>
          <a:xfrm>
            <a:off x="7909560" y="4919472"/>
            <a:ext cx="3550615"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Open-source stack: no per-camera VMS fees, which at this scale often outweigh the hardware.</a:t>
            </a:r>
            <a:endParaRPr lang="en-US" sz="1200" dirty="0"/>
          </a:p>
        </p:txBody>
      </p:sp>
      <p:sp>
        <p:nvSpPr>
          <p:cNvPr id="25" name="Shape 20"/>
          <p:cNvSpPr/>
          <p:nvPr/>
        </p:nvSpPr>
        <p:spPr>
          <a:xfrm>
            <a:off x="548640" y="5504688"/>
            <a:ext cx="11094415" cy="749808"/>
          </a:xfrm>
          <a:prstGeom prst="roundRect">
            <a:avLst>
              <a:gd name="adj" fmla="val 14634"/>
            </a:avLst>
          </a:prstGeom>
          <a:solidFill>
            <a:srgbClr val="FFF4EC"/>
          </a:solidFill>
          <a:ln w="9525">
            <a:solidFill>
              <a:srgbClr val="F6D9C4"/>
            </a:solidFill>
            <a:prstDash val="solid"/>
          </a:ln>
        </p:spPr>
      </p:sp>
      <p:sp>
        <p:nvSpPr>
          <p:cNvPr id="26" name="Shape 21"/>
          <p:cNvSpPr/>
          <p:nvPr/>
        </p:nvSpPr>
        <p:spPr>
          <a:xfrm>
            <a:off x="749808" y="5623560"/>
            <a:ext cx="512064" cy="512064"/>
          </a:xfrm>
          <a:prstGeom prst="ellipse">
            <a:avLst/>
          </a:prstGeom>
          <a:solidFill>
            <a:srgbClr val="C2410C"/>
          </a:solidFill>
          <a:ln w="12700">
            <a:solidFill>
              <a:srgbClr val="C2410C"/>
            </a:solidFill>
            <a:prstDash val="solid"/>
          </a:ln>
        </p:spPr>
      </p:sp>
      <p:pic>
        <p:nvPicPr>
          <p:cNvPr id="27" name="Image 1" descr="preencoded.png">    </p:cNvPr>
          <p:cNvPicPr>
            <a:picLocks noChangeAspect="1"/>
          </p:cNvPicPr>
          <p:nvPr/>
        </p:nvPicPr>
        <p:blipFill>
          <a:blip r:embed="rId3"/>
          <a:stretch>
            <a:fillRect/>
          </a:stretch>
        </p:blipFill>
        <p:spPr>
          <a:xfrm>
            <a:off x="867583" y="5741335"/>
            <a:ext cx="276515" cy="276515"/>
          </a:xfrm>
          <a:prstGeom prst="rect">
            <a:avLst/>
          </a:prstGeom>
        </p:spPr>
      </p:pic>
      <p:sp>
        <p:nvSpPr>
          <p:cNvPr id="28" name="Text 22"/>
          <p:cNvSpPr/>
          <p:nvPr/>
        </p:nvSpPr>
        <p:spPr>
          <a:xfrm>
            <a:off x="1417320" y="5550408"/>
            <a:ext cx="9997135" cy="658368"/>
          </a:xfrm>
          <a:prstGeom prst="rect">
            <a:avLst/>
          </a:prstGeom>
          <a:noFill/>
          <a:ln/>
        </p:spPr>
        <p:txBody>
          <a:bodyPr wrap="square" lIns="0" tIns="0" rIns="0" bIns="0" rtlCol="0" anchor="ctr"/>
          <a:lstStyle/>
          <a:p>
            <a:pPr indent="0" marL="0">
              <a:buNone/>
            </a:pPr>
            <a:r>
              <a:rPr lang="en-US" sz="1400" b="1" dirty="0">
                <a:solidFill>
                  <a:srgbClr val="0F1B33"/>
                </a:solidFill>
                <a:latin typeface="Calibri" pitchFamily="34" charset="0"/>
                <a:ea typeface="Calibri" pitchFamily="34" charset="-122"/>
                <a:cs typeface="Calibri" pitchFamily="34" charset="-120"/>
              </a:rPr>
              <a:t>Centralising every camera: ₹400 cr+ to build</a:t>
            </a:r>
            <a:pPr indent="0" marL="0">
              <a:buNone/>
            </a:pPr>
            <a:r>
              <a:rPr lang="en-US" sz="1400" dirty="0">
                <a:solidFill>
                  <a:srgbClr val="536079"/>
                </a:solidFill>
                <a:latin typeface="Calibri" pitchFamily="34" charset="0"/>
                <a:ea typeface="Calibri" pitchFamily="34" charset="-122"/>
                <a:cs typeface="Calibri" pitchFamily="34" charset="-120"/>
              </a:rPr>
              <a:t> — about five times more, before its higher running cost. The difference is reuse: no camera, recorder or VMS is replaced.</a:t>
            </a:r>
            <a:endParaRPr lang="en-US" sz="1400" dirty="0"/>
          </a:p>
        </p:txBody>
      </p:sp>
      <p:sp>
        <p:nvSpPr>
          <p:cNvPr id="29" name="Text 23"/>
          <p:cNvSpPr/>
          <p:nvPr/>
        </p:nvSpPr>
        <p:spPr>
          <a:xfrm>
            <a:off x="548640" y="6419088"/>
            <a:ext cx="10362895" cy="274320"/>
          </a:xfrm>
          <a:prstGeom prst="rect">
            <a:avLst/>
          </a:prstGeom>
          <a:noFill/>
          <a:ln/>
        </p:spPr>
        <p:txBody>
          <a:bodyPr wrap="square" lIns="0" tIns="0" rIns="0" bIns="0" rtlCol="0" anchor="t"/>
          <a:lstStyle/>
          <a:p>
            <a:pPr indent="0" marL="0">
              <a:buNone/>
            </a:pPr>
            <a:r>
              <a:rPr lang="en-US" sz="1000" i="1" dirty="0">
                <a:solidFill>
                  <a:srgbClr val="536079"/>
                </a:solidFill>
                <a:latin typeface="Calibri" pitchFamily="34" charset="0"/>
                <a:ea typeface="Calibri" pitchFamily="34" charset="-122"/>
                <a:cs typeface="Calibri" pitchFamily="34" charset="-120"/>
              </a:rPr>
              <a:t>Order of magnitude, for comparing approaches — not a tender. ~80,000 cameras; five-year cost of ownership ≈₹200 cr. The pilot replaces every estimate with a measurement.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SENTINEL</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What sets Sentinel apart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11</a:t>
            </a:r>
            <a:endParaRPr lang="en-US" sz="900" dirty="0"/>
          </a:p>
        </p:txBody>
      </p:sp>
      <p:sp>
        <p:nvSpPr>
          <p:cNvPr id="7" name="Shape 4"/>
          <p:cNvSpPr/>
          <p:nvPr/>
        </p:nvSpPr>
        <p:spPr>
          <a:xfrm>
            <a:off x="548640" y="1554480"/>
            <a:ext cx="11094415" cy="868680"/>
          </a:xfrm>
          <a:prstGeom prst="roundRect">
            <a:avLst>
              <a:gd name="adj" fmla="val 12632"/>
            </a:avLst>
          </a:prstGeom>
          <a:solidFill>
            <a:srgbClr val="EAF0FD"/>
          </a:solidFill>
          <a:ln w="9525">
            <a:solidFill>
              <a:srgbClr val="C9D7F7"/>
            </a:solidFill>
            <a:prstDash val="solid"/>
          </a:ln>
        </p:spPr>
      </p:sp>
      <p:sp>
        <p:nvSpPr>
          <p:cNvPr id="8" name="Text 5"/>
          <p:cNvSpPr/>
          <p:nvPr/>
        </p:nvSpPr>
        <p:spPr>
          <a:xfrm>
            <a:off x="868680" y="1645920"/>
            <a:ext cx="10454335" cy="6858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Sentinel traces a vehicle across every department’s cameras — on the systems Gujarat already owns, with evidence that holds up.</a:t>
            </a:r>
            <a:endParaRPr lang="en-US" sz="1800" dirty="0"/>
          </a:p>
        </p:txBody>
      </p:sp>
      <p:sp>
        <p:nvSpPr>
          <p:cNvPr id="9" name="Shape 6"/>
          <p:cNvSpPr/>
          <p:nvPr/>
        </p:nvSpPr>
        <p:spPr>
          <a:xfrm>
            <a:off x="548640"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7"/>
          <p:cNvSpPr/>
          <p:nvPr/>
        </p:nvSpPr>
        <p:spPr>
          <a:xfrm>
            <a:off x="822960" y="2971800"/>
            <a:ext cx="603504" cy="603504"/>
          </a:xfrm>
          <a:prstGeom prst="ellipse">
            <a:avLst/>
          </a:prstGeom>
          <a:solidFill>
            <a:srgbClr val="D97706"/>
          </a:solidFill>
          <a:ln w="12700">
            <a:solidFill>
              <a:srgbClr val="D97706"/>
            </a:solidFill>
            <a:prstDash val="solid"/>
          </a:ln>
        </p:spPr>
      </p:sp>
      <p:pic>
        <p:nvPicPr>
          <p:cNvPr id="11" name="Image 0" descr="preencoded.png">    </p:cNvPr>
          <p:cNvPicPr>
            <a:picLocks noChangeAspect="1"/>
          </p:cNvPicPr>
          <p:nvPr/>
        </p:nvPicPr>
        <p:blipFill>
          <a:blip r:embed="rId1"/>
          <a:stretch>
            <a:fillRect/>
          </a:stretch>
        </p:blipFill>
        <p:spPr>
          <a:xfrm>
            <a:off x="961766" y="3110606"/>
            <a:ext cx="325892" cy="325892"/>
          </a:xfrm>
          <a:prstGeom prst="rect">
            <a:avLst/>
          </a:prstGeom>
        </p:spPr>
      </p:pic>
      <p:sp>
        <p:nvSpPr>
          <p:cNvPr id="12" name="Text 8"/>
          <p:cNvSpPr/>
          <p:nvPr/>
        </p:nvSpPr>
        <p:spPr>
          <a:xfrm>
            <a:off x="1554480"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Proven on Gujarat’s own cameras</a:t>
            </a:r>
            <a:endParaRPr lang="en-US" sz="1700" dirty="0"/>
          </a:p>
        </p:txBody>
      </p:sp>
      <p:sp>
        <p:nvSpPr>
          <p:cNvPr id="13" name="Text 9"/>
          <p:cNvSpPr/>
          <p:nvPr/>
        </p:nvSpPr>
        <p:spPr>
          <a:xfrm>
            <a:off x="822960"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Not a lab demonstration: built and tested on the government’s own camera grid.</a:t>
            </a:r>
            <a:endParaRPr lang="en-US" sz="1400" dirty="0"/>
          </a:p>
        </p:txBody>
      </p:sp>
      <p:sp>
        <p:nvSpPr>
          <p:cNvPr id="14" name="Shape 10"/>
          <p:cNvSpPr/>
          <p:nvPr/>
        </p:nvSpPr>
        <p:spPr>
          <a:xfrm>
            <a:off x="822960" y="4544568"/>
            <a:ext cx="2966618" cy="0"/>
          </a:xfrm>
          <a:prstGeom prst="line">
            <a:avLst/>
          </a:prstGeom>
          <a:noFill/>
          <a:ln w="9525">
            <a:solidFill>
              <a:srgbClr val="DDE3EE"/>
            </a:solidFill>
            <a:prstDash val="solid"/>
          </a:ln>
        </p:spPr>
      </p:sp>
      <p:sp>
        <p:nvSpPr>
          <p:cNvPr id="15" name="Shape 11"/>
          <p:cNvSpPr/>
          <p:nvPr/>
        </p:nvSpPr>
        <p:spPr>
          <a:xfrm>
            <a:off x="822960" y="4681728"/>
            <a:ext cx="274320" cy="274320"/>
          </a:xfrm>
          <a:prstGeom prst="ellipse">
            <a:avLst/>
          </a:prstGeom>
          <a:solidFill>
            <a:srgbClr val="0F766E"/>
          </a:solidFill>
          <a:ln w="12700">
            <a:solidFill>
              <a:srgbClr val="0F766E"/>
            </a:solidFill>
            <a:prstDash val="solid"/>
          </a:ln>
        </p:spPr>
      </p:sp>
      <p:pic>
        <p:nvPicPr>
          <p:cNvPr id="16" name="Image 1" descr="preencoded.png">    </p:cNvPr>
          <p:cNvPicPr>
            <a:picLocks noChangeAspect="1"/>
          </p:cNvPicPr>
          <p:nvPr/>
        </p:nvPicPr>
        <p:blipFill>
          <a:blip r:embed="rId2"/>
          <a:stretch>
            <a:fillRect/>
          </a:stretch>
        </p:blipFill>
        <p:spPr>
          <a:xfrm>
            <a:off x="886054" y="4744822"/>
            <a:ext cx="148133" cy="148133"/>
          </a:xfrm>
          <a:prstGeom prst="rect">
            <a:avLst/>
          </a:prstGeom>
        </p:spPr>
      </p:pic>
      <p:sp>
        <p:nvSpPr>
          <p:cNvPr id="17" name="Text 12"/>
          <p:cNvSpPr/>
          <p:nvPr/>
        </p:nvSpPr>
        <p:spPr>
          <a:xfrm>
            <a:off x="1188720"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18" name="Text 13"/>
          <p:cNvSpPr/>
          <p:nvPr/>
        </p:nvSpPr>
        <p:spPr>
          <a:xfrm>
            <a:off x="822960"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All 30 grid cameras onboarded from the live catalogue; plate reading measured on 81 hand-checked plates from that footage.</a:t>
            </a:r>
            <a:endParaRPr lang="en-US" sz="1200" dirty="0"/>
          </a:p>
        </p:txBody>
      </p:sp>
      <p:sp>
        <p:nvSpPr>
          <p:cNvPr id="19" name="Shape 14"/>
          <p:cNvSpPr/>
          <p:nvPr/>
        </p:nvSpPr>
        <p:spPr>
          <a:xfrm>
            <a:off x="4338218"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5"/>
          <p:cNvSpPr/>
          <p:nvPr/>
        </p:nvSpPr>
        <p:spPr>
          <a:xfrm>
            <a:off x="4612538" y="2971800"/>
            <a:ext cx="603504" cy="603504"/>
          </a:xfrm>
          <a:prstGeom prst="ellipse">
            <a:avLst/>
          </a:prstGeom>
          <a:solidFill>
            <a:srgbClr val="2456D6"/>
          </a:solidFill>
          <a:ln w="12700">
            <a:solidFill>
              <a:srgbClr val="2456D6"/>
            </a:solidFill>
            <a:prstDash val="solid"/>
          </a:ln>
        </p:spPr>
      </p:sp>
      <p:pic>
        <p:nvPicPr>
          <p:cNvPr id="21" name="Image 2" descr="preencoded.png">    </p:cNvPr>
          <p:cNvPicPr>
            <a:picLocks noChangeAspect="1"/>
          </p:cNvPicPr>
          <p:nvPr/>
        </p:nvPicPr>
        <p:blipFill>
          <a:blip r:embed="rId3"/>
          <a:stretch>
            <a:fillRect/>
          </a:stretch>
        </p:blipFill>
        <p:spPr>
          <a:xfrm>
            <a:off x="4751344" y="3110606"/>
            <a:ext cx="325892" cy="325892"/>
          </a:xfrm>
          <a:prstGeom prst="rect">
            <a:avLst/>
          </a:prstGeom>
        </p:spPr>
      </p:pic>
      <p:sp>
        <p:nvSpPr>
          <p:cNvPr id="22" name="Text 16"/>
          <p:cNvSpPr/>
          <p:nvPr/>
        </p:nvSpPr>
        <p:spPr>
          <a:xfrm>
            <a:off x="5344058"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Evidence that holds up</a:t>
            </a:r>
            <a:endParaRPr lang="en-US" sz="1700" dirty="0"/>
          </a:p>
        </p:txBody>
      </p:sp>
      <p:sp>
        <p:nvSpPr>
          <p:cNvPr id="23" name="Text 17"/>
          <p:cNvSpPr/>
          <p:nvPr/>
        </p:nvSpPr>
        <p:spPr>
          <a:xfrm>
            <a:off x="4612538"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Every sighting carries the camera’s own time, its frame, and a record no one can quietly change.</a:t>
            </a:r>
            <a:endParaRPr lang="en-US" sz="1400" dirty="0"/>
          </a:p>
        </p:txBody>
      </p:sp>
      <p:sp>
        <p:nvSpPr>
          <p:cNvPr id="24" name="Shape 18"/>
          <p:cNvSpPr/>
          <p:nvPr/>
        </p:nvSpPr>
        <p:spPr>
          <a:xfrm>
            <a:off x="4612538" y="4544568"/>
            <a:ext cx="2966618" cy="0"/>
          </a:xfrm>
          <a:prstGeom prst="line">
            <a:avLst/>
          </a:prstGeom>
          <a:noFill/>
          <a:ln w="9525">
            <a:solidFill>
              <a:srgbClr val="DDE3EE"/>
            </a:solidFill>
            <a:prstDash val="solid"/>
          </a:ln>
        </p:spPr>
      </p:sp>
      <p:sp>
        <p:nvSpPr>
          <p:cNvPr id="25" name="Shape 19"/>
          <p:cNvSpPr/>
          <p:nvPr/>
        </p:nvSpPr>
        <p:spPr>
          <a:xfrm>
            <a:off x="4612538" y="4681728"/>
            <a:ext cx="274320" cy="274320"/>
          </a:xfrm>
          <a:prstGeom prst="ellipse">
            <a:avLst/>
          </a:prstGeom>
          <a:solidFill>
            <a:srgbClr val="0F766E"/>
          </a:solidFill>
          <a:ln w="12700">
            <a:solidFill>
              <a:srgbClr val="0F766E"/>
            </a:solidFill>
            <a:prstDash val="solid"/>
          </a:ln>
        </p:spPr>
      </p:sp>
      <p:pic>
        <p:nvPicPr>
          <p:cNvPr id="26" name="Image 3" descr="preencoded.png">    </p:cNvPr>
          <p:cNvPicPr>
            <a:picLocks noChangeAspect="1"/>
          </p:cNvPicPr>
          <p:nvPr/>
        </p:nvPicPr>
        <p:blipFill>
          <a:blip r:embed="rId4"/>
          <a:stretch>
            <a:fillRect/>
          </a:stretch>
        </p:blipFill>
        <p:spPr>
          <a:xfrm>
            <a:off x="4675632" y="4744822"/>
            <a:ext cx="148133" cy="148133"/>
          </a:xfrm>
          <a:prstGeom prst="rect">
            <a:avLst/>
          </a:prstGeom>
        </p:spPr>
      </p:pic>
      <p:sp>
        <p:nvSpPr>
          <p:cNvPr id="27" name="Text 20"/>
          <p:cNvSpPr/>
          <p:nvPr/>
        </p:nvSpPr>
        <p:spPr>
          <a:xfrm>
            <a:off x="4978298"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28" name="Text 21"/>
          <p:cNvSpPr/>
          <p:nvPr/>
        </p:nvSpPr>
        <p:spPr>
          <a:xfrm>
            <a:off x="4612538"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Times read off the frame — “time unknown” when unreadable, never a guess; impossible journeys flagged; reports digitally sealed.</a:t>
            </a:r>
            <a:endParaRPr lang="en-US" sz="1200" dirty="0"/>
          </a:p>
        </p:txBody>
      </p:sp>
      <p:sp>
        <p:nvSpPr>
          <p:cNvPr id="29" name="Shape 22"/>
          <p:cNvSpPr/>
          <p:nvPr/>
        </p:nvSpPr>
        <p:spPr>
          <a:xfrm>
            <a:off x="8127797"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0" name="Shape 23"/>
          <p:cNvSpPr/>
          <p:nvPr/>
        </p:nvSpPr>
        <p:spPr>
          <a:xfrm>
            <a:off x="8402117" y="2971800"/>
            <a:ext cx="603504" cy="603504"/>
          </a:xfrm>
          <a:prstGeom prst="ellipse">
            <a:avLst/>
          </a:prstGeom>
          <a:solidFill>
            <a:srgbClr val="2456D6"/>
          </a:solidFill>
          <a:ln w="12700">
            <a:solidFill>
              <a:srgbClr val="2456D6"/>
            </a:solidFill>
            <a:prstDash val="solid"/>
          </a:ln>
        </p:spPr>
      </p:sp>
      <p:pic>
        <p:nvPicPr>
          <p:cNvPr id="31" name="Image 4" descr="preencoded.png">    </p:cNvPr>
          <p:cNvPicPr>
            <a:picLocks noChangeAspect="1"/>
          </p:cNvPicPr>
          <p:nvPr/>
        </p:nvPicPr>
        <p:blipFill>
          <a:blip r:embed="rId5"/>
          <a:stretch>
            <a:fillRect/>
          </a:stretch>
        </p:blipFill>
        <p:spPr>
          <a:xfrm>
            <a:off x="8540923" y="3110606"/>
            <a:ext cx="325892" cy="325892"/>
          </a:xfrm>
          <a:prstGeom prst="rect">
            <a:avLst/>
          </a:prstGeom>
        </p:spPr>
      </p:pic>
      <p:sp>
        <p:nvSpPr>
          <p:cNvPr id="32" name="Text 24"/>
          <p:cNvSpPr/>
          <p:nvPr/>
        </p:nvSpPr>
        <p:spPr>
          <a:xfrm>
            <a:off x="9133637"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Fits what Gujarat already owns</a:t>
            </a:r>
            <a:endParaRPr lang="en-US" sz="1700" dirty="0"/>
          </a:p>
        </p:txBody>
      </p:sp>
      <p:sp>
        <p:nvSpPr>
          <p:cNvPr id="33" name="Text 25"/>
          <p:cNvSpPr/>
          <p:nvPr/>
        </p:nvSpPr>
        <p:spPr>
          <a:xfrm>
            <a:off x="8402117"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Any vendor’s cameras and VMS, nothing replaced, analysis in each district.</a:t>
            </a:r>
            <a:endParaRPr lang="en-US" sz="1400" dirty="0"/>
          </a:p>
        </p:txBody>
      </p:sp>
      <p:sp>
        <p:nvSpPr>
          <p:cNvPr id="34" name="Shape 26"/>
          <p:cNvSpPr/>
          <p:nvPr/>
        </p:nvSpPr>
        <p:spPr>
          <a:xfrm>
            <a:off x="8402117" y="4544568"/>
            <a:ext cx="2966618" cy="0"/>
          </a:xfrm>
          <a:prstGeom prst="line">
            <a:avLst/>
          </a:prstGeom>
          <a:noFill/>
          <a:ln w="9525">
            <a:solidFill>
              <a:srgbClr val="DDE3EE"/>
            </a:solidFill>
            <a:prstDash val="solid"/>
          </a:ln>
        </p:spPr>
      </p:sp>
      <p:sp>
        <p:nvSpPr>
          <p:cNvPr id="35" name="Shape 27"/>
          <p:cNvSpPr/>
          <p:nvPr/>
        </p:nvSpPr>
        <p:spPr>
          <a:xfrm>
            <a:off x="8402117" y="4681728"/>
            <a:ext cx="274320" cy="274320"/>
          </a:xfrm>
          <a:prstGeom prst="ellipse">
            <a:avLst/>
          </a:prstGeom>
          <a:solidFill>
            <a:srgbClr val="0F766E"/>
          </a:solidFill>
          <a:ln w="12700">
            <a:solidFill>
              <a:srgbClr val="0F766E"/>
            </a:solidFill>
            <a:prstDash val="solid"/>
          </a:ln>
        </p:spPr>
      </p:sp>
      <p:pic>
        <p:nvPicPr>
          <p:cNvPr id="36" name="Image 5" descr="preencoded.png">    </p:cNvPr>
          <p:cNvPicPr>
            <a:picLocks noChangeAspect="1"/>
          </p:cNvPicPr>
          <p:nvPr/>
        </p:nvPicPr>
        <p:blipFill>
          <a:blip r:embed="rId6"/>
          <a:stretch>
            <a:fillRect/>
          </a:stretch>
        </p:blipFill>
        <p:spPr>
          <a:xfrm>
            <a:off x="8465210" y="4744822"/>
            <a:ext cx="148133" cy="148133"/>
          </a:xfrm>
          <a:prstGeom prst="rect">
            <a:avLst/>
          </a:prstGeom>
        </p:spPr>
      </p:pic>
      <p:sp>
        <p:nvSpPr>
          <p:cNvPr id="37" name="Text 28"/>
          <p:cNvSpPr/>
          <p:nvPr/>
        </p:nvSpPr>
        <p:spPr>
          <a:xfrm>
            <a:off x="8767877"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38" name="Text 29"/>
          <p:cNvSpPr/>
          <p:nvPr/>
        </p:nvSpPr>
        <p:spPr>
          <a:xfrm>
            <a:off x="8402117"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RTSP, ONVIF, Hikvision and Dahua; about 1,000× less network than centralising; keeps alerting offline for 72 hours.</a:t>
            </a:r>
            <a:endParaRPr lang="en-US" sz="1200" dirty="0"/>
          </a:p>
        </p:txBody>
      </p:sp>
      <p:sp>
        <p:nvSpPr>
          <p:cNvPr id="39" name="Shape 30"/>
          <p:cNvSpPr/>
          <p:nvPr/>
        </p:nvSpPr>
        <p:spPr>
          <a:xfrm>
            <a:off x="548640" y="5897880"/>
            <a:ext cx="11094415" cy="566928"/>
          </a:xfrm>
          <a:prstGeom prst="roundRect">
            <a:avLst>
              <a:gd name="adj" fmla="val 19355"/>
            </a:avLst>
          </a:prstGeom>
          <a:solidFill>
            <a:srgbClr val="FDF1DF"/>
          </a:solidFill>
          <a:ln w="9525">
            <a:solidFill>
              <a:srgbClr val="F5D6A6"/>
            </a:solidFill>
            <a:prstDash val="solid"/>
          </a:ln>
        </p:spPr>
      </p:sp>
      <p:sp>
        <p:nvSpPr>
          <p:cNvPr id="40" name="Shape 31"/>
          <p:cNvSpPr/>
          <p:nvPr/>
        </p:nvSpPr>
        <p:spPr>
          <a:xfrm>
            <a:off x="685800" y="5971032"/>
            <a:ext cx="420624" cy="420624"/>
          </a:xfrm>
          <a:prstGeom prst="ellipse">
            <a:avLst/>
          </a:prstGeom>
          <a:solidFill>
            <a:srgbClr val="D97706"/>
          </a:solidFill>
          <a:ln w="12700">
            <a:solidFill>
              <a:srgbClr val="D97706"/>
            </a:solidFill>
            <a:prstDash val="solid"/>
          </a:ln>
        </p:spPr>
      </p:sp>
      <p:pic>
        <p:nvPicPr>
          <p:cNvPr id="41" name="Image 6" descr="preencoded.png">    </p:cNvPr>
          <p:cNvPicPr>
            <a:picLocks noChangeAspect="1"/>
          </p:cNvPicPr>
          <p:nvPr/>
        </p:nvPicPr>
        <p:blipFill>
          <a:blip r:embed="rId7"/>
          <a:stretch>
            <a:fillRect/>
          </a:stretch>
        </p:blipFill>
        <p:spPr>
          <a:xfrm>
            <a:off x="782544" y="6067776"/>
            <a:ext cx="227137" cy="227137"/>
          </a:xfrm>
          <a:prstGeom prst="rect">
            <a:avLst/>
          </a:prstGeom>
        </p:spPr>
      </p:pic>
      <p:sp>
        <p:nvSpPr>
          <p:cNvPr id="42" name="Text 32"/>
          <p:cNvSpPr/>
          <p:nvPr/>
        </p:nvSpPr>
        <p:spPr>
          <a:xfrm>
            <a:off x="1234440" y="5916168"/>
            <a:ext cx="10271455" cy="530352"/>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Stated plainly:  </a:t>
            </a:r>
            <a:pPr indent="0" marL="0">
              <a:buNone/>
            </a:pPr>
            <a:r>
              <a:rPr lang="en-US" sz="1250" dirty="0">
                <a:solidFill>
                  <a:srgbClr val="0F1B33"/>
                </a:solidFill>
                <a:latin typeface="Calibri" pitchFamily="34" charset="0"/>
                <a:ea typeface="Calibri" pitchFamily="34" charset="-122"/>
                <a:cs typeface="Calibri" pitchFamily="34" charset="-120"/>
              </a:rPr>
              <a:t>plate accuracy is 78%, below our 85% target  ·  compute is sized from vendor benchmarks  ·  plate-less matching is designed, not built.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NEXT STEP</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Start with one district. Grow without a switch-over.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12</a:t>
            </a:r>
            <a:endParaRPr lang="en-US" sz="900" dirty="0"/>
          </a:p>
        </p:txBody>
      </p:sp>
      <p:sp>
        <p:nvSpPr>
          <p:cNvPr id="7" name="Shape 4"/>
          <p:cNvSpPr/>
          <p:nvPr/>
        </p:nvSpPr>
        <p:spPr>
          <a:xfrm>
            <a:off x="548640"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Text 5"/>
          <p:cNvSpPr/>
          <p:nvPr/>
        </p:nvSpPr>
        <p:spPr>
          <a:xfrm>
            <a:off x="777240" y="1719072"/>
            <a:ext cx="2110664" cy="274320"/>
          </a:xfrm>
          <a:prstGeom prst="rect">
            <a:avLst/>
          </a:prstGeom>
          <a:noFill/>
          <a:ln/>
        </p:spPr>
        <p:txBody>
          <a:bodyPr wrap="square" lIns="0" tIns="0" rIns="0" bIns="0" rtlCol="0" anchor="t"/>
          <a:lstStyle/>
          <a:p>
            <a:pPr indent="0" marL="0">
              <a:buNone/>
            </a:pPr>
            <a:r>
              <a:rPr lang="en-US" sz="1200" b="1" dirty="0">
                <a:solidFill>
                  <a:srgbClr val="B45309"/>
                </a:solidFill>
                <a:latin typeface="Arial" pitchFamily="34" charset="0"/>
                <a:ea typeface="Arial" pitchFamily="34" charset="-122"/>
                <a:cs typeface="Arial" pitchFamily="34" charset="-120"/>
              </a:rPr>
              <a:t>Pilot  ·  0–3 months</a:t>
            </a:r>
            <a:endParaRPr lang="en-US" sz="1200" dirty="0"/>
          </a:p>
        </p:txBody>
      </p:sp>
      <p:sp>
        <p:nvSpPr>
          <p:cNvPr id="9" name="Text 6"/>
          <p:cNvSpPr/>
          <p:nvPr/>
        </p:nvSpPr>
        <p:spPr>
          <a:xfrm>
            <a:off x="777240"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~500 cameras</a:t>
            </a:r>
            <a:endParaRPr lang="en-US" sz="1900" dirty="0"/>
          </a:p>
        </p:txBody>
      </p:sp>
      <p:sp>
        <p:nvSpPr>
          <p:cNvPr id="10" name="Text 7"/>
          <p:cNvSpPr/>
          <p:nvPr/>
        </p:nvSpPr>
        <p:spPr>
          <a:xfrm>
            <a:off x="777240"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1 district, 2 departments</a:t>
            </a:r>
            <a:endParaRPr lang="en-US" sz="1200" dirty="0"/>
          </a:p>
        </p:txBody>
      </p:sp>
      <p:sp>
        <p:nvSpPr>
          <p:cNvPr id="11" name="Shape 8"/>
          <p:cNvSpPr/>
          <p:nvPr/>
        </p:nvSpPr>
        <p:spPr>
          <a:xfrm>
            <a:off x="3390824"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3619424"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Expand  ·  3–9 months</a:t>
            </a:r>
            <a:endParaRPr lang="en-US" sz="1200" dirty="0"/>
          </a:p>
        </p:txBody>
      </p:sp>
      <p:sp>
        <p:nvSpPr>
          <p:cNvPr id="13" name="Text 10"/>
          <p:cNvSpPr/>
          <p:nvPr/>
        </p:nvSpPr>
        <p:spPr>
          <a:xfrm>
            <a:off x="3619424"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~5,000 cameras</a:t>
            </a:r>
            <a:endParaRPr lang="en-US" sz="1900" dirty="0"/>
          </a:p>
        </p:txBody>
      </p:sp>
      <p:sp>
        <p:nvSpPr>
          <p:cNvPr id="14" name="Text 11"/>
          <p:cNvSpPr/>
          <p:nvPr/>
        </p:nvSpPr>
        <p:spPr>
          <a:xfrm>
            <a:off x="3619424"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4 districts, 6 departments</a:t>
            </a:r>
            <a:endParaRPr lang="en-US" sz="1200" dirty="0"/>
          </a:p>
        </p:txBody>
      </p:sp>
      <p:sp>
        <p:nvSpPr>
          <p:cNvPr id="15" name="Shape 12"/>
          <p:cNvSpPr/>
          <p:nvPr/>
        </p:nvSpPr>
        <p:spPr>
          <a:xfrm>
            <a:off x="6233008"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Text 13"/>
          <p:cNvSpPr/>
          <p:nvPr/>
        </p:nvSpPr>
        <p:spPr>
          <a:xfrm>
            <a:off x="6461608"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Statewide  ·  9–21 months</a:t>
            </a:r>
            <a:endParaRPr lang="en-US" sz="1200" dirty="0"/>
          </a:p>
        </p:txBody>
      </p:sp>
      <p:sp>
        <p:nvSpPr>
          <p:cNvPr id="17" name="Text 14"/>
          <p:cNvSpPr/>
          <p:nvPr/>
        </p:nvSpPr>
        <p:spPr>
          <a:xfrm>
            <a:off x="6461608"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~30,000 cameras</a:t>
            </a:r>
            <a:endParaRPr lang="en-US" sz="1900" dirty="0"/>
          </a:p>
        </p:txBody>
      </p:sp>
      <p:sp>
        <p:nvSpPr>
          <p:cNvPr id="18" name="Text 15"/>
          <p:cNvSpPr/>
          <p:nvPr/>
        </p:nvSpPr>
        <p:spPr>
          <a:xfrm>
            <a:off x="6461608"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All 34 districts</a:t>
            </a:r>
            <a:endParaRPr lang="en-US" sz="1200" dirty="0"/>
          </a:p>
        </p:txBody>
      </p:sp>
      <p:sp>
        <p:nvSpPr>
          <p:cNvPr id="19" name="Shape 16"/>
          <p:cNvSpPr/>
          <p:nvPr/>
        </p:nvSpPr>
        <p:spPr>
          <a:xfrm>
            <a:off x="9075191"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Text 17"/>
          <p:cNvSpPr/>
          <p:nvPr/>
        </p:nvSpPr>
        <p:spPr>
          <a:xfrm>
            <a:off x="9303791"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Complete  ·  21–36 months</a:t>
            </a:r>
            <a:endParaRPr lang="en-US" sz="1200" dirty="0"/>
          </a:p>
        </p:txBody>
      </p:sp>
      <p:sp>
        <p:nvSpPr>
          <p:cNvPr id="21" name="Text 18"/>
          <p:cNvSpPr/>
          <p:nvPr/>
        </p:nvSpPr>
        <p:spPr>
          <a:xfrm>
            <a:off x="9303791"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80,000 cameras</a:t>
            </a:r>
            <a:endParaRPr lang="en-US" sz="1900" dirty="0"/>
          </a:p>
        </p:txBody>
      </p:sp>
      <p:sp>
        <p:nvSpPr>
          <p:cNvPr id="22" name="Text 19"/>
          <p:cNvSpPr/>
          <p:nvPr/>
        </p:nvSpPr>
        <p:spPr>
          <a:xfrm>
            <a:off x="9303791"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Plus consented private cameras</a:t>
            </a:r>
            <a:endParaRPr lang="en-US" sz="1200" dirty="0"/>
          </a:p>
        </p:txBody>
      </p:sp>
      <p:sp>
        <p:nvSpPr>
          <p:cNvPr id="23" name="Text 20"/>
          <p:cNvSpPr/>
          <p:nvPr/>
        </p:nvSpPr>
        <p:spPr>
          <a:xfrm>
            <a:off x="548640" y="3063240"/>
            <a:ext cx="11094415"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To begin the pilot, we need</a:t>
            </a:r>
            <a:endParaRPr lang="en-US" sz="1600" dirty="0"/>
          </a:p>
        </p:txBody>
      </p:sp>
      <p:sp>
        <p:nvSpPr>
          <p:cNvPr id="24" name="Shape 21"/>
          <p:cNvSpPr/>
          <p:nvPr/>
        </p:nvSpPr>
        <p:spPr>
          <a:xfrm>
            <a:off x="548640"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Shape 22"/>
          <p:cNvSpPr/>
          <p:nvPr/>
        </p:nvSpPr>
        <p:spPr>
          <a:xfrm>
            <a:off x="777240" y="3703320"/>
            <a:ext cx="512064" cy="512064"/>
          </a:xfrm>
          <a:prstGeom prst="ellipse">
            <a:avLst/>
          </a:prstGeom>
          <a:solidFill>
            <a:srgbClr val="2456D6"/>
          </a:solidFill>
          <a:ln w="12700">
            <a:solidFill>
              <a:srgbClr val="2456D6"/>
            </a:solidFill>
            <a:prstDash val="solid"/>
          </a:ln>
        </p:spPr>
      </p:sp>
      <p:pic>
        <p:nvPicPr>
          <p:cNvPr id="26" name="Image 0" descr="preencoded.png">    </p:cNvPr>
          <p:cNvPicPr>
            <a:picLocks noChangeAspect="1"/>
          </p:cNvPicPr>
          <p:nvPr/>
        </p:nvPicPr>
        <p:blipFill>
          <a:blip r:embed="rId1"/>
          <a:stretch>
            <a:fillRect/>
          </a:stretch>
        </p:blipFill>
        <p:spPr>
          <a:xfrm>
            <a:off x="895015" y="3821095"/>
            <a:ext cx="276515" cy="276515"/>
          </a:xfrm>
          <a:prstGeom prst="rect">
            <a:avLst/>
          </a:prstGeom>
        </p:spPr>
      </p:pic>
      <p:sp>
        <p:nvSpPr>
          <p:cNvPr id="27" name="Text 23"/>
          <p:cNvSpPr/>
          <p:nvPr/>
        </p:nvSpPr>
        <p:spPr>
          <a:xfrm>
            <a:off x="1417320"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Each department’s camera inventory</a:t>
            </a:r>
            <a:endParaRPr lang="en-US" sz="1500" dirty="0"/>
          </a:p>
        </p:txBody>
      </p:sp>
      <p:sp>
        <p:nvSpPr>
          <p:cNvPr id="28" name="Text 24"/>
          <p:cNvSpPr/>
          <p:nvPr/>
        </p:nvSpPr>
        <p:spPr>
          <a:xfrm>
            <a:off x="1417320"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Cameras, recorders, network, locations — and whether each feed shows the date and time.</a:t>
            </a:r>
            <a:endParaRPr lang="en-US" sz="1250" dirty="0"/>
          </a:p>
        </p:txBody>
      </p:sp>
      <p:sp>
        <p:nvSpPr>
          <p:cNvPr id="29" name="Shape 25"/>
          <p:cNvSpPr/>
          <p:nvPr/>
        </p:nvSpPr>
        <p:spPr>
          <a:xfrm>
            <a:off x="4338218"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0" name="Shape 26"/>
          <p:cNvSpPr/>
          <p:nvPr/>
        </p:nvSpPr>
        <p:spPr>
          <a:xfrm>
            <a:off x="4566818" y="3703320"/>
            <a:ext cx="512064" cy="512064"/>
          </a:xfrm>
          <a:prstGeom prst="ellipse">
            <a:avLst/>
          </a:prstGeom>
          <a:solidFill>
            <a:srgbClr val="2456D6"/>
          </a:solidFill>
          <a:ln w="12700">
            <a:solidFill>
              <a:srgbClr val="2456D6"/>
            </a:solidFill>
            <a:prstDash val="solid"/>
          </a:ln>
        </p:spPr>
      </p:sp>
      <p:pic>
        <p:nvPicPr>
          <p:cNvPr id="31" name="Image 1" descr="preencoded.png">    </p:cNvPr>
          <p:cNvPicPr>
            <a:picLocks noChangeAspect="1"/>
          </p:cNvPicPr>
          <p:nvPr/>
        </p:nvPicPr>
        <p:blipFill>
          <a:blip r:embed="rId2"/>
          <a:stretch>
            <a:fillRect/>
          </a:stretch>
        </p:blipFill>
        <p:spPr>
          <a:xfrm>
            <a:off x="4684593" y="3821095"/>
            <a:ext cx="276515" cy="276515"/>
          </a:xfrm>
          <a:prstGeom prst="rect">
            <a:avLst/>
          </a:prstGeom>
        </p:spPr>
      </p:pic>
      <p:sp>
        <p:nvSpPr>
          <p:cNvPr id="32" name="Text 27"/>
          <p:cNvSpPr/>
          <p:nvPr/>
        </p:nvSpPr>
        <p:spPr>
          <a:xfrm>
            <a:off x="5206898"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Read-only access</a:t>
            </a:r>
            <a:endParaRPr lang="en-US" sz="1500" dirty="0"/>
          </a:p>
        </p:txBody>
      </p:sp>
      <p:sp>
        <p:nvSpPr>
          <p:cNvPr id="33" name="Text 28"/>
          <p:cNvSpPr/>
          <p:nvPr/>
        </p:nvSpPr>
        <p:spPr>
          <a:xfrm>
            <a:off x="5206898"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To the streams or each VMS. Nothing installed on department infrastructure.</a:t>
            </a:r>
            <a:endParaRPr lang="en-US" sz="1250" dirty="0"/>
          </a:p>
        </p:txBody>
      </p:sp>
      <p:sp>
        <p:nvSpPr>
          <p:cNvPr id="34" name="Shape 29"/>
          <p:cNvSpPr/>
          <p:nvPr/>
        </p:nvSpPr>
        <p:spPr>
          <a:xfrm>
            <a:off x="8127797"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5" name="Shape 30"/>
          <p:cNvSpPr/>
          <p:nvPr/>
        </p:nvSpPr>
        <p:spPr>
          <a:xfrm>
            <a:off x="8356397" y="3703320"/>
            <a:ext cx="512064" cy="512064"/>
          </a:xfrm>
          <a:prstGeom prst="ellipse">
            <a:avLst/>
          </a:prstGeom>
          <a:solidFill>
            <a:srgbClr val="2456D6"/>
          </a:solidFill>
          <a:ln w="12700">
            <a:solidFill>
              <a:srgbClr val="2456D6"/>
            </a:solidFill>
            <a:prstDash val="solid"/>
          </a:ln>
        </p:spPr>
      </p:sp>
      <p:pic>
        <p:nvPicPr>
          <p:cNvPr id="36" name="Image 2" descr="preencoded.png">    </p:cNvPr>
          <p:cNvPicPr>
            <a:picLocks noChangeAspect="1"/>
          </p:cNvPicPr>
          <p:nvPr/>
        </p:nvPicPr>
        <p:blipFill>
          <a:blip r:embed="rId3"/>
          <a:stretch>
            <a:fillRect/>
          </a:stretch>
        </p:blipFill>
        <p:spPr>
          <a:xfrm>
            <a:off x="8474172" y="3821095"/>
            <a:ext cx="276515" cy="276515"/>
          </a:xfrm>
          <a:prstGeom prst="rect">
            <a:avLst/>
          </a:prstGeom>
        </p:spPr>
      </p:pic>
      <p:sp>
        <p:nvSpPr>
          <p:cNvPr id="37" name="Text 31"/>
          <p:cNvSpPr/>
          <p:nvPr/>
        </p:nvSpPr>
        <p:spPr>
          <a:xfrm>
            <a:off x="8996477"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Database access, when ready</a:t>
            </a:r>
            <a:endParaRPr lang="en-US" sz="1500" dirty="0"/>
          </a:p>
        </p:txBody>
      </p:sp>
      <p:sp>
        <p:nvSpPr>
          <p:cNvPr id="38" name="Text 32"/>
          <p:cNvSpPr/>
          <p:nvPr/>
        </p:nvSpPr>
        <p:spPr>
          <a:xfrm>
            <a:off x="8996477"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VAHAN, SARTHI, eGujCop, AFIS, NAFIS — switched on as a setting the day it is granted.</a:t>
            </a:r>
            <a:endParaRPr lang="en-US" sz="1250" dirty="0"/>
          </a:p>
        </p:txBody>
      </p:sp>
      <p:sp>
        <p:nvSpPr>
          <p:cNvPr id="39" name="Text 33"/>
          <p:cNvSpPr/>
          <p:nvPr/>
        </p:nvSpPr>
        <p:spPr>
          <a:xfrm>
            <a:off x="548640" y="5349240"/>
            <a:ext cx="11094415" cy="640080"/>
          </a:xfrm>
          <a:prstGeom prst="rect">
            <a:avLst/>
          </a:prstGeom>
          <a:noFill/>
          <a:ln/>
        </p:spPr>
        <p:txBody>
          <a:bodyPr wrap="square" lIns="0" tIns="0" rIns="0" bIns="0" rtlCol="0" anchor="t"/>
          <a:lstStyle/>
          <a:p>
            <a:pPr indent="0" marL="0">
              <a:buNone/>
            </a:pPr>
            <a:r>
              <a:rPr lang="en-US" sz="3200" b="1" dirty="0">
                <a:solidFill>
                  <a:srgbClr val="2456D6"/>
                </a:solidFill>
                <a:latin typeface="Arial" pitchFamily="34" charset="0"/>
                <a:ea typeface="Arial" pitchFamily="34" charset="-122"/>
                <a:cs typeface="Arial" pitchFamily="34" charset="-120"/>
              </a:rPr>
              <a:t>Type a plate. See where it went.</a:t>
            </a:r>
            <a:endParaRPr lang="en-US" sz="3200" dirty="0"/>
          </a:p>
        </p:txBody>
      </p:sp>
      <p:sp>
        <p:nvSpPr>
          <p:cNvPr id="40" name="Text 34"/>
          <p:cNvSpPr/>
          <p:nvPr/>
        </p:nvSpPr>
        <p:spPr>
          <a:xfrm>
            <a:off x="548640" y="5989320"/>
            <a:ext cx="11094415" cy="365760"/>
          </a:xfrm>
          <a:prstGeom prst="rect">
            <a:avLst/>
          </a:prstGeom>
          <a:noFill/>
          <a:ln/>
        </p:spPr>
        <p:txBody>
          <a:bodyPr wrap="square" lIns="0" tIns="0" rIns="0" bIns="0" rtlCol="0" anchor="t"/>
          <a:lstStyle/>
          <a:p>
            <a:pPr indent="0" marL="0">
              <a:buNone/>
            </a:pPr>
            <a:r>
              <a:rPr lang="en-US" sz="1600" dirty="0">
                <a:solidFill>
                  <a:srgbClr val="536079"/>
                </a:solidFill>
                <a:latin typeface="Calibri" pitchFamily="34" charset="0"/>
                <a:ea typeface="Calibri" pitchFamily="34" charset="-122"/>
                <a:cs typeface="Calibri" pitchFamily="34" charset="-120"/>
              </a:rPr>
              <a:t>Thank you — questions welcome.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A"/>
        </a:solidFill>
      </p:bgPr>
    </p:bg>
    <p:spTree>
      <p:nvGrpSpPr>
        <p:cNvPr id="1" name=""/>
        <p:cNvGrpSpPr/>
        <p:nvPr/>
      </p:nvGrpSpPr>
      <p:grpSpPr>
        <a:xfrm>
          <a:off x="0" y="0"/>
          <a:ext cx="0" cy="0"/>
          <a:chOff x="0" y="0"/>
          <a:chExt cx="0" cy="0"/>
        </a:xfrm>
      </p:grpSpPr>
      <p:sp>
        <p:nvSpPr>
          <p:cNvPr id="2" name="Text 0"/>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APPENDIX</a:t>
            </a:r>
            <a:endParaRPr lang="en-US" sz="1300" dirty="0"/>
          </a:p>
        </p:txBody>
      </p:sp>
      <p:sp>
        <p:nvSpPr>
          <p:cNvPr id="3" name="Text 1"/>
          <p:cNvSpPr/>
          <p:nvPr/>
        </p:nvSpPr>
        <p:spPr>
          <a:xfrm>
            <a:off x="548640" y="1188720"/>
            <a:ext cx="11094415" cy="73152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For reference and questions</a:t>
            </a:r>
            <a:endParaRPr lang="en-US" sz="3600" dirty="0"/>
          </a:p>
        </p:txBody>
      </p:sp>
      <p:sp>
        <p:nvSpPr>
          <p:cNvPr id="4" name="Shape 2"/>
          <p:cNvSpPr/>
          <p:nvPr/>
        </p:nvSpPr>
        <p:spPr>
          <a:xfrm>
            <a:off x="548640" y="224028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5" name="Text 3"/>
          <p:cNvSpPr/>
          <p:nvPr/>
        </p:nvSpPr>
        <p:spPr>
          <a:xfrm>
            <a:off x="777240" y="235000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A1</a:t>
            </a:r>
            <a:endParaRPr lang="en-US" sz="1800" dirty="0"/>
          </a:p>
        </p:txBody>
      </p:sp>
      <p:sp>
        <p:nvSpPr>
          <p:cNvPr id="6" name="Text 4"/>
          <p:cNvSpPr/>
          <p:nvPr/>
        </p:nvSpPr>
        <p:spPr>
          <a:xfrm>
            <a:off x="1463040" y="231343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Who it serves</a:t>
            </a:r>
            <a:endParaRPr lang="en-US" sz="1400" dirty="0"/>
          </a:p>
        </p:txBody>
      </p:sp>
      <p:sp>
        <p:nvSpPr>
          <p:cNvPr id="7" name="Text 5"/>
          <p:cNvSpPr/>
          <p:nvPr/>
        </p:nvSpPr>
        <p:spPr>
          <a:xfrm>
            <a:off x="1463040" y="260604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Operator, investigator, patrol, leadership; field app</a:t>
            </a:r>
            <a:endParaRPr lang="en-US" sz="1200" dirty="0"/>
          </a:p>
        </p:txBody>
      </p:sp>
      <p:sp>
        <p:nvSpPr>
          <p:cNvPr id="8" name="Shape 6"/>
          <p:cNvSpPr/>
          <p:nvPr/>
        </p:nvSpPr>
        <p:spPr>
          <a:xfrm>
            <a:off x="548640" y="306324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9" name="Text 7"/>
          <p:cNvSpPr/>
          <p:nvPr/>
        </p:nvSpPr>
        <p:spPr>
          <a:xfrm>
            <a:off x="777240" y="317296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A2</a:t>
            </a:r>
            <a:endParaRPr lang="en-US" sz="1800" dirty="0"/>
          </a:p>
        </p:txBody>
      </p:sp>
      <p:sp>
        <p:nvSpPr>
          <p:cNvPr id="10" name="Text 8"/>
          <p:cNvSpPr/>
          <p:nvPr/>
        </p:nvSpPr>
        <p:spPr>
          <a:xfrm>
            <a:off x="1463040" y="313639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connect and see</a:t>
            </a:r>
            <a:endParaRPr lang="en-US" sz="1400" dirty="0"/>
          </a:p>
        </p:txBody>
      </p:sp>
      <p:sp>
        <p:nvSpPr>
          <p:cNvPr id="11" name="Text 9"/>
          <p:cNvSpPr/>
          <p:nvPr/>
        </p:nvSpPr>
        <p:spPr>
          <a:xfrm>
            <a:off x="1463040" y="342900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The live wall on government footage</a:t>
            </a:r>
            <a:endParaRPr lang="en-US" sz="1200" dirty="0"/>
          </a:p>
        </p:txBody>
      </p:sp>
      <p:sp>
        <p:nvSpPr>
          <p:cNvPr id="12" name="Shape 10"/>
          <p:cNvSpPr/>
          <p:nvPr/>
        </p:nvSpPr>
        <p:spPr>
          <a:xfrm>
            <a:off x="548640" y="388620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Text 11"/>
          <p:cNvSpPr/>
          <p:nvPr/>
        </p:nvSpPr>
        <p:spPr>
          <a:xfrm>
            <a:off x="777240" y="399592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A3</a:t>
            </a:r>
            <a:endParaRPr lang="en-US" sz="1800" dirty="0"/>
          </a:p>
        </p:txBody>
      </p:sp>
      <p:sp>
        <p:nvSpPr>
          <p:cNvPr id="14" name="Text 12"/>
          <p:cNvSpPr/>
          <p:nvPr/>
        </p:nvSpPr>
        <p:spPr>
          <a:xfrm>
            <a:off x="1463040" y="395935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trace the vehicle</a:t>
            </a:r>
            <a:endParaRPr lang="en-US" sz="1400" dirty="0"/>
          </a:p>
        </p:txBody>
      </p:sp>
      <p:sp>
        <p:nvSpPr>
          <p:cNvPr id="15" name="Text 13"/>
          <p:cNvSpPr/>
          <p:nvPr/>
        </p:nvSpPr>
        <p:spPr>
          <a:xfrm>
            <a:off x="1463040" y="425196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 route timed by the camera’s own clock</a:t>
            </a:r>
            <a:endParaRPr lang="en-US" sz="1200" dirty="0"/>
          </a:p>
        </p:txBody>
      </p:sp>
      <p:sp>
        <p:nvSpPr>
          <p:cNvPr id="16" name="Shape 14"/>
          <p:cNvSpPr/>
          <p:nvPr/>
        </p:nvSpPr>
        <p:spPr>
          <a:xfrm>
            <a:off x="548640" y="470916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Text 15"/>
          <p:cNvSpPr/>
          <p:nvPr/>
        </p:nvSpPr>
        <p:spPr>
          <a:xfrm>
            <a:off x="777240" y="481888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A4</a:t>
            </a:r>
            <a:endParaRPr lang="en-US" sz="1800" dirty="0"/>
          </a:p>
        </p:txBody>
      </p:sp>
      <p:sp>
        <p:nvSpPr>
          <p:cNvPr id="18" name="Text 16"/>
          <p:cNvSpPr/>
          <p:nvPr/>
        </p:nvSpPr>
        <p:spPr>
          <a:xfrm>
            <a:off x="1463040" y="478231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get alerted</a:t>
            </a:r>
            <a:endParaRPr lang="en-US" sz="1400" dirty="0"/>
          </a:p>
        </p:txBody>
      </p:sp>
      <p:sp>
        <p:nvSpPr>
          <p:cNvPr id="19" name="Text 17"/>
          <p:cNvSpPr/>
          <p:nvPr/>
        </p:nvSpPr>
        <p:spPr>
          <a:xfrm>
            <a:off x="1463040" y="507492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 watchlist alert and how misreads are caught</a:t>
            </a:r>
            <a:endParaRPr lang="en-US" sz="1200" dirty="0"/>
          </a:p>
        </p:txBody>
      </p:sp>
      <p:sp>
        <p:nvSpPr>
          <p:cNvPr id="20" name="Shape 18"/>
          <p:cNvSpPr/>
          <p:nvPr/>
        </p:nvSpPr>
        <p:spPr>
          <a:xfrm>
            <a:off x="548640" y="553212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Text 19"/>
          <p:cNvSpPr/>
          <p:nvPr/>
        </p:nvSpPr>
        <p:spPr>
          <a:xfrm>
            <a:off x="777240" y="564184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A5</a:t>
            </a:r>
            <a:endParaRPr lang="en-US" sz="1800" dirty="0"/>
          </a:p>
        </p:txBody>
      </p:sp>
      <p:sp>
        <p:nvSpPr>
          <p:cNvPr id="22" name="Text 20"/>
          <p:cNvSpPr/>
          <p:nvPr/>
        </p:nvSpPr>
        <p:spPr>
          <a:xfrm>
            <a:off x="1463040" y="560527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Beyond number plates</a:t>
            </a:r>
            <a:endParaRPr lang="en-US" sz="1400" dirty="0"/>
          </a:p>
        </p:txBody>
      </p:sp>
      <p:sp>
        <p:nvSpPr>
          <p:cNvPr id="23" name="Text 21"/>
          <p:cNvSpPr/>
          <p:nvPr/>
        </p:nvSpPr>
        <p:spPr>
          <a:xfrm>
            <a:off x="1463040" y="589788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Vehicle type and colour, people counts, zones, tamper</a:t>
            </a:r>
            <a:endParaRPr lang="en-US" sz="1200" dirty="0"/>
          </a:p>
        </p:txBody>
      </p:sp>
      <p:sp>
        <p:nvSpPr>
          <p:cNvPr id="24" name="Shape 22"/>
          <p:cNvSpPr/>
          <p:nvPr/>
        </p:nvSpPr>
        <p:spPr>
          <a:xfrm>
            <a:off x="6278728" y="224028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Text 23"/>
          <p:cNvSpPr/>
          <p:nvPr/>
        </p:nvSpPr>
        <p:spPr>
          <a:xfrm>
            <a:off x="6507328" y="235000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A6</a:t>
            </a:r>
            <a:endParaRPr lang="en-US" sz="1800" dirty="0"/>
          </a:p>
        </p:txBody>
      </p:sp>
      <p:sp>
        <p:nvSpPr>
          <p:cNvPr id="26" name="Text 24"/>
          <p:cNvSpPr/>
          <p:nvPr/>
        </p:nvSpPr>
        <p:spPr>
          <a:xfrm>
            <a:off x="7193128" y="231343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Camera tiering at 80,000</a:t>
            </a:r>
            <a:endParaRPr lang="en-US" sz="1400" dirty="0"/>
          </a:p>
        </p:txBody>
      </p:sp>
      <p:sp>
        <p:nvSpPr>
          <p:cNvPr id="27" name="Text 25"/>
          <p:cNvSpPr/>
          <p:nvPr/>
        </p:nvSpPr>
        <p:spPr>
          <a:xfrm>
            <a:off x="7193128" y="260604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The planning split behind compute and cost</a:t>
            </a:r>
            <a:endParaRPr lang="en-US" sz="1200" dirty="0"/>
          </a:p>
        </p:txBody>
      </p:sp>
      <p:sp>
        <p:nvSpPr>
          <p:cNvPr id="28" name="Shape 26"/>
          <p:cNvSpPr/>
          <p:nvPr/>
        </p:nvSpPr>
        <p:spPr>
          <a:xfrm>
            <a:off x="6278728" y="306324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9" name="Text 27"/>
          <p:cNvSpPr/>
          <p:nvPr/>
        </p:nvSpPr>
        <p:spPr>
          <a:xfrm>
            <a:off x="6507328" y="317296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A7</a:t>
            </a:r>
            <a:endParaRPr lang="en-US" sz="1800" dirty="0"/>
          </a:p>
        </p:txBody>
      </p:sp>
      <p:sp>
        <p:nvSpPr>
          <p:cNvPr id="30" name="Text 28"/>
          <p:cNvSpPr/>
          <p:nvPr/>
        </p:nvSpPr>
        <p:spPr>
          <a:xfrm>
            <a:off x="7193128" y="313639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How Sentinel compares</a:t>
            </a:r>
            <a:endParaRPr lang="en-US" sz="1400" dirty="0"/>
          </a:p>
        </p:txBody>
      </p:sp>
      <p:sp>
        <p:nvSpPr>
          <p:cNvPr id="31" name="Text 29"/>
          <p:cNvSpPr/>
          <p:nvPr/>
        </p:nvSpPr>
        <p:spPr>
          <a:xfrm>
            <a:off x="7193128" y="342900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Against separate systems and full centralisation</a:t>
            </a:r>
            <a:endParaRPr lang="en-US" sz="1200" dirty="0"/>
          </a:p>
        </p:txBody>
      </p:sp>
      <p:sp>
        <p:nvSpPr>
          <p:cNvPr id="32" name="Shape 30"/>
          <p:cNvSpPr/>
          <p:nvPr/>
        </p:nvSpPr>
        <p:spPr>
          <a:xfrm>
            <a:off x="6278728" y="388620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3" name="Text 31"/>
          <p:cNvSpPr/>
          <p:nvPr/>
        </p:nvSpPr>
        <p:spPr>
          <a:xfrm>
            <a:off x="6507328" y="399592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A8</a:t>
            </a:r>
            <a:endParaRPr lang="en-US" sz="1800" dirty="0"/>
          </a:p>
        </p:txBody>
      </p:sp>
      <p:sp>
        <p:nvSpPr>
          <p:cNvPr id="34" name="Text 32"/>
          <p:cNvSpPr/>
          <p:nvPr/>
        </p:nvSpPr>
        <p:spPr>
          <a:xfrm>
            <a:off x="7193128" y="395935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Measured results</a:t>
            </a:r>
            <a:endParaRPr lang="en-US" sz="1400" dirty="0"/>
          </a:p>
        </p:txBody>
      </p:sp>
      <p:sp>
        <p:nvSpPr>
          <p:cNvPr id="35" name="Text 33"/>
          <p:cNvSpPr/>
          <p:nvPr/>
        </p:nvSpPr>
        <p:spPr>
          <a:xfrm>
            <a:off x="7193128" y="425196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Accuracy, capacity, tests and the DR drill</a:t>
            </a:r>
            <a:endParaRPr lang="en-US" sz="1200" dirty="0"/>
          </a:p>
        </p:txBody>
      </p:sp>
      <p:sp>
        <p:nvSpPr>
          <p:cNvPr id="36" name="Shape 34"/>
          <p:cNvSpPr/>
          <p:nvPr/>
        </p:nvSpPr>
        <p:spPr>
          <a:xfrm>
            <a:off x="6278728" y="470916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7" name="Text 35"/>
          <p:cNvSpPr/>
          <p:nvPr/>
        </p:nvSpPr>
        <p:spPr>
          <a:xfrm>
            <a:off x="6507328" y="481888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A9</a:t>
            </a:r>
            <a:endParaRPr lang="en-US" sz="1800" dirty="0"/>
          </a:p>
        </p:txBody>
      </p:sp>
      <p:sp>
        <p:nvSpPr>
          <p:cNvPr id="38" name="Text 36"/>
          <p:cNvSpPr/>
          <p:nvPr/>
        </p:nvSpPr>
        <p:spPr>
          <a:xfrm>
            <a:off x="7193128" y="478231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Rollout in detail</a:t>
            </a:r>
            <a:endParaRPr lang="en-US" sz="1400" dirty="0"/>
          </a:p>
        </p:txBody>
      </p:sp>
      <p:sp>
        <p:nvSpPr>
          <p:cNvPr id="39" name="Text 37"/>
          <p:cNvSpPr/>
          <p:nvPr/>
        </p:nvSpPr>
        <p:spPr>
          <a:xfrm>
            <a:off x="7193128" y="507492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Each phase with its exit criteria</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A1  ·  WHO IT SERVES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Built for everyone who keeps Gujarat safe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A1</a:t>
            </a:r>
            <a:endParaRPr lang="en-US" sz="900" dirty="0"/>
          </a:p>
        </p:txBody>
      </p:sp>
      <p:sp>
        <p:nvSpPr>
          <p:cNvPr id="7" name="Shape 4"/>
          <p:cNvSpPr/>
          <p:nvPr/>
        </p:nvSpPr>
        <p:spPr>
          <a:xfrm>
            <a:off x="5486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2011680"/>
            <a:ext cx="548640" cy="5486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10" name="Text 6"/>
          <p:cNvSpPr/>
          <p:nvPr/>
        </p:nvSpPr>
        <p:spPr>
          <a:xfrm>
            <a:off x="8229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Control-room operator</a:t>
            </a:r>
            <a:endParaRPr lang="en-US" sz="1600" dirty="0"/>
          </a:p>
        </p:txBody>
      </p:sp>
      <p:sp>
        <p:nvSpPr>
          <p:cNvPr id="11" name="Text 7"/>
          <p:cNvSpPr/>
          <p:nvPr/>
        </p:nvSpPr>
        <p:spPr>
          <a:xfrm>
            <a:off x="8229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live wall for every department’s cameras; alerts arrive with a sound, on screen.</a:t>
            </a:r>
            <a:endParaRPr lang="en-US" sz="1300" dirty="0"/>
          </a:p>
        </p:txBody>
      </p:sp>
      <p:sp>
        <p:nvSpPr>
          <p:cNvPr id="12" name="Shape 8"/>
          <p:cNvSpPr/>
          <p:nvPr/>
        </p:nvSpPr>
        <p:spPr>
          <a:xfrm>
            <a:off x="42062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4480560" y="2011680"/>
            <a:ext cx="548640" cy="54864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4606747" y="2137867"/>
            <a:ext cx="296266" cy="296266"/>
          </a:xfrm>
          <a:prstGeom prst="rect">
            <a:avLst/>
          </a:prstGeom>
        </p:spPr>
      </p:pic>
      <p:sp>
        <p:nvSpPr>
          <p:cNvPr id="15" name="Text 10"/>
          <p:cNvSpPr/>
          <p:nvPr/>
        </p:nvSpPr>
        <p:spPr>
          <a:xfrm>
            <a:off x="44805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Investigating officer</a:t>
            </a:r>
            <a:endParaRPr lang="en-US" sz="1600" dirty="0"/>
          </a:p>
        </p:txBody>
      </p:sp>
      <p:sp>
        <p:nvSpPr>
          <p:cNvPr id="16" name="Text 11"/>
          <p:cNvSpPr/>
          <p:nvPr/>
        </p:nvSpPr>
        <p:spPr>
          <a:xfrm>
            <a:off x="44805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timestamps and evidence frames for any plate, exported as a case-ready report.</a:t>
            </a:r>
            <a:endParaRPr lang="en-US" sz="1300" dirty="0"/>
          </a:p>
        </p:txBody>
      </p:sp>
      <p:sp>
        <p:nvSpPr>
          <p:cNvPr id="17" name="Shape 12"/>
          <p:cNvSpPr/>
          <p:nvPr/>
        </p:nvSpPr>
        <p:spPr>
          <a:xfrm>
            <a:off x="5486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822960" y="4251960"/>
            <a:ext cx="548640" cy="548640"/>
          </a:xfrm>
          <a:prstGeom prst="ellipse">
            <a:avLst/>
          </a:prstGeom>
          <a:solidFill>
            <a:srgbClr val="D97706"/>
          </a:solidFill>
          <a:ln w="12700">
            <a:solidFill>
              <a:srgbClr val="D97706"/>
            </a:solidFill>
            <a:prstDash val="solid"/>
          </a:ln>
        </p:spPr>
      </p:sp>
      <p:pic>
        <p:nvPicPr>
          <p:cNvPr id="19" name="Image 2" descr="preencoded.png">    </p:cNvPr>
          <p:cNvPicPr>
            <a:picLocks noChangeAspect="1"/>
          </p:cNvPicPr>
          <p:nvPr/>
        </p:nvPicPr>
        <p:blipFill>
          <a:blip r:embed="rId3"/>
          <a:stretch>
            <a:fillRect/>
          </a:stretch>
        </p:blipFill>
        <p:spPr>
          <a:xfrm>
            <a:off x="949147" y="4378147"/>
            <a:ext cx="296266" cy="296266"/>
          </a:xfrm>
          <a:prstGeom prst="rect">
            <a:avLst/>
          </a:prstGeom>
        </p:spPr>
      </p:pic>
      <p:sp>
        <p:nvSpPr>
          <p:cNvPr id="20" name="Text 14"/>
          <p:cNvSpPr/>
          <p:nvPr/>
        </p:nvSpPr>
        <p:spPr>
          <a:xfrm>
            <a:off x="8229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Officer on patrol</a:t>
            </a:r>
            <a:endParaRPr lang="en-US" sz="1600" dirty="0"/>
          </a:p>
        </p:txBody>
      </p:sp>
      <p:sp>
        <p:nvSpPr>
          <p:cNvPr id="21" name="Text 15"/>
          <p:cNvSpPr/>
          <p:nvPr/>
        </p:nvSpPr>
        <p:spPr>
          <a:xfrm>
            <a:off x="8229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Alerts and plate lookup on a phone, with an offline mode for weak signal.</a:t>
            </a:r>
            <a:endParaRPr lang="en-US" sz="1300" dirty="0"/>
          </a:p>
        </p:txBody>
      </p:sp>
      <p:sp>
        <p:nvSpPr>
          <p:cNvPr id="22" name="Shape 16"/>
          <p:cNvSpPr/>
          <p:nvPr/>
        </p:nvSpPr>
        <p:spPr>
          <a:xfrm>
            <a:off x="42062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4480560" y="4251960"/>
            <a:ext cx="548640" cy="548640"/>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4606747" y="4378147"/>
            <a:ext cx="296266" cy="296266"/>
          </a:xfrm>
          <a:prstGeom prst="rect">
            <a:avLst/>
          </a:prstGeom>
        </p:spPr>
      </p:pic>
      <p:sp>
        <p:nvSpPr>
          <p:cNvPr id="25" name="Text 18"/>
          <p:cNvSpPr/>
          <p:nvPr/>
        </p:nvSpPr>
        <p:spPr>
          <a:xfrm>
            <a:off x="44805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Leadership</a:t>
            </a:r>
            <a:endParaRPr lang="en-US" sz="1600" dirty="0"/>
          </a:p>
        </p:txBody>
      </p:sp>
      <p:sp>
        <p:nvSpPr>
          <p:cNvPr id="26" name="Text 19"/>
          <p:cNvSpPr/>
          <p:nvPr/>
        </p:nvSpPr>
        <p:spPr>
          <a:xfrm>
            <a:off x="44805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statewide view of the camera network: what works, what is down, where gaps are.</a:t>
            </a:r>
            <a:endParaRPr lang="en-US" sz="1300" dirty="0"/>
          </a:p>
        </p:txBody>
      </p:sp>
      <p:sp>
        <p:nvSpPr>
          <p:cNvPr id="27" name="Shape 20"/>
          <p:cNvSpPr/>
          <p:nvPr/>
        </p:nvSpPr>
        <p:spPr>
          <a:xfrm>
            <a:off x="8305250" y="1563624"/>
            <a:ext cx="2368541" cy="4828032"/>
          </a:xfrm>
          <a:prstGeom prst="roundRect">
            <a:avLst>
              <a:gd name="adj" fmla="val 11582"/>
            </a:avLst>
          </a:prstGeom>
          <a:solidFill>
            <a:srgbClr val="0F1B33"/>
          </a:solidFill>
          <a:ln w="12700">
            <a:solidFill>
              <a:srgbClr val="0F1B33"/>
            </a:solidFill>
            <a:prstDash val="solid"/>
          </a:ln>
          <a:effectLst>
            <a:outerShdw sx="100000" sy="100000" kx="0" ky="0" algn="bl" rotWithShape="0" blurRad="279400" dist="101600" dir="5400000">
              <a:srgbClr val="1F2A44">
                <a:alpha val="22000"/>
              </a:srgbClr>
            </a:outerShdw>
          </a:effectLst>
        </p:spPr>
      </p:sp>
      <p:pic>
        <p:nvPicPr>
          <p:cNvPr id="28" name="Image 4" descr="preencoded.png">    </p:cNvPr>
          <p:cNvPicPr>
            <a:picLocks noChangeAspect="1"/>
          </p:cNvPicPr>
          <p:nvPr/>
        </p:nvPicPr>
        <p:blipFill>
          <a:blip r:embed="rId5"/>
          <a:stretch>
            <a:fillRect/>
          </a:stretch>
        </p:blipFill>
        <p:spPr>
          <a:xfrm>
            <a:off x="8433266" y="1691640"/>
            <a:ext cx="2112509" cy="4572000"/>
          </a:xfrm>
          <a:prstGeom prst="rect">
            <a:avLst/>
          </a:prstGeom>
        </p:spPr>
      </p:pic>
      <p:sp>
        <p:nvSpPr>
          <p:cNvPr id="29" name="Text 21"/>
          <p:cNvSpPr/>
          <p:nvPr/>
        </p:nvSpPr>
        <p:spPr>
          <a:xfrm>
            <a:off x="7884626" y="6400800"/>
            <a:ext cx="3209789" cy="274320"/>
          </a:xfrm>
          <a:prstGeom prst="rect">
            <a:avLst/>
          </a:prstGeom>
          <a:noFill/>
          <a:ln/>
        </p:spPr>
        <p:txBody>
          <a:bodyPr wrap="square" lIns="0" tIns="0" rIns="0" bIns="0" rtlCol="0" anchor="t"/>
          <a:lstStyle/>
          <a:p>
            <a:pPr algn="ctr" indent="0" marL="0">
              <a:buNone/>
            </a:pPr>
            <a:r>
              <a:rPr lang="en-US" sz="1100" i="1" dirty="0">
                <a:solidFill>
                  <a:srgbClr val="536079"/>
                </a:solidFill>
                <a:latin typeface="Calibri" pitchFamily="34" charset="0"/>
                <a:ea typeface="Calibri" pitchFamily="34" charset="-122"/>
                <a:cs typeface="Calibri" pitchFamily="34" charset="-120"/>
              </a:rPr>
              <a:t>The field app, on an officer’s phone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A2  ·  DEMO BACKUP · CONNECT AND SEE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Works with the cameras you already have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A2</a:t>
            </a:r>
            <a:endParaRPr lang="en-US" sz="900" dirty="0"/>
          </a:p>
        </p:txBody>
      </p:sp>
      <p:sp>
        <p:nvSpPr>
          <p:cNvPr id="7" name="Shape 4"/>
          <p:cNvSpPr/>
          <p:nvPr/>
        </p:nvSpPr>
        <p:spPr>
          <a:xfrm>
            <a:off x="548640" y="1673352"/>
            <a:ext cx="6437376" cy="3892424"/>
          </a:xfrm>
          <a:prstGeom prst="roundRect">
            <a:avLst>
              <a:gd name="adj" fmla="val 2349"/>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737360"/>
            <a:ext cx="6309360" cy="3764408"/>
          </a:xfrm>
          <a:prstGeom prst="rect">
            <a:avLst/>
          </a:prstGeom>
        </p:spPr>
      </p:pic>
      <p:sp>
        <p:nvSpPr>
          <p:cNvPr id="9" name="Shape 5"/>
          <p:cNvSpPr/>
          <p:nvPr/>
        </p:nvSpPr>
        <p:spPr>
          <a:xfrm>
            <a:off x="7360920" y="1783080"/>
            <a:ext cx="512064" cy="512064"/>
          </a:xfrm>
          <a:prstGeom prst="ellipse">
            <a:avLst/>
          </a:prstGeom>
          <a:solidFill>
            <a:srgbClr val="2456D6"/>
          </a:solidFill>
          <a:ln w="12700">
            <a:solidFill>
              <a:srgbClr val="2456D6"/>
            </a:solidFill>
            <a:prstDash val="solid"/>
          </a:ln>
        </p:spPr>
      </p:sp>
      <p:pic>
        <p:nvPicPr>
          <p:cNvPr id="10" name="Image 1" descr="preencoded.png">    </p:cNvPr>
          <p:cNvPicPr>
            <a:picLocks noChangeAspect="1"/>
          </p:cNvPicPr>
          <p:nvPr/>
        </p:nvPicPr>
        <p:blipFill>
          <a:blip r:embed="rId2"/>
          <a:stretch>
            <a:fillRect/>
          </a:stretch>
        </p:blipFill>
        <p:spPr>
          <a:xfrm>
            <a:off x="7478695" y="1900855"/>
            <a:ext cx="276515" cy="276515"/>
          </a:xfrm>
          <a:prstGeom prst="rect">
            <a:avLst/>
          </a:prstGeom>
        </p:spPr>
      </p:pic>
      <p:sp>
        <p:nvSpPr>
          <p:cNvPr id="11" name="Text 6"/>
          <p:cNvSpPr/>
          <p:nvPr/>
        </p:nvSpPr>
        <p:spPr>
          <a:xfrm>
            <a:off x="8074152" y="1764792"/>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Upload a camera list</a:t>
            </a:r>
            <a:endParaRPr lang="en-US" sz="1500" dirty="0"/>
          </a:p>
        </p:txBody>
      </p:sp>
      <p:sp>
        <p:nvSpPr>
          <p:cNvPr id="12" name="Text 7"/>
          <p:cNvSpPr/>
          <p:nvPr/>
        </p:nvSpPr>
        <p:spPr>
          <a:xfrm>
            <a:off x="8074152" y="2084832"/>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row checked before anything is added; one bad row never blocks the rest.</a:t>
            </a:r>
            <a:endParaRPr lang="en-US" sz="1300" dirty="0"/>
          </a:p>
        </p:txBody>
      </p:sp>
      <p:sp>
        <p:nvSpPr>
          <p:cNvPr id="13" name="Shape 8"/>
          <p:cNvSpPr/>
          <p:nvPr/>
        </p:nvSpPr>
        <p:spPr>
          <a:xfrm>
            <a:off x="7360920" y="2862072"/>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7478695" y="2979847"/>
            <a:ext cx="276515" cy="276515"/>
          </a:xfrm>
          <a:prstGeom prst="rect">
            <a:avLst/>
          </a:prstGeom>
        </p:spPr>
      </p:pic>
      <p:sp>
        <p:nvSpPr>
          <p:cNvPr id="15" name="Text 9"/>
          <p:cNvSpPr/>
          <p:nvPr/>
        </p:nvSpPr>
        <p:spPr>
          <a:xfrm>
            <a:off x="8074152" y="2843784"/>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Or discover devices</a:t>
            </a:r>
            <a:endParaRPr lang="en-US" sz="1500" dirty="0"/>
          </a:p>
        </p:txBody>
      </p:sp>
      <p:sp>
        <p:nvSpPr>
          <p:cNvPr id="16" name="Text 10"/>
          <p:cNvSpPr/>
          <p:nvPr/>
        </p:nvSpPr>
        <p:spPr>
          <a:xfrm>
            <a:off x="8074152" y="3163824"/>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Find a camera’s or recorder’s streams on the network and add them (ONVIF, Hikvision, Dahua).</a:t>
            </a:r>
            <a:endParaRPr lang="en-US" sz="1300" dirty="0"/>
          </a:p>
        </p:txBody>
      </p:sp>
      <p:sp>
        <p:nvSpPr>
          <p:cNvPr id="17" name="Shape 11"/>
          <p:cNvSpPr/>
          <p:nvPr/>
        </p:nvSpPr>
        <p:spPr>
          <a:xfrm>
            <a:off x="7360920" y="3941064"/>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7478695" y="4058839"/>
            <a:ext cx="276515" cy="276515"/>
          </a:xfrm>
          <a:prstGeom prst="rect">
            <a:avLst/>
          </a:prstGeom>
        </p:spPr>
      </p:pic>
      <p:sp>
        <p:nvSpPr>
          <p:cNvPr id="19" name="Text 12"/>
          <p:cNvSpPr/>
          <p:nvPr/>
        </p:nvSpPr>
        <p:spPr>
          <a:xfrm>
            <a:off x="8074152" y="3922776"/>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Nothing installed</a:t>
            </a:r>
            <a:endParaRPr lang="en-US" sz="1500" dirty="0"/>
          </a:p>
        </p:txBody>
      </p:sp>
      <p:sp>
        <p:nvSpPr>
          <p:cNvPr id="20" name="Text 13"/>
          <p:cNvSpPr/>
          <p:nvPr/>
        </p:nvSpPr>
        <p:spPr>
          <a:xfrm>
            <a:off x="8074152" y="4242816"/>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Read-only access. Each department’s own system and recording keep running untouched.</a:t>
            </a:r>
            <a:endParaRPr lang="en-US" sz="1300" dirty="0"/>
          </a:p>
        </p:txBody>
      </p:sp>
      <p:sp>
        <p:nvSpPr>
          <p:cNvPr id="21" name="Shape 14"/>
          <p:cNvSpPr/>
          <p:nvPr/>
        </p:nvSpPr>
        <p:spPr>
          <a:xfrm>
            <a:off x="7360920" y="5020056"/>
            <a:ext cx="512064" cy="512064"/>
          </a:xfrm>
          <a:prstGeom prst="ellipse">
            <a:avLst/>
          </a:prstGeom>
          <a:solidFill>
            <a:srgbClr val="2456D6"/>
          </a:solidFill>
          <a:ln w="12700">
            <a:solidFill>
              <a:srgbClr val="2456D6"/>
            </a:solidFill>
            <a:prstDash val="solid"/>
          </a:ln>
        </p:spPr>
      </p:sp>
      <p:pic>
        <p:nvPicPr>
          <p:cNvPr id="22" name="Image 4" descr="preencoded.png">    </p:cNvPr>
          <p:cNvPicPr>
            <a:picLocks noChangeAspect="1"/>
          </p:cNvPicPr>
          <p:nvPr/>
        </p:nvPicPr>
        <p:blipFill>
          <a:blip r:embed="rId5"/>
          <a:stretch>
            <a:fillRect/>
          </a:stretch>
        </p:blipFill>
        <p:spPr>
          <a:xfrm>
            <a:off x="7478695" y="5137831"/>
            <a:ext cx="276515" cy="276515"/>
          </a:xfrm>
          <a:prstGeom prst="rect">
            <a:avLst/>
          </a:prstGeom>
        </p:spPr>
      </p:pic>
      <p:sp>
        <p:nvSpPr>
          <p:cNvPr id="23" name="Text 15"/>
          <p:cNvSpPr/>
          <p:nvPr/>
        </p:nvSpPr>
        <p:spPr>
          <a:xfrm>
            <a:off x="8074152" y="5001768"/>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Secure viewing</a:t>
            </a:r>
            <a:endParaRPr lang="en-US" sz="1500" dirty="0"/>
          </a:p>
        </p:txBody>
      </p:sp>
      <p:sp>
        <p:nvSpPr>
          <p:cNvPr id="24" name="Text 16"/>
          <p:cNvSpPr/>
          <p:nvPr/>
        </p:nvSpPr>
        <p:spPr>
          <a:xfrm>
            <a:off x="8074152" y="5321808"/>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connection per camera, however many watch. Passwords never reach a browser.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A3  ·  DEMO BACKUP · TRACE THE VEHICLE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Type a plate. See where it went.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A3</a:t>
            </a:r>
            <a:endParaRPr lang="en-US" sz="900" dirty="0"/>
          </a:p>
        </p:txBody>
      </p:sp>
      <p:sp>
        <p:nvSpPr>
          <p:cNvPr id="7" name="Shape 4"/>
          <p:cNvSpPr/>
          <p:nvPr/>
        </p:nvSpPr>
        <p:spPr>
          <a:xfrm>
            <a:off x="548640" y="1581912"/>
            <a:ext cx="6986016" cy="3827727"/>
          </a:xfrm>
          <a:prstGeom prst="roundRect">
            <a:avLst>
              <a:gd name="adj" fmla="val 2389"/>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645920"/>
            <a:ext cx="6858000" cy="3699711"/>
          </a:xfrm>
          <a:prstGeom prst="rect">
            <a:avLst/>
          </a:prstGeom>
        </p:spPr>
      </p:pic>
      <p:sp>
        <p:nvSpPr>
          <p:cNvPr id="9" name="Shape 5"/>
          <p:cNvSpPr/>
          <p:nvPr/>
        </p:nvSpPr>
        <p:spPr>
          <a:xfrm>
            <a:off x="7955280" y="1737360"/>
            <a:ext cx="512064" cy="512064"/>
          </a:xfrm>
          <a:prstGeom prst="ellipse">
            <a:avLst/>
          </a:prstGeom>
          <a:solidFill>
            <a:srgbClr val="2456D6"/>
          </a:solidFill>
          <a:ln w="12700">
            <a:solidFill>
              <a:srgbClr val="2456D6"/>
            </a:solidFill>
            <a:prstDash val="solid"/>
          </a:ln>
        </p:spPr>
      </p:sp>
      <p:pic>
        <p:nvPicPr>
          <p:cNvPr id="10" name="Image 1" descr="preencoded.png">    </p:cNvPr>
          <p:cNvPicPr>
            <a:picLocks noChangeAspect="1"/>
          </p:cNvPicPr>
          <p:nvPr/>
        </p:nvPicPr>
        <p:blipFill>
          <a:blip r:embed="rId2"/>
          <a:stretch>
            <a:fillRect/>
          </a:stretch>
        </p:blipFill>
        <p:spPr>
          <a:xfrm>
            <a:off x="8073055" y="1855135"/>
            <a:ext cx="276515" cy="276515"/>
          </a:xfrm>
          <a:prstGeom prst="rect">
            <a:avLst/>
          </a:prstGeom>
        </p:spPr>
      </p:pic>
      <p:sp>
        <p:nvSpPr>
          <p:cNvPr id="11" name="Text 6"/>
          <p:cNvSpPr/>
          <p:nvPr/>
        </p:nvSpPr>
        <p:spPr>
          <a:xfrm>
            <a:off x="8668512" y="171907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camera’s own clock</a:t>
            </a:r>
            <a:endParaRPr lang="en-US" sz="1500" dirty="0"/>
          </a:p>
        </p:txBody>
      </p:sp>
      <p:sp>
        <p:nvSpPr>
          <p:cNvPr id="12" name="Text 7"/>
          <p:cNvSpPr/>
          <p:nvPr/>
        </p:nvSpPr>
        <p:spPr>
          <a:xfrm>
            <a:off x="8668512" y="203911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Each stop is timed by the clock printed on its evidence frame.</a:t>
            </a:r>
            <a:endParaRPr lang="en-US" sz="1300" dirty="0"/>
          </a:p>
        </p:txBody>
      </p:sp>
      <p:sp>
        <p:nvSpPr>
          <p:cNvPr id="13" name="Shape 8"/>
          <p:cNvSpPr/>
          <p:nvPr/>
        </p:nvSpPr>
        <p:spPr>
          <a:xfrm>
            <a:off x="7955280" y="2926080"/>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8073055" y="3043855"/>
            <a:ext cx="276515" cy="276515"/>
          </a:xfrm>
          <a:prstGeom prst="rect">
            <a:avLst/>
          </a:prstGeom>
        </p:spPr>
      </p:pic>
      <p:sp>
        <p:nvSpPr>
          <p:cNvPr id="15" name="Text 9"/>
          <p:cNvSpPr/>
          <p:nvPr/>
        </p:nvSpPr>
        <p:spPr>
          <a:xfrm>
            <a:off x="8668512" y="290779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Impossible journeys flagged</a:t>
            </a:r>
            <a:endParaRPr lang="en-US" sz="1500" dirty="0"/>
          </a:p>
        </p:txBody>
      </p:sp>
      <p:sp>
        <p:nvSpPr>
          <p:cNvPr id="16" name="Text 10"/>
          <p:cNvSpPr/>
          <p:nvPr/>
        </p:nvSpPr>
        <p:spPr>
          <a:xfrm>
            <a:off x="8668512" y="322783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hop no vehicle could make is marked — a cloned plate stands out.</a:t>
            </a:r>
            <a:endParaRPr lang="en-US" sz="1300" dirty="0"/>
          </a:p>
        </p:txBody>
      </p:sp>
      <p:sp>
        <p:nvSpPr>
          <p:cNvPr id="17" name="Shape 11"/>
          <p:cNvSpPr/>
          <p:nvPr/>
        </p:nvSpPr>
        <p:spPr>
          <a:xfrm>
            <a:off x="7955280" y="4114800"/>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8073055" y="4232575"/>
            <a:ext cx="276515" cy="276515"/>
          </a:xfrm>
          <a:prstGeom prst="rect">
            <a:avLst/>
          </a:prstGeom>
        </p:spPr>
      </p:pic>
      <p:sp>
        <p:nvSpPr>
          <p:cNvPr id="19" name="Text 12"/>
          <p:cNvSpPr/>
          <p:nvPr/>
        </p:nvSpPr>
        <p:spPr>
          <a:xfrm>
            <a:off x="8668512" y="409651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report to hand over</a:t>
            </a:r>
            <a:endParaRPr lang="en-US" sz="1500" dirty="0"/>
          </a:p>
        </p:txBody>
      </p:sp>
      <p:sp>
        <p:nvSpPr>
          <p:cNvPr id="20" name="Text 13"/>
          <p:cNvSpPr/>
          <p:nvPr/>
        </p:nvSpPr>
        <p:spPr>
          <a:xfrm>
            <a:off x="8668512" y="441655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 and evidence frames as PDF and CSV, sealed with a tamper-evident fingerprint.</a:t>
            </a:r>
            <a:endParaRPr lang="en-US" sz="1300" dirty="0"/>
          </a:p>
        </p:txBody>
      </p:sp>
      <p:sp>
        <p:nvSpPr>
          <p:cNvPr id="21" name="Text 14"/>
          <p:cNvSpPr/>
          <p:nvPr/>
        </p:nvSpPr>
        <p:spPr>
          <a:xfrm>
            <a:off x="548640" y="5546799"/>
            <a:ext cx="6949440" cy="41148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The real console on recorded government footage: GJ39C8018 at Gandhidham, 8 Aug 2026, 21:10 — the time printed on the frame.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A4  ·  DEMO BACKUP · GET ALERTED</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Flagged the moment it is seen</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A4</a:t>
            </a:r>
            <a:endParaRPr lang="en-US" sz="900" dirty="0"/>
          </a:p>
        </p:txBody>
      </p:sp>
      <p:sp>
        <p:nvSpPr>
          <p:cNvPr id="7" name="Shape 4"/>
          <p:cNvSpPr/>
          <p:nvPr/>
        </p:nvSpPr>
        <p:spPr>
          <a:xfrm>
            <a:off x="548640" y="1627632"/>
            <a:ext cx="5248656" cy="3627314"/>
          </a:xfrm>
          <a:prstGeom prst="roundRect">
            <a:avLst>
              <a:gd name="adj" fmla="val 2521"/>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691640"/>
            <a:ext cx="5120640" cy="3499298"/>
          </a:xfrm>
          <a:prstGeom prst="rect">
            <a:avLst/>
          </a:prstGeom>
        </p:spPr>
      </p:pic>
      <p:sp>
        <p:nvSpPr>
          <p:cNvPr id="9" name="Text 5"/>
          <p:cNvSpPr/>
          <p:nvPr/>
        </p:nvSpPr>
        <p:spPr>
          <a:xfrm>
            <a:off x="6217920" y="1691640"/>
            <a:ext cx="5425135" cy="36576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It catches the misreads cameras make</a:t>
            </a:r>
            <a:endParaRPr lang="en-US" sz="1800" dirty="0"/>
          </a:p>
        </p:txBody>
      </p:sp>
      <p:sp>
        <p:nvSpPr>
          <p:cNvPr id="10" name="Shape 6"/>
          <p:cNvSpPr/>
          <p:nvPr/>
        </p:nvSpPr>
        <p:spPr>
          <a:xfrm>
            <a:off x="6217920" y="221284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Shape 7"/>
          <p:cNvSpPr/>
          <p:nvPr/>
        </p:nvSpPr>
        <p:spPr>
          <a:xfrm>
            <a:off x="6446520" y="2441448"/>
            <a:ext cx="256032" cy="256032"/>
          </a:xfrm>
          <a:prstGeom prst="ellipse">
            <a:avLst/>
          </a:prstGeom>
          <a:solidFill>
            <a:srgbClr val="0F766E"/>
          </a:solidFill>
          <a:ln w="12700">
            <a:solidFill>
              <a:srgbClr val="0F766E"/>
            </a:solidFill>
            <a:prstDash val="solid"/>
          </a:ln>
        </p:spPr>
      </p:sp>
      <p:sp>
        <p:nvSpPr>
          <p:cNvPr id="12" name="Text 8"/>
          <p:cNvSpPr/>
          <p:nvPr/>
        </p:nvSpPr>
        <p:spPr>
          <a:xfrm>
            <a:off x="6858000" y="232257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Exact match</a:t>
            </a:r>
            <a:endParaRPr lang="en-US" sz="1500" dirty="0"/>
          </a:p>
        </p:txBody>
      </p:sp>
      <p:sp>
        <p:nvSpPr>
          <p:cNvPr id="13" name="Text 9"/>
          <p:cNvSpPr/>
          <p:nvPr/>
        </p:nvSpPr>
        <p:spPr>
          <a:xfrm>
            <a:off x="9144000" y="232257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The plate, read as it is</a:t>
            </a:r>
            <a:endParaRPr lang="en-US" sz="1300" dirty="0"/>
          </a:p>
        </p:txBody>
      </p:sp>
      <p:sp>
        <p:nvSpPr>
          <p:cNvPr id="14" name="Text 10"/>
          <p:cNvSpPr/>
          <p:nvPr/>
        </p:nvSpPr>
        <p:spPr>
          <a:xfrm>
            <a:off x="10500055" y="232257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15" name="Shape 11"/>
          <p:cNvSpPr/>
          <p:nvPr/>
        </p:nvSpPr>
        <p:spPr>
          <a:xfrm>
            <a:off x="6217920" y="308152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Shape 12"/>
          <p:cNvSpPr/>
          <p:nvPr/>
        </p:nvSpPr>
        <p:spPr>
          <a:xfrm>
            <a:off x="6446520" y="3310128"/>
            <a:ext cx="256032" cy="256032"/>
          </a:xfrm>
          <a:prstGeom prst="ellipse">
            <a:avLst/>
          </a:prstGeom>
          <a:solidFill>
            <a:srgbClr val="0F766E"/>
          </a:solidFill>
          <a:ln w="12700">
            <a:solidFill>
              <a:srgbClr val="0F766E"/>
            </a:solidFill>
            <a:prstDash val="solid"/>
          </a:ln>
        </p:spPr>
      </p:sp>
      <p:sp>
        <p:nvSpPr>
          <p:cNvPr id="17" name="Text 13"/>
          <p:cNvSpPr/>
          <p:nvPr/>
        </p:nvSpPr>
        <p:spPr>
          <a:xfrm>
            <a:off x="6858000" y="319125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Look-alike characters</a:t>
            </a:r>
            <a:endParaRPr lang="en-US" sz="1500" dirty="0"/>
          </a:p>
        </p:txBody>
      </p:sp>
      <p:sp>
        <p:nvSpPr>
          <p:cNvPr id="18" name="Text 14"/>
          <p:cNvSpPr/>
          <p:nvPr/>
        </p:nvSpPr>
        <p:spPr>
          <a:xfrm>
            <a:off x="9144000" y="319125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0 for O, 1 for I, 8 for B, 5 for S</a:t>
            </a:r>
            <a:endParaRPr lang="en-US" sz="1300" dirty="0"/>
          </a:p>
        </p:txBody>
      </p:sp>
      <p:sp>
        <p:nvSpPr>
          <p:cNvPr id="19" name="Text 15"/>
          <p:cNvSpPr/>
          <p:nvPr/>
        </p:nvSpPr>
        <p:spPr>
          <a:xfrm>
            <a:off x="10500055" y="319125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20" name="Shape 16"/>
          <p:cNvSpPr/>
          <p:nvPr/>
        </p:nvSpPr>
        <p:spPr>
          <a:xfrm>
            <a:off x="6217920" y="395020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Shape 17"/>
          <p:cNvSpPr/>
          <p:nvPr/>
        </p:nvSpPr>
        <p:spPr>
          <a:xfrm>
            <a:off x="6446520" y="4178808"/>
            <a:ext cx="256032" cy="256032"/>
          </a:xfrm>
          <a:prstGeom prst="ellipse">
            <a:avLst/>
          </a:prstGeom>
          <a:solidFill>
            <a:srgbClr val="D97706"/>
          </a:solidFill>
          <a:ln w="12700">
            <a:solidFill>
              <a:srgbClr val="D97706"/>
            </a:solidFill>
            <a:prstDash val="solid"/>
          </a:ln>
        </p:spPr>
      </p:sp>
      <p:sp>
        <p:nvSpPr>
          <p:cNvPr id="22" name="Text 18"/>
          <p:cNvSpPr/>
          <p:nvPr/>
        </p:nvSpPr>
        <p:spPr>
          <a:xfrm>
            <a:off x="6858000" y="405993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One character off</a:t>
            </a:r>
            <a:endParaRPr lang="en-US" sz="1500" dirty="0"/>
          </a:p>
        </p:txBody>
      </p:sp>
      <p:sp>
        <p:nvSpPr>
          <p:cNvPr id="23" name="Text 19"/>
          <p:cNvSpPr/>
          <p:nvPr/>
        </p:nvSpPr>
        <p:spPr>
          <a:xfrm>
            <a:off x="9144000" y="405993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Shown with the plate as actually read</a:t>
            </a:r>
            <a:endParaRPr lang="en-US" sz="1300" dirty="0"/>
          </a:p>
        </p:txBody>
      </p:sp>
      <p:sp>
        <p:nvSpPr>
          <p:cNvPr id="24" name="Text 20"/>
          <p:cNvSpPr/>
          <p:nvPr/>
        </p:nvSpPr>
        <p:spPr>
          <a:xfrm>
            <a:off x="10500055" y="4059936"/>
            <a:ext cx="914400" cy="493776"/>
          </a:xfrm>
          <a:prstGeom prst="rect">
            <a:avLst/>
          </a:prstGeom>
          <a:noFill/>
          <a:ln/>
        </p:spPr>
        <p:txBody>
          <a:bodyPr wrap="square" lIns="0" tIns="0" rIns="0" bIns="0" rtlCol="0" anchor="ctr"/>
          <a:lstStyle/>
          <a:p>
            <a:pPr algn="r" indent="0" marL="0">
              <a:buNone/>
            </a:pPr>
            <a:r>
              <a:rPr lang="en-US" sz="1200" b="1" dirty="0">
                <a:solidFill>
                  <a:srgbClr val="D97706"/>
                </a:solidFill>
                <a:latin typeface="Arial" pitchFamily="34" charset="0"/>
                <a:ea typeface="Arial" pitchFamily="34" charset="-122"/>
                <a:cs typeface="Arial" pitchFamily="34" charset="-120"/>
              </a:rPr>
              <a:t>Confirm</a:t>
            </a:r>
            <a:endParaRPr lang="en-US" sz="1200" dirty="0"/>
          </a:p>
        </p:txBody>
      </p:sp>
      <p:sp>
        <p:nvSpPr>
          <p:cNvPr id="25" name="Shape 21"/>
          <p:cNvSpPr/>
          <p:nvPr/>
        </p:nvSpPr>
        <p:spPr>
          <a:xfrm>
            <a:off x="6217920" y="5029200"/>
            <a:ext cx="512064" cy="512064"/>
          </a:xfrm>
          <a:prstGeom prst="ellipse">
            <a:avLst/>
          </a:prstGeom>
          <a:solidFill>
            <a:srgbClr val="D97706"/>
          </a:solidFill>
          <a:ln w="12700">
            <a:solidFill>
              <a:srgbClr val="D97706"/>
            </a:solidFill>
            <a:prstDash val="solid"/>
          </a:ln>
        </p:spPr>
      </p:sp>
      <p:pic>
        <p:nvPicPr>
          <p:cNvPr id="26" name="Image 1" descr="preencoded.png">    </p:cNvPr>
          <p:cNvPicPr>
            <a:picLocks noChangeAspect="1"/>
          </p:cNvPicPr>
          <p:nvPr/>
        </p:nvPicPr>
        <p:blipFill>
          <a:blip r:embed="rId2"/>
          <a:stretch>
            <a:fillRect/>
          </a:stretch>
        </p:blipFill>
        <p:spPr>
          <a:xfrm>
            <a:off x="6335695" y="5146975"/>
            <a:ext cx="276515" cy="276515"/>
          </a:xfrm>
          <a:prstGeom prst="rect">
            <a:avLst/>
          </a:prstGeom>
        </p:spPr>
      </p:pic>
      <p:sp>
        <p:nvSpPr>
          <p:cNvPr id="27" name="Text 22"/>
          <p:cNvSpPr/>
          <p:nvPr/>
        </p:nvSpPr>
        <p:spPr>
          <a:xfrm>
            <a:off x="6931152" y="5010912"/>
            <a:ext cx="4711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Ready for the State’s databases</a:t>
            </a:r>
            <a:endParaRPr lang="en-US" sz="1500" dirty="0"/>
          </a:p>
        </p:txBody>
      </p:sp>
      <p:sp>
        <p:nvSpPr>
          <p:cNvPr id="28" name="Text 23"/>
          <p:cNvSpPr/>
          <p:nvPr/>
        </p:nvSpPr>
        <p:spPr>
          <a:xfrm>
            <a:off x="6931152" y="5330952"/>
            <a:ext cx="4711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VAHAN, SARTHI, eGujCop, AFIS and NAFIS connectors are built. Access, once granted, is a setting.</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A5  ·  BEYOND NUMBER PLATES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More than plates — never identities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A5</a:t>
            </a:r>
            <a:endParaRPr lang="en-US" sz="900" dirty="0"/>
          </a:p>
        </p:txBody>
      </p:sp>
      <p:sp>
        <p:nvSpPr>
          <p:cNvPr id="7" name="Shape 4"/>
          <p:cNvSpPr/>
          <p:nvPr/>
        </p:nvSpPr>
        <p:spPr>
          <a:xfrm>
            <a:off x="548640"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2011680"/>
            <a:ext cx="548640" cy="5486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10" name="Text 6"/>
          <p:cNvSpPr/>
          <p:nvPr/>
        </p:nvSpPr>
        <p:spPr>
          <a:xfrm>
            <a:off x="1554480"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type</a:t>
            </a:r>
            <a:endParaRPr lang="en-US" sz="1700" dirty="0"/>
          </a:p>
        </p:txBody>
      </p:sp>
      <p:sp>
        <p:nvSpPr>
          <p:cNvPr id="11" name="Text 7"/>
          <p:cNvSpPr/>
          <p:nvPr/>
        </p:nvSpPr>
        <p:spPr>
          <a:xfrm>
            <a:off x="1554480"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Car, motorcycle, bus or truck — on every read.</a:t>
            </a:r>
            <a:endParaRPr lang="en-US" sz="1400" dirty="0"/>
          </a:p>
        </p:txBody>
      </p:sp>
      <p:sp>
        <p:nvSpPr>
          <p:cNvPr id="12" name="Shape 8"/>
          <p:cNvSpPr/>
          <p:nvPr/>
        </p:nvSpPr>
        <p:spPr>
          <a:xfrm>
            <a:off x="4338218"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4612538" y="2011680"/>
            <a:ext cx="548640" cy="54864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4738726" y="2137867"/>
            <a:ext cx="296266" cy="296266"/>
          </a:xfrm>
          <a:prstGeom prst="rect">
            <a:avLst/>
          </a:prstGeom>
        </p:spPr>
      </p:pic>
      <p:sp>
        <p:nvSpPr>
          <p:cNvPr id="15" name="Text 10"/>
          <p:cNvSpPr/>
          <p:nvPr/>
        </p:nvSpPr>
        <p:spPr>
          <a:xfrm>
            <a:off x="5344058"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colour</a:t>
            </a:r>
            <a:endParaRPr lang="en-US" sz="1700" dirty="0"/>
          </a:p>
        </p:txBody>
      </p:sp>
      <p:sp>
        <p:nvSpPr>
          <p:cNvPr id="16" name="Text 11"/>
          <p:cNvSpPr/>
          <p:nvPr/>
        </p:nvSpPr>
        <p:spPr>
          <a:xfrm>
            <a:off x="5344058"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Body colour attached to each sighting.</a:t>
            </a:r>
            <a:endParaRPr lang="en-US" sz="1400" dirty="0"/>
          </a:p>
        </p:txBody>
      </p:sp>
      <p:sp>
        <p:nvSpPr>
          <p:cNvPr id="17" name="Shape 12"/>
          <p:cNvSpPr/>
          <p:nvPr/>
        </p:nvSpPr>
        <p:spPr>
          <a:xfrm>
            <a:off x="8127797"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8402117" y="2011680"/>
            <a:ext cx="548640" cy="548640"/>
          </a:xfrm>
          <a:prstGeom prst="ellipse">
            <a:avLst/>
          </a:prstGeom>
          <a:solidFill>
            <a:srgbClr val="2456D6"/>
          </a:solidFill>
          <a:ln w="12700">
            <a:solidFill>
              <a:srgbClr val="2456D6"/>
            </a:solidFill>
            <a:prstDash val="solid"/>
          </a:ln>
        </p:spPr>
      </p:sp>
      <p:pic>
        <p:nvPicPr>
          <p:cNvPr id="19" name="Image 2" descr="preencoded.png">    </p:cNvPr>
          <p:cNvPicPr>
            <a:picLocks noChangeAspect="1"/>
          </p:cNvPicPr>
          <p:nvPr/>
        </p:nvPicPr>
        <p:blipFill>
          <a:blip r:embed="rId3"/>
          <a:stretch>
            <a:fillRect/>
          </a:stretch>
        </p:blipFill>
        <p:spPr>
          <a:xfrm>
            <a:off x="8528304" y="2137867"/>
            <a:ext cx="296266" cy="296266"/>
          </a:xfrm>
          <a:prstGeom prst="rect">
            <a:avLst/>
          </a:prstGeom>
        </p:spPr>
      </p:pic>
      <p:sp>
        <p:nvSpPr>
          <p:cNvPr id="20" name="Text 14"/>
          <p:cNvSpPr/>
          <p:nvPr/>
        </p:nvSpPr>
        <p:spPr>
          <a:xfrm>
            <a:off x="9133637"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People counted</a:t>
            </a:r>
            <a:endParaRPr lang="en-US" sz="1700" dirty="0"/>
          </a:p>
        </p:txBody>
      </p:sp>
      <p:sp>
        <p:nvSpPr>
          <p:cNvPr id="21" name="Text 15"/>
          <p:cNvSpPr/>
          <p:nvPr/>
        </p:nvSpPr>
        <p:spPr>
          <a:xfrm>
            <a:off x="9133637"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Counted per camera and held to zones. Never identified.</a:t>
            </a:r>
            <a:endParaRPr lang="en-US" sz="1400" dirty="0"/>
          </a:p>
        </p:txBody>
      </p:sp>
      <p:sp>
        <p:nvSpPr>
          <p:cNvPr id="22" name="Shape 16"/>
          <p:cNvSpPr/>
          <p:nvPr/>
        </p:nvSpPr>
        <p:spPr>
          <a:xfrm>
            <a:off x="548640"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822960" y="3886200"/>
            <a:ext cx="548640" cy="548640"/>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949147" y="4012387"/>
            <a:ext cx="296266" cy="296266"/>
          </a:xfrm>
          <a:prstGeom prst="rect">
            <a:avLst/>
          </a:prstGeom>
        </p:spPr>
      </p:pic>
      <p:sp>
        <p:nvSpPr>
          <p:cNvPr id="25" name="Text 18"/>
          <p:cNvSpPr/>
          <p:nvPr/>
        </p:nvSpPr>
        <p:spPr>
          <a:xfrm>
            <a:off x="1554480"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Restricted zones</a:t>
            </a:r>
            <a:endParaRPr lang="en-US" sz="1700" dirty="0"/>
          </a:p>
        </p:txBody>
      </p:sp>
      <p:sp>
        <p:nvSpPr>
          <p:cNvPr id="26" name="Text 19"/>
          <p:cNvSpPr/>
          <p:nvPr/>
        </p:nvSpPr>
        <p:spPr>
          <a:xfrm>
            <a:off x="1554480"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Intrusion and loitering, drawn on any camera.</a:t>
            </a:r>
            <a:endParaRPr lang="en-US" sz="1400" dirty="0"/>
          </a:p>
        </p:txBody>
      </p:sp>
      <p:sp>
        <p:nvSpPr>
          <p:cNvPr id="27" name="Shape 20"/>
          <p:cNvSpPr/>
          <p:nvPr/>
        </p:nvSpPr>
        <p:spPr>
          <a:xfrm>
            <a:off x="4338218"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8" name="Shape 21"/>
          <p:cNvSpPr/>
          <p:nvPr/>
        </p:nvSpPr>
        <p:spPr>
          <a:xfrm>
            <a:off x="4612538" y="3886200"/>
            <a:ext cx="548640" cy="548640"/>
          </a:xfrm>
          <a:prstGeom prst="ellipse">
            <a:avLst/>
          </a:prstGeom>
          <a:solidFill>
            <a:srgbClr val="2456D6"/>
          </a:solidFill>
          <a:ln w="12700">
            <a:solidFill>
              <a:srgbClr val="2456D6"/>
            </a:solidFill>
            <a:prstDash val="solid"/>
          </a:ln>
        </p:spPr>
      </p:sp>
      <p:pic>
        <p:nvPicPr>
          <p:cNvPr id="29" name="Image 4" descr="preencoded.png">    </p:cNvPr>
          <p:cNvPicPr>
            <a:picLocks noChangeAspect="1"/>
          </p:cNvPicPr>
          <p:nvPr/>
        </p:nvPicPr>
        <p:blipFill>
          <a:blip r:embed="rId5"/>
          <a:stretch>
            <a:fillRect/>
          </a:stretch>
        </p:blipFill>
        <p:spPr>
          <a:xfrm>
            <a:off x="4738726" y="4012387"/>
            <a:ext cx="296266" cy="296266"/>
          </a:xfrm>
          <a:prstGeom prst="rect">
            <a:avLst/>
          </a:prstGeom>
        </p:spPr>
      </p:pic>
      <p:sp>
        <p:nvSpPr>
          <p:cNvPr id="30" name="Text 22"/>
          <p:cNvSpPr/>
          <p:nvPr/>
        </p:nvSpPr>
        <p:spPr>
          <a:xfrm>
            <a:off x="5344058"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Traffic rules</a:t>
            </a:r>
            <a:endParaRPr lang="en-US" sz="1700" dirty="0"/>
          </a:p>
        </p:txBody>
      </p:sp>
      <p:sp>
        <p:nvSpPr>
          <p:cNvPr id="31" name="Text 23"/>
          <p:cNvSpPr/>
          <p:nvPr/>
        </p:nvSpPr>
        <p:spPr>
          <a:xfrm>
            <a:off x="5344058"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Wrong-way and stopped vehicles, per zone.</a:t>
            </a:r>
            <a:endParaRPr lang="en-US" sz="1400" dirty="0"/>
          </a:p>
        </p:txBody>
      </p:sp>
      <p:sp>
        <p:nvSpPr>
          <p:cNvPr id="32" name="Shape 24"/>
          <p:cNvSpPr/>
          <p:nvPr/>
        </p:nvSpPr>
        <p:spPr>
          <a:xfrm>
            <a:off x="8127797"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3" name="Shape 25"/>
          <p:cNvSpPr/>
          <p:nvPr/>
        </p:nvSpPr>
        <p:spPr>
          <a:xfrm>
            <a:off x="8402117" y="3886200"/>
            <a:ext cx="548640" cy="548640"/>
          </a:xfrm>
          <a:prstGeom prst="ellipse">
            <a:avLst/>
          </a:prstGeom>
          <a:solidFill>
            <a:srgbClr val="2456D6"/>
          </a:solidFill>
          <a:ln w="12700">
            <a:solidFill>
              <a:srgbClr val="2456D6"/>
            </a:solidFill>
            <a:prstDash val="solid"/>
          </a:ln>
        </p:spPr>
      </p:sp>
      <p:pic>
        <p:nvPicPr>
          <p:cNvPr id="34" name="Image 5" descr="preencoded.png">    </p:cNvPr>
          <p:cNvPicPr>
            <a:picLocks noChangeAspect="1"/>
          </p:cNvPicPr>
          <p:nvPr/>
        </p:nvPicPr>
        <p:blipFill>
          <a:blip r:embed="rId6"/>
          <a:stretch>
            <a:fillRect/>
          </a:stretch>
        </p:blipFill>
        <p:spPr>
          <a:xfrm>
            <a:off x="8528304" y="4012387"/>
            <a:ext cx="296266" cy="296266"/>
          </a:xfrm>
          <a:prstGeom prst="rect">
            <a:avLst/>
          </a:prstGeom>
        </p:spPr>
      </p:pic>
      <p:sp>
        <p:nvSpPr>
          <p:cNvPr id="35" name="Text 26"/>
          <p:cNvSpPr/>
          <p:nvPr/>
        </p:nvSpPr>
        <p:spPr>
          <a:xfrm>
            <a:off x="9133637"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Camera tamper</a:t>
            </a:r>
            <a:endParaRPr lang="en-US" sz="1700" dirty="0"/>
          </a:p>
        </p:txBody>
      </p:sp>
      <p:sp>
        <p:nvSpPr>
          <p:cNvPr id="36" name="Text 27"/>
          <p:cNvSpPr/>
          <p:nvPr/>
        </p:nvSpPr>
        <p:spPr>
          <a:xfrm>
            <a:off x="9133637"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Covered, blurred or moved — flagged on the camera.</a:t>
            </a:r>
            <a:endParaRPr lang="en-US" sz="1400" dirty="0"/>
          </a:p>
        </p:txBody>
      </p:sp>
      <p:sp>
        <p:nvSpPr>
          <p:cNvPr id="37" name="Shape 28"/>
          <p:cNvSpPr/>
          <p:nvPr/>
        </p:nvSpPr>
        <p:spPr>
          <a:xfrm>
            <a:off x="548640" y="5669280"/>
            <a:ext cx="420624" cy="420624"/>
          </a:xfrm>
          <a:prstGeom prst="ellipse">
            <a:avLst/>
          </a:prstGeom>
          <a:solidFill>
            <a:srgbClr val="0F766E"/>
          </a:solidFill>
          <a:ln w="12700">
            <a:solidFill>
              <a:srgbClr val="0F766E"/>
            </a:solidFill>
            <a:prstDash val="solid"/>
          </a:ln>
        </p:spPr>
      </p:sp>
      <p:pic>
        <p:nvPicPr>
          <p:cNvPr id="38" name="Image 6" descr="preencoded.png">    </p:cNvPr>
          <p:cNvPicPr>
            <a:picLocks noChangeAspect="1"/>
          </p:cNvPicPr>
          <p:nvPr/>
        </p:nvPicPr>
        <p:blipFill>
          <a:blip r:embed="rId7"/>
          <a:stretch>
            <a:fillRect/>
          </a:stretch>
        </p:blipFill>
        <p:spPr>
          <a:xfrm>
            <a:off x="645384" y="5766024"/>
            <a:ext cx="227137" cy="227137"/>
          </a:xfrm>
          <a:prstGeom prst="rect">
            <a:avLst/>
          </a:prstGeom>
        </p:spPr>
      </p:pic>
      <p:sp>
        <p:nvSpPr>
          <p:cNvPr id="39" name="Text 29"/>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No face recognition, by decision. Faces are detected only so they can be blurred.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A6  ·  AI WHERE IT MATTERS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Not every camera needs the same attention</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A6</a:t>
            </a:r>
            <a:endParaRPr lang="en-US" sz="900" dirty="0"/>
          </a:p>
        </p:txBody>
      </p:sp>
      <p:graphicFrame>
        <p:nvGraphicFramePr>
          <p:cNvPr id="7" name="Chart 0" descr=""/>
          <p:cNvGraphicFramePr/>
          <p:nvPr/>
        </p:nvGraphicFramePr>
        <p:xfrm>
          <a:off x="548640" y="1600200"/>
          <a:ext cx="4480560" cy="44805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1874520" y="3429000"/>
            <a:ext cx="1828800" cy="502920"/>
          </a:xfrm>
          <a:prstGeom prst="rect">
            <a:avLst/>
          </a:prstGeom>
          <a:noFill/>
          <a:ln/>
        </p:spPr>
        <p:txBody>
          <a:bodyPr wrap="square" lIns="0" tIns="0" rIns="0" bIns="0" rtlCol="0" anchor="t"/>
          <a:lstStyle/>
          <a:p>
            <a:pPr algn="ctr" indent="0" marL="0">
              <a:buNone/>
            </a:pPr>
            <a:r>
              <a:rPr lang="en-US" sz="2800" b="1" dirty="0">
                <a:solidFill>
                  <a:srgbClr val="0F1B33"/>
                </a:solidFill>
                <a:latin typeface="Arial" pitchFamily="34" charset="0"/>
                <a:ea typeface="Arial" pitchFamily="34" charset="-122"/>
                <a:cs typeface="Arial" pitchFamily="34" charset="-120"/>
              </a:rPr>
              <a:t>80,000</a:t>
            </a:r>
            <a:endParaRPr lang="en-US" sz="2800" dirty="0"/>
          </a:p>
        </p:txBody>
      </p:sp>
      <p:sp>
        <p:nvSpPr>
          <p:cNvPr id="9" name="Text 5"/>
          <p:cNvSpPr/>
          <p:nvPr/>
        </p:nvSpPr>
        <p:spPr>
          <a:xfrm>
            <a:off x="1874520" y="3913632"/>
            <a:ext cx="1828800" cy="320040"/>
          </a:xfrm>
          <a:prstGeom prst="rect">
            <a:avLst/>
          </a:prstGeom>
          <a:noFill/>
          <a:ln/>
        </p:spPr>
        <p:txBody>
          <a:bodyPr wrap="square" lIns="0" tIns="0" rIns="0" bIns="0" rtlCol="0" anchor="t"/>
          <a:lstStyle/>
          <a:p>
            <a:pPr algn="ct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0" name="Shape 6"/>
          <p:cNvSpPr/>
          <p:nvPr/>
        </p:nvSpPr>
        <p:spPr>
          <a:xfrm>
            <a:off x="5486400" y="1737360"/>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Shape 7"/>
          <p:cNvSpPr/>
          <p:nvPr/>
        </p:nvSpPr>
        <p:spPr>
          <a:xfrm>
            <a:off x="5715000" y="1965960"/>
            <a:ext cx="256032" cy="256032"/>
          </a:xfrm>
          <a:prstGeom prst="ellipse">
            <a:avLst/>
          </a:prstGeom>
          <a:solidFill>
            <a:srgbClr val="D97706"/>
          </a:solidFill>
          <a:ln w="6350">
            <a:solidFill>
              <a:srgbClr val="DDE3EE"/>
            </a:solidFill>
            <a:prstDash val="solid"/>
          </a:ln>
        </p:spPr>
      </p:sp>
      <p:sp>
        <p:nvSpPr>
          <p:cNvPr id="12" name="Text 8"/>
          <p:cNvSpPr/>
          <p:nvPr/>
        </p:nvSpPr>
        <p:spPr>
          <a:xfrm>
            <a:off x="6126480" y="1847088"/>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Continuous</a:t>
            </a:r>
            <a:endParaRPr lang="en-US" sz="1500" dirty="0"/>
          </a:p>
        </p:txBody>
      </p:sp>
      <p:sp>
        <p:nvSpPr>
          <p:cNvPr id="13" name="Text 9"/>
          <p:cNvSpPr/>
          <p:nvPr/>
        </p:nvSpPr>
        <p:spPr>
          <a:xfrm>
            <a:off x="8092440" y="1847088"/>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Check-posts, highways, city entry points</a:t>
            </a:r>
            <a:endParaRPr lang="en-US" sz="1200" dirty="0"/>
          </a:p>
        </p:txBody>
      </p:sp>
      <p:sp>
        <p:nvSpPr>
          <p:cNvPr id="14" name="Text 10"/>
          <p:cNvSpPr/>
          <p:nvPr/>
        </p:nvSpPr>
        <p:spPr>
          <a:xfrm>
            <a:off x="9677095" y="1847088"/>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9,600 cameras</a:t>
            </a:r>
            <a:endParaRPr lang="en-US" sz="1300" dirty="0"/>
          </a:p>
        </p:txBody>
      </p:sp>
      <p:sp>
        <p:nvSpPr>
          <p:cNvPr id="15" name="Shape 11"/>
          <p:cNvSpPr/>
          <p:nvPr/>
        </p:nvSpPr>
        <p:spPr>
          <a:xfrm>
            <a:off x="5486400" y="2578608"/>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Shape 12"/>
          <p:cNvSpPr/>
          <p:nvPr/>
        </p:nvSpPr>
        <p:spPr>
          <a:xfrm>
            <a:off x="5715000" y="2807208"/>
            <a:ext cx="256032" cy="256032"/>
          </a:xfrm>
          <a:prstGeom prst="ellipse">
            <a:avLst/>
          </a:prstGeom>
          <a:solidFill>
            <a:srgbClr val="2456D6"/>
          </a:solidFill>
          <a:ln w="6350">
            <a:solidFill>
              <a:srgbClr val="DDE3EE"/>
            </a:solidFill>
            <a:prstDash val="solid"/>
          </a:ln>
        </p:spPr>
      </p:sp>
      <p:sp>
        <p:nvSpPr>
          <p:cNvPr id="17" name="Text 13"/>
          <p:cNvSpPr/>
          <p:nvPr/>
        </p:nvSpPr>
        <p:spPr>
          <a:xfrm>
            <a:off x="6126480" y="2688336"/>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Sampled</a:t>
            </a:r>
            <a:endParaRPr lang="en-US" sz="1500" dirty="0"/>
          </a:p>
        </p:txBody>
      </p:sp>
      <p:sp>
        <p:nvSpPr>
          <p:cNvPr id="18" name="Text 14"/>
          <p:cNvSpPr/>
          <p:nvPr/>
        </p:nvSpPr>
        <p:spPr>
          <a:xfrm>
            <a:off x="8092440" y="2688336"/>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Junctions, markets and public spaces</a:t>
            </a:r>
            <a:endParaRPr lang="en-US" sz="1200" dirty="0"/>
          </a:p>
        </p:txBody>
      </p:sp>
      <p:sp>
        <p:nvSpPr>
          <p:cNvPr id="19" name="Text 15"/>
          <p:cNvSpPr/>
          <p:nvPr/>
        </p:nvSpPr>
        <p:spPr>
          <a:xfrm>
            <a:off x="9677095" y="2688336"/>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22,400 cameras</a:t>
            </a:r>
            <a:endParaRPr lang="en-US" sz="1300" dirty="0"/>
          </a:p>
        </p:txBody>
      </p:sp>
      <p:sp>
        <p:nvSpPr>
          <p:cNvPr id="20" name="Shape 16"/>
          <p:cNvSpPr/>
          <p:nvPr/>
        </p:nvSpPr>
        <p:spPr>
          <a:xfrm>
            <a:off x="5486400" y="3419856"/>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Shape 17"/>
          <p:cNvSpPr/>
          <p:nvPr/>
        </p:nvSpPr>
        <p:spPr>
          <a:xfrm>
            <a:off x="5715000" y="3648456"/>
            <a:ext cx="256032" cy="256032"/>
          </a:xfrm>
          <a:prstGeom prst="ellipse">
            <a:avLst/>
          </a:prstGeom>
          <a:solidFill>
            <a:srgbClr val="8FA9EA"/>
          </a:solidFill>
          <a:ln w="6350">
            <a:solidFill>
              <a:srgbClr val="DDE3EE"/>
            </a:solidFill>
            <a:prstDash val="solid"/>
          </a:ln>
        </p:spPr>
      </p:sp>
      <p:sp>
        <p:nvSpPr>
          <p:cNvPr id="22" name="Text 18"/>
          <p:cNvSpPr/>
          <p:nvPr/>
        </p:nvSpPr>
        <p:spPr>
          <a:xfrm>
            <a:off x="6126480" y="3529584"/>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Motion-triggered</a:t>
            </a:r>
            <a:endParaRPr lang="en-US" sz="1500" dirty="0"/>
          </a:p>
        </p:txBody>
      </p:sp>
      <p:sp>
        <p:nvSpPr>
          <p:cNvPr id="23" name="Text 19"/>
          <p:cNvSpPr/>
          <p:nvPr/>
        </p:nvSpPr>
        <p:spPr>
          <a:xfrm>
            <a:off x="8092440" y="3529584"/>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Godowns, offices and quiet premises</a:t>
            </a:r>
            <a:endParaRPr lang="en-US" sz="1200" dirty="0"/>
          </a:p>
        </p:txBody>
      </p:sp>
      <p:sp>
        <p:nvSpPr>
          <p:cNvPr id="24" name="Text 20"/>
          <p:cNvSpPr/>
          <p:nvPr/>
        </p:nvSpPr>
        <p:spPr>
          <a:xfrm>
            <a:off x="9677095" y="3529584"/>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28,000 cameras</a:t>
            </a:r>
            <a:endParaRPr lang="en-US" sz="1300" dirty="0"/>
          </a:p>
        </p:txBody>
      </p:sp>
      <p:sp>
        <p:nvSpPr>
          <p:cNvPr id="25" name="Shape 21"/>
          <p:cNvSpPr/>
          <p:nvPr/>
        </p:nvSpPr>
        <p:spPr>
          <a:xfrm>
            <a:off x="5486400" y="4261104"/>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6" name="Shape 22"/>
          <p:cNvSpPr/>
          <p:nvPr/>
        </p:nvSpPr>
        <p:spPr>
          <a:xfrm>
            <a:off x="5715000" y="4489704"/>
            <a:ext cx="256032" cy="256032"/>
          </a:xfrm>
          <a:prstGeom prst="ellipse">
            <a:avLst/>
          </a:prstGeom>
          <a:solidFill>
            <a:srgbClr val="D3DAE6"/>
          </a:solidFill>
          <a:ln w="6350">
            <a:solidFill>
              <a:srgbClr val="DDE3EE"/>
            </a:solidFill>
            <a:prstDash val="solid"/>
          </a:ln>
        </p:spPr>
      </p:sp>
      <p:sp>
        <p:nvSpPr>
          <p:cNvPr id="27" name="Text 23"/>
          <p:cNvSpPr/>
          <p:nvPr/>
        </p:nvSpPr>
        <p:spPr>
          <a:xfrm>
            <a:off x="6126480" y="4370832"/>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View only</a:t>
            </a:r>
            <a:endParaRPr lang="en-US" sz="1500" dirty="0"/>
          </a:p>
        </p:txBody>
      </p:sp>
      <p:sp>
        <p:nvSpPr>
          <p:cNvPr id="28" name="Text 24"/>
          <p:cNvSpPr/>
          <p:nvPr/>
        </p:nvSpPr>
        <p:spPr>
          <a:xfrm>
            <a:off x="8092440" y="4370832"/>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Indoor, admin and consented private feeds</a:t>
            </a:r>
            <a:endParaRPr lang="en-US" sz="1200" dirty="0"/>
          </a:p>
        </p:txBody>
      </p:sp>
      <p:sp>
        <p:nvSpPr>
          <p:cNvPr id="29" name="Text 25"/>
          <p:cNvSpPr/>
          <p:nvPr/>
        </p:nvSpPr>
        <p:spPr>
          <a:xfrm>
            <a:off x="9677095" y="4370832"/>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20,000 cameras</a:t>
            </a:r>
            <a:endParaRPr lang="en-US" sz="1300" dirty="0"/>
          </a:p>
        </p:txBody>
      </p:sp>
      <p:sp>
        <p:nvSpPr>
          <p:cNvPr id="30" name="Shape 26"/>
          <p:cNvSpPr/>
          <p:nvPr/>
        </p:nvSpPr>
        <p:spPr>
          <a:xfrm>
            <a:off x="5486400" y="5166360"/>
            <a:ext cx="6156655" cy="777240"/>
          </a:xfrm>
          <a:prstGeom prst="roundRect">
            <a:avLst>
              <a:gd name="adj" fmla="val 14118"/>
            </a:avLst>
          </a:prstGeom>
          <a:solidFill>
            <a:srgbClr val="EAF0FD"/>
          </a:solidFill>
          <a:ln w="9525">
            <a:solidFill>
              <a:srgbClr val="C9D7F7"/>
            </a:solidFill>
            <a:prstDash val="solid"/>
          </a:ln>
        </p:spPr>
      </p:sp>
      <p:sp>
        <p:nvSpPr>
          <p:cNvPr id="31" name="Shape 27"/>
          <p:cNvSpPr/>
          <p:nvPr/>
        </p:nvSpPr>
        <p:spPr>
          <a:xfrm>
            <a:off x="5669280" y="5294376"/>
            <a:ext cx="512064" cy="512064"/>
          </a:xfrm>
          <a:prstGeom prst="ellipse">
            <a:avLst/>
          </a:prstGeom>
          <a:solidFill>
            <a:srgbClr val="2456D6"/>
          </a:solidFill>
          <a:ln w="12700">
            <a:solidFill>
              <a:srgbClr val="2456D6"/>
            </a:solidFill>
            <a:prstDash val="solid"/>
          </a:ln>
        </p:spPr>
      </p:sp>
      <p:pic>
        <p:nvPicPr>
          <p:cNvPr id="32" name="Image 0" descr="preencoded.png">    </p:cNvPr>
          <p:cNvPicPr>
            <a:picLocks noChangeAspect="1"/>
          </p:cNvPicPr>
          <p:nvPr/>
        </p:nvPicPr>
        <p:blipFill>
          <a:blip r:embed="rId2"/>
          <a:stretch>
            <a:fillRect/>
          </a:stretch>
        </p:blipFill>
        <p:spPr>
          <a:xfrm>
            <a:off x="5787055" y="5412151"/>
            <a:ext cx="276515" cy="276515"/>
          </a:xfrm>
          <a:prstGeom prst="rect">
            <a:avLst/>
          </a:prstGeom>
        </p:spPr>
      </p:pic>
      <p:sp>
        <p:nvSpPr>
          <p:cNvPr id="33" name="Text 28"/>
          <p:cNvSpPr/>
          <p:nvPr/>
        </p:nvSpPr>
        <p:spPr>
          <a:xfrm>
            <a:off x="6355080" y="5239512"/>
            <a:ext cx="5105095" cy="640080"/>
          </a:xfrm>
          <a:prstGeom prst="rect">
            <a:avLst/>
          </a:prstGeom>
          <a:noFill/>
          <a:ln/>
        </p:spPr>
        <p:txBody>
          <a:bodyPr wrap="square" lIns="0" tIns="0" rIns="0" bIns="0" rtlCol="0" anchor="ctr"/>
          <a:lstStyle/>
          <a:p>
            <a:pPr indent="0" marL="0">
              <a:buNone/>
            </a:pPr>
            <a:r>
              <a:rPr lang="en-US" sz="1300" dirty="0">
                <a:solidFill>
                  <a:srgbClr val="0F1B33"/>
                </a:solidFill>
                <a:latin typeface="Calibri" pitchFamily="34" charset="0"/>
                <a:ea typeface="Calibri" pitchFamily="34" charset="-122"/>
                <a:cs typeface="Calibri" pitchFamily="34" charset="-120"/>
              </a:rPr>
              <a:t>Each department sets the tier, and can change it live — a camera moves to continuous for a bandobast and back afterwards.</a:t>
            </a:r>
            <a:endParaRPr lang="en-US" sz="1300" dirty="0"/>
          </a:p>
        </p:txBody>
      </p:sp>
      <p:sp>
        <p:nvSpPr>
          <p:cNvPr id="34" name="Text 29"/>
          <p:cNvSpPr/>
          <p:nvPr/>
        </p:nvSpPr>
        <p:spPr>
          <a:xfrm>
            <a:off x="548640" y="6172200"/>
            <a:ext cx="10362895" cy="411480"/>
          </a:xfrm>
          <a:prstGeom prst="rect">
            <a:avLst/>
          </a:prstGeom>
          <a:noFill/>
          <a:ln/>
        </p:spPr>
        <p:txBody>
          <a:bodyPr wrap="square" lIns="0" tIns="0" rIns="0" bIns="0" rtlCol="0" anchor="t"/>
          <a:lstStyle/>
          <a:p>
            <a:pPr indent="0" marL="0">
              <a:buNone/>
            </a:pPr>
            <a:r>
              <a:rPr lang="en-US" sz="1000" i="1" dirty="0">
                <a:solidFill>
                  <a:srgbClr val="536079"/>
                </a:solidFill>
                <a:latin typeface="Calibri" pitchFamily="34" charset="0"/>
                <a:ea typeface="Calibri" pitchFamily="34" charset="-122"/>
                <a:cs typeface="Calibri" pitchFamily="34" charset="-120"/>
              </a:rPr>
              <a:t>Planning assumption, not a survey: the ~80,000 total is from the brief; the split is our estimate from how departments use their cameras. Compute and cost are sized from it; department inventories replace it in the pilot.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A7  ·  CHOOSING AN APPROACH</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How Sentinel compares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A7</a:t>
            </a:r>
            <a:endParaRPr lang="en-US" sz="900" dirty="0"/>
          </a:p>
        </p:txBody>
      </p:sp>
      <p:sp>
        <p:nvSpPr>
          <p:cNvPr id="7" name="Shape 4"/>
          <p:cNvSpPr/>
          <p:nvPr/>
        </p:nvSpPr>
        <p:spPr>
          <a:xfrm>
            <a:off x="9011717" y="1618488"/>
            <a:ext cx="2585618" cy="4352544"/>
          </a:xfrm>
          <a:prstGeom prst="roundRect">
            <a:avLst>
              <a:gd name="adj" fmla="val 4244"/>
            </a:avLst>
          </a:prstGeom>
          <a:solidFill>
            <a:srgbClr val="EAF0FD"/>
          </a:solidFill>
          <a:ln w="9525">
            <a:solidFill>
              <a:srgbClr val="C9D7F7"/>
            </a:solidFill>
            <a:prstDash val="solid"/>
          </a:ln>
        </p:spPr>
      </p:sp>
      <p:sp>
        <p:nvSpPr>
          <p:cNvPr id="8" name="Text 5"/>
          <p:cNvSpPr/>
          <p:nvPr/>
        </p:nvSpPr>
        <p:spPr>
          <a:xfrm>
            <a:off x="3840480" y="1691640"/>
            <a:ext cx="2219858" cy="548640"/>
          </a:xfrm>
          <a:prstGeom prst="rect">
            <a:avLst/>
          </a:prstGeom>
          <a:noFill/>
          <a:ln/>
        </p:spPr>
        <p:txBody>
          <a:bodyPr wrap="square" lIns="0" tIns="0" rIns="0" bIns="0" rtlCol="0" anchor="ctr"/>
          <a:lstStyle/>
          <a:p>
            <a:pPr indent="0" marL="0">
              <a:buNone/>
            </a:pPr>
            <a:r>
              <a:rPr lang="en-US" sz="1400" b="1" dirty="0">
                <a:solidFill>
                  <a:srgbClr val="536079"/>
                </a:solidFill>
                <a:latin typeface="Arial" pitchFamily="34" charset="0"/>
                <a:ea typeface="Arial" pitchFamily="34" charset="-122"/>
                <a:cs typeface="Arial" pitchFamily="34" charset="-120"/>
              </a:rPr>
              <a:t>Separate department systems</a:t>
            </a:r>
            <a:endParaRPr lang="en-US" sz="1400" dirty="0"/>
          </a:p>
        </p:txBody>
      </p:sp>
      <p:sp>
        <p:nvSpPr>
          <p:cNvPr id="9" name="Text 6"/>
          <p:cNvSpPr/>
          <p:nvPr/>
        </p:nvSpPr>
        <p:spPr>
          <a:xfrm>
            <a:off x="6517538" y="1691640"/>
            <a:ext cx="2219858" cy="548640"/>
          </a:xfrm>
          <a:prstGeom prst="rect">
            <a:avLst/>
          </a:prstGeom>
          <a:noFill/>
          <a:ln/>
        </p:spPr>
        <p:txBody>
          <a:bodyPr wrap="square" lIns="0" tIns="0" rIns="0" bIns="0" rtlCol="0" anchor="ctr"/>
          <a:lstStyle/>
          <a:p>
            <a:pPr indent="0" marL="0">
              <a:buNone/>
            </a:pPr>
            <a:r>
              <a:rPr lang="en-US" sz="1400" b="1" dirty="0">
                <a:solidFill>
                  <a:srgbClr val="536079"/>
                </a:solidFill>
                <a:latin typeface="Arial" pitchFamily="34" charset="0"/>
                <a:ea typeface="Arial" pitchFamily="34" charset="-122"/>
                <a:cs typeface="Arial" pitchFamily="34" charset="-120"/>
              </a:rPr>
              <a:t>Centralise every camera</a:t>
            </a:r>
            <a:endParaRPr lang="en-US" sz="1400" dirty="0"/>
          </a:p>
        </p:txBody>
      </p:sp>
      <p:sp>
        <p:nvSpPr>
          <p:cNvPr id="10" name="Text 7"/>
          <p:cNvSpPr/>
          <p:nvPr/>
        </p:nvSpPr>
        <p:spPr>
          <a:xfrm>
            <a:off x="9194597" y="1691640"/>
            <a:ext cx="2219858" cy="54864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Sentinel</a:t>
            </a:r>
            <a:endParaRPr lang="en-US" sz="1800" dirty="0"/>
          </a:p>
        </p:txBody>
      </p:sp>
      <p:sp>
        <p:nvSpPr>
          <p:cNvPr id="11" name="Shape 8"/>
          <p:cNvSpPr/>
          <p:nvPr/>
        </p:nvSpPr>
        <p:spPr>
          <a:xfrm>
            <a:off x="548640" y="2240280"/>
            <a:ext cx="11094415" cy="0"/>
          </a:xfrm>
          <a:prstGeom prst="line">
            <a:avLst/>
          </a:prstGeom>
          <a:noFill/>
          <a:ln w="9525">
            <a:solidFill>
              <a:srgbClr val="DDE3EE"/>
            </a:solidFill>
            <a:prstDash val="solid"/>
          </a:ln>
        </p:spPr>
      </p:sp>
      <p:sp>
        <p:nvSpPr>
          <p:cNvPr id="12" name="Text 9"/>
          <p:cNvSpPr/>
          <p:nvPr/>
        </p:nvSpPr>
        <p:spPr>
          <a:xfrm>
            <a:off x="548640" y="235000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Trace a vehicle across all departments</a:t>
            </a:r>
            <a:endParaRPr lang="en-US" sz="1400" dirty="0"/>
          </a:p>
        </p:txBody>
      </p:sp>
      <p:pic>
        <p:nvPicPr>
          <p:cNvPr id="13" name="Image 0" descr="preencoded.png">    </p:cNvPr>
          <p:cNvPicPr>
            <a:picLocks noChangeAspect="1"/>
          </p:cNvPicPr>
          <p:nvPr/>
        </p:nvPicPr>
        <p:blipFill>
          <a:blip r:embed="rId1"/>
          <a:stretch>
            <a:fillRect/>
          </a:stretch>
        </p:blipFill>
        <p:spPr>
          <a:xfrm>
            <a:off x="3840480" y="2459736"/>
            <a:ext cx="292608" cy="292608"/>
          </a:xfrm>
          <a:prstGeom prst="rect">
            <a:avLst/>
          </a:prstGeom>
        </p:spPr>
      </p:pic>
      <p:sp>
        <p:nvSpPr>
          <p:cNvPr id="14" name="Text 10"/>
          <p:cNvSpPr/>
          <p:nvPr/>
        </p:nvSpPr>
        <p:spPr>
          <a:xfrm>
            <a:off x="4251960" y="233172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Phone calls and manual review</a:t>
            </a:r>
            <a:endParaRPr lang="en-US" sz="1300" dirty="0"/>
          </a:p>
        </p:txBody>
      </p:sp>
      <p:pic>
        <p:nvPicPr>
          <p:cNvPr id="15" name="Image 1" descr="preencoded.png">    </p:cNvPr>
          <p:cNvPicPr>
            <a:picLocks noChangeAspect="1"/>
          </p:cNvPicPr>
          <p:nvPr/>
        </p:nvPicPr>
        <p:blipFill>
          <a:blip r:embed="rId2"/>
          <a:stretch>
            <a:fillRect/>
          </a:stretch>
        </p:blipFill>
        <p:spPr>
          <a:xfrm>
            <a:off x="6517538" y="2459736"/>
            <a:ext cx="292608" cy="292608"/>
          </a:xfrm>
          <a:prstGeom prst="rect">
            <a:avLst/>
          </a:prstGeom>
        </p:spPr>
      </p:pic>
      <p:sp>
        <p:nvSpPr>
          <p:cNvPr id="16" name="Text 11"/>
          <p:cNvSpPr/>
          <p:nvPr/>
        </p:nvSpPr>
        <p:spPr>
          <a:xfrm>
            <a:off x="6929018" y="233172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Yes</a:t>
            </a:r>
            <a:endParaRPr lang="en-US" sz="1300" dirty="0"/>
          </a:p>
        </p:txBody>
      </p:sp>
      <p:pic>
        <p:nvPicPr>
          <p:cNvPr id="17" name="Image 2" descr="preencoded.png">    </p:cNvPr>
          <p:cNvPicPr>
            <a:picLocks noChangeAspect="1"/>
          </p:cNvPicPr>
          <p:nvPr/>
        </p:nvPicPr>
        <p:blipFill>
          <a:blip r:embed="rId3"/>
          <a:stretch>
            <a:fillRect/>
          </a:stretch>
        </p:blipFill>
        <p:spPr>
          <a:xfrm>
            <a:off x="9194597" y="2459736"/>
            <a:ext cx="292608" cy="292608"/>
          </a:xfrm>
          <a:prstGeom prst="rect">
            <a:avLst/>
          </a:prstGeom>
        </p:spPr>
      </p:pic>
      <p:sp>
        <p:nvSpPr>
          <p:cNvPr id="18" name="Text 12"/>
          <p:cNvSpPr/>
          <p:nvPr/>
        </p:nvSpPr>
        <p:spPr>
          <a:xfrm>
            <a:off x="9606077" y="233172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One search, seconds</a:t>
            </a:r>
            <a:endParaRPr lang="en-US" sz="1300" dirty="0"/>
          </a:p>
        </p:txBody>
      </p:sp>
      <p:sp>
        <p:nvSpPr>
          <p:cNvPr id="19" name="Shape 13"/>
          <p:cNvSpPr/>
          <p:nvPr/>
        </p:nvSpPr>
        <p:spPr>
          <a:xfrm>
            <a:off x="548640" y="2971800"/>
            <a:ext cx="11094415" cy="0"/>
          </a:xfrm>
          <a:prstGeom prst="line">
            <a:avLst/>
          </a:prstGeom>
          <a:noFill/>
          <a:ln w="9525">
            <a:solidFill>
              <a:srgbClr val="DDE3EE"/>
            </a:solidFill>
            <a:prstDash val="solid"/>
          </a:ln>
        </p:spPr>
      </p:sp>
      <p:sp>
        <p:nvSpPr>
          <p:cNvPr id="20" name="Text 14"/>
          <p:cNvSpPr/>
          <p:nvPr/>
        </p:nvSpPr>
        <p:spPr>
          <a:xfrm>
            <a:off x="548640" y="308152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Watchlist alerts statewide</a:t>
            </a:r>
            <a:endParaRPr lang="en-US" sz="1400" dirty="0"/>
          </a:p>
        </p:txBody>
      </p:sp>
      <p:pic>
        <p:nvPicPr>
          <p:cNvPr id="21" name="Image 3" descr="preencoded.png">    </p:cNvPr>
          <p:cNvPicPr>
            <a:picLocks noChangeAspect="1"/>
          </p:cNvPicPr>
          <p:nvPr/>
        </p:nvPicPr>
        <p:blipFill>
          <a:blip r:embed="rId4"/>
          <a:stretch>
            <a:fillRect/>
          </a:stretch>
        </p:blipFill>
        <p:spPr>
          <a:xfrm>
            <a:off x="3840480" y="3191256"/>
            <a:ext cx="292608" cy="292608"/>
          </a:xfrm>
          <a:prstGeom prst="rect">
            <a:avLst/>
          </a:prstGeom>
        </p:spPr>
      </p:pic>
      <p:sp>
        <p:nvSpPr>
          <p:cNvPr id="22" name="Text 15"/>
          <p:cNvSpPr/>
          <p:nvPr/>
        </p:nvSpPr>
        <p:spPr>
          <a:xfrm>
            <a:off x="4251960" y="306324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Each system on its own</a:t>
            </a:r>
            <a:endParaRPr lang="en-US" sz="1300" dirty="0"/>
          </a:p>
        </p:txBody>
      </p:sp>
      <p:pic>
        <p:nvPicPr>
          <p:cNvPr id="23" name="Image 4" descr="preencoded.png">    </p:cNvPr>
          <p:cNvPicPr>
            <a:picLocks noChangeAspect="1"/>
          </p:cNvPicPr>
          <p:nvPr/>
        </p:nvPicPr>
        <p:blipFill>
          <a:blip r:embed="rId5"/>
          <a:stretch>
            <a:fillRect/>
          </a:stretch>
        </p:blipFill>
        <p:spPr>
          <a:xfrm>
            <a:off x="6517538" y="3191256"/>
            <a:ext cx="292608" cy="292608"/>
          </a:xfrm>
          <a:prstGeom prst="rect">
            <a:avLst/>
          </a:prstGeom>
        </p:spPr>
      </p:pic>
      <p:sp>
        <p:nvSpPr>
          <p:cNvPr id="24" name="Text 16"/>
          <p:cNvSpPr/>
          <p:nvPr/>
        </p:nvSpPr>
        <p:spPr>
          <a:xfrm>
            <a:off x="6929018" y="306324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Yes</a:t>
            </a:r>
            <a:endParaRPr lang="en-US" sz="1300" dirty="0"/>
          </a:p>
        </p:txBody>
      </p:sp>
      <p:pic>
        <p:nvPicPr>
          <p:cNvPr id="25" name="Image 5" descr="preencoded.png">    </p:cNvPr>
          <p:cNvPicPr>
            <a:picLocks noChangeAspect="1"/>
          </p:cNvPicPr>
          <p:nvPr/>
        </p:nvPicPr>
        <p:blipFill>
          <a:blip r:embed="rId6"/>
          <a:stretch>
            <a:fillRect/>
          </a:stretch>
        </p:blipFill>
        <p:spPr>
          <a:xfrm>
            <a:off x="9194597" y="3191256"/>
            <a:ext cx="292608" cy="292608"/>
          </a:xfrm>
          <a:prstGeom prst="rect">
            <a:avLst/>
          </a:prstGeom>
        </p:spPr>
      </p:pic>
      <p:sp>
        <p:nvSpPr>
          <p:cNvPr id="26" name="Text 17"/>
          <p:cNvSpPr/>
          <p:nvPr/>
        </p:nvSpPr>
        <p:spPr>
          <a:xfrm>
            <a:off x="9606077" y="306324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Every read, automatically</a:t>
            </a:r>
            <a:endParaRPr lang="en-US" sz="1300" dirty="0"/>
          </a:p>
        </p:txBody>
      </p:sp>
      <p:sp>
        <p:nvSpPr>
          <p:cNvPr id="27" name="Shape 18"/>
          <p:cNvSpPr/>
          <p:nvPr/>
        </p:nvSpPr>
        <p:spPr>
          <a:xfrm>
            <a:off x="548640" y="3703320"/>
            <a:ext cx="11094415" cy="0"/>
          </a:xfrm>
          <a:prstGeom prst="line">
            <a:avLst/>
          </a:prstGeom>
          <a:noFill/>
          <a:ln w="9525">
            <a:solidFill>
              <a:srgbClr val="DDE3EE"/>
            </a:solidFill>
            <a:prstDash val="solid"/>
          </a:ln>
        </p:spPr>
      </p:sp>
      <p:sp>
        <p:nvSpPr>
          <p:cNvPr id="28" name="Text 19"/>
          <p:cNvSpPr/>
          <p:nvPr/>
        </p:nvSpPr>
        <p:spPr>
          <a:xfrm>
            <a:off x="548640" y="381304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Departments’ systems left untouched</a:t>
            </a:r>
            <a:endParaRPr lang="en-US" sz="1400" dirty="0"/>
          </a:p>
        </p:txBody>
      </p:sp>
      <p:pic>
        <p:nvPicPr>
          <p:cNvPr id="29" name="Image 6" descr="preencoded.png">    </p:cNvPr>
          <p:cNvPicPr>
            <a:picLocks noChangeAspect="1"/>
          </p:cNvPicPr>
          <p:nvPr/>
        </p:nvPicPr>
        <p:blipFill>
          <a:blip r:embed="rId7"/>
          <a:stretch>
            <a:fillRect/>
          </a:stretch>
        </p:blipFill>
        <p:spPr>
          <a:xfrm>
            <a:off x="3840480" y="3922776"/>
            <a:ext cx="292608" cy="292608"/>
          </a:xfrm>
          <a:prstGeom prst="rect">
            <a:avLst/>
          </a:prstGeom>
        </p:spPr>
      </p:pic>
      <p:sp>
        <p:nvSpPr>
          <p:cNvPr id="30" name="Text 20"/>
          <p:cNvSpPr/>
          <p:nvPr/>
        </p:nvSpPr>
        <p:spPr>
          <a:xfrm>
            <a:off x="4251960" y="379476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Untouched, but isolated</a:t>
            </a:r>
            <a:endParaRPr lang="en-US" sz="1300" dirty="0"/>
          </a:p>
        </p:txBody>
      </p:sp>
      <p:pic>
        <p:nvPicPr>
          <p:cNvPr id="31" name="Image 7" descr="preencoded.png">    </p:cNvPr>
          <p:cNvPicPr>
            <a:picLocks noChangeAspect="1"/>
          </p:cNvPicPr>
          <p:nvPr/>
        </p:nvPicPr>
        <p:blipFill>
          <a:blip r:embed="rId8"/>
          <a:stretch>
            <a:fillRect/>
          </a:stretch>
        </p:blipFill>
        <p:spPr>
          <a:xfrm>
            <a:off x="6517538" y="3922776"/>
            <a:ext cx="292608" cy="292608"/>
          </a:xfrm>
          <a:prstGeom prst="rect">
            <a:avLst/>
          </a:prstGeom>
        </p:spPr>
      </p:pic>
      <p:sp>
        <p:nvSpPr>
          <p:cNvPr id="32" name="Text 21"/>
          <p:cNvSpPr/>
          <p:nvPr/>
        </p:nvSpPr>
        <p:spPr>
          <a:xfrm>
            <a:off x="6929018" y="379476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All video re-routed centrally</a:t>
            </a:r>
            <a:endParaRPr lang="en-US" sz="1300" dirty="0"/>
          </a:p>
        </p:txBody>
      </p:sp>
      <p:pic>
        <p:nvPicPr>
          <p:cNvPr id="33" name="Image 8" descr="preencoded.png">    </p:cNvPr>
          <p:cNvPicPr>
            <a:picLocks noChangeAspect="1"/>
          </p:cNvPicPr>
          <p:nvPr/>
        </p:nvPicPr>
        <p:blipFill>
          <a:blip r:embed="rId9"/>
          <a:stretch>
            <a:fillRect/>
          </a:stretch>
        </p:blipFill>
        <p:spPr>
          <a:xfrm>
            <a:off x="9194597" y="3922776"/>
            <a:ext cx="292608" cy="292608"/>
          </a:xfrm>
          <a:prstGeom prst="rect">
            <a:avLst/>
          </a:prstGeom>
        </p:spPr>
      </p:pic>
      <p:sp>
        <p:nvSpPr>
          <p:cNvPr id="34" name="Text 22"/>
          <p:cNvSpPr/>
          <p:nvPr/>
        </p:nvSpPr>
        <p:spPr>
          <a:xfrm>
            <a:off x="9606077" y="379476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Read-only access</a:t>
            </a:r>
            <a:endParaRPr lang="en-US" sz="1300" dirty="0"/>
          </a:p>
        </p:txBody>
      </p:sp>
      <p:sp>
        <p:nvSpPr>
          <p:cNvPr id="35" name="Shape 23"/>
          <p:cNvSpPr/>
          <p:nvPr/>
        </p:nvSpPr>
        <p:spPr>
          <a:xfrm>
            <a:off x="548640" y="4434840"/>
            <a:ext cx="11094415" cy="0"/>
          </a:xfrm>
          <a:prstGeom prst="line">
            <a:avLst/>
          </a:prstGeom>
          <a:noFill/>
          <a:ln w="9525">
            <a:solidFill>
              <a:srgbClr val="DDE3EE"/>
            </a:solidFill>
            <a:prstDash val="solid"/>
          </a:ln>
        </p:spPr>
      </p:sp>
      <p:sp>
        <p:nvSpPr>
          <p:cNvPr id="36" name="Text 24"/>
          <p:cNvSpPr/>
          <p:nvPr/>
        </p:nvSpPr>
        <p:spPr>
          <a:xfrm>
            <a:off x="548640" y="454456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Network the State must provide</a:t>
            </a:r>
            <a:endParaRPr lang="en-US" sz="1400" dirty="0"/>
          </a:p>
        </p:txBody>
      </p:sp>
      <p:pic>
        <p:nvPicPr>
          <p:cNvPr id="37" name="Image 9" descr="preencoded.png">    </p:cNvPr>
          <p:cNvPicPr>
            <a:picLocks noChangeAspect="1"/>
          </p:cNvPicPr>
          <p:nvPr/>
        </p:nvPicPr>
        <p:blipFill>
          <a:blip r:embed="rId10"/>
          <a:stretch>
            <a:fillRect/>
          </a:stretch>
        </p:blipFill>
        <p:spPr>
          <a:xfrm>
            <a:off x="3840480" y="4654296"/>
            <a:ext cx="292608" cy="292608"/>
          </a:xfrm>
          <a:prstGeom prst="rect">
            <a:avLst/>
          </a:prstGeom>
        </p:spPr>
      </p:pic>
      <p:sp>
        <p:nvSpPr>
          <p:cNvPr id="38" name="Text 25"/>
          <p:cNvSpPr/>
          <p:nvPr/>
        </p:nvSpPr>
        <p:spPr>
          <a:xfrm>
            <a:off x="4251960" y="452628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Little — nothing is shared</a:t>
            </a:r>
            <a:endParaRPr lang="en-US" sz="1300" dirty="0"/>
          </a:p>
        </p:txBody>
      </p:sp>
      <p:pic>
        <p:nvPicPr>
          <p:cNvPr id="39" name="Image 10" descr="preencoded.png">    </p:cNvPr>
          <p:cNvPicPr>
            <a:picLocks noChangeAspect="1"/>
          </p:cNvPicPr>
          <p:nvPr/>
        </p:nvPicPr>
        <p:blipFill>
          <a:blip r:embed="rId11"/>
          <a:stretch>
            <a:fillRect/>
          </a:stretch>
        </p:blipFill>
        <p:spPr>
          <a:xfrm>
            <a:off x="6517538" y="4654296"/>
            <a:ext cx="292608" cy="292608"/>
          </a:xfrm>
          <a:prstGeom prst="rect">
            <a:avLst/>
          </a:prstGeom>
        </p:spPr>
      </p:pic>
      <p:sp>
        <p:nvSpPr>
          <p:cNvPr id="40" name="Text 26"/>
          <p:cNvSpPr/>
          <p:nvPr/>
        </p:nvSpPr>
        <p:spPr>
          <a:xfrm>
            <a:off x="6929018" y="452628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≈160 Gbps, sustained</a:t>
            </a:r>
            <a:endParaRPr lang="en-US" sz="1300" dirty="0"/>
          </a:p>
        </p:txBody>
      </p:sp>
      <p:pic>
        <p:nvPicPr>
          <p:cNvPr id="41" name="Image 11" descr="preencoded.png">    </p:cNvPr>
          <p:cNvPicPr>
            <a:picLocks noChangeAspect="1"/>
          </p:cNvPicPr>
          <p:nvPr/>
        </p:nvPicPr>
        <p:blipFill>
          <a:blip r:embed="rId12"/>
          <a:stretch>
            <a:fillRect/>
          </a:stretch>
        </p:blipFill>
        <p:spPr>
          <a:xfrm>
            <a:off x="9194597" y="4654296"/>
            <a:ext cx="292608" cy="292608"/>
          </a:xfrm>
          <a:prstGeom prst="rect">
            <a:avLst/>
          </a:prstGeom>
        </p:spPr>
      </p:pic>
      <p:sp>
        <p:nvSpPr>
          <p:cNvPr id="42" name="Text 27"/>
          <p:cNvSpPr/>
          <p:nvPr/>
        </p:nvSpPr>
        <p:spPr>
          <a:xfrm>
            <a:off x="9606077" y="452628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≈140 Mbps</a:t>
            </a:r>
            <a:endParaRPr lang="en-US" sz="1300" dirty="0"/>
          </a:p>
        </p:txBody>
      </p:sp>
      <p:sp>
        <p:nvSpPr>
          <p:cNvPr id="43" name="Shape 28"/>
          <p:cNvSpPr/>
          <p:nvPr/>
        </p:nvSpPr>
        <p:spPr>
          <a:xfrm>
            <a:off x="548640" y="5166360"/>
            <a:ext cx="11094415" cy="0"/>
          </a:xfrm>
          <a:prstGeom prst="line">
            <a:avLst/>
          </a:prstGeom>
          <a:noFill/>
          <a:ln w="9525">
            <a:solidFill>
              <a:srgbClr val="DDE3EE"/>
            </a:solidFill>
            <a:prstDash val="solid"/>
          </a:ln>
        </p:spPr>
      </p:sp>
      <p:sp>
        <p:nvSpPr>
          <p:cNvPr id="44" name="Text 29"/>
          <p:cNvSpPr/>
          <p:nvPr/>
        </p:nvSpPr>
        <p:spPr>
          <a:xfrm>
            <a:off x="548640" y="527608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When a district’s link drops</a:t>
            </a:r>
            <a:endParaRPr lang="en-US" sz="1400" dirty="0"/>
          </a:p>
        </p:txBody>
      </p:sp>
      <p:pic>
        <p:nvPicPr>
          <p:cNvPr id="45" name="Image 12" descr="preencoded.png">    </p:cNvPr>
          <p:cNvPicPr>
            <a:picLocks noChangeAspect="1"/>
          </p:cNvPicPr>
          <p:nvPr/>
        </p:nvPicPr>
        <p:blipFill>
          <a:blip r:embed="rId13"/>
          <a:stretch>
            <a:fillRect/>
          </a:stretch>
        </p:blipFill>
        <p:spPr>
          <a:xfrm>
            <a:off x="3840480" y="5385816"/>
            <a:ext cx="292608" cy="292608"/>
          </a:xfrm>
          <a:prstGeom prst="rect">
            <a:avLst/>
          </a:prstGeom>
        </p:spPr>
      </p:pic>
      <p:sp>
        <p:nvSpPr>
          <p:cNvPr id="46" name="Text 30"/>
          <p:cNvSpPr/>
          <p:nvPr/>
        </p:nvSpPr>
        <p:spPr>
          <a:xfrm>
            <a:off x="4251960" y="525780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Works locally, still isolated</a:t>
            </a:r>
            <a:endParaRPr lang="en-US" sz="1300" dirty="0"/>
          </a:p>
        </p:txBody>
      </p:sp>
      <p:pic>
        <p:nvPicPr>
          <p:cNvPr id="47" name="Image 13" descr="preencoded.png">    </p:cNvPr>
          <p:cNvPicPr>
            <a:picLocks noChangeAspect="1"/>
          </p:cNvPicPr>
          <p:nvPr/>
        </p:nvPicPr>
        <p:blipFill>
          <a:blip r:embed="rId14"/>
          <a:stretch>
            <a:fillRect/>
          </a:stretch>
        </p:blipFill>
        <p:spPr>
          <a:xfrm>
            <a:off x="6517538" y="5385816"/>
            <a:ext cx="292608" cy="292608"/>
          </a:xfrm>
          <a:prstGeom prst="rect">
            <a:avLst/>
          </a:prstGeom>
        </p:spPr>
      </p:pic>
      <p:sp>
        <p:nvSpPr>
          <p:cNvPr id="48" name="Text 31"/>
          <p:cNvSpPr/>
          <p:nvPr/>
        </p:nvSpPr>
        <p:spPr>
          <a:xfrm>
            <a:off x="6929018" y="525780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Analysis stops</a:t>
            </a:r>
            <a:endParaRPr lang="en-US" sz="1300" dirty="0"/>
          </a:p>
        </p:txBody>
      </p:sp>
      <p:pic>
        <p:nvPicPr>
          <p:cNvPr id="49" name="Image 14" descr="preencoded.png">    </p:cNvPr>
          <p:cNvPicPr>
            <a:picLocks noChangeAspect="1"/>
          </p:cNvPicPr>
          <p:nvPr/>
        </p:nvPicPr>
        <p:blipFill>
          <a:blip r:embed="rId15"/>
          <a:stretch>
            <a:fillRect/>
          </a:stretch>
        </p:blipFill>
        <p:spPr>
          <a:xfrm>
            <a:off x="9194597" y="5385816"/>
            <a:ext cx="292608" cy="292608"/>
          </a:xfrm>
          <a:prstGeom prst="rect">
            <a:avLst/>
          </a:prstGeom>
        </p:spPr>
      </p:pic>
      <p:sp>
        <p:nvSpPr>
          <p:cNvPr id="50" name="Text 32"/>
          <p:cNvSpPr/>
          <p:nvPr/>
        </p:nvSpPr>
        <p:spPr>
          <a:xfrm>
            <a:off x="9606077" y="525780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Keeps reading and alerting</a:t>
            </a:r>
            <a:endParaRPr lang="en-US" sz="1300" dirty="0"/>
          </a:p>
        </p:txBody>
      </p:sp>
      <p:sp>
        <p:nvSpPr>
          <p:cNvPr id="51" name="Text 33"/>
          <p:cNvSpPr/>
          <p:nvPr/>
        </p:nvSpPr>
        <p:spPr>
          <a:xfrm>
            <a:off x="548640" y="6172200"/>
            <a:ext cx="11094415" cy="27432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Approaches compared, not named products. Network figures are for ~80,000 cameras, from our scale plan.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A8  ·  PROVEN, NOT PROMISED</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Measured on real government footage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A8</a:t>
            </a:r>
            <a:endParaRPr lang="en-US" sz="900" dirty="0"/>
          </a:p>
        </p:txBody>
      </p:sp>
      <p:sp>
        <p:nvSpPr>
          <p:cNvPr id="7" name="Shape 4"/>
          <p:cNvSpPr/>
          <p:nvPr/>
        </p:nvSpPr>
        <p:spPr>
          <a:xfrm>
            <a:off x="548640"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Text 5"/>
          <p:cNvSpPr/>
          <p:nvPr/>
        </p:nvSpPr>
        <p:spPr>
          <a:xfrm>
            <a:off x="822960"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78%</a:t>
            </a:r>
            <a:endParaRPr lang="en-US" sz="4400" dirty="0"/>
          </a:p>
        </p:txBody>
      </p:sp>
      <p:sp>
        <p:nvSpPr>
          <p:cNvPr id="9" name="Text 6"/>
          <p:cNvSpPr/>
          <p:nvPr/>
        </p:nvSpPr>
        <p:spPr>
          <a:xfrm>
            <a:off x="822960"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plates read exactly</a:t>
            </a:r>
            <a:endParaRPr lang="en-US" sz="1400" dirty="0"/>
          </a:p>
        </p:txBody>
      </p:sp>
      <p:sp>
        <p:nvSpPr>
          <p:cNvPr id="10" name="Text 7"/>
          <p:cNvSpPr/>
          <p:nvPr/>
        </p:nvSpPr>
        <p:spPr>
          <a:xfrm>
            <a:off x="822960"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 81 hand-checked real government plates; 88% of characters correct</a:t>
            </a:r>
            <a:endParaRPr lang="en-US" sz="1200" dirty="0"/>
          </a:p>
        </p:txBody>
      </p:sp>
      <p:sp>
        <p:nvSpPr>
          <p:cNvPr id="11" name="Shape 8"/>
          <p:cNvSpPr/>
          <p:nvPr/>
        </p:nvSpPr>
        <p:spPr>
          <a:xfrm>
            <a:off x="3390824"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3665144"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16</a:t>
            </a:r>
            <a:endParaRPr lang="en-US" sz="4400" dirty="0"/>
          </a:p>
        </p:txBody>
      </p:sp>
      <p:sp>
        <p:nvSpPr>
          <p:cNvPr id="13" name="Text 10"/>
          <p:cNvSpPr/>
          <p:nvPr/>
        </p:nvSpPr>
        <p:spPr>
          <a:xfrm>
            <a:off x="3665144"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frames a second, on one laptop</a:t>
            </a:r>
            <a:endParaRPr lang="en-US" sz="1400" dirty="0"/>
          </a:p>
        </p:txBody>
      </p:sp>
      <p:sp>
        <p:nvSpPr>
          <p:cNvPr id="14" name="Text 11"/>
          <p:cNvSpPr/>
          <p:nvPr/>
        </p:nvSpPr>
        <p:spPr>
          <a:xfrm>
            <a:off x="3665144"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End-to-end live analysis on a CPU — the on-site set-up</a:t>
            </a:r>
            <a:endParaRPr lang="en-US" sz="1200" dirty="0"/>
          </a:p>
        </p:txBody>
      </p:sp>
      <p:sp>
        <p:nvSpPr>
          <p:cNvPr id="15" name="Shape 12"/>
          <p:cNvSpPr/>
          <p:nvPr/>
        </p:nvSpPr>
        <p:spPr>
          <a:xfrm>
            <a:off x="6233008"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Text 13"/>
          <p:cNvSpPr/>
          <p:nvPr/>
        </p:nvSpPr>
        <p:spPr>
          <a:xfrm>
            <a:off x="6507328"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600+</a:t>
            </a:r>
            <a:endParaRPr lang="en-US" sz="4400" dirty="0"/>
          </a:p>
        </p:txBody>
      </p:sp>
      <p:sp>
        <p:nvSpPr>
          <p:cNvPr id="17" name="Text 14"/>
          <p:cNvSpPr/>
          <p:nvPr/>
        </p:nvSpPr>
        <p:spPr>
          <a:xfrm>
            <a:off x="6507328"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automated tests</a:t>
            </a:r>
            <a:endParaRPr lang="en-US" sz="1400" dirty="0"/>
          </a:p>
        </p:txBody>
      </p:sp>
      <p:sp>
        <p:nvSpPr>
          <p:cNvPr id="18" name="Text 15"/>
          <p:cNvSpPr/>
          <p:nvPr/>
        </p:nvSpPr>
        <p:spPr>
          <a:xfrm>
            <a:off x="6507328"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Plus interface tests in three languages and two themes</a:t>
            </a:r>
            <a:endParaRPr lang="en-US" sz="1200" dirty="0"/>
          </a:p>
        </p:txBody>
      </p:sp>
      <p:sp>
        <p:nvSpPr>
          <p:cNvPr id="19" name="Shape 16"/>
          <p:cNvSpPr/>
          <p:nvPr/>
        </p:nvSpPr>
        <p:spPr>
          <a:xfrm>
            <a:off x="9075191"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Text 17"/>
          <p:cNvSpPr/>
          <p:nvPr/>
        </p:nvSpPr>
        <p:spPr>
          <a:xfrm>
            <a:off x="9349511"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5.7 s</a:t>
            </a:r>
            <a:endParaRPr lang="en-US" sz="4400" dirty="0"/>
          </a:p>
        </p:txBody>
      </p:sp>
      <p:sp>
        <p:nvSpPr>
          <p:cNvPr id="21" name="Text 18"/>
          <p:cNvSpPr/>
          <p:nvPr/>
        </p:nvSpPr>
        <p:spPr>
          <a:xfrm>
            <a:off x="9349511"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to restore a million records</a:t>
            </a:r>
            <a:endParaRPr lang="en-US" sz="1400" dirty="0"/>
          </a:p>
        </p:txBody>
      </p:sp>
      <p:sp>
        <p:nvSpPr>
          <p:cNvPr id="22" name="Text 19"/>
          <p:cNvSpPr/>
          <p:nvPr/>
        </p:nvSpPr>
        <p:spPr>
          <a:xfrm>
            <a:off x="9349511"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Disaster-recovery drill, with tampering detected</a:t>
            </a:r>
            <a:endParaRPr lang="en-US" sz="1200" dirty="0"/>
          </a:p>
        </p:txBody>
      </p:sp>
      <p:sp>
        <p:nvSpPr>
          <p:cNvPr id="23" name="Shape 20"/>
          <p:cNvSpPr/>
          <p:nvPr/>
        </p:nvSpPr>
        <p:spPr>
          <a:xfrm>
            <a:off x="548640" y="4526280"/>
            <a:ext cx="11094415" cy="1463040"/>
          </a:xfrm>
          <a:prstGeom prst="roundRect">
            <a:avLst>
              <a:gd name="adj" fmla="val 7500"/>
            </a:avLst>
          </a:prstGeom>
          <a:solidFill>
            <a:srgbClr val="F3F5FA"/>
          </a:solidFill>
          <a:ln w="9525">
            <a:solidFill>
              <a:srgbClr val="DDE3EE"/>
            </a:solidFill>
            <a:prstDash val="solid"/>
          </a:ln>
        </p:spPr>
      </p:sp>
      <p:sp>
        <p:nvSpPr>
          <p:cNvPr id="24" name="Shape 21"/>
          <p:cNvSpPr/>
          <p:nvPr/>
        </p:nvSpPr>
        <p:spPr>
          <a:xfrm>
            <a:off x="868680" y="4754880"/>
            <a:ext cx="512064" cy="512064"/>
          </a:xfrm>
          <a:prstGeom prst="ellipse">
            <a:avLst/>
          </a:prstGeom>
          <a:solidFill>
            <a:srgbClr val="D97706"/>
          </a:solidFill>
          <a:ln w="12700">
            <a:solidFill>
              <a:srgbClr val="D97706"/>
            </a:solidFill>
            <a:prstDash val="solid"/>
          </a:ln>
        </p:spPr>
      </p:sp>
      <p:pic>
        <p:nvPicPr>
          <p:cNvPr id="25" name="Image 0" descr="preencoded.png">    </p:cNvPr>
          <p:cNvPicPr>
            <a:picLocks noChangeAspect="1"/>
          </p:cNvPicPr>
          <p:nvPr/>
        </p:nvPicPr>
        <p:blipFill>
          <a:blip r:embed="rId1"/>
          <a:stretch>
            <a:fillRect/>
          </a:stretch>
        </p:blipFill>
        <p:spPr>
          <a:xfrm>
            <a:off x="986455" y="4872655"/>
            <a:ext cx="276515" cy="276515"/>
          </a:xfrm>
          <a:prstGeom prst="rect">
            <a:avLst/>
          </a:prstGeom>
        </p:spPr>
      </p:pic>
      <p:sp>
        <p:nvSpPr>
          <p:cNvPr id="26" name="Text 22"/>
          <p:cNvSpPr/>
          <p:nvPr/>
        </p:nvSpPr>
        <p:spPr>
          <a:xfrm>
            <a:off x="1554480" y="4754880"/>
            <a:ext cx="3657600" cy="36576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Stated plainly</a:t>
            </a:r>
            <a:endParaRPr lang="en-US" sz="1700" dirty="0"/>
          </a:p>
        </p:txBody>
      </p:sp>
      <p:sp>
        <p:nvSpPr>
          <p:cNvPr id="27" name="Text 23"/>
          <p:cNvSpPr/>
          <p:nvPr/>
        </p:nvSpPr>
        <p:spPr>
          <a:xfrm>
            <a:off x="1554480" y="5166360"/>
            <a:ext cx="493776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Plate accuracy is below our own 85% target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Statewide compute is sized from vendor benchmarks</a:t>
            </a:r>
            <a:endParaRPr lang="en-US" sz="1400" dirty="0"/>
          </a:p>
        </p:txBody>
      </p:sp>
      <p:sp>
        <p:nvSpPr>
          <p:cNvPr id="28" name="Text 24"/>
          <p:cNvSpPr/>
          <p:nvPr/>
        </p:nvSpPr>
        <p:spPr>
          <a:xfrm>
            <a:off x="6583680" y="5166360"/>
            <a:ext cx="512064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Matching vehicles with no readable plate is designed, not built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The pilot replaces every estimate with a measurement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A9  ·  PATH TO STATEWIDE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Useful from the first district. No big-bang switch-over.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A9</a:t>
            </a:r>
            <a:endParaRPr lang="en-US" sz="900" dirty="0"/>
          </a:p>
        </p:txBody>
      </p:sp>
      <p:sp>
        <p:nvSpPr>
          <p:cNvPr id="7" name="Shape 4"/>
          <p:cNvSpPr/>
          <p:nvPr/>
        </p:nvSpPr>
        <p:spPr>
          <a:xfrm>
            <a:off x="832104" y="1938528"/>
            <a:ext cx="10527487" cy="0"/>
          </a:xfrm>
          <a:prstGeom prst="line">
            <a:avLst/>
          </a:prstGeom>
          <a:noFill/>
          <a:ln w="25400">
            <a:solidFill>
              <a:srgbClr val="DDE3EE"/>
            </a:solidFill>
            <a:prstDash val="solid"/>
          </a:ln>
        </p:spPr>
      </p:sp>
      <p:sp>
        <p:nvSpPr>
          <p:cNvPr id="8" name="Shape 5"/>
          <p:cNvSpPr/>
          <p:nvPr/>
        </p:nvSpPr>
        <p:spPr>
          <a:xfrm>
            <a:off x="685800" y="1792224"/>
            <a:ext cx="292608" cy="292608"/>
          </a:xfrm>
          <a:prstGeom prst="ellipse">
            <a:avLst/>
          </a:prstGeom>
          <a:solidFill>
            <a:srgbClr val="D97706"/>
          </a:solidFill>
          <a:ln w="38100">
            <a:solidFill>
              <a:srgbClr val="FFFFFF"/>
            </a:solidFill>
            <a:prstDash val="solid"/>
          </a:ln>
        </p:spPr>
      </p:sp>
      <p:sp>
        <p:nvSpPr>
          <p:cNvPr id="9" name="Text 6"/>
          <p:cNvSpPr/>
          <p:nvPr/>
        </p:nvSpPr>
        <p:spPr>
          <a:xfrm>
            <a:off x="548640" y="2240280"/>
            <a:ext cx="2567864" cy="274320"/>
          </a:xfrm>
          <a:prstGeom prst="rect">
            <a:avLst/>
          </a:prstGeom>
          <a:noFill/>
          <a:ln/>
        </p:spPr>
        <p:txBody>
          <a:bodyPr wrap="square" lIns="0" tIns="0" rIns="0" bIns="0" rtlCol="0" anchor="t"/>
          <a:lstStyle/>
          <a:p>
            <a:pPr indent="0" marL="0">
              <a:buNone/>
            </a:pPr>
            <a:r>
              <a:rPr lang="en-US" sz="1200" b="1" dirty="0">
                <a:solidFill>
                  <a:srgbClr val="B45309"/>
                </a:solidFill>
                <a:latin typeface="Arial" pitchFamily="34" charset="0"/>
                <a:ea typeface="Arial" pitchFamily="34" charset="-122"/>
                <a:cs typeface="Arial" pitchFamily="34" charset="-120"/>
              </a:rPr>
              <a:t>Pilot  ·  0–3 months</a:t>
            </a:r>
            <a:endParaRPr lang="en-US" sz="1200" dirty="0"/>
          </a:p>
        </p:txBody>
      </p:sp>
      <p:sp>
        <p:nvSpPr>
          <p:cNvPr id="10" name="Shape 7"/>
          <p:cNvSpPr/>
          <p:nvPr/>
        </p:nvSpPr>
        <p:spPr>
          <a:xfrm>
            <a:off x="548640" y="2651760"/>
            <a:ext cx="2567864" cy="3246120"/>
          </a:xfrm>
          <a:prstGeom prst="roundRect">
            <a:avLst>
              <a:gd name="adj" fmla="val 4273"/>
            </a:avLst>
          </a:prstGeom>
          <a:solidFill>
            <a:srgbClr val="EAF0FD"/>
          </a:solidFill>
          <a:ln w="9525">
            <a:solidFill>
              <a:srgbClr val="C9D7F7"/>
            </a:solidFill>
            <a:prstDash val="solid"/>
          </a:ln>
        </p:spPr>
      </p:sp>
      <p:sp>
        <p:nvSpPr>
          <p:cNvPr id="11" name="Text 8"/>
          <p:cNvSpPr/>
          <p:nvPr/>
        </p:nvSpPr>
        <p:spPr>
          <a:xfrm>
            <a:off x="822960"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a:t>
            </a:r>
            <a:endParaRPr lang="en-US" sz="3600" dirty="0"/>
          </a:p>
        </p:txBody>
      </p:sp>
      <p:sp>
        <p:nvSpPr>
          <p:cNvPr id="12" name="Text 9"/>
          <p:cNvSpPr/>
          <p:nvPr/>
        </p:nvSpPr>
        <p:spPr>
          <a:xfrm>
            <a:off x="822960"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3" name="Text 10"/>
          <p:cNvSpPr/>
          <p:nvPr/>
        </p:nvSpPr>
        <p:spPr>
          <a:xfrm>
            <a:off x="822960"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1 district, 2 departments</a:t>
            </a:r>
            <a:endParaRPr lang="en-US" sz="1400" dirty="0"/>
          </a:p>
        </p:txBody>
      </p:sp>
      <p:sp>
        <p:nvSpPr>
          <p:cNvPr id="14" name="Text 11"/>
          <p:cNvSpPr/>
          <p:nvPr/>
        </p:nvSpPr>
        <p:spPr>
          <a:xfrm>
            <a:off x="822960"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Plate reading validated on live feeds; operators sign off</a:t>
            </a:r>
            <a:endParaRPr lang="en-US" sz="1300" dirty="0"/>
          </a:p>
        </p:txBody>
      </p:sp>
      <p:sp>
        <p:nvSpPr>
          <p:cNvPr id="15" name="Shape 12"/>
          <p:cNvSpPr/>
          <p:nvPr/>
        </p:nvSpPr>
        <p:spPr>
          <a:xfrm>
            <a:off x="3527984" y="1792224"/>
            <a:ext cx="292608" cy="292608"/>
          </a:xfrm>
          <a:prstGeom prst="ellipse">
            <a:avLst/>
          </a:prstGeom>
          <a:solidFill>
            <a:srgbClr val="2456D6"/>
          </a:solidFill>
          <a:ln w="38100">
            <a:solidFill>
              <a:srgbClr val="FFFFFF"/>
            </a:solidFill>
            <a:prstDash val="solid"/>
          </a:ln>
        </p:spPr>
      </p:sp>
      <p:sp>
        <p:nvSpPr>
          <p:cNvPr id="16" name="Text 13"/>
          <p:cNvSpPr/>
          <p:nvPr/>
        </p:nvSpPr>
        <p:spPr>
          <a:xfrm>
            <a:off x="3390824"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Expand  ·  3–9 months</a:t>
            </a:r>
            <a:endParaRPr lang="en-US" sz="1200" dirty="0"/>
          </a:p>
        </p:txBody>
      </p:sp>
      <p:sp>
        <p:nvSpPr>
          <p:cNvPr id="17" name="Shape 14"/>
          <p:cNvSpPr/>
          <p:nvPr/>
        </p:nvSpPr>
        <p:spPr>
          <a:xfrm>
            <a:off x="3390824"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5"/>
          <p:cNvSpPr/>
          <p:nvPr/>
        </p:nvSpPr>
        <p:spPr>
          <a:xfrm>
            <a:off x="3665144"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~5,000</a:t>
            </a:r>
            <a:endParaRPr lang="en-US" sz="3600" dirty="0"/>
          </a:p>
        </p:txBody>
      </p:sp>
      <p:sp>
        <p:nvSpPr>
          <p:cNvPr id="19" name="Text 16"/>
          <p:cNvSpPr/>
          <p:nvPr/>
        </p:nvSpPr>
        <p:spPr>
          <a:xfrm>
            <a:off x="3665144"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20" name="Text 17"/>
          <p:cNvSpPr/>
          <p:nvPr/>
        </p:nvSpPr>
        <p:spPr>
          <a:xfrm>
            <a:off x="3665144"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4 districts, 6 departments</a:t>
            </a:r>
            <a:endParaRPr lang="en-US" sz="1400" dirty="0"/>
          </a:p>
        </p:txBody>
      </p:sp>
      <p:sp>
        <p:nvSpPr>
          <p:cNvPr id="21" name="Text 18"/>
          <p:cNvSpPr/>
          <p:nvPr/>
        </p:nvSpPr>
        <p:spPr>
          <a:xfrm>
            <a:off x="3665144"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Main VMS vendors connected; VAHAN and eGujCop live</a:t>
            </a:r>
            <a:endParaRPr lang="en-US" sz="1300" dirty="0"/>
          </a:p>
        </p:txBody>
      </p:sp>
      <p:sp>
        <p:nvSpPr>
          <p:cNvPr id="22" name="Shape 19"/>
          <p:cNvSpPr/>
          <p:nvPr/>
        </p:nvSpPr>
        <p:spPr>
          <a:xfrm>
            <a:off x="6370168" y="1792224"/>
            <a:ext cx="292608" cy="292608"/>
          </a:xfrm>
          <a:prstGeom prst="ellipse">
            <a:avLst/>
          </a:prstGeom>
          <a:solidFill>
            <a:srgbClr val="2456D6"/>
          </a:solidFill>
          <a:ln w="38100">
            <a:solidFill>
              <a:srgbClr val="FFFFFF"/>
            </a:solidFill>
            <a:prstDash val="solid"/>
          </a:ln>
        </p:spPr>
      </p:sp>
      <p:sp>
        <p:nvSpPr>
          <p:cNvPr id="23" name="Text 20"/>
          <p:cNvSpPr/>
          <p:nvPr/>
        </p:nvSpPr>
        <p:spPr>
          <a:xfrm>
            <a:off x="6233008"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Statewide  ·  9–21 months</a:t>
            </a:r>
            <a:endParaRPr lang="en-US" sz="1200" dirty="0"/>
          </a:p>
        </p:txBody>
      </p:sp>
      <p:sp>
        <p:nvSpPr>
          <p:cNvPr id="24" name="Shape 21"/>
          <p:cNvSpPr/>
          <p:nvPr/>
        </p:nvSpPr>
        <p:spPr>
          <a:xfrm>
            <a:off x="6233008"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Text 22"/>
          <p:cNvSpPr/>
          <p:nvPr/>
        </p:nvSpPr>
        <p:spPr>
          <a:xfrm>
            <a:off x="6507328"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~30,000</a:t>
            </a:r>
            <a:endParaRPr lang="en-US" sz="3600" dirty="0"/>
          </a:p>
        </p:txBody>
      </p:sp>
      <p:sp>
        <p:nvSpPr>
          <p:cNvPr id="26" name="Text 23"/>
          <p:cNvSpPr/>
          <p:nvPr/>
        </p:nvSpPr>
        <p:spPr>
          <a:xfrm>
            <a:off x="6507328"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27" name="Text 24"/>
          <p:cNvSpPr/>
          <p:nvPr/>
        </p:nvSpPr>
        <p:spPr>
          <a:xfrm>
            <a:off x="6507328"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All 34 districts</a:t>
            </a:r>
            <a:endParaRPr lang="en-US" sz="1400" dirty="0"/>
          </a:p>
        </p:txBody>
      </p:sp>
      <p:sp>
        <p:nvSpPr>
          <p:cNvPr id="28" name="Text 25"/>
          <p:cNvSpPr/>
          <p:nvPr/>
        </p:nvSpPr>
        <p:spPr>
          <a:xfrm>
            <a:off x="6507328"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Statewide vehicle tracking; operations centre in place</a:t>
            </a:r>
            <a:endParaRPr lang="en-US" sz="1300" dirty="0"/>
          </a:p>
        </p:txBody>
      </p:sp>
      <p:sp>
        <p:nvSpPr>
          <p:cNvPr id="29" name="Shape 26"/>
          <p:cNvSpPr/>
          <p:nvPr/>
        </p:nvSpPr>
        <p:spPr>
          <a:xfrm>
            <a:off x="9212351" y="1792224"/>
            <a:ext cx="292608" cy="292608"/>
          </a:xfrm>
          <a:prstGeom prst="ellipse">
            <a:avLst/>
          </a:prstGeom>
          <a:solidFill>
            <a:srgbClr val="2456D6"/>
          </a:solidFill>
          <a:ln w="38100">
            <a:solidFill>
              <a:srgbClr val="FFFFFF"/>
            </a:solidFill>
            <a:prstDash val="solid"/>
          </a:ln>
        </p:spPr>
      </p:sp>
      <p:sp>
        <p:nvSpPr>
          <p:cNvPr id="30" name="Text 27"/>
          <p:cNvSpPr/>
          <p:nvPr/>
        </p:nvSpPr>
        <p:spPr>
          <a:xfrm>
            <a:off x="9075191"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Complete  ·  21–36 months</a:t>
            </a:r>
            <a:endParaRPr lang="en-US" sz="1200" dirty="0"/>
          </a:p>
        </p:txBody>
      </p:sp>
      <p:sp>
        <p:nvSpPr>
          <p:cNvPr id="31" name="Shape 28"/>
          <p:cNvSpPr/>
          <p:nvPr/>
        </p:nvSpPr>
        <p:spPr>
          <a:xfrm>
            <a:off x="9075191"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2" name="Text 29"/>
          <p:cNvSpPr/>
          <p:nvPr/>
        </p:nvSpPr>
        <p:spPr>
          <a:xfrm>
            <a:off x="9349511"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80,000</a:t>
            </a:r>
            <a:endParaRPr lang="en-US" sz="3600" dirty="0"/>
          </a:p>
        </p:txBody>
      </p:sp>
      <p:sp>
        <p:nvSpPr>
          <p:cNvPr id="33" name="Text 30"/>
          <p:cNvSpPr/>
          <p:nvPr/>
        </p:nvSpPr>
        <p:spPr>
          <a:xfrm>
            <a:off x="9349511"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34" name="Text 31"/>
          <p:cNvSpPr/>
          <p:nvPr/>
        </p:nvSpPr>
        <p:spPr>
          <a:xfrm>
            <a:off x="9349511"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Plus consented private cameras</a:t>
            </a:r>
            <a:endParaRPr lang="en-US" sz="1400" dirty="0"/>
          </a:p>
        </p:txBody>
      </p:sp>
      <p:sp>
        <p:nvSpPr>
          <p:cNvPr id="35" name="Text 32"/>
          <p:cNvSpPr/>
          <p:nvPr/>
        </p:nvSpPr>
        <p:spPr>
          <a:xfrm>
            <a:off x="9349511"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Full coverage, with policy and audit established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find any vehicle across every government camera in Gujarat</dc:title>
  <dc:subject>PptxGenJS Presentation</dc:subject>
  <dc:creator>Sentinel Platform</dc:creator>
  <cp:lastModifiedBy>Sentinel Platform</cp:lastModifiedBy>
  <cp:revision>1</cp:revision>
  <dcterms:created xsi:type="dcterms:W3CDTF">2026-10-12T06:08:40Z</dcterms:created>
  <dcterms:modified xsi:type="dcterms:W3CDTF">2026-10-12T06:08:40Z</dcterms:modified>
</cp:coreProperties>
</file>